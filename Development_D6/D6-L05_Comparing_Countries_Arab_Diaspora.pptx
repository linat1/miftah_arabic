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D6-L05.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D6-L01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D6-L04. Questions 4–5 retrieve the D6 verb + preposition habit (D6-L04 · D6-L02).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(D6-L06 · Arabic Around the World — The Language’s Global Reach) will spend class time USING this language, so students prepare it tonight — short, simple, easy to access (school guidance: “Simple, Short, Interesting, Relevant, Easy to access”). The five words come from the website D6-L06 vocabulary (Arabic’s global reach).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Comparing Countries — Global Connections and the Arab Diaspora</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34" charset="0"/>
                <a:ea typeface="Amiri" pitchFamily="34" charset="-122"/>
                <a:cs typeface="Amiri" pitchFamily="34" charset="-120"/>
              </a:rPr>
              <a:t>مُقَارَنَةُ الدُّوَلِ — الرَّوَابِطُ العَالَمِيَّةُ وَالجَالِيَةُ العَرَبِيَّةُ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Talk about belonging to two places: where you belong (</a:t>
            </a:r>
            <a:pPr algn="l" indent="0" marL="0">
              <a:buNone/>
            </a:pPr>
            <a:r>
              <a:rPr lang="ar-SA" altLang="en-US" sz="1800" dirty="0">
                <a:solidFill>
                  <a:srgbClr val="C6D2E6"/>
                </a:solidFill>
                <a:latin typeface="Amiri" pitchFamily="34" charset="0"/>
                <a:ea typeface="Amiri" pitchFamily="34" charset="-122"/>
                <a:cs typeface="Amiri" pitchFamily="34" charset="-120"/>
              </a:rPr>
              <a:t>أَنْتَمِي إِلَى</a:t>
            </a:r>
            <a:pPr algn="l" indent="0" marL="0">
              <a:buNone/>
            </a:pPr>
            <a:r>
              <a:rPr lang="en-US" sz="1400" dirty="0">
                <a:solidFill>
                  <a:srgbClr val="C6D2E6"/>
                </a:solidFill>
                <a:latin typeface="Calibri" pitchFamily="34" charset="0"/>
                <a:ea typeface="Calibri" pitchFamily="34" charset="-122"/>
                <a:cs typeface="Calibri" pitchFamily="34" charset="-120"/>
              </a:rPr>
              <a:t>), how you adapt (</a:t>
            </a:r>
            <a:pPr algn="l" indent="0" marL="0">
              <a:buNone/>
            </a:pPr>
            <a:r>
              <a:rPr lang="ar-SA" altLang="en-US" sz="1800" dirty="0">
                <a:solidFill>
                  <a:srgbClr val="C6D2E6"/>
                </a:solidFill>
                <a:latin typeface="Amiri" pitchFamily="34" charset="0"/>
                <a:ea typeface="Amiri" pitchFamily="34" charset="-122"/>
                <a:cs typeface="Amiri" pitchFamily="34" charset="-120"/>
              </a:rPr>
              <a:t>أَتَكَيَّفُ مَعَ</a:t>
            </a:r>
            <a:pPr algn="l" indent="0" marL="0">
              <a:buNone/>
            </a:pPr>
            <a:r>
              <a:rPr lang="en-US" sz="1400" dirty="0">
                <a:solidFill>
                  <a:srgbClr val="C6D2E6"/>
                </a:solidFill>
                <a:latin typeface="Calibri" pitchFamily="34" charset="0"/>
                <a:ea typeface="Calibri" pitchFamily="34" charset="-122"/>
                <a:cs typeface="Calibri" pitchFamily="34" charset="-120"/>
              </a:rPr>
              <a:t>), what you keep (</a:t>
            </a:r>
            <a:pPr algn="l" indent="0" marL="0">
              <a:buNone/>
            </a:pPr>
            <a:r>
              <a:rPr lang="ar-SA" altLang="en-US" sz="1800" dirty="0">
                <a:solidFill>
                  <a:srgbClr val="C6D2E6"/>
                </a:solidFill>
                <a:latin typeface="Amiri" pitchFamily="34" charset="0"/>
                <a:ea typeface="Amiri" pitchFamily="34" charset="-122"/>
                <a:cs typeface="Amiri" pitchFamily="34" charset="-120"/>
              </a:rPr>
              <a:t>أَحْتَفِظُ بِـ</a:t>
            </a:r>
            <a:pPr algn="l" indent="0" marL="0">
              <a:buNone/>
            </a:pPr>
            <a:r>
              <a:rPr lang="en-US" sz="1400" dirty="0">
                <a:solidFill>
                  <a:srgbClr val="C6D2E6"/>
                </a:solidFill>
                <a:latin typeface="Calibri" pitchFamily="34" charset="0"/>
                <a:ea typeface="Calibri" pitchFamily="34" charset="-122"/>
                <a:cs typeface="Calibri" pitchFamily="34" charset="-120"/>
              </a:rPr>
              <a:t>), how you balance (</a:t>
            </a:r>
            <a:pPr algn="l" indent="0" marL="0">
              <a:buNone/>
            </a:pPr>
            <a:r>
              <a:rPr lang="ar-SA" altLang="en-US" sz="1800" dirty="0">
                <a:solidFill>
                  <a:srgbClr val="C6D2E6"/>
                </a:solidFill>
                <a:latin typeface="Amiri" pitchFamily="34" charset="0"/>
                <a:ea typeface="Amiri" pitchFamily="34" charset="-122"/>
                <a:cs typeface="Amiri" pitchFamily="34" charset="-120"/>
              </a:rPr>
              <a:t>أُوَازِنُ بَيْنَ</a:t>
            </a:r>
            <a:pPr algn="l" indent="0" marL="0">
              <a:buNone/>
            </a:pPr>
            <a:r>
              <a:rPr lang="en-US" sz="1400" dirty="0">
                <a:solidFill>
                  <a:srgbClr val="C6D2E6"/>
                </a:solidFill>
                <a:latin typeface="Calibri" pitchFamily="34" charset="0"/>
                <a:ea typeface="Calibri" pitchFamily="34" charset="-122"/>
                <a:cs typeface="Calibri" pitchFamily="34" charset="-120"/>
              </a:rPr>
              <a:t>) — and compare two cities with ONE comparative at a time (</a:t>
            </a:r>
            <a:pPr algn="l" indent="0" marL="0">
              <a:buNone/>
            </a:pPr>
            <a:r>
              <a:rPr lang="ar-SA" altLang="en-US" sz="1800" dirty="0">
                <a:solidFill>
                  <a:srgbClr val="C6D2E6"/>
                </a:solidFill>
                <a:latin typeface="Amiri" pitchFamily="34" charset="0"/>
                <a:ea typeface="Amiri" pitchFamily="34" charset="-122"/>
                <a:cs typeface="Amiri" pitchFamily="34" charset="-120"/>
              </a:rPr>
              <a:t>أَكْبَرُ مِنْ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أَكْثَرُ هُدُوءًا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D6-L05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جَالِيَةٌ عَرَبِيَّةٌ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الجِيلُ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جُذُورٌ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جَالِيَةٌ عَرَبِيَّةٌ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الجِيلُ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جُذُورٌ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أَنْتَمِي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أَتَكَيَّفُ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أَحْتَفِظُ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أُوَازِنُ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يَنْتَمِي إِلَى</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يَتَكَيَّفُ مَعَ</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يَحْتَفِظُ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يُوَازِنُ بَيْنَ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أَفْعَلُ مِنْ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أَكْبَرُ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 / أَقَلُّ</a:t>
            </a:r>
            <a:pPr algn="l" indent="0" marL="0">
              <a:buNone/>
            </a:pPr>
            <a:r>
              <a:rPr lang="en-US" sz="1300" dirty="0">
                <a:solidFill>
                  <a:srgbClr val="1F2A37"/>
                </a:solidFill>
                <a:latin typeface="Calibri" pitchFamily="34" charset="0"/>
                <a:ea typeface="Calibri" pitchFamily="34" charset="-122"/>
                <a:cs typeface="Calibri" pitchFamily="34" charset="-120"/>
              </a:rPr>
              <a:t> + accusative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cities with </a:t>
            </a:r>
            <a:pPr algn="l" indent="0" marL="0">
              <a:buNone/>
            </a:pPr>
            <a:r>
              <a:rPr lang="ar-SA" altLang="en-US" sz="1700" b="1" dirty="0">
                <a:solidFill>
                  <a:srgbClr val="C9780A"/>
                </a:solidFill>
                <a:latin typeface="Amiri" pitchFamily="34" charset="0"/>
                <a:ea typeface="Amiri" pitchFamily="34" charset="-122"/>
                <a:cs typeface="Amiri" pitchFamily="34" charset="-120"/>
              </a:rPr>
              <a:t>أَكْبَرُ مِنْ / أَكْثَرُ …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home and school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مُهَاجِرٌ</a:t>
            </a:r>
            <a:pPr algn="l" indent="0" marL="0">
              <a:buNone/>
            </a:pPr>
            <a:r>
              <a:rPr lang="en-US" sz="1300" b="1" dirty="0">
                <a:solidFill>
                  <a:srgbClr val="B83227"/>
                </a:solidFill>
                <a:latin typeface="Calibri" pitchFamily="34" charset="0"/>
                <a:ea typeface="Calibri" pitchFamily="34" charset="-122"/>
                <a:cs typeface="Calibri" pitchFamily="34" charset="-120"/>
              </a:rPr>
              <a:t> vs </a:t>
            </a:r>
            <a:pPr algn="l" indent="0" marL="0">
              <a:buNone/>
            </a:pPr>
            <a:r>
              <a:rPr lang="ar-SA" altLang="en-US" sz="1700" b="1" dirty="0">
                <a:solidFill>
                  <a:srgbClr val="B83227"/>
                </a:solidFill>
                <a:latin typeface="Amiri" pitchFamily="34" charset="0"/>
                <a:ea typeface="Amiri" pitchFamily="34" charset="-122"/>
                <a:cs typeface="Amiri" pitchFamily="34" charset="-120"/>
              </a:rPr>
              <a:t>لَاجِئٌ</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‎مہاجر / ہجرت‎ </a:t>
            </a:r>
            <a:pPr indent="0" marL="0">
              <a:buNone/>
            </a:pPr>
            <a:r>
              <a:rPr lang="en-US" sz="950" b="1" dirty="0">
                <a:solidFill>
                  <a:srgbClr val="2E8B57"/>
                </a:solidFill>
                <a:latin typeface="Calibri" pitchFamily="34" charset="0"/>
                <a:ea typeface="Calibri" pitchFamily="34" charset="-122"/>
                <a:cs typeface="Calibri" pitchFamily="34" charset="-120"/>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‎وطن‎ </a:t>
            </a:r>
            <a:pPr indent="0" marL="0">
              <a:buNone/>
            </a:pPr>
            <a:r>
              <a:rPr lang="en-US" sz="950" b="1" dirty="0">
                <a:solidFill>
                  <a:srgbClr val="2E8B57"/>
                </a:solidFill>
                <a:latin typeface="Calibri" pitchFamily="34" charset="0"/>
                <a:ea typeface="Calibri" pitchFamily="34" charset="-122"/>
                <a:cs typeface="Calibri" pitchFamily="34" charset="-120"/>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‎غربت / پردیس‎ </a:t>
            </a:r>
            <a:pPr indent="0" marL="0">
              <a:buNone/>
            </a:pPr>
            <a:r>
              <a:rPr lang="en-US" sz="950" b="1" dirty="0">
                <a:solidFill>
                  <a:srgbClr val="2E8B57"/>
                </a:solidFill>
                <a:latin typeface="Calibri" pitchFamily="34" charset="0"/>
                <a:ea typeface="Calibri" pitchFamily="34" charset="-122"/>
                <a:cs typeface="Calibri" pitchFamily="34" charset="-120"/>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‎یاد / تڑپ‎ </a:t>
            </a:r>
            <a:pPr indent="0" marL="0">
              <a:buNone/>
            </a:pPr>
            <a:r>
              <a:rPr lang="en-US" sz="950" b="1" dirty="0">
                <a:solidFill>
                  <a:srgbClr val="2E8B57"/>
                </a:solidFill>
                <a:latin typeface="Calibri" pitchFamily="34" charset="0"/>
                <a:ea typeface="Calibri" pitchFamily="34" charset="-122"/>
                <a:cs typeface="Calibri" pitchFamily="34" charset="-120"/>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‎دوہری شہریت‎ </a:t>
            </a:r>
            <a:pPr indent="0" marL="0">
              <a:buNone/>
            </a:pPr>
            <a:r>
              <a:rPr lang="en-US" sz="950" b="1" dirty="0">
                <a:solidFill>
                  <a:srgbClr val="2E8B57"/>
                </a:solidFill>
                <a:latin typeface="Calibri" pitchFamily="34" charset="0"/>
                <a:ea typeface="Calibri" pitchFamily="34" charset="-122"/>
                <a:cs typeface="Calibri" pitchFamily="34" charset="-120"/>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Arab community abroad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migrant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refugee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citizen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diaspora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فِي الشَّتَاتِ</a:t>
            </a:r>
            <a:pPr algn="l" indent="0" marL="0">
              <a:buNone/>
            </a:pPr>
            <a:r>
              <a:rPr lang="en-US" sz="1000" i="1" dirty="0">
                <a:solidFill>
                  <a:srgbClr val="8A6D1E"/>
                </a:solidFill>
                <a:latin typeface="Calibri" pitchFamily="34" charset="0"/>
                <a:ea typeface="Calibri" pitchFamily="34" charset="-122"/>
                <a:cs typeface="Calibri" pitchFamily="34" charset="-120"/>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second generation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multicultural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 dual 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dual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nostalgia, 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Masculine; </a:t>
            </a:r>
            <a:pPr algn="l" indent="0" marL="0">
              <a:buNone/>
            </a:pPr>
            <a:r>
              <a:rPr lang="ar-SA" altLang="en-US" sz="1300" dirty="0">
                <a:solidFill>
                  <a:srgbClr val="8A6D1E"/>
                </a:solidFill>
                <a:latin typeface="Amiri" pitchFamily="34" charset="0"/>
                <a:ea typeface="Amiri" pitchFamily="34" charset="-122"/>
                <a:cs typeface="Amiri" pitchFamily="34" charset="-120"/>
              </a:rPr>
              <a:t>حَنِينٌ إِلَى الوَطَنِ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being far from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preserving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assimilation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retains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less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bigger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synthetic </a:t>
            </a:r>
            <a:pPr algn="l" indent="0" marL="0">
              <a:buNone/>
            </a:pPr>
            <a:r>
              <a:rPr lang="ar-SA" altLang="en-US" sz="1300" dirty="0">
                <a:solidFill>
                  <a:srgbClr val="8A6D1E"/>
                </a:solidFill>
                <a:latin typeface="Amiri" pitchFamily="34" charset="0"/>
                <a:ea typeface="Amiri" pitchFamily="34" charset="-122"/>
                <a:cs typeface="Amiri" pitchFamily="34" charset="-120"/>
              </a:rPr>
              <a:t>أَفْعَل</a:t>
            </a:r>
            <a:pPr algn="l" indent="0" marL="0">
              <a:buNone/>
            </a:pPr>
            <a:r>
              <a:rPr lang="en-US" sz="1000" i="1" dirty="0">
                <a:solidFill>
                  <a:srgbClr val="8A6D1E"/>
                </a:solidFill>
                <a:latin typeface="Calibri" pitchFamily="34" charset="0"/>
                <a:ea typeface="Calibri" pitchFamily="34" charset="-122"/>
                <a:cs typeface="Calibri" pitchFamily="34" charset="-120"/>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أَنْتَمِي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تَكَيَّفَتْ أُمِّي </a:t>
            </a:r>
            <a:pPr rtl="1" algn="ctr" indent="0" marL="0">
              <a:buNone/>
            </a:pPr>
            <a:r>
              <a:rPr lang="ar-SA" altLang="en-US" sz="1950" b="1" dirty="0">
                <a:solidFill>
                  <a:srgbClr val="D6336C"/>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يَتَكَيَّفُ </a:t>
            </a:r>
            <a:pPr rtl="1" algn="ctr" indent="0" marL="0">
              <a:buNone/>
            </a:pPr>
            <a:r>
              <a:rPr lang="ar-SA" altLang="en-US" sz="2200" b="1" dirty="0">
                <a:solidFill>
                  <a:srgbClr val="D6336C"/>
                </a:solidFill>
                <a:latin typeface="Amiri" pitchFamily="34" charset="0"/>
                <a:ea typeface="Amiri" pitchFamily="34" charset="-122"/>
                <a:cs typeface="Amiri" pitchFamily="34" charset="-120"/>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تَحْتَفِظُ الأُسَرُ </a:t>
            </a:r>
            <a:pPr rtl="1" algn="ctr" indent="0" marL="0">
              <a:buNone/>
            </a:pPr>
            <a:r>
              <a:rPr lang="ar-SA" altLang="en-US" sz="1950" b="1" dirty="0">
                <a:solidFill>
                  <a:srgbClr val="1D5FBF"/>
                </a:solidFill>
                <a:latin typeface="Amiri" pitchFamily="34" charset="0"/>
                <a:ea typeface="Amiri" pitchFamily="34" charset="-122"/>
                <a:cs typeface="Amiri" pitchFamily="34" charset="-120"/>
              </a:rPr>
              <a:t>بِلُغَتِهَا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يَحْتَفِظُ </a:t>
            </a:r>
            <a:pPr rtl="1" algn="ctr" indent="0" marL="0">
              <a:buNone/>
            </a:pPr>
            <a:r>
              <a:rPr lang="ar-SA" altLang="en-US" sz="2200" b="1" dirty="0">
                <a:solidFill>
                  <a:srgbClr val="1D5FBF"/>
                </a:solidFill>
                <a:latin typeface="Amiri" pitchFamily="34" charset="0"/>
                <a:ea typeface="Amiri" pitchFamily="34" charset="-122"/>
                <a:cs typeface="Amiri" pitchFamily="34" charset="-120"/>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أُوَازِنُ </a:t>
            </a:r>
            <a:pPr rtl="1" algn="ctr" indent="0" marL="0">
              <a:buNone/>
            </a:pPr>
            <a:r>
              <a:rPr lang="ar-SA" altLang="en-US" sz="1950" b="1" dirty="0">
                <a:solidFill>
                  <a:srgbClr val="0E7C86"/>
                </a:solidFill>
                <a:latin typeface="Amiri" pitchFamily="34" charset="0"/>
                <a:ea typeface="Amiri" pitchFamily="34" charset="-122"/>
                <a:cs typeface="Amiri" pitchFamily="34" charset="-120"/>
              </a:rPr>
              <a:t>بَيْنَ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يُوَازِنُ </a:t>
            </a:r>
            <a:pPr rtl="1" algn="ctr" indent="0" marL="0">
              <a:buNone/>
            </a:pPr>
            <a:r>
              <a:rPr lang="ar-SA" altLang="en-US" sz="2200" b="1" dirty="0">
                <a:solidFill>
                  <a:srgbClr val="0E7C86"/>
                </a:solidFill>
                <a:latin typeface="Amiri" pitchFamily="34" charset="0"/>
                <a:ea typeface="Amiri" pitchFamily="34" charset="-122"/>
                <a:cs typeface="Amiri" pitchFamily="34" charset="-120"/>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أَشْعُرُ </a:t>
            </a:r>
            <a:pPr rtl="1" algn="ctr" indent="0" marL="0">
              <a:buNone/>
            </a:pPr>
            <a:r>
              <a:rPr lang="ar-SA" altLang="en-US" sz="1950" b="1" dirty="0">
                <a:solidFill>
                  <a:srgbClr val="1D5FBF"/>
                </a:solidFill>
                <a:latin typeface="Amiri" pitchFamily="34" charset="0"/>
                <a:ea typeface="Amiri" pitchFamily="34" charset="-122"/>
                <a:cs typeface="Amiri" pitchFamily="34" charset="-120"/>
              </a:rPr>
              <a:t>بِالحَنِينِ</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يَشْعُرُ </a:t>
            </a:r>
            <a:pPr rtl="1" algn="ctr" indent="0" marL="0">
              <a:buNone/>
            </a:pPr>
            <a:r>
              <a:rPr lang="ar-SA" altLang="en-US" sz="2200" b="1" dirty="0">
                <a:solidFill>
                  <a:srgbClr val="1D5FBF"/>
                </a:solidFill>
                <a:latin typeface="Amiri" pitchFamily="34" charset="0"/>
                <a:ea typeface="Amiri" pitchFamily="34" charset="-122"/>
                <a:cs typeface="Amiri" pitchFamily="34" charset="-120"/>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preposition the noun is genitive: </a:t>
            </a:r>
            <a:pPr algn="l" indent="0" marL="0">
              <a:buNone/>
            </a:pPr>
            <a:r>
              <a:rPr lang="ar-SA" altLang="en-US" sz="1500" b="1" dirty="0">
                <a:solidFill>
                  <a:srgbClr val="1B3B6F"/>
                </a:solidFill>
                <a:latin typeface="Amiri" pitchFamily="34" charset="0"/>
                <a:ea typeface="Amiri" pitchFamily="34" charset="-122"/>
                <a:cs typeface="Amiri" pitchFamily="34" charset="-120"/>
              </a:rPr>
              <a:t>إِلَى ثَقَافَتَيْنِ</a:t>
            </a:r>
            <a:pPr algn="l" indent="0" marL="0">
              <a:buNone/>
            </a:pPr>
            <a:r>
              <a:rPr lang="en-US" sz="1150" b="1" dirty="0">
                <a:solidFill>
                  <a:srgbClr val="1B3B6F"/>
                </a:solidFill>
                <a:latin typeface="Calibri" pitchFamily="34" charset="0"/>
                <a:ea typeface="Calibri" pitchFamily="34" charset="-122"/>
                <a:cs typeface="Calibri" pitchFamily="34" charset="-120"/>
              </a:rPr>
              <a:t> (dual) · </a:t>
            </a:r>
            <a:pPr algn="l" indent="0" marL="0">
              <a:buNone/>
            </a:pPr>
            <a:r>
              <a:rPr lang="ar-SA" altLang="en-US" sz="1500" b="1" dirty="0">
                <a:solidFill>
                  <a:srgbClr val="1B3B6F"/>
                </a:solidFill>
                <a:latin typeface="Amiri" pitchFamily="34" charset="0"/>
                <a:ea typeface="Amiri" pitchFamily="34" charset="-122"/>
                <a:cs typeface="Amiri" pitchFamily="34" charset="-120"/>
              </a:rPr>
              <a:t>بِلُغَتِهَا</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مَعَ الحَيَاةِ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أَفْعَل</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accusative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between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أَنْتَمِي </a:t>
            </a:r>
            <a:pPr rtl="1" algn="ctr" indent="0" marL="0">
              <a:buNone/>
            </a:pPr>
            <a:r>
              <a:rPr lang="ar-SA" altLang="en-US" sz="28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800" b="1" dirty="0">
                <a:solidFill>
                  <a:srgbClr val="1B3B6F"/>
                </a:solidFill>
                <a:latin typeface="Amiri" pitchFamily="34" charset="0"/>
                <a:ea typeface="Amiri" pitchFamily="34" charset="-122"/>
                <a:cs typeface="Amiri" pitchFamily="34" charset="-120"/>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نَتَحَدَّثُ العَرَبِيَّةَ،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أَصْغَرُ مِنْ · </a:t>
            </a:r>
            <a:pPr rtl="1" algn="ctr" indent="0" marL="0">
              <a:buNone/>
            </a:pPr>
            <a:r>
              <a:rPr lang="ar-SA" altLang="en-US" sz="2100" b="1" dirty="0">
                <a:solidFill>
                  <a:srgbClr val="D6336C"/>
                </a:solidFill>
                <a:latin typeface="Amiri" pitchFamily="34" charset="0"/>
                <a:ea typeface="Amiri" pitchFamily="34" charset="-122"/>
                <a:cs typeface="Amiri" pitchFamily="34" charset="-120"/>
              </a:rPr>
              <a:t>أَكْثَرُ هُدُوءًا</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ثَقَافَتَيْنِ، وَأُوَازِنُ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بَيْنَهُمَا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يَوْمٍ. فِي البَيْتِ نَتَحَدَّثُ العَرَبِيَّةَ،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أَدْرُسُ بِالإِنْجِلِيزِيَّةِ. مَدِينَتُنَا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أَصْغَرُ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القَاهِرَةِ، وَلٰكِنَّهَا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أَكْثَرُ هُدُوءًا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belong to two cultures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London is bigger than my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more diverse than others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مُهَاجِرٌ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لَاجِئٌ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يُوَازِنُ</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مُهَاجِرٌ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لَاجِئٌ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يَنْتَمِي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يَحْتَفِظُ</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comparing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مَدِينَتِكَ وَمَدِينَةٍ عَرَبِيَّةٍ. اِسْتَعْمِلْ أَفْعَل وَأَكْثَرُ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تَحْتَفِظُ بِهِ الأُسَرُ عِنْدَمَا تَنْتَقِلُ إِلَى بَلَدٍ جَدِيدٍ؟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تَصِفُ الهُوِيَّةَ المُزْدَوَجَةَ دُونَ تَبْسِيطٍ؟</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مَدِينَتِي ___ مِنْ ___ ، وَلٰكِنَّهَا أَكْثَرُ ___ مِنْهَا.</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بِـ ___ ، وَتَتَكَيَّفُ مَعَ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مَدِينَتِكَ وَمَدِينَةٍ عَرَبِيَّةٍ.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your city with an Arab city.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مَدِينَتِي أَصْغَرُ مِنَ القَاهِرَةِ، وَلٰكِنَّهَا أَكْثَرُ هُدُوءًا مِنْهَا.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city is smaller than Cairo, but it is calmer.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comparative of each type and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statement using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my noun ends in -an (</a:t>
            </a:r>
            <a:pPr algn="l" indent="0" marL="0">
              <a:buNone/>
            </a:pPr>
            <a:r>
              <a:rPr lang="ar-SA" altLang="en-US" sz="1700" dirty="0">
                <a:solidFill>
                  <a:srgbClr val="1F2A37"/>
                </a:solidFill>
                <a:latin typeface="Amiri" pitchFamily="34" charset="0"/>
                <a:ea typeface="Amiri" pitchFamily="34" charset="-122"/>
                <a:cs typeface="Amiri" pitchFamily="34" charset="-120"/>
              </a:rPr>
              <a:t>هُدُوءًا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 المُهَاجِرُ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مُجْتَمَعِهِ الجَدِيدِ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مُهَاجِرٌ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وَطَنٌ</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جُذُورٌ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 المُهَاجِرُ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مُجْتَمَعِهِ الجَدِيدِ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مُهَاجِرٌ</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وَطَنٌ</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جُذُورٌ</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يُوَازِنُ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يُوَازِنُ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يُوَازِنُ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حَنِينٌ</a:t>
            </a:r>
            <a:pPr algn="l" indent="0" marL="0">
              <a:buNone/>
            </a:pPr>
            <a:r>
              <a:rPr lang="en-US" sz="1050" i="1" dirty="0">
                <a:solidFill>
                  <a:srgbClr val="8A6D1E"/>
                </a:solidFill>
                <a:latin typeface="Calibri" pitchFamily="34" charset="0"/>
                <a:ea typeface="Calibri" pitchFamily="34" charset="-122"/>
                <a:cs typeface="Calibri" pitchFamily="34" charset="-120"/>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جُذُورٌ</a:t>
            </a:r>
            <a:pPr algn="l" indent="0" marL="0">
              <a:buNone/>
            </a:pPr>
            <a:r>
              <a:rPr lang="en-US" sz="1050" i="1" dirty="0">
                <a:solidFill>
                  <a:srgbClr val="8A6D1E"/>
                </a:solidFill>
                <a:latin typeface="Calibri" pitchFamily="34" charset="0"/>
                <a:ea typeface="Calibri" pitchFamily="34" charset="-122"/>
                <a:cs typeface="Calibri" pitchFamily="34" charset="-120"/>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D6-L05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D6-L06 · Arabic Around the World — The Language’s Global Reach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الأُمَمِ المُتَّحِدَةِ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مُتَحَدِّثٌ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speaker</a:t>
            </a:r>
            <a:pPr indent="0" marL="0">
              <a:buNone/>
            </a:pPr>
            <a:r>
              <a:rPr lang="en-US" sz="1000" i="1" dirty="0">
                <a:solidFill>
                  <a:srgbClr val="5A6472"/>
                </a:solidFill>
                <a:latin typeface="Calibri" pitchFamily="34" charset="0"/>
                <a:ea typeface="Calibri" pitchFamily="34" charset="-122"/>
                <a:cs typeface="Calibri" pitchFamily="34" charset="-120"/>
              </a:rPr>
              <a:t>  pl. مُتَحَدِّثُونَ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الانْتِشَارُ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spread, reach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كَلِمَاتٌ مُسْتَعَارَةٌ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loanwords</a:t>
            </a:r>
            <a:pPr indent="0" marL="0">
              <a:buNone/>
            </a:pPr>
            <a:r>
              <a:rPr lang="en-US" sz="1000" i="1" dirty="0">
                <a:solidFill>
                  <a:srgbClr val="5A6472"/>
                </a:solidFill>
                <a:latin typeface="Calibri" pitchFamily="34" charset="0"/>
                <a:ea typeface="Calibri" pitchFamily="34" charset="-122"/>
                <a:cs typeface="Calibri" pitchFamily="34" charset="-120"/>
              </a:rPr>
              <a:t>  sing. كَلِمَةٌ مُسْتَعَارَةٌ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يُثْرِي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enriches</a:t>
            </a:r>
            <a:pPr indent="0" marL="0">
              <a:buNone/>
            </a:pPr>
            <a:r>
              <a:rPr lang="en-US" sz="1000" i="1" dirty="0">
                <a:solidFill>
                  <a:srgbClr val="5A6472"/>
                </a:solidFill>
                <a:latin typeface="Calibri" pitchFamily="34" charset="0"/>
                <a:ea typeface="Calibri" pitchFamily="34" charset="-122"/>
                <a:cs typeface="Calibri" pitchFamily="34" charset="-120"/>
              </a:rPr>
              <a:t>  أَثْرَى past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know any English (or Urdu) words that come from Arabic? List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مِنَ الكَلِمَاتِ ذَاتِ الأَصْلِ العَرَبِيِّ: … · …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D6-L06 · Arabic Around the World — The Language’s Global Reach</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العَرَبِيَّةُ حَوْلَ العَالَمِ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أَنْتَمِي إِلَى</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أَتَكَيَّفُ مَعَ</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أَحْتَفِظُ بِـ</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أُوَازِنُ بَيْنَ</a:t>
            </a:r>
            <a:pPr algn="l" indent="0" marL="0">
              <a:buNone/>
            </a:pPr>
            <a:r>
              <a:rPr lang="en-US" sz="1300" b="1" dirty="0">
                <a:solidFill>
                  <a:srgbClr val="FFFFFF"/>
                </a:solidFill>
                <a:latin typeface="Calibri" pitchFamily="34" charset="0"/>
                <a:ea typeface="Calibri" pitchFamily="34" charset="-122"/>
                <a:cs typeface="Calibri" pitchFamily="34" charset="-120"/>
              </a:rPr>
              <a:t> — and ONE comparative: </a:t>
            </a:r>
            <a:pPr algn="l" indent="0" marL="0">
              <a:buNone/>
            </a:pPr>
            <a:r>
              <a:rPr lang="ar-SA" altLang="en-US" sz="1700" b="1" dirty="0">
                <a:solidFill>
                  <a:srgbClr val="FFFFFF"/>
                </a:solidFill>
                <a:latin typeface="Amiri" pitchFamily="34" charset="0"/>
                <a:ea typeface="Amiri" pitchFamily="34" charset="-122"/>
                <a:cs typeface="Amiri" pitchFamily="34" charset="-120"/>
              </a:rPr>
              <a:t>أَكْبَرُ مِنْ</a:t>
            </a:r>
            <a:pPr algn="l" indent="0" marL="0">
              <a:buNone/>
            </a:pPr>
            <a:r>
              <a:rPr lang="en-US" sz="1300" b="1" dirty="0">
                <a:solidFill>
                  <a:srgbClr val="FFFFFF"/>
                </a:solidFill>
                <a:latin typeface="Calibri" pitchFamily="34" charset="0"/>
                <a:ea typeface="Calibri" pitchFamily="34" charset="-122"/>
                <a:cs typeface="Calibri" pitchFamily="34" charset="-120"/>
              </a:rPr>
              <a:t> or </a:t>
            </a:r>
            <a:pPr algn="l" indent="0" marL="0">
              <a:buNone/>
            </a:pPr>
            <a:r>
              <a:rPr lang="ar-SA" altLang="en-US" sz="1700" b="1" dirty="0">
                <a:solidFill>
                  <a:srgbClr val="FFFFFF"/>
                </a:solidFill>
                <a:latin typeface="Amiri" pitchFamily="34" charset="0"/>
                <a:ea typeface="Amiri" pitchFamily="34" charset="-122"/>
                <a:cs typeface="Amiri" pitchFamily="34" charset="-120"/>
              </a:rPr>
              <a:t>أَكْثَرُ هُدُوءًا مِنْ</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D6-L05 · Comparing Countries — Global Connections and the Arab Diaspora</dc:title>
  <dc:subject>PptxGenJS Presentation</dc:subject>
  <dc:creator>Al Madina Online School · Arabic Department</dc:creator>
  <cp:lastModifiedBy>Al Madina Online School · Arabic Department</cp:lastModifiedBy>
  <cp:revision>1</cp:revision>
  <dcterms:created xsi:type="dcterms:W3CDTF">2026-10-03T10:29:10Z</dcterms:created>
  <dcterms:modified xsi:type="dcterms:W3CDTF">2026-10-03T10:29:10Z</dcterms:modified>
</cp:coreProperties>
</file>