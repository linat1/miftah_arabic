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D6-L07. The website lesson “D6 Grammar Consolidation — All Tenses Together”: vocabulary, grammar rules and quiz, patterns, common mistakes, sorter, listening, reading, speaking prompts and model, writing task and model, differentiation, final check and the lesson mission. Picture match: website visual game “D6 Grammar Consolidation — All Tenses Together”.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sentences, two in each tense, each verb matching its time phrase (فِي المَاضِي · الآنَ · فِي العَامِ القَادِمِ). Develop: add a relative clause (الَّذِي / الَّتِي) and one comparative. Stretch: the website 90–100-word paragraph with a passive, لِكَيْ and شَرِيطَةَ أَنْ.
• This is a CONSOLIDATION lesson before the D6 assessment (D6-L12). No new grammar: the aim is accuracy when structures are combined. Teach the habit “write one clause → check it → join it”.
• End with each student naming ONE structure they still need to practise (مَجَالُ التَّحْسِينِ) — collect these to plan D6-L11.
• TEACHER-WRITTEN ITEMS: the connector عِلَاوَةً shown as عَلَاوَةً and English added to the patterns and speaking model; three of the six website visual-game cards are used.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D6-L06. Questions 4–5 retrieve the direct-object verbs (D6-L06) and the single comparative (D6-L05).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clause carries its own time — so the tense can change inside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ماضی، مستقبل، زمانہ and قوت are shared with Arabic — Urdu grammar even uses فعل ماضی and فعل مستقبل. CAREFUL: Urdu usually says حال for the present tense; Arabic says الحَاضِرُ or المُضَارِعُ.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Talking about grammar (website vocabulary (1 of 2)). Hear → Say → See → Use. Transliteration is printed for Core students (cover it for Develop/Stretch).
Talking about grammar: the names of the tenses and structures, so students can say what they checked — and what they still need (مَجَالَاتُ التَّحْسِينِ).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Talking about grammar (website vocabulary (2 of 2)). Hear → Say → See → Use. Transliteration is printed for Core students (cover it for Develop/Stretch).
Talking about grammar: the names of the tenses and structures, so students can say what they checked — and what they still need (مَجَالَاتُ التَّحْسِينِ).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Structures to combine (website vocabulary (1 of 2)). Hear → Say → See → Use. Transliteration is printed for Core students (cover it for Develop/Stretch).
Structures to combine: each one comes from an earlier unit (D2–D5). The note on each card says what it governs: لَنْ / لِكَيْ / شَرِيطَةَ أَنْ + subjunctive · عَلَى الرَّغْمِ مِنْ +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Structures to combine (website vocabulary (2 of 2)). Hear → Say → See → Use. Transliteration is printed for Core students (cover it for Develop/Stretch).
Structures to combine: each one comes from an earlier unit (D2–D5). The note on each card says what it governs: لَنْ / لِكَيْ / شَرِيطَةَ أَنْ + subjunctive · عَلَى الرَّغْمِ مِنْ +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D6 cultural verbs to reuse (website vocabulary (1 of 2)). Hear → Say → See → Use. Transliteration is printed for Core students (cover it for Develop/Stretch).
D6 cultural verbs to reuse: cards show I / past. Every one keeps its fixed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D6 cultural verbs to reuse (website vocabulary (2 of 2)). Hear → Say → See → Use. Transliteration is printed for Core students (cover it for Develop/Stretch).
D6 cultural verbs to reuse: cards show I / past. Every one keeps its fixed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“Three tenses, three markers”: each clause carries its own time reference, so the tense can change from clause to clause within one sentence. Website rule “Negating the future”: لَنْ + subjunctive (the final ḍamma becomes a fatḥa).
Check routine for students: underline the time phrase → circle the verb → do they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“Relative clauses” (definite noun + الَّذِي / الَّتِي; after an indefinite noun no pronoun: مَدِينَةٌ زُرْتُهَا) and “Formal connectors” (عَلَى الرَّغْمِ مِنْ + genitive · شَرِيطَةَ أَنْ + subjunctive · عَلَاوَةً عَلَى ذٰلِكَ simply adds a point).
Website teaching point: “Most errors at this level come from stacking: two comparatives, or a passive that keeps its object accusative. Write the clause with one structure, check it, then join it to the next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“Four checks carry this lesson: does each verb match its time phrase, does each relative pronoun agree, is only one comparative used, and does each passive have a nominative subject.”
• Three tenses, three markers: Each clause carries its own time reference, so the tense can change from clause to clause within one sentence.
• Relative clauses: The pronoun agrees with the preceding noun in gender and number. After an indefinite noun no pronoun is used.
• Negating the future: لَنْ replaces سَـ and puts the verb in the subjunctive, so the final ḍamma becomes a fatḥa.
• Formal connectors: Each connector governs what follows it. عَلَاوَةً عَلَى ذٰلِكَ simply adds a point.
Website common error: Stacking structures without checking each one: a relative pronoun that agrees with the wrong noun, a doubled comparative, or a passive whose subject is still accusative. Write, check, then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from the website writing model. Think aloud at each clause: “What is the time phrase? Does my verb match? Which noun does الَّتِي look back to? What does this connector govern?” Show the checking, not just the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D6 Grammar Consolidation — All Tenses Together”)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change each sentence into the other two tenses: سَأَقْرَأُ → قَرَأْتُ → أَقْرَأُ الآنَ. Other website cards: قَرَأْتُ الكِتَابَ أَمْسِ · أَقْرَأُ الكِتَابَ الآنَ · نَدْرُسُ فِي المَدْرَسَةِ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D6 Grammar Consolidation — All Tenses Together”)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change each sentence into the other two tenses: سَأَقْرَأُ → قَرَأْتُ → أَقْرَأُ الآنَ. Other website cards: قَرَأْتُ الكِتَابَ أَمْسِ · أَقْرَأُ الكِتَابَ الآنَ · نَدْرُسُ فِي المَدْرَسَةِ الآنَ.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add one more sentence to each column about your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add one more sentence to each column about your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write down one verb from each tense.
Listen 1: just listen. Listen 2: note answers. Then chat the letters.
Support: after the second listening, show the read-along slide (Arabic + English, line by line) for Core students.
SCRIPT (read aloud):
فِي المَاضِي كَانَتْ أُسْرَتِي تَحْتَفِلُ بِالعِيدِ فِي القَرْيَةِ الَّتِي وُلِدَ فِيهَا جَدِّي. وَكَانَتِ الشَّوَارِعُ تُزَيَّنُ، وَتُتَبَادَلُ التَّهَانِي بَيْنَ الجِيرَانِ. أَمَّا الآنَ فَنَحْتَفِلُ هُنَا مَعَ الجَالِيَةِ، وَنَحْتَفِظُ بِالعَادَاتِ نَفْسِهَا عَلَى الرَّغْمِ مِنْ بُعْدِ المَسَافَةِ. وَالاحْتِفَالُ الَّذِي نُنَظِّمُهُ اليَوْمَ أَصْغَرُ مِنَ السَّابِقِ، وَلٰكِنَّهُ أَكْثَرُ تَنَوُّعًا. وَفِي العَامِ القَادِمِ سَنَدْعُو أَصْدِقَاءَنَا لِكَيْ يَتَعَرَّفُوا عَلَى ثَقَافَتِنَا. وَلَنْ نَتَخَلَّى عَنْ لُغَتِنَا، شَرِيطَةَ أَنْ نَسْتَمِرَّ فِي تَعْلِيمِهَا لِأَبْنَائِنَا.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الفَرْقُ الآنَ؟ (And what is the difference now?)
B: الاحْتِفَالُ اليَوْمَ أَصْغَرُ مِنَ السَّابِقِ وَلٰكِنَّهُ أَكْثَرُ تَنَوُّعًا، وَسَنَدْعُو أَصْدِقَاءَنَا لِكَيْ يَتَعَرَّفُوا عَلَيْنَا. (Today’s celebration is smaller than before but more varied, and we will invite our friends so they get to know us.)
Website prompts and model. Any celebration works: Eid, a wedding, an ʿaqīqa, a family gathering. To a girl: أُسْرَتُكِ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sentences, two in each tense, each matching its time phrase. · Develop — Add a relative clause and a comparative. · Stretch — Combine a passive, a purpose clause with لِكَيْ and a condition with شَرِيطَةَ أَنْ in one connected paragraph.
Website writing task (Stretch): Write ninety to one hundred words describing how a celebration has changed in your family or community. Move through past, present and future, and include a relative clause, a comparative, a passive and a formal connector.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كَانَتْ … تَحْتَفِلُ · نَحْتَفِلُ · سَنَدْعُو · لَنْ نَتَخَلَّى · القَرْيَةِ الَّتِي · الاحْتِفَالُ الَّذِي · أَصْغَرُ مِنَ السَّابِقِ · أَكْثَرُ تَنَوُّعًا · تُزَيَّنُ / تُتَبَادَلُ · عَلَى الرَّغْمِ مِنْ بُعْدِ · لِكَيْ يَتَعَرَّفُوا · شَرِيطَةَ أَنْ نَسْتَمِرَّ.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(D6-L08 · Reading — Countries, Culture and Celebration Texts) will spend class time USING this language, so students prepare it tonight — short, simple, easy to access (school guidance: “Simple, Short, Interesting, Relevant, Easy to access”). The five words come from the website D6-L08 vocabulary (perspective, tone and reading strategy).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D6 Grammar Consolidation — All Tenses Together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تَرْسِيخُ قَوَاعِدِ الوَحْدَةِ — جَمِيعُ الأَزْمِنَةِ مَعًا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the whole Development grammar system into one text: past (</a:t>
            </a:r>
            <a:pPr algn="l" indent="0" marL="0">
              <a:buNone/>
            </a:pPr>
            <a:r>
              <a:rPr lang="ar-SA" altLang="en-US" sz="1800" dirty="0">
                <a:solidFill>
                  <a:srgbClr val="C6D2E6"/>
                </a:solidFill>
                <a:latin typeface="Amiri" pitchFamily="2" charset="-78"/>
                <a:ea typeface="Amiri" pitchFamily="2" charset="-78"/>
                <a:cs typeface="Amiri" pitchFamily="2" charset="-78"/>
              </a:rPr>
              <a:t>كَانَتْ تَحْتَفِلُ</a:t>
            </a:r>
            <a:pPr algn="l" indent="0" marL="0">
              <a:buNone/>
            </a:pPr>
            <a:r>
              <a:rPr lang="en-US" sz="1400" dirty="0">
                <a:solidFill>
                  <a:srgbClr val="C6D2E6"/>
                </a:solidFill>
                <a:latin typeface="Calibri" pitchFamily="34" charset="0"/>
                <a:cs typeface="Amiri" pitchFamily="2" charset="-78"/>
              </a:rPr>
              <a:t>), present (</a:t>
            </a:r>
            <a:pPr algn="l" indent="0" marL="0">
              <a:buNone/>
            </a:pPr>
            <a:r>
              <a:rPr lang="ar-SA" altLang="en-US" sz="1800" dirty="0">
                <a:solidFill>
                  <a:srgbClr val="C6D2E6"/>
                </a:solidFill>
                <a:latin typeface="Amiri" pitchFamily="2" charset="-78"/>
                <a:ea typeface="Amiri" pitchFamily="2" charset="-78"/>
                <a:cs typeface="Amiri" pitchFamily="2" charset="-78"/>
              </a:rPr>
              <a:t>نَحْتَفِلُ الآنَ</a:t>
            </a:r>
            <a:pPr algn="l" indent="0" marL="0">
              <a:buNone/>
            </a:pPr>
            <a:r>
              <a:rPr lang="en-US" sz="1400" dirty="0">
                <a:solidFill>
                  <a:srgbClr val="C6D2E6"/>
                </a:solidFill>
                <a:latin typeface="Calibri" pitchFamily="34" charset="0"/>
                <a:cs typeface="Amiri" pitchFamily="2" charset="-78"/>
              </a:rPr>
              <a:t>) and future (</a:t>
            </a:r>
            <a:pPr algn="l" indent="0" marL="0">
              <a:buNone/>
            </a:pPr>
            <a:r>
              <a:rPr lang="ar-SA" altLang="en-US" sz="1800" dirty="0">
                <a:solidFill>
                  <a:srgbClr val="C6D2E6"/>
                </a:solidFill>
                <a:latin typeface="Amiri" pitchFamily="2" charset="-78"/>
                <a:ea typeface="Amiri" pitchFamily="2" charset="-78"/>
                <a:cs typeface="Amiri" pitchFamily="2" charset="-78"/>
              </a:rPr>
              <a:t>سَنَحْتَفِلُ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لَنْ نَتَخَلَّى</a:t>
            </a:r>
            <a:pPr algn="l" indent="0" marL="0">
              <a:buNone/>
            </a:pPr>
            <a:r>
              <a:rPr lang="en-US" sz="1400" dirty="0">
                <a:solidFill>
                  <a:srgbClr val="C6D2E6"/>
                </a:solidFill>
                <a:latin typeface="Calibri" pitchFamily="34" charset="0"/>
                <a:cs typeface="Amiri" pitchFamily="2" charset="-78"/>
              </a:rPr>
              <a:t>) — plus a relative clause, ONE comparative, a passive and a formal connector, each checked before you join it to the next.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D6-L07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tenses, relative agreement, </a:t>
            </a:r>
            <a:pPr algn="ctr" indent="0" marL="0">
              <a:buNone/>
            </a:pPr>
            <a:r>
              <a:rPr lang="ar-SA" altLang="en-US" sz="1550" dirty="0">
                <a:solidFill>
                  <a:srgbClr val="1F2A37"/>
                </a:solidFill>
                <a:latin typeface="Amiri" pitchFamily="2" charset="-78"/>
                <a:ea typeface="Amiri" pitchFamily="2" charset="-78"/>
                <a:cs typeface="Amiri" pitchFamily="2" charset="-78"/>
              </a:rPr>
              <a:t>لَنْ</a:t>
            </a:r>
            <a:pPr algn="ctr" indent="0" marL="0">
              <a:buNone/>
            </a:pPr>
            <a:r>
              <a:rPr lang="en-US" sz="1200" dirty="0">
                <a:solidFill>
                  <a:srgbClr val="1F2A37"/>
                </a:solidFill>
                <a:latin typeface="Calibri" pitchFamily="34" charset="0"/>
                <a:cs typeface="Amiri" pitchFamily="2" charset="-78"/>
              </a:rPr>
              <a:t>, one comparative, the passive.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tense, fix stacked structures, then one family across three tenses.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مُرَاجَعَةٌ شَامِلَةٌ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test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comprehensive review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lesson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الاِسْمُ المَوْصُولُ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relative pronoun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passive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comparative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إِتْقَانٌ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mistake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meaning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mastery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تُثْرِي العَرَبِيَّةُ بِتَفْكِيرِنَا.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تُثْرِي العَرَبِيَّةُ إِلَى تَفْكِيرِنَا.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تُثْرِي العَرَبِيَّةُ تَفْكِيرَنَا.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مَدِينَتُنَا أَصْغَرُ مِنَ القَاهِرَةِ.</a:t>
            </a:r>
            <a:endParaRPr lang="ar-SA" sz="20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مَدِينَتُنَا أَكْثَرُ أَصْغَرُ مِنَ القَاهِرَةِ.</a:t>
            </a:r>
            <a:endParaRPr lang="ar-SA" sz="20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مَدِينَتُنَا الأَصْغَرُ مِنَ القَاهِرَةِ.</a:t>
            </a:r>
            <a:endParaRPr lang="ar-SA" sz="20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مُرَاجَعَةٌ شَامِلَةٌ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test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comprehensive review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lesson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الاِسْمُ المَوْصُولُ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relative pronoun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passive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comparative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إِتْقَانٌ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mistake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meaning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mastery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تُثْرِي العَرَبِيَّةُ بِتَفْكِيرِنَا.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تُثْرِي العَرَبِيَّةُ إِلَى تَفْكِيرِنَا.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تُثْرِي العَرَبِيَّةُ تَفْكِيرَنَا.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D6-L06: a direct object, no preposition.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مَدِينَتُنَا أَصْغَرُ مِنَ القَاهِرَةِ.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مَدِينَتُنَا أَكْثَرُ أَصْغَرُ مِنَ القَاهِرَةِ.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مَدِينَتُنَا الأَصْغَرُ مِنَ القَاهِرَةِ.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D6-L05: one comparative at a time.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clause carries its own time — so the tense can change inside one sentence.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فِي المَاضِي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احْتَفَلْنَا، وَ</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الآنَ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نَحْتَفِلُ، وَ</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سَنَحْتَفِلُ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غَدًا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accurate past, present and future in one connected text.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t>
            </a:r>
            <a:pPr algn="l" indent="0" marL="0">
              <a:buNone/>
            </a:pPr>
            <a:r>
              <a:rPr lang="ar-SA" altLang="en-US" sz="1700" dirty="0">
                <a:solidFill>
                  <a:srgbClr val="1F2A37"/>
                </a:solidFill>
                <a:latin typeface="Amiri" pitchFamily="2" charset="-78"/>
                <a:ea typeface="Amiri" pitchFamily="2" charset="-78"/>
                <a:cs typeface="Amiri" pitchFamily="2" charset="-78"/>
              </a:rPr>
              <a:t>الَّذِي / الَّتِي</a:t>
            </a:r>
            <a:pPr algn="l" indent="0" marL="0">
              <a:buNone/>
            </a:pPr>
            <a:r>
              <a:rPr lang="en-US" sz="1300" dirty="0">
                <a:solidFill>
                  <a:srgbClr val="1F2A37"/>
                </a:solidFill>
                <a:latin typeface="Calibri" pitchFamily="34" charset="0"/>
                <a:cs typeface="Amiri" pitchFamily="2" charset="-78"/>
              </a:rPr>
              <a:t> agree with the noun before them.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a passive, a comparative and a formal connector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my own grammar target before the final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two sentences in each tense.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Each verb matches its time phrase.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relative clause that agrees.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one accurate comparative.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combine a passive, </a:t>
            </a:r>
            <a:pPr algn="l" indent="0" marL="0">
              <a:buNone/>
            </a:pPr>
            <a:r>
              <a:rPr lang="ar-SA" altLang="en-US" sz="1700" b="1" dirty="0">
                <a:solidFill>
                  <a:srgbClr val="B83227"/>
                </a:solidFill>
                <a:latin typeface="Amiri" pitchFamily="2" charset="-78"/>
                <a:ea typeface="Amiri" pitchFamily="2" charset="-78"/>
                <a:cs typeface="Amiri" pitchFamily="2" charset="-78"/>
              </a:rPr>
              <a:t>لِكَيْ</a:t>
            </a:r>
            <a:pPr algn="l" indent="0" marL="0">
              <a:buNone/>
            </a:pPr>
            <a:r>
              <a:rPr lang="en-US" sz="1300" b="1" dirty="0">
                <a:solidFill>
                  <a:srgbClr val="B83227"/>
                </a:solidFill>
                <a:latin typeface="Calibri" pitchFamily="34" charset="0"/>
                <a:cs typeface="Amiri" pitchFamily="2" charset="-78"/>
              </a:rPr>
              <a:t> and </a:t>
            </a:r>
            <a:pPr algn="l" indent="0" marL="0">
              <a:buNone/>
            </a:pPr>
            <a:r>
              <a:rPr lang="ar-SA" altLang="en-US" sz="1700" b="1" dirty="0">
                <a:solidFill>
                  <a:srgbClr val="B83227"/>
                </a:solidFill>
                <a:latin typeface="Amiri" pitchFamily="2" charset="-78"/>
                <a:ea typeface="Amiri" pitchFamily="2" charset="-78"/>
                <a:cs typeface="Amiri" pitchFamily="2" charset="-78"/>
              </a:rPr>
              <a:t>شَرِيطَةَ أَنْ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grammar target.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Talking about grammar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Structures to combine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D6 cultural verbs to reuse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المَاضِي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‎ماضی‎ </a:t>
            </a:r>
            <a:pPr indent="0" marL="0">
              <a:buNone/>
            </a:pPr>
            <a:r>
              <a:rPr lang="en-US" sz="950" b="1" dirty="0">
                <a:solidFill>
                  <a:srgbClr val="2E8B57"/>
                </a:solidFill>
                <a:latin typeface="Calibri" pitchFamily="34" charset="0"/>
                <a:cs typeface="Amiri" pitchFamily="2" charset="-78"/>
              </a:rPr>
              <a:t> māzī · the past (same word)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المُسْتَقْبَلُ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‎مستقبل‎ </a:t>
            </a:r>
            <a:pPr indent="0" marL="0">
              <a:buNone/>
            </a:pPr>
            <a:r>
              <a:rPr lang="en-US" sz="950" b="1" dirty="0">
                <a:solidFill>
                  <a:srgbClr val="2E8B57"/>
                </a:solidFill>
                <a:latin typeface="Calibri" pitchFamily="34" charset="0"/>
                <a:cs typeface="Amiri" pitchFamily="2" charset="-78"/>
              </a:rPr>
              <a:t> mustaqbil · the future (same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الحَاضِرُ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‎حال / حاضر‎ </a:t>
            </a:r>
            <a:pPr indent="0" marL="0">
              <a:buNone/>
            </a:pPr>
            <a:r>
              <a:rPr lang="ar-SA" sz="950" b="1" dirty="0">
                <a:solidFill>
                  <a:srgbClr val="2E8B57"/>
                </a:solidFill>
                <a:latin typeface="Calibri" pitchFamily="34" charset="0"/>
                <a:ea typeface="Amiri" pitchFamily="2" charset="-78"/>
                <a:cs typeface="Amiri" pitchFamily="2" charset="-78"/>
              </a:rPr>
              <a:t> ḥāl / ḥāzir · the present · Urdu حاضر = present, in attendance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زَمَنٌ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‎زمانہ‎ </a:t>
            </a:r>
            <a:pPr indent="0" marL="0">
              <a:buNone/>
            </a:pPr>
            <a:r>
              <a:rPr lang="en-US" sz="950" b="1" dirty="0">
                <a:solidFill>
                  <a:srgbClr val="2E8B57"/>
                </a:solidFill>
                <a:latin typeface="Calibri" pitchFamily="34" charset="0"/>
                <a:cs typeface="Amiri" pitchFamily="2" charset="-78"/>
              </a:rPr>
              <a:t> zamāna · time, tense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قُوَّةٌ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‎قوت‎ </a:t>
            </a:r>
            <a:pPr indent="0" marL="0">
              <a:buNone/>
            </a:pPr>
            <a:r>
              <a:rPr lang="ar-SA" sz="950" b="1" dirty="0">
                <a:solidFill>
                  <a:srgbClr val="2E8B57"/>
                </a:solidFill>
                <a:latin typeface="Calibri" pitchFamily="34" charset="0"/>
                <a:ea typeface="Amiri" pitchFamily="2" charset="-78"/>
                <a:cs typeface="Amiri" pitchFamily="2" charset="-78"/>
              </a:rPr>
              <a:t> quwwat · strength (نِقَاطُ القُوَّةِ = strengths)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grammar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المَاضِي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tense</a:t>
            </a:r>
            <a:endParaRPr lang="en-US" sz="1350" dirty="0"/>
          </a:p>
          <a:p>
            <a:pPr indent="0" marL="0">
              <a:buNone/>
            </a:pPr>
            <a:r>
              <a:rPr lang="en-US" sz="1100" i="1" dirty="0">
                <a:solidFill>
                  <a:srgbClr val="5A6472"/>
                </a:solidFill>
                <a:latin typeface="Calibri" pitchFamily="34" charset="0"/>
                <a:cs typeface="Amiri" pitchFamily="2" charset="-78"/>
              </a:rPr>
              <a:t>az-za-ma-nu al-mā-ḍī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الحَاضِرُ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present tense</a:t>
            </a:r>
            <a:endParaRPr lang="en-US" sz="1350" dirty="0"/>
          </a:p>
          <a:p>
            <a:pPr indent="0" marL="0">
              <a:buNone/>
            </a:pPr>
            <a:r>
              <a:rPr lang="en-US" sz="1100" i="1" dirty="0">
                <a:solidFill>
                  <a:srgbClr val="5A6472"/>
                </a:solidFill>
                <a:latin typeface="Calibri" pitchFamily="34" charset="0"/>
                <a:cs typeface="Amiri" pitchFamily="2" charset="-78"/>
              </a:rPr>
              <a:t>az-za-ma-nu al-ḥā-ḍi-ru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المُسْتَقْبَلُ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future tense</a:t>
            </a:r>
            <a:endParaRPr lang="en-US" sz="1350" dirty="0"/>
          </a:p>
          <a:p>
            <a:pPr indent="0" marL="0">
              <a:buNone/>
            </a:pPr>
            <a:r>
              <a:rPr lang="en-US" sz="1100" i="1" dirty="0">
                <a:solidFill>
                  <a:srgbClr val="5A6472"/>
                </a:solidFill>
                <a:latin typeface="Calibri" pitchFamily="34" charset="0"/>
                <a:cs typeface="Amiri" pitchFamily="2" charset="-78"/>
              </a:rPr>
              <a:t>az-za-ma-nu al-mus-taq-ba-lu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 المَوْصُولُ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relative pronoun</a:t>
            </a:r>
            <a:endParaRPr lang="en-US" sz="1350" dirty="0"/>
          </a:p>
          <a:p>
            <a:pPr indent="0" marL="0">
              <a:buNone/>
            </a:pPr>
            <a:r>
              <a:rPr lang="en-US" sz="1100" i="1" dirty="0">
                <a:solidFill>
                  <a:srgbClr val="5A6472"/>
                </a:solidFill>
                <a:latin typeface="Calibri" pitchFamily="34" charset="0"/>
                <a:cs typeface="Amiri" pitchFamily="2" charset="-78"/>
              </a:rPr>
              <a:t>als-mu al-maw-ṣū-lu</a:t>
            </a:r>
            <a:endParaRPr lang="en-US" sz="1350" dirty="0"/>
          </a:p>
        </p:txBody>
      </p:sp>
      <p:sp>
        <p:nvSpPr>
          <p:cNvPr id="50" name="Text 47"/>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الَّذِي، الَّتِي، الَّذِينَ.</a:t>
            </a:r>
            <a:endParaRPr lang="ar-SA" sz="13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grammar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المَبْنِيُّ لِلْمَجْهُولِ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passive</a:t>
            </a:r>
            <a:endParaRPr lang="en-US" sz="1350" dirty="0"/>
          </a:p>
          <a:p>
            <a:pPr indent="0" marL="0">
              <a:buNone/>
            </a:pPr>
            <a:r>
              <a:rPr lang="en-US" sz="1100" i="1" dirty="0">
                <a:solidFill>
                  <a:srgbClr val="5A6472"/>
                </a:solidFill>
                <a:latin typeface="Calibri" pitchFamily="34" charset="0"/>
                <a:cs typeface="Amiri" pitchFamily="2" charset="-78"/>
              </a:rPr>
              <a:t>al-mab-niy-yu lil-maj-hū-li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The أَفْعَل pattern.</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التَّفْضِيلِ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 form</a:t>
            </a:r>
            <a:endParaRPr lang="en-US" sz="1350" dirty="0"/>
          </a:p>
          <a:p>
            <a:pPr indent="0" marL="0">
              <a:buNone/>
            </a:pPr>
            <a:r>
              <a:rPr lang="en-US" sz="1100" i="1" dirty="0">
                <a:solidFill>
                  <a:srgbClr val="5A6472"/>
                </a:solidFill>
                <a:latin typeface="Calibri" pitchFamily="34" charset="0"/>
                <a:cs typeface="Amiri" pitchFamily="2" charset="-78"/>
              </a:rPr>
              <a:t>as-mu at-taf-ḍī-li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نِقَاطُ القُوَّةِ</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strengths</a:t>
            </a:r>
            <a:endParaRPr lang="en-US" sz="1350" dirty="0"/>
          </a:p>
          <a:p>
            <a:pPr indent="0" marL="0">
              <a:buNone/>
            </a:pPr>
            <a:r>
              <a:rPr lang="en-US" sz="1100" i="1" dirty="0">
                <a:solidFill>
                  <a:srgbClr val="5A6472"/>
                </a:solidFill>
                <a:latin typeface="Calibri" pitchFamily="34" charset="0"/>
                <a:cs typeface="Amiri" pitchFamily="2" charset="-78"/>
              </a:rPr>
              <a:t>ni-qā-ṭu al-quw-wa-ti</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نُقْطَةُ قُوَّةٍ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مَجَالَاتُ التَّحْسِينِ</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areas for improvement</a:t>
            </a:r>
            <a:endParaRPr lang="en-US" sz="1350" dirty="0"/>
          </a:p>
          <a:p>
            <a:pPr indent="0" marL="0">
              <a:buNone/>
            </a:pPr>
            <a:r>
              <a:rPr lang="en-US" sz="1100" i="1" dirty="0">
                <a:solidFill>
                  <a:srgbClr val="5A6472"/>
                </a:solidFill>
                <a:latin typeface="Calibri" pitchFamily="34" charset="0"/>
                <a:cs typeface="Amiri" pitchFamily="2" charset="-78"/>
              </a:rPr>
              <a:t>ma-jā-lā-tu at-taḥ-sī-ni</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مَجَالُ تَحْسِينٍ</a:t>
            </a:r>
            <a:endParaRPr lang="ar-SA" sz="15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إِتْقَانٌ</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mastery</a:t>
            </a:r>
            <a:endParaRPr lang="en-US" sz="1350" dirty="0"/>
          </a:p>
          <a:p>
            <a:pPr indent="0" marL="0">
              <a:buNone/>
            </a:pPr>
            <a:r>
              <a:rPr lang="en-US" sz="1100" i="1" dirty="0">
                <a:solidFill>
                  <a:srgbClr val="5A6472"/>
                </a:solidFill>
                <a:latin typeface="Calibri" pitchFamily="34" charset="0"/>
                <a:cs typeface="Amiri" pitchFamily="2" charset="-78"/>
              </a:rPr>
              <a:t>it-qā-nun</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Structures to combine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D5.</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 مُضَارِع</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used to (past habit)</a:t>
            </a:r>
            <a:endParaRPr lang="en-US" sz="1350" dirty="0"/>
          </a:p>
          <a:p>
            <a:pPr indent="0" marL="0">
              <a:buNone/>
            </a:pPr>
            <a:r>
              <a:rPr lang="en-US" sz="1100" i="1" dirty="0">
                <a:solidFill>
                  <a:srgbClr val="5A6472"/>
                </a:solidFill>
                <a:latin typeface="Calibri" pitchFamily="34" charset="0"/>
                <a:cs typeface="Amiri" pitchFamily="2" charset="-78"/>
              </a:rPr>
              <a:t>kā-na + mu-ḍā-riʿ</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7" name="Shape 24"/>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D3.</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 + مَنْصُوب</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not</a:t>
            </a:r>
            <a:endParaRPr lang="en-US" sz="1350" dirty="0"/>
          </a:p>
          <a:p>
            <a:pPr indent="0" marL="0">
              <a:buNone/>
            </a:pPr>
            <a:r>
              <a:rPr lang="en-US" sz="1100" i="1" dirty="0">
                <a:solidFill>
                  <a:srgbClr val="5A6472"/>
                </a:solidFill>
                <a:latin typeface="Calibri" pitchFamily="34" charset="0"/>
                <a:cs typeface="Amiri" pitchFamily="2" charset="-78"/>
              </a:rPr>
              <a:t>lan + man-ṣūb</a:t>
            </a:r>
            <a:endParaRPr lang="en-US" sz="1350" dirty="0"/>
          </a:p>
        </p:txBody>
      </p:sp>
      <p:sp>
        <p:nvSpPr>
          <p:cNvPr id="40" name="Text 3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لَنْ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 / الَّتِي</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which (m. / f.)</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al-َ-dhī / al-َ-tī</a:t>
            </a:r>
            <a:endParaRPr lang="en-US" sz="1350" dirty="0"/>
          </a:p>
        </p:txBody>
      </p:sp>
      <p:sp>
        <p:nvSpPr>
          <p:cNvPr id="50" name="Shape 4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pl.</a:t>
            </a:r>
            <a:endParaRPr lang="en-US" sz="700" dirty="0"/>
          </a:p>
        </p:txBody>
      </p:sp>
      <p:sp>
        <p:nvSpPr>
          <p:cNvPr id="52" name="Text 49"/>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الَّذِينَ</a:t>
            </a:r>
            <a:endParaRPr lang="ar-SA" sz="1350" dirty="0"/>
          </a:p>
        </p:txBody>
      </p:sp>
      <p:sp>
        <p:nvSpPr>
          <p:cNvPr id="53" name="Shape 5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55" name="Text 52"/>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اللَّوَاتِي</a:t>
            </a:r>
            <a:endParaRPr lang="ar-SA" sz="135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9" name="Shape 56"/>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D2.</a:t>
            </a:r>
            <a:endParaRPr lang="en-US" sz="8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أَفْعَل + مِنْ</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af-ʿal + min</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Structures to combine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D4.</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Shape 22"/>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D4.</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 مَنْصُوب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 + man-ṣūb</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960120" y="1938528"/>
            <a:ext cx="170444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Followed by a genitive.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ʿa-lā ar-ragh-mi min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ʿa-lā-wa-tan ʿa-lā dhā-li-ka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شَرِيطَةَ أَنْ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provided that</a:t>
            </a:r>
            <a:endParaRPr lang="en-US" sz="1350" dirty="0"/>
          </a:p>
          <a:p>
            <a:pPr indent="0" marL="0">
              <a:buNone/>
            </a:pPr>
            <a:r>
              <a:rPr lang="en-US" sz="1100" i="1" dirty="0">
                <a:solidFill>
                  <a:srgbClr val="5A6472"/>
                </a:solidFill>
                <a:latin typeface="Calibri" pitchFamily="34" charset="0"/>
                <a:cs typeface="Amiri" pitchFamily="2" charset="-78"/>
              </a:rPr>
              <a:t>sha-rī-ṭa-ta an</a:t>
            </a:r>
            <a:endParaRPr lang="en-US" sz="1350" dirty="0"/>
          </a:p>
        </p:txBody>
      </p:sp>
      <p:sp>
        <p:nvSpPr>
          <p:cNvPr id="48" name="Text 4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Followed by the subjunctive.</a:t>
            </a:r>
            <a:endParaRPr lang="en-US" sz="10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D6 cultural verbs to reuse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4" name="Text 21"/>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أَحْتَفِلُ</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1" name="Shape 28"/>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7" name="Text 34"/>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أَنْتَمِي</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Shape 4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0" name="Text 4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7" name="Shape 54"/>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3" name="Text 60"/>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أَحْتَفِظُ</a:t>
            </a:r>
            <a:endParaRPr lang="ar-SA" sz="150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D6 cultural verbs to reuse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يَتَمَسَّكُ بِـ</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4" name="Text 21"/>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تَمَسَّكَ</a:t>
            </a:r>
            <a:endParaRPr lang="ar-SA" sz="135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أَتَمَسَّكُ</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مِنْ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counted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يُشَارُ إِلَى أَنَّ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noted that</a:t>
            </a:r>
            <a:endParaRPr lang="en-US" sz="1350" dirty="0"/>
          </a:p>
          <a:p>
            <a:pPr indent="0" marL="0">
              <a:buNone/>
            </a:pPr>
            <a:r>
              <a:rPr lang="en-US" sz="1100" i="1" dirty="0">
                <a:solidFill>
                  <a:srgbClr val="5A6472"/>
                </a:solidFill>
                <a:latin typeface="Calibri" pitchFamily="34" charset="0"/>
                <a:cs typeface="Amiri" pitchFamily="2" charset="-78"/>
              </a:rPr>
              <a:t>yu-shā-ru i-lā an-na</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يُزَيَّنُ / تُتَبَادَلُ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 / are exchanged</a:t>
            </a:r>
            <a:endParaRPr lang="en-US" sz="1350" dirty="0"/>
          </a:p>
          <a:p>
            <a:pPr indent="0" marL="0">
              <a:buNone/>
            </a:pPr>
            <a:r>
              <a:rPr lang="en-US" sz="1100" i="1" dirty="0">
                <a:solidFill>
                  <a:srgbClr val="5A6472"/>
                </a:solidFill>
                <a:latin typeface="Calibri" pitchFamily="34" charset="0"/>
                <a:cs typeface="Amiri" pitchFamily="2" charset="-78"/>
              </a:rPr>
              <a:t>yu-zay-ya-nu / tu-ta-bā-da-lu</a:t>
            </a:r>
            <a:endParaRPr lang="en-US" sz="1350" dirty="0"/>
          </a:p>
        </p:txBody>
      </p:sp>
      <p:sp>
        <p:nvSpPr>
          <p:cNvPr id="43" name="Text 40"/>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Cultural passives from L03.</a:t>
            </a:r>
            <a:endParaRPr lang="en-US" sz="10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TENSES, THREE MARKERS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Each clause carries its own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 الحَاضِرُ ·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17" name="Text 14"/>
          <p:cNvSpPr txBox="1"/>
          <p:nvPr/>
        </p:nvSpPr>
        <p:spPr>
          <a:xfrm>
            <a:off x="309067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 phrase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1" name="Text 18"/>
          <p:cNvSpPr txBox="1"/>
          <p:nvPr/>
        </p:nvSpPr>
        <p:spPr>
          <a:xfrm>
            <a:off x="3108960" y="2286000"/>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المَاضِي </a:t>
            </a:r>
            <a:pPr rtl="1" algn="ctr" indent="0" marL="0">
              <a:buNone/>
            </a:pPr>
            <a:r>
              <a:rPr lang="ar-SA" altLang="en-US" sz="1950" b="1" dirty="0">
                <a:solidFill>
                  <a:srgbClr val="1D5FBF"/>
                </a:solidFill>
                <a:latin typeface="Amiri" pitchFamily="2" charset="-78"/>
                <a:ea typeface="Amiri" pitchFamily="2" charset="-78"/>
                <a:cs typeface="Amiri" pitchFamily="2" charset="-78"/>
              </a:rPr>
              <a:t>احْتَفَلْنَا</a:t>
            </a:r>
            <a:pPr rtl="1" algn="ctr" indent="0" marL="0">
              <a:buNone/>
            </a:pPr>
            <a:r>
              <a:rPr lang="ar-SA" altLang="en-US" sz="1950" b="1" dirty="0">
                <a:solidFill>
                  <a:srgbClr val="1B3B6F"/>
                </a:solidFill>
                <a:latin typeface="Amiri" pitchFamily="2" charset="-78"/>
                <a:ea typeface="Amiri" pitchFamily="2" charset="-78"/>
                <a:cs typeface="Amiri" pitchFamily="2" charset="-78"/>
              </a:rPr>
              <a:t> فِي البَيْتِ.</a:t>
            </a:r>
            <a:endParaRPr lang="ar-SA" sz="1950" dirty="0"/>
          </a:p>
        </p:txBody>
      </p:sp>
      <p:sp>
        <p:nvSpPr>
          <p:cNvPr id="22" name="Text 19"/>
          <p:cNvSpPr txBox="1"/>
          <p:nvPr/>
        </p:nvSpPr>
        <p:spPr>
          <a:xfrm>
            <a:off x="3063240" y="2676997"/>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past we celebrated at home.</a:t>
            </a:r>
            <a:endParaRPr lang="en-US" sz="950" dirty="0"/>
          </a:p>
        </p:txBody>
      </p:sp>
      <p:sp>
        <p:nvSpPr>
          <p:cNvPr id="23" name="Text 20"/>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فِي المَاضِي</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a:t>
            </a:r>
            <a:endParaRPr lang="en-US" sz="1100" dirty="0"/>
          </a:p>
        </p:txBody>
      </p:sp>
      <p:sp>
        <p:nvSpPr>
          <p:cNvPr id="28" name="Text 25"/>
          <p:cNvSpPr txBox="1"/>
          <p:nvPr/>
        </p:nvSpPr>
        <p:spPr>
          <a:xfrm>
            <a:off x="3108960" y="3023006"/>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كَانَتْ أُسْرَتِي </a:t>
            </a:r>
            <a:pPr rtl="1" algn="ctr" indent="0" marL="0">
              <a:buNone/>
            </a:pPr>
            <a:r>
              <a:rPr lang="ar-SA" altLang="en-US" sz="1950" b="1" dirty="0">
                <a:solidFill>
                  <a:srgbClr val="1D5FBF"/>
                </a:solidFill>
                <a:latin typeface="Amiri" pitchFamily="2" charset="-78"/>
                <a:ea typeface="Amiri" pitchFamily="2" charset="-78"/>
                <a:cs typeface="Amiri" pitchFamily="2" charset="-78"/>
              </a:rPr>
              <a:t>تَحْتَفِلُ</a:t>
            </a:r>
            <a:pPr rtl="1" algn="ctr" indent="0" marL="0">
              <a:buNone/>
            </a:pPr>
            <a:r>
              <a:rPr lang="ar-SA" altLang="en-US" sz="1950" b="1" dirty="0">
                <a:solidFill>
                  <a:srgbClr val="1B3B6F"/>
                </a:solidFill>
                <a:latin typeface="Amiri" pitchFamily="2" charset="-78"/>
                <a:ea typeface="Amiri" pitchFamily="2" charset="-78"/>
                <a:cs typeface="Amiri" pitchFamily="2" charset="-78"/>
              </a:rPr>
              <a:t> فِي القَرْيَةِ.</a:t>
            </a:r>
            <a:endParaRPr lang="ar-SA" sz="1950" dirty="0"/>
          </a:p>
        </p:txBody>
      </p:sp>
      <p:sp>
        <p:nvSpPr>
          <p:cNvPr id="29" name="Text 26"/>
          <p:cNvSpPr txBox="1"/>
          <p:nvPr/>
        </p:nvSpPr>
        <p:spPr>
          <a:xfrm>
            <a:off x="3063240" y="3414004"/>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family used to celebrate in the village.</a:t>
            </a:r>
            <a:endParaRPr lang="en-US" sz="950" dirty="0"/>
          </a:p>
        </p:txBody>
      </p:sp>
      <p:sp>
        <p:nvSpPr>
          <p:cNvPr id="30" name="Text 27"/>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كَانَ + يَفْعَلُ</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35" name="Text 32"/>
          <p:cNvSpPr txBox="1"/>
          <p:nvPr/>
        </p:nvSpPr>
        <p:spPr>
          <a:xfrm>
            <a:off x="3108960" y="3760013"/>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وَالآنَ </a:t>
            </a:r>
            <a:pPr rtl="1" algn="ctr" indent="0" marL="0">
              <a:buNone/>
            </a:pPr>
            <a:r>
              <a:rPr lang="ar-SA" altLang="en-US" sz="1950" b="1" dirty="0">
                <a:solidFill>
                  <a:srgbClr val="0E7C86"/>
                </a:solidFill>
                <a:latin typeface="Amiri" pitchFamily="2" charset="-78"/>
                <a:ea typeface="Amiri" pitchFamily="2" charset="-78"/>
                <a:cs typeface="Amiri" pitchFamily="2" charset="-78"/>
              </a:rPr>
              <a:t>نَحْتَفِلُ</a:t>
            </a:r>
            <a:pPr rtl="1" algn="ctr" indent="0" marL="0">
              <a:buNone/>
            </a:pPr>
            <a:r>
              <a:rPr lang="ar-SA" altLang="en-US" sz="1950" b="1" dirty="0">
                <a:solidFill>
                  <a:srgbClr val="1B3B6F"/>
                </a:solidFill>
                <a:latin typeface="Amiri" pitchFamily="2" charset="-78"/>
                <a:ea typeface="Amiri" pitchFamily="2" charset="-78"/>
                <a:cs typeface="Amiri" pitchFamily="2" charset="-78"/>
              </a:rPr>
              <a:t> مَعَ الجِيرَانِ.</a:t>
            </a:r>
            <a:endParaRPr lang="ar-SA" sz="1950" dirty="0"/>
          </a:p>
        </p:txBody>
      </p:sp>
      <p:sp>
        <p:nvSpPr>
          <p:cNvPr id="36" name="Text 33"/>
          <p:cNvSpPr txBox="1"/>
          <p:nvPr/>
        </p:nvSpPr>
        <p:spPr>
          <a:xfrm>
            <a:off x="3063240" y="4151010"/>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now we celebrate with the neighbours.</a:t>
            </a:r>
            <a:endParaRPr lang="en-US" sz="950" dirty="0"/>
          </a:p>
        </p:txBody>
      </p:sp>
      <p:sp>
        <p:nvSpPr>
          <p:cNvPr id="37" name="Text 34"/>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الآنَ</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42" name="Text 39"/>
          <p:cNvSpPr txBox="1"/>
          <p:nvPr/>
        </p:nvSpPr>
        <p:spPr>
          <a:xfrm>
            <a:off x="3108960" y="4497019"/>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وَسَنَحْتَفِلُ</a:t>
            </a:r>
            <a:pPr rtl="1" algn="ctr" indent="0" marL="0">
              <a:buNone/>
            </a:pPr>
            <a:r>
              <a:rPr lang="ar-SA" altLang="en-US" sz="1950" b="1" dirty="0">
                <a:solidFill>
                  <a:srgbClr val="1B3B6F"/>
                </a:solidFill>
                <a:latin typeface="Amiri" pitchFamily="2" charset="-78"/>
                <a:ea typeface="Amiri" pitchFamily="2" charset="-78"/>
                <a:cs typeface="Amiri" pitchFamily="2" charset="-78"/>
              </a:rPr>
              <a:t> العَامَ القَادِمَ فِي المَرْكَزِ.</a:t>
            </a:r>
            <a:endParaRPr lang="ar-SA" sz="1950" dirty="0"/>
          </a:p>
        </p:txBody>
      </p:sp>
      <p:sp>
        <p:nvSpPr>
          <p:cNvPr id="43" name="Text 40"/>
          <p:cNvSpPr txBox="1"/>
          <p:nvPr/>
        </p:nvSpPr>
        <p:spPr>
          <a:xfrm>
            <a:off x="3063240" y="4888017"/>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we will celebrate next year at the centre.</a:t>
            </a:r>
            <a:endParaRPr lang="en-US" sz="950" dirty="0"/>
          </a:p>
        </p:txBody>
      </p:sp>
      <p:sp>
        <p:nvSpPr>
          <p:cNvPr id="44" name="Text 41"/>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سَـ / سَوْفَ</a:t>
            </a:r>
            <a:endParaRPr lang="ar-SA" sz="2200" dirty="0"/>
          </a:p>
        </p:txBody>
      </p:sp>
      <p:sp>
        <p:nvSpPr>
          <p:cNvPr id="45" name="Shape 42"/>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negative</a:t>
            </a:r>
            <a:endParaRPr lang="en-US" sz="1100" dirty="0"/>
          </a:p>
        </p:txBody>
      </p:sp>
      <p:sp>
        <p:nvSpPr>
          <p:cNvPr id="49" name="Text 46"/>
          <p:cNvSpPr txBox="1"/>
          <p:nvPr/>
        </p:nvSpPr>
        <p:spPr>
          <a:xfrm>
            <a:off x="3108960" y="5234026"/>
            <a:ext cx="60350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لَنْ نَتَخَلَّى</a:t>
            </a:r>
            <a:pPr rtl="1" algn="ctr" indent="0" marL="0">
              <a:buNone/>
            </a:pPr>
            <a:r>
              <a:rPr lang="ar-SA" altLang="en-US" sz="1950" b="1" dirty="0">
                <a:solidFill>
                  <a:srgbClr val="1B3B6F"/>
                </a:solidFill>
                <a:latin typeface="Amiri" pitchFamily="2" charset="-78"/>
                <a:ea typeface="Amiri" pitchFamily="2" charset="-78"/>
                <a:cs typeface="Amiri" pitchFamily="2" charset="-78"/>
              </a:rPr>
              <a:t> عَنْ لُغَتِنَا.</a:t>
            </a:r>
            <a:endParaRPr lang="ar-SA" sz="1950" dirty="0"/>
          </a:p>
        </p:txBody>
      </p:sp>
      <p:sp>
        <p:nvSpPr>
          <p:cNvPr id="50" name="Text 47"/>
          <p:cNvSpPr txBox="1"/>
          <p:nvPr/>
        </p:nvSpPr>
        <p:spPr>
          <a:xfrm>
            <a:off x="3063240" y="5625023"/>
            <a:ext cx="61264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will not give up our language.</a:t>
            </a:r>
            <a:endParaRPr lang="en-US" sz="950" dirty="0"/>
          </a:p>
        </p:txBody>
      </p:sp>
      <p:sp>
        <p:nvSpPr>
          <p:cNvPr id="51" name="Text 48"/>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لَنْ</a:t>
            </a:r>
            <a:endParaRPr lang="ar-SA" sz="220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replaces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and makes the verb subjunctive (final -a): </a:t>
            </a:r>
            <a:pPr algn="l" indent="0" marL="0">
              <a:buNone/>
            </a:pPr>
            <a:r>
              <a:rPr lang="ar-SA" altLang="en-US" sz="1500" b="1" dirty="0">
                <a:solidFill>
                  <a:srgbClr val="1B3B6F"/>
                </a:solidFill>
                <a:latin typeface="Amiri" pitchFamily="2" charset="-78"/>
                <a:ea typeface="Amiri" pitchFamily="2" charset="-78"/>
                <a:cs typeface="Amiri" pitchFamily="2" charset="-78"/>
              </a:rPr>
              <a:t>لَنْ نَنْسَى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COMBINE WITHOUT STACKING (WEBSITE RULES 2 AND 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One structure at a time, then join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الوَصْلُ وَالرَّبْطُ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RELATIVE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المَدِينَةُ الَّتِي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المَدِينَةُ الَّتِي زُرْتُهَا جَمِيلَةٌ.</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city that I visited is beautiful.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Looks backwards.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PASSIVE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تُزَيَّنُ الشَّوَارِعُ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تُزَيَّنُ الشَّوَارِعُ فِي العِيدِ.</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streets are decorated at Eid.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Subject ends in -u.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CONNECTOR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عَلَى الرَّغْمِ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الرَّغْمِ مِنْ بُعْدِ المَسَافَةِ، نَحْتَفِظُ بِعَادَاتِنَا.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Despite the distance, we keep our customs.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Genitive after.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pronoun agrees with the noun before it.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المَدِينَةُ الَّتِي زُرْتُهَا</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المَدِينَةُ الَّذِي زُرْتُهَا</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whole system in one text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النِّظَامُ كَامِلًا فِي نَصٍّ وَاحِدٍ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Three tenses, three markers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time phrase → past · </a:t>
            </a:r>
            <a:pPr algn="l" indent="0" marL="0">
              <a:buNone/>
            </a:pPr>
            <a:r>
              <a:rPr lang="ar-SA" altLang="en-US" sz="1350" dirty="0">
                <a:solidFill>
                  <a:srgbClr val="5A6472"/>
                </a:solidFill>
                <a:latin typeface="Amiri" pitchFamily="2" charset="-78"/>
                <a:ea typeface="Amiri" pitchFamily="2" charset="-78"/>
                <a:cs typeface="Amiri" pitchFamily="2" charset="-78"/>
              </a:rPr>
              <a:t>الآنَ</a:t>
            </a:r>
            <a:pPr algn="l" indent="0" marL="0">
              <a:buNone/>
            </a:pPr>
            <a:r>
              <a:rPr lang="en-US" sz="1050" dirty="0">
                <a:solidFill>
                  <a:srgbClr val="5A6472"/>
                </a:solidFill>
                <a:latin typeface="Calibri" pitchFamily="34" charset="0"/>
                <a:cs typeface="Amiri" pitchFamily="2" charset="-78"/>
              </a:rPr>
              <a:t> → present · </a:t>
            </a:r>
            <a:pPr algn="l" indent="0" marL="0">
              <a:buNone/>
            </a:pPr>
            <a:r>
              <a:rPr lang="ar-SA" altLang="en-US" sz="1350" dirty="0">
                <a:solidFill>
                  <a:srgbClr val="5A6472"/>
                </a:solidFill>
                <a:latin typeface="Amiri" pitchFamily="2" charset="-78"/>
                <a:ea typeface="Amiri" pitchFamily="2" charset="-78"/>
                <a:cs typeface="Amiri" pitchFamily="2" charset="-78"/>
              </a:rPr>
              <a:t>سَـ / سَوْفَ</a:t>
            </a:r>
            <a:pPr algn="l" indent="0" marL="0">
              <a:buNone/>
            </a:pPr>
            <a:r>
              <a:rPr lang="en-US" sz="1050" dirty="0">
                <a:solidFill>
                  <a:srgbClr val="5A6472"/>
                </a:solidFill>
                <a:latin typeface="Calibri" pitchFamily="34" charset="0"/>
                <a:cs typeface="Amiri" pitchFamily="2" charset="-78"/>
              </a:rPr>
              <a:t> → future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فِي المَاضِي احْتَفَلْنَا فِي البَيْتِ، وَالآنَ نَحْتَفِلُ مَعَ الجِيرَانِ   ·   وَسَنَحْتَفِلُ العَامَ القَادِمَ فِي المَرْكَزِ</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Relative clauses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definite noun + </a:t>
            </a:r>
            <a:pPr algn="l" indent="0" marL="0">
              <a:buNone/>
            </a:pPr>
            <a:r>
              <a:rPr lang="ar-SA" altLang="en-US" sz="1350" dirty="0">
                <a:solidFill>
                  <a:srgbClr val="5A6472"/>
                </a:solidFill>
                <a:latin typeface="Amiri" pitchFamily="2" charset="-78"/>
                <a:ea typeface="Amiri" pitchFamily="2" charset="-78"/>
                <a:cs typeface="Amiri" pitchFamily="2" charset="-78"/>
              </a:rPr>
              <a:t>الَّذِي / الَّتِي</a:t>
            </a:r>
            <a:pPr algn="l" indent="0" marL="0">
              <a:buNone/>
            </a:pPr>
            <a:r>
              <a:rPr lang="en-US" sz="1050" dirty="0">
                <a:solidFill>
                  <a:srgbClr val="5A6472"/>
                </a:solidFill>
                <a:latin typeface="Calibri" pitchFamily="34" charset="0"/>
                <a:cs typeface="Amiri" pitchFamily="2" charset="-78"/>
              </a:rPr>
              <a:t> + clause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المَدِينَةُ الَّتِي زُرْتُهَا جَمِيلَةٌ   ·   الرَّجُلُ الَّذِي تَحَدَّثَ إِلَيْنَا مُعَلِّمٌ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Negating the future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لَنْ</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لَنْ أَنْسَى هٰذِهِ التَّجْرِبَةَ   ·   لَنْ نَتَخَلَّى عَنْ لُغَتِنَا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Formal connectors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 الرَّغْمِ مِنْ</a:t>
            </a:r>
            <a:pPr algn="l" indent="0" marL="0">
              <a:buNone/>
            </a:pPr>
            <a:r>
              <a:rPr lang="en-US" sz="1050" dirty="0">
                <a:solidFill>
                  <a:srgbClr val="5A6472"/>
                </a:solidFill>
                <a:latin typeface="Calibri" pitchFamily="34" charset="0"/>
                <a:cs typeface="Amiri" pitchFamily="2" charset="-78"/>
              </a:rPr>
              <a:t> + genitive · </a:t>
            </a:r>
            <a:pPr algn="l" indent="0" marL="0">
              <a:buNone/>
            </a:pPr>
            <a:r>
              <a:rPr lang="ar-SA" altLang="en-US" sz="1350" dirty="0">
                <a:solidFill>
                  <a:srgbClr val="5A6472"/>
                </a:solidFill>
                <a:latin typeface="Amiri" pitchFamily="2" charset="-78"/>
                <a:ea typeface="Amiri" pitchFamily="2" charset="-78"/>
                <a:cs typeface="Amiri" pitchFamily="2" charset="-78"/>
              </a:rPr>
              <a:t>شَرِيطَةَ أَنْ</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عَلَى الرَّغْمِ مِنْ بُعْدِ المَسَافَةِ، نَحْتَفِظُ بِعَادَاتِنَا   ·   شَرِيطَةَ أَنْ نَتَعَلَّمَ اللُّغَةَ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relative clause.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الَّذِي زُرْتُهَا جَمِيلَةٌ.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الَّتِي زُرْتُهَا جَمِيلَةٌ.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الَّتِي زُرْتُهَا جَمِيلَةٌ.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negation.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أَنْسَى هٰذِهِ التَّجْرِبَةَ.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أَنْسَىٰ هٰذِهِ التَّجْرِبَةُ.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نَسِيتُ هٰذِهِ التَّجْرِبَةَ.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المِهْرَجَانُ أَكْثَرُ أَكْبَرُ مِنَ السَّابِقِ.</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المِهْرَجَانُ أَكْبَرُ مِنَ السَّابِقِ.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المِهْرَجَانُ الأَكْبَرُ مِنَ السَّابِقِ.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الشَّوَارِعُ فِي العِيدِ.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الشَّوَارِعَ فِي العِيدِ.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الشَّوَارِعُ فِي العِيدِ.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relative clause.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الَّذِي زُرْتُهَا جَمِيلَةٌ.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مَدِينَةٌ الَّتِي زُرْتُهَا جَمِيلَةٌ.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المَدِينَةُ الَّتِي زُرْتُهَا جَمِيلَةٌ.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agrees with the feminine noun before it, which must be definite.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negation.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أَنْسَى هٰذِهِ التَّجْرِبَةَ.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أَنْسَىٰ هٰذِهِ التَّجْرِبَةُ.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نَسِيتُ هٰذِهِ التَّجْرِبَةَ.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takes the subjunctive and the object stays accusative.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comparative.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المِهْرَجَانُ أَكْثَرُ أَكْبَرُ مِنَ السَّابِقِ.</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المِهْرَجَانُ أَكْبَرُ مِنَ السَّابِقِ.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المِهْرَجَانُ الأَكْبَرُ مِنَ السَّابِقِ.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one comparative form;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takes no article here.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تُزَيَّنُ الشَّوَارِعُ فِي العِيدِ.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الشَّوَارِعَ فِي العِيدِ.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الشَّوَارِعُ فِي العِيدِ.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Watch me build one paragraph across three tenses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2" charset="-78"/>
                <a:ea typeface="Amiri" pitchFamily="2" charset="-78"/>
                <a:cs typeface="Amiri" pitchFamily="2" charset="-78"/>
              </a:rPr>
              <a:t>كَانَتْ أُسْرَتِي تَحْتَفِلُ</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فِي القَرْيَةِ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habit.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Relative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القَرْيَةِ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الَّتِي</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وُلِدَ فِيهَا جَدِّي</a:t>
            </a:r>
            <a:endParaRPr lang="ar-SA" sz="20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noun.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الآنَ </a:t>
            </a:r>
            <a:pPr rtl="1" algn="ctr" indent="0" marL="0">
              <a:buNone/>
            </a:pPr>
            <a:r>
              <a:rPr lang="ar-SA" altLang="en-US" sz="2300" b="1" dirty="0">
                <a:solidFill>
                  <a:srgbClr val="0E7C86"/>
                </a:solidFill>
                <a:latin typeface="Amiri" pitchFamily="2" charset="-78"/>
                <a:ea typeface="Amiri" pitchFamily="2" charset="-78"/>
                <a:cs typeface="Amiri" pitchFamily="2" charset="-78"/>
              </a:rPr>
              <a:t>نَحْتَفِلُ</a:t>
            </a:r>
            <a:pPr rtl="1" algn="ctr" indent="0" marL="0">
              <a:buNone/>
            </a:pPr>
            <a:r>
              <a:rPr lang="ar-SA" altLang="en-US" sz="2300" b="1" dirty="0">
                <a:solidFill>
                  <a:srgbClr val="1B3B6F"/>
                </a:solidFill>
                <a:latin typeface="Amiri" pitchFamily="2" charset="-78"/>
                <a:ea typeface="Amiri" pitchFamily="2" charset="-78"/>
                <a:cs typeface="Amiri" pitchFamily="2" charset="-78"/>
              </a:rPr>
              <a:t> مَعَ الجَالِيَةِ</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Now = present.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سَنَدْعُو</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أَصْدِقَاءَنَا </a:t>
            </a:r>
            <a:pPr rtl="1" algn="ctr" indent="0" marL="0">
              <a:lnSpc>
                <a:spcPct val="120000"/>
              </a:lnSpc>
              <a:buNone/>
            </a:pPr>
            <a:r>
              <a:rPr lang="ar-SA" altLang="en-US" sz="1850" b="1" dirty="0">
                <a:solidFill>
                  <a:srgbClr val="D6336C"/>
                </a:solidFill>
                <a:latin typeface="Amiri" pitchFamily="2" charset="-78"/>
                <a:ea typeface="Amiri" pitchFamily="2" charset="-78"/>
                <a:cs typeface="Amiri" pitchFamily="2" charset="-78"/>
              </a:rPr>
              <a:t>لِكَيْ يَتَعَرَّفُوا</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Subjunctive after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 / RELATIVE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المَاضِي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كَانَتْ أُسْرَتِي تَحْتَفِلُ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بِالعِيدِ فِي القَرْيَةِ الَّتِي وُلِدَ فِيهَا جَدِّي. أَمَّا الآنَ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فَنَحْتَفِلُ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هُنَا مَعَ الجَالِيَةِ عَلَى الرَّغْمِ مِنْ بُعْدِ المَسَافَةِ. وَفِي العَامِ القَادِمِ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سَنَدْعُو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أَصْدِقَاءَنَا لِكَيْ يَتَعَرَّفُوا عَلَى ثَقَافَتِنَا.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past my family used to celebrate Eid in the village where my grandfather was born. Now we celebrate here with the community, despite the distance. And next year we will invite our friends so that they get to know our culture.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المَدِينَةُ الَّتِي زُرْتُهَا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city that I visited</a:t>
            </a:r>
            <a:endParaRPr lang="en-US" sz="1250" dirty="0"/>
          </a:p>
          <a:p>
            <a:pPr indent="0" marL="0">
              <a:buNone/>
            </a:pPr>
            <a:r>
              <a:rPr lang="en-US" sz="1050" i="1" dirty="0">
                <a:solidFill>
                  <a:srgbClr val="8A6D1E"/>
                </a:solidFill>
                <a:latin typeface="Calibri" pitchFamily="34" charset="0"/>
                <a:cs typeface="Amiri" pitchFamily="2" charset="-78"/>
              </a:rPr>
              <a:t>The pronoun agrees with the definite noun before it.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 أَنْسَى هٰذِهِ التَّجْرِبَةَ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not forget this experience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لَنْ takes the subjunctive.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عَلَى الرَّغْمِ مِنْ بُعْدِ المَسَافَةِ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despite the long distance</a:t>
            </a:r>
            <a:endParaRPr lang="en-US" sz="1250" dirty="0"/>
          </a:p>
          <a:p>
            <a:pPr indent="0" marL="0">
              <a:buNone/>
            </a:pPr>
            <a:r>
              <a:rPr lang="en-US" sz="1050" i="1" dirty="0">
                <a:solidFill>
                  <a:srgbClr val="8A6D1E"/>
                </a:solidFill>
                <a:latin typeface="Calibri" pitchFamily="34" charset="0"/>
                <a:cs typeface="Amiri" pitchFamily="2" charset="-78"/>
              </a:rPr>
              <a:t>A genitive noun follows the connector.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D6 GRAMMAR CONSOLIDATION — ALL TENSES TOGETHER”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غَيِّرِ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 — later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 before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graduation — later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سَافَرْنَا فِي الصَّيْفِ المَاضِي.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سَنَدْرُسُ فِي الجَامِعَةِ فِي المُسْتَقْبَلِ.</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سَأَقْرَأُ الكِتَابَ غَدًا.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غَيِّرِ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 — later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سَأَقْرَأُ الكِتَابَ غَدًا.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read the book tomorrow.</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 before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سَافَرْنَا فِي الصَّيْفِ المَاضِي.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travelled last summer.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graduation — later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سَنَدْرُسُ فِي الجَامِعَةِ فِي المُسْتَقْبَلِ.</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will study at university in the future.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احْتَفَلْنَا فِي البَيْتِ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يَحْتَفِلُ كُلَّ عَامٍ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المِهْرَجَانَ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الآنَ مَعَ الجِيرَانِ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الشَّوَارِعُ عَادَةً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 إِلَى ثَقَافَتَيْنِ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سَنَحْتَفِلُ العَامَ القَادِمَ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نَزُورُ المَعْرِضَ</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نَتَخَلَّى عَنْ لُغَتِنَا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احْتَفَلْنَا فِي البَيْتِ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يَحْتَفِلُ كُلَّ عَامٍ</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المِهْرَجَانَ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الآنَ مَعَ الجِيرَانِ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تُزَيَّنُ الشَّوَارِعُ عَادَةً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 إِلَى ثَقَافَتَيْنِ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سَنَحْتَفِلُ العَامَ القَادِمَ</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نَزُورُ المَعْرِضَ</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نَتَخَلَّى عَنْ لُغَتِنَا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where every verb matches its time phrase.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فِي المَاضِي نَحْتَفِلُ فِي البَيْتِ، وَالآنَ احْتَفَلْنَا، وَسَنَحْتَفِلُ أَمْسِ.</a:t>
            </a:r>
            <a:endParaRPr lang="ar-SA" sz="13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فِي المَاضِي سَنَحْتَفِلُ، وَالآنَ احْتَفَلْنَا.</a:t>
            </a:r>
            <a:endParaRPr lang="ar-SA" sz="13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فِي المَاضِي احْتَفَلْنَا فِي البَيْتِ، وَالآنَ نَحْتَفِلُ مَعَ الجِيرَانِ، وَسَنَحْتَفِلُ غَدًا فِي المَرْكَزِ.</a:t>
            </a:r>
            <a:endParaRPr lang="ar-SA" sz="130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عَلَى الرَّغْمِ مِنْ ___ المَسَافَةِ، نَحْتَفِظُ بِعَادَاتِنَا.</a:t>
            </a:r>
            <a:endParaRPr lang="ar-SA" sz="12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بَعِيدًا</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نَتَعَلَّمُ اللُّغَةَ ___ نَفْهَمَ الثَّقَافَةَ.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combines three structures accurately.</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المِهْرَجَانُ الَّتِي حَضَرْنَاهُ كَانَ أَكْثَرُ أَكْبَرَ، وَسَعُدْنَا إِلَيْهِ.</a:t>
            </a:r>
            <a:endParaRPr lang="ar-SA" sz="14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مِهْرَجَانٌ الَّذِي حَضَرْنَاهُ أَكْبَرُ وَسَنَعُودُ أَمْسِ.</a:t>
            </a:r>
            <a:endParaRPr lang="ar-SA" sz="14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المِهْرَجَانُ الَّذِي حَضَرْنَاهُ كَانَ أَكْبَرَ مِنَ السَّابِقِ، وَسَنَعُودُ إِلَيْهِ العَامَ القَادِمَ.</a:t>
            </a:r>
            <a:endParaRPr lang="ar-SA" sz="14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where every verb matches its time phrase.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فِي المَاضِي نَحْتَفِلُ فِي البَيْتِ، وَالآنَ احْتَفَلْنَا، وَسَنَحْتَفِلُ أَمْسِ.</a:t>
            </a:r>
            <a:endParaRPr lang="ar-SA" sz="13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فِي المَاضِي سَنَحْتَفِلُ، وَالآنَ احْتَفَلْنَا.</a:t>
            </a:r>
            <a:endParaRPr lang="ar-SA" sz="13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فِي المَاضِي احْتَفَلْنَا فِي البَيْتِ، وَالآنَ نَحْتَفِلُ مَعَ الجِيرَانِ، وَسَنَحْتَفِلُ غَدًا فِي المَرْكَزِ.</a:t>
            </a:r>
            <a:endParaRPr lang="ar-SA" sz="13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clause carries the tense its own time phrase requires.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عَلَى الرَّغْمِ مِنْ ___ المَسَافَةِ، نَحْتَفِظُ بِعَادَاتِنَا.</a:t>
            </a:r>
            <a:endParaRPr lang="ar-SA" sz="12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بُعْدِ</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بَعِيدًا</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عَلَى الرَّغْمِ مِنْ</a:t>
            </a:r>
            <a:pPr algn="l" indent="0" marL="0">
              <a:buNone/>
            </a:pPr>
            <a:r>
              <a:rPr lang="en-US" sz="1050" i="1" dirty="0">
                <a:solidFill>
                  <a:srgbClr val="8A6D1E"/>
                </a:solidFill>
                <a:latin typeface="Calibri" pitchFamily="34" charset="0"/>
                <a:cs typeface="Amiri" pitchFamily="2" charset="-78"/>
              </a:rPr>
              <a:t> is followed by a genitive noun.</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نَتَعَلَّمُ اللُّغَةَ ___ نَفْهَمَ الثَّقَافَةَ.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expresses purpose and takes the subjunctive.</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combines three structures accurately.</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المِهْرَجَانُ الَّتِي حَضَرْنَاهُ كَانَ أَكْثَرُ أَكْبَرَ، وَسَعُدْنَا إِلَيْهِ.</a:t>
            </a:r>
            <a:endParaRPr lang="ar-SA" sz="14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مِهْرَجَانٌ الَّذِي حَضَرْنَاهُ أَكْبَرُ وَسَنَعُودُ أَمْسِ.</a:t>
            </a:r>
            <a:endParaRPr lang="ar-SA" sz="14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المِهْرَجَانُ الَّذِي حَضَرْنَاهُ كَانَ أَكْبَرَ مِنَ السَّابِقِ، وَسَنَعُودُ إِلَيْهِ العَامَ القَادِمَ.</a:t>
            </a:r>
            <a:endParaRPr lang="ar-SA" sz="14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relative pronoun agrees, one comparative is used, and the future is marked correctly.</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المَدِينَةُ الَّذِي زُرْتُهَا.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noun does the pronoun look back to?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نَسِيتُ هٰذِهِ التَّجْرِبَةَ.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لَنْ</a:t>
            </a:r>
            <a:pPr algn="l" indent="0" marL="0">
              <a:buNone/>
            </a:pPr>
            <a:r>
              <a:rPr lang="en-US" sz="1300" i="1" dirty="0">
                <a:solidFill>
                  <a:srgbClr val="5A6472"/>
                </a:solidFill>
                <a:latin typeface="Calibri" pitchFamily="34" charset="0"/>
                <a:cs typeface="Amiri" pitchFamily="2" charset="-78"/>
              </a:rPr>
              <a:t>: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تُزَيَّنُ الشَّوَارِعَ فِي العِيدِ.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Passive: is the subject -u?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المَدِينَةُ الَّذِي زُرْتُهَا.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المَدِينَةُ الَّتِي زُرْتُهَا.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relative pronoun agrees with the feminine noun before it.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نَسِيتُ هٰذِهِ التَّجْرِبَةَ.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أَنْسَى هٰذِهِ التَّجْرِبَةَ.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is followed by a subjunctive present verb, never a past one.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تُزَيَّنُ الشَّوَارِعَ فِي العِيدِ.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تُزَيَّنُ الشَّوَارِعُ فِي العِيدِ.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passive verb the affected noun is nominative.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one family across three tenses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used to celebrate?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village where the grandfather was born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capital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to happen in the streets?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closed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rebuilt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decorated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today's celebration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Larger and simpler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Identical to before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Smaller than before but more varied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they invite friends next year?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they can get to know the culture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hall is empty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the cost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what condition will they keep the language?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they move back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they keep teaching it to their children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 school helps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Past → present → future.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المَاضِي كَانَتْ أُسْرَتِي تَحْتَفِلُ بِالعِيدِ فِي القَرْيَةِ الَّتِي وُلِدَ فِيهَا جَدِّي. وَكَانَتِ الشَّوَارِعُ تُزَيَّنُ، وَتُتَبَادَلُ التَّهَانِي بَيْنَ الجِيرَانِ.</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In the past my family used to celebrate Eid in the village where my grandfather was born. The streets used to be decorated, and greetings were exchanged between neighbours.</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أَمَّا الآنَ فَنَحْتَفِلُ هُنَا مَعَ الجَالِيَةِ، وَنَحْتَفِظُ بِالعَادَاتِ نَفْسِهَا عَلَى الرَّغْمِ مِنْ بُعْدِ المَسَافَةِ.</a:t>
            </a:r>
            <a:endParaRPr lang="ar-SA" sz="16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 we celebrate here with the community, and we keep the same customs despite the distance.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وَالاحْتِفَالُ الَّذِي نُنَظِّمُهُ اليَوْمَ أَصْغَرُ مِنَ السَّابِقِ، وَلٰكِنَّهُ أَكْثَرُ تَنَوُّعًا.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celebration we organise today is smaller than before, but it is more varied.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العَامِ القَادِمِ سَنَدْعُو أَصْدِقَاءَنَا لِكَيْ يَتَعَرَّفُوا عَلَى ثَقَافَتِنَا.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year we will invite our friends so that they get to know our culture.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وَلَنْ نَتَخَلَّى عَنْ لُغَتِنَا، شَرِيطَةَ أَنْ نَسْتَمِرَّ فِي تَعْلِيمِهَا لِأَبْنَائِنَا.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we will not give up our language, provided that we keep teaching it to our children.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used to celebrate?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the village where the grandfather was born</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capital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cultural centre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القَرْيَةِ الَّتِي وُلِدَ فِيهَا جَدِّي.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used to happen in the streets?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closed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rebuilt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were decorated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وَكَانَتِ الشَّوَارِعُ تُزَيَّنُ.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today's celebration described?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Larger and simpler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Identical to before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Smaller than before but more varied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أَصْغَرُ مِنَ السَّابِقِ، وَلٰكِنَّهُ أَكْثَرُ تَنَوُّعًا.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they invite friends next year?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they can get to know the culture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the hall is empty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reduce the cost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يَتَعَرَّفُوا عَلَى ثَقَافَتِنَا.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what condition will they keep the language?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Provided they move back</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Provided they keep teaching it to their children</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Provided the school helps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شَرِيطَةَ أَنْ نَسْتَمِرَّ فِي تَعْلِيمِهَا لِأَبْنَائِنَا.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Past → present → future.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move between all three tenses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كَانَتْ أُسْرَتُكَ تَحْتَفِلُ فِي المَاضِي؟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تَحْتَفِلُونَ الآنَ؟ وَمَا الفَرْقُ؟</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سَتَفْعَلُونَ فِي العَامِ القَادِمِ؟ اِسْتَعْمِلْ لِكَيْ أَوْ شَرِيطَةَ أَنْ.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المَاضِي كَانَتْ أُسْرَتِي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الآنَ نَحْتَفِلُ ___ ، وَالاحْتِفَالُ أَكْثَرُ ___ مِنَ السَّابِقِ.</a:t>
            </a:r>
            <a:endParaRPr lang="ar-SA" sz="11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سَنَدْعُو ___ لِكَيْ ___ ، شَرِيطَةَ أَنْ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كَانَتْ أُسْرَتُكَ تَحْتَفِلُ فِي المَاضِي؟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did your family use to celebrate in the past?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كَانَتْ تَحْتَفِلُ فِي القَرْيَةِ الَّتِي وُلِدَ فِيهَا جَدِّي، وَكَانَتِ الشَّوَارِعُ تُزَيَّنُ.</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used to celebrate in the village where my grandfather was born.</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two in each tense, each matching its time phrase.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in each tense, each verb matching its time phrase.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relative clause and a comparative.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a relative clause (الَّذِي / الَّتِي) and one comparative.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a passive, a purpose clause with </a:t>
            </a:r>
            <a:pPr algn="l" indent="0" marL="0">
              <a:buNone/>
            </a:pPr>
            <a:r>
              <a:rPr lang="ar-SA" altLang="en-US" sz="1800" b="1" dirty="0">
                <a:solidFill>
                  <a:srgbClr val="1F2A37"/>
                </a:solidFill>
                <a:latin typeface="Amiri" pitchFamily="2" charset="-78"/>
                <a:ea typeface="Amiri" pitchFamily="2" charset="-78"/>
                <a:cs typeface="Amiri" pitchFamily="2" charset="-78"/>
              </a:rPr>
              <a:t>لِكَيْ</a:t>
            </a:r>
            <a:pPr algn="l" indent="0" marL="0">
              <a:buNone/>
            </a:pPr>
            <a:r>
              <a:rPr lang="en-US" sz="1400" b="1" dirty="0">
                <a:solidFill>
                  <a:srgbClr val="1F2A37"/>
                </a:solidFill>
                <a:latin typeface="Calibri" pitchFamily="34" charset="0"/>
                <a:cs typeface="Amiri" pitchFamily="2" charset="-78"/>
              </a:rPr>
              <a:t> and a condition with </a:t>
            </a:r>
            <a:pPr algn="l" indent="0" marL="0">
              <a:buNone/>
            </a:pPr>
            <a:r>
              <a:rPr lang="ar-SA" altLang="en-US" sz="1800" b="1" dirty="0">
                <a:solidFill>
                  <a:srgbClr val="1F2A37"/>
                </a:solidFill>
                <a:latin typeface="Amiri" pitchFamily="2" charset="-78"/>
                <a:ea typeface="Amiri" pitchFamily="2" charset="-78"/>
                <a:cs typeface="Amiri" pitchFamily="2" charset="-78"/>
              </a:rPr>
              <a:t>شَرِيطَةَ أَنْ</a:t>
            </a:r>
            <a:pPr algn="l" indent="0" marL="0">
              <a:buNone/>
            </a:pPr>
            <a:r>
              <a:rPr lang="en-US" sz="1400" b="1" dirty="0">
                <a:solidFill>
                  <a:srgbClr val="1F2A37"/>
                </a:solidFill>
                <a:latin typeface="Calibri" pitchFamily="34" charset="0"/>
                <a:cs typeface="Amiri" pitchFamily="2" charset="-78"/>
              </a:rPr>
              <a:t> in one connected paragraph.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past → present → future with a relative clause, a comparative, a passive and a formal connector.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القَرْيَةُ الَّتِي وُلِدَ فِيهَا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village where … was born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الاحْتِفَالُ الَّذِي نُنَظِّمُهُ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celebration that we organise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أَصْغَرُ / أَكْثَرُ تَنَوُّعًا مِنَ السَّابِقِ.</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smaller / more varied than before.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عَلَى الرَّغْمِ مِنْ ______ ، نَحْتَفِظُ بِـ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 we keep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 كَانَتْ أُسْرَتِي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my family used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نَحْتَفِلُ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we celebrate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العَامِ القَادِمِ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year we will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نَتَخَلَّى عَنْ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will not give up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المَاضِي  ·  كَانَ + يَفْعَلُ  ·  الآنَ  ·  سَـ / سَوْفَ  ·  لَنْ  ·  الَّذِي  ·  الَّتِي  ·  أَصْغَرُ مِنْ  ·  تُزَيَّنُ  ·  عَلَى الرَّغْمِ مِنْ  ·  لِكَيْ  ·  شَرِيطَةَ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describing how a celebration has changed in your family or community. Move through past, present and future, and include a relative clause, a comparative, a passive and a formal connector.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tenses, each matching its time phrase.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relative clause whose pronoun agrees with the noun before 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comparative, using a single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passive with a nominative subject and one formal connector.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وَتُتَبَادَلُ التَّهَانِي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greetings are exchanged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وَهٰذَا يُؤَدِّي إِلَى فَهْمٍ أَفْضَلَ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this leads to better understanding</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moreover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شَرِيطَةَ أَنْ نَسْتَمِرَّ فِي تَعْلِيمِهَا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provided that we keep teaching it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نَتَخَلَّى عَنْ لُغَتِنَا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not give up our language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المَاضِي كَانَتْ أُسْرَتِي تَحْتَفِلُ بِالعِيدِ فِي القَرْيَةِ الَّتِي وُلِدَ فِيهَا جَدِّي، وَكَانَتِ الشَّوَارِعُ تُزَيَّنُ وَتُتَبَادَلُ التَّهَانِي. أَمَّا الآنَ فَنَحْتَفِلُ هُنَا مَعَ الجَالِيَةِ، وَنَحْتَفِظُ بِالعَادَاتِ نَفْسِهَا عَلَى الرَّغْمِ مِنْ بُعْدِ المَسَافَةِ. وَالاحْتِفَالُ الَّذِي نُنَظِّمُهُ اليَوْمَ أَصْغَرُ مِنَ السَّابِقِ، وَلٰكِنَّهُ أَكْثَرُ تَنَوُّعًا، وَهٰذَا يُؤَدِّي إِلَى فَهْمٍ أَفْضَلَ بَيْنَ الجِيرَانِ. عَلَاوَةً عَلَى ذٰلِكَ يَتَعَلَّمُ أَطْفَالُنَا لُغَتَهُمْ فِي المَرْكَزِ الثَّقَافِيِّ. وَفِي العَامِ القَادِمِ سَنَدْعُو أَصْدِقَاءَنَا لِكَيْ يَتَعَرَّفُوا عَلَى ثَقَافَتِنَا، وَلَنْ نَتَخَلَّى عَنْ لُغَتِنَا شَرِيطَةَ أَنْ نَسْتَمِرَّ فِي تَعْلِيمِهَا.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past my family used to celebrate Eid in the village where my grandfather was born; the streets were decorated and greetings were exchanged. Now we celebrate here with the community and keep the same customs despite the distance. The celebration we organise today is smaller than before but more varied, and this leads to better understanding between neighbours. Moreover, our children learn their language at the cultural centre. Next year we will invite our friends so they get to know our culture, and we will not give up our language, provided that we keep teaching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tenses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and الَّذِي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comparative and a passive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عَلَى الرَّغْمِ مِنْ · لِكَيْ · شَرِيطَةَ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verb matches the time phrase in its clause.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لَنْ</a:t>
            </a:r>
            <a:pPr algn="l" indent="0" marL="0">
              <a:buNone/>
            </a:pPr>
            <a:r>
              <a:rPr lang="en-US" sz="1300" dirty="0">
                <a:solidFill>
                  <a:srgbClr val="1F2A37"/>
                </a:solidFill>
                <a:latin typeface="Calibri" pitchFamily="34" charset="0"/>
                <a:cs typeface="Amiri" pitchFamily="2" charset="-78"/>
              </a:rPr>
              <a:t> my verb ends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relative pronoun agrees with the noun before it.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comparative at a time.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subject ends in -u, and I can name my grammar target.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relative clause.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القَرْيَةُ الَّتِي وُلِدَ فِيهَا جَدِّي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القَرْيَةُ الَّذِي وُلِدَ فِيهَا جَدِّي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قَرْيَةٌ الَّتِي وُلِدَ فِيهَا جَدِّي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نَدْعُوهُمْ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يَتَعَرَّفُوا عَلَى ثَقَافَتِنَا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السَّاحَاتُ فِي العِيدِ.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السَّاحَاتَ فِي العِيدِ.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السَّاحَاتُ فِي العِيدِ.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relative clause.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القَرْيَةُ الَّتِي وُلِدَ فِيهَا جَدِّي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القَرْيَةُ الَّذِي وُلِدَ فِيهَا جَدِّي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قَرْيَةٌ الَّتِي وُلِدَ فِيهَا جَدِّي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agrees with the feminine definite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نَدْعُوهُمْ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يَتَعَرَّفُوا عَلَى ثَقَافَتِنَا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لِكَيْ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expresses purpose with the subjunctive.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تُزَيَّنُ السَّاحَاتُ فِي العِيدِ.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تُزَيَّنُ السَّاحَاتَ فِي العِيدِ.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تُزَيِّنُ السَّاحَاتُ فِي العِيدِ.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is the nominative subject.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a text that uses everything</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تُعَدُّ المُجْتَمَعَاتُ الَّتِي تَجْمَعُ ثَقَافَاتٍ مُخْتَلِفَةً مِنْ أَغْنَى المُجْتَمَعَاتِ. فِي المَاضِي كَانَ كَثِيرٌ مِنَ الأُسَرِ يَحْتَفِظُ بِعَادَاتِهِ دُونَ أَنْ يُشَارِكَهُ الجِيرَانُ، أَمَّا اليَوْمَ فَتُقَامُ مَهْرَجَانَاتٌ مُشْتَرَكَةٌ تُزَيَّنُ فِيهَا السَّاحَاتُ وَتُتَبَادَلُ فِيهَا الأَطْعِمَةُ. وَالمِهْرَجَانُ الَّذِي حَضَرْتُهُ العَامَ المَاضِيَ كَانَ أَصْغَرَ مِنْ مِهْرَجَانِ هٰذَا العَامِ، وَلٰكِنَّهُ كَانَ أَكْثَرَ دِفْئًا. عَلَاوَةً عَلَى ذٰلِكَ يُؤَدِّي هٰذَا التَّوَاصُلُ إِلَى فَهْمٍ أَفْضَلَ بَيْنَ النَّاسِ. وَفِي المُسْتَقْبَلِ سَتَزْدَادُ هٰذِهِ المُنَاسَبَاتُ، شَرِيطَةَ أَنْ تُدْعَمَ مِنَ المَدَارِسِ وَالبَلَدِيَّاتِ. وَلَنْ يَخْسَرَ أَحَدٌ هُوِيَّتَهُ بِسَبَبِ ذٰلِكَ؛ بَلْ يَتَعَلَّمُ كُلُّ طَرَفٍ مِنَ الآخَرِ.</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القَرْيَةِ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village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وُلِدَ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born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التَّهَانِي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الجَالِيَةِ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community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المَسَافَةِ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long distance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نُنَظِّمُهُ</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organise it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السَّابِقِ</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previous one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تَنَوُّعًا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variety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يَتَعَرَّفُوا عَلَى</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get to know</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نَتَخَلَّى عَنْ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 up</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mixed-culture societies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poorest societies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richest societies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Impossible to sustain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the shared festivals?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organised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speeches are given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squares are decorated and food is exchanged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last year's festival compared with this year's?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Smaller but warmer</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Larger and colder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contact lead to?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disagreement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understanding between people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festivals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what condition will such events increase?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they are supported by schools and municipalities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they are free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Provided they are smaller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mixed-culture societies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poorest societies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Among the richest societies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Impossible to sustain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 مِنْ أَغْنَى المُجْتَمَعَاتِ.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the shared festivals?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organised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speeches are given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squares are decorated and food is exchanged</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تُزَيَّنُ فِيهَا السَّاحَاتُ وَتُتَبَادَلُ فِيهَا الأَطْعِمَةُ.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last year's festival compared with this year's?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Smaller but warmer</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Larger and colder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كَانَ أَصْغَرَ مِنْ مِهْرَجَانِ هٰذَا العَامِ، وَلٰكِنَّهُ كَانَ أَكْثَرَ دِفْئًا.</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contact lead to?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disagreement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Better understanding between people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Fewer festivals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يُؤَدِّي هٰذَا التَّوَاصُلُ إِلَى فَهْمٍ أَفْضَلَ.</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what condition will such events increase?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Provided they are supported by schools and municipalities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Provided they are free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Provided they are smaller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شَرِيطَةَ أَنْ تُدْعَمَ مِنَ المَدَارِسِ وَالبَلَدِيَّاتِ.</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Consolidation Mission — Every Structure Checked</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Relative: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زُرْتُهَا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Relative: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الرَّجُلُ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تَحَدَّثَ إِلَيْنَا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الَّذِينَ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المَرْكَزِ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نَحْتَفِلُ</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سَنَحْتَفِلُ</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احْتَفَلْنَا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habit: which means “used to celebrate”?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يَحْتَفِلُ</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احْتَفَلَ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سَيَحْتَفِلُ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أَصْغَرُ مِنَ السَّابِقِ</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مِنَ السَّابِقِ</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الأَصْغَرُ مِنَ السَّابِقِ</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Relative: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زُرْتُهَا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agrees with the feminine noun.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Relative: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الرَّجُلُ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تَحَدَّثَ إِلَيْنَا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الَّذِي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الَّذِينَ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masculine singular noun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negates the future with the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المَرْكَزِ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نَحْتَفِلُ</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سَنَحْتَفِلُ</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احْتَفَلْنَا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requires the past.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habit: which means “used to celebrate”?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يَحْتَفِلُ</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احْتَفَلَ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سَيَحْتَفِلُ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is a past habit.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which is accurate?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أَصْغَرُ مِنَ السَّابِقِ</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أَصْغَرُ مِنَ السَّابِقِ</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الأَصْغَرُ مِنَ السَّابِقِ</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comparative form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D6-L07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D6-L08 · Reading — Countries, Culture and Celebration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نَبْرَةُ الكَاتِبِ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writer’s tone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مَنْظُورٌ ثَقَافِيٌّ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cultural perspective</a:t>
            </a:r>
            <a:pPr indent="0" marL="0">
              <a:buNone/>
            </a:pPr>
            <a:r>
              <a:rPr lang="ar-SA" sz="1000" i="1" dirty="0">
                <a:solidFill>
                  <a:srgbClr val="5A6472"/>
                </a:solidFill>
                <a:latin typeface="Calibri" pitchFamily="34" charset="0"/>
                <a:ea typeface="Amiri" pitchFamily="2" charset="-78"/>
                <a:cs typeface="Amiri" pitchFamily="2" charset="-78"/>
              </a:rPr>
              <a:t>  pl. مَنَاظِيرُ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الفِكْرَةُ الرَّئِيسِيَّةُ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main idea</a:t>
            </a:r>
            <a:pPr indent="0" marL="0">
              <a:buNone/>
            </a:pPr>
            <a:r>
              <a:rPr lang="ar-SA" sz="1000" i="1" dirty="0">
                <a:solidFill>
                  <a:srgbClr val="5A6472"/>
                </a:solidFill>
                <a:latin typeface="Calibri" pitchFamily="34" charset="0"/>
                <a:ea typeface="Amiri" pitchFamily="2" charset="-78"/>
                <a:cs typeface="Amiri" pitchFamily="2" charset="-78"/>
              </a:rPr>
              <a:t>  pl. الأَفْكَارُ الرَّئِيسِيَّةُ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دَلِيلٌ مِنَ النَّصِّ</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 from the text</a:t>
            </a:r>
            <a:pPr indent="0" marL="0">
              <a:buNone/>
            </a:pPr>
            <a:r>
              <a:rPr lang="ar-SA" sz="1000" i="1" dirty="0">
                <a:solidFill>
                  <a:srgbClr val="5A6472"/>
                </a:solidFill>
                <a:latin typeface="Calibri" pitchFamily="34" charset="0"/>
                <a:ea typeface="Amiri" pitchFamily="2" charset="-78"/>
                <a:cs typeface="Amiri" pitchFamily="2" charset="-78"/>
              </a:rPr>
              <a:t>  pl. أَدِلَّةٌ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تَحَيُّزٌ</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bias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news story or advert about a celebration. Was its tone positive, critical or neutral? Which words told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كَانَتْ نَبْرَةُ النَّصِّ ______ ، وَالدَّلِيلُ كَلِمَةُ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two in each tense, about a celebration in your family.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with a relative clause and a comparative.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90–100 words across three tenses with a passive and a formal connector.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D6-L08 · Reading — Countries, Culture and Celebration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الدُّوَلِ وَالثَّقَافَةِ وَالاحْتِفَالَاتِ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time phrase → matching verb · </a:t>
            </a:r>
            <a:pPr algn="l" indent="0" marL="0">
              <a:buNone/>
            </a:pPr>
            <a:r>
              <a:rPr lang="ar-SA" altLang="en-US" sz="1700" b="1" dirty="0">
                <a:solidFill>
                  <a:srgbClr val="FFFFFF"/>
                </a:solidFill>
                <a:latin typeface="Amiri" pitchFamily="2" charset="-78"/>
                <a:ea typeface="Amiri" pitchFamily="2" charset="-78"/>
                <a:cs typeface="Amiri" pitchFamily="2" charset="-78"/>
              </a:rPr>
              <a:t>الَّذِي / الَّتِي</a:t>
            </a:r>
            <a:pPr algn="l" indent="0" marL="0">
              <a:buNone/>
            </a:pPr>
            <a:r>
              <a:rPr lang="en-US" sz="1300" b="1" dirty="0">
                <a:solidFill>
                  <a:srgbClr val="FFFFFF"/>
                </a:solidFill>
                <a:latin typeface="Calibri" pitchFamily="34" charset="0"/>
                <a:cs typeface="Amiri" pitchFamily="2" charset="-78"/>
              </a:rPr>
              <a:t> look backwards · </a:t>
            </a:r>
            <a:pPr algn="l" indent="0" marL="0">
              <a:buNone/>
            </a:pPr>
            <a:r>
              <a:rPr lang="ar-SA" altLang="en-US" sz="1700" b="1" dirty="0">
                <a:solidFill>
                  <a:srgbClr val="FFFFFF"/>
                </a:solidFill>
                <a:latin typeface="Amiri" pitchFamily="2" charset="-78"/>
                <a:ea typeface="Amiri" pitchFamily="2" charset="-78"/>
                <a:cs typeface="Amiri" pitchFamily="2" charset="-78"/>
              </a:rPr>
              <a:t>لَنْ</a:t>
            </a:r>
            <a:pPr algn="l" indent="0" marL="0">
              <a:buNone/>
            </a:pPr>
            <a:r>
              <a:rPr lang="en-US" sz="1300" b="1" dirty="0">
                <a:solidFill>
                  <a:srgbClr val="FFFFFF"/>
                </a:solidFill>
                <a:latin typeface="Calibri" pitchFamily="34" charset="0"/>
                <a:cs typeface="Amiri" pitchFamily="2" charset="-78"/>
              </a:rPr>
              <a:t> + -a · one comparative · passive subject in -u.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D6-L07 · D6 Grammar Consolidation — All Tenses Together</dc:title>
  <dc:subject>PptxGenJS Presentation</dc:subject>
  <dc:creator>Al Madina Online School · Arabic Department</dc:creator>
  <cp:lastModifiedBy>Al Madina Online School · Arabic Department</cp:lastModifiedBy>
  <cp:revision>1</cp:revision>
  <dcterms:created xsi:type="dcterms:W3CDTF">2026-10-11T06:41:09Z</dcterms:created>
  <dcterms:modified xsi:type="dcterms:W3CDTF">2026-10-11T06:41:09Z</dcterms:modified>
</cp:coreProperties>
</file>