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D6 Countries, Cultures and Celebrations › D6-L03. The website lesson “Islamic Celebrations — Eid, Ramadan and Religious Occasions”: vocabulary, grammar rules and quiz, patterns, common mistakes, sorter, listening, reading, speaking prompts and model, writing task and model, differentiation, final check and the lesson mission. Picture match: website visual game “Islamic Celebrations — Eid, Ramadan and Religious Occasions”.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Ramadan and Eid words + six present-tense sentences (يَصُومُ المُسْلِمُونَ فِي رَمَضَانَ). Develop: two passive verbs with nominative subjects (تُزَيَّنُ الشَّوَارِعُ). Stretch: the website 80–90-word description with a personal memory in the past (صُمْتُ …) and a hedge.
• This is a lesson students know from the inside: draw on their own Ramadan and Eid experiences, family customs and countries of origin. The hedge (فِي بَعْضِ البُلْدَانِ) is about CUSTOMS (lanterns, sweets, Eid money) — the acts of worship (fasting, Eid prayer, zakat al-Fitr) are shared.
• Grammar links: hollow verbs (D5: صَامَ → صُمْتُ like زَارَ → زُرْتُ), diptotes (D6-L01: فِي رَمَضَانَ), passive (D4-L03 / L06).
• TEACHER-WRITTEN ITEMS: English added to the patterns and speaking model (quiz items that differ only in vowels test the passive and case endings themselves, so they are kept).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D6-L02. Questions 4–5 retrieve D6-L02 (يَحْتَفِلُ بِـ) and the D5 hollow-verb rule (صُمْتُ like زُرْتُ).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passive puts the CUSTOM first — the doer disappears.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almost every word today is shared — افطار، سحری، عیدی، صدقہ، تراویح. Urdu shab-e-qadr = Arabic لَيْلَةُ القَدْرِ (Persian شب = night = Arabic لَيْلَةٌ). Urdu roza = Arabic صَوْمٌ / صِيَامٌ.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Ramadan (website vocabulary (1 of 2)). Hear → Say → See → Use. Transliteration is printed for Core students (cover it for Develop/Stretch).
Ramadan. رَمَضَانُ is a diptote: فِي رَمَضَانَ (never رَمَضَانٍ). صَامَ is hollow: صُمْتُ · صُمْنَا.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Ramadan (website vocabulary (2 of 2)). Hear → Say → See → Use. Transliteration is printed for Core students (cover it for Develop/Stretch).
Ramadan. رَمَضَانُ is a diptote: فِي رَمَضَانَ (never رَمَضَانٍ). صَامَ is hollow: صُمْتُ · صُمْنَا.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two Eids (website vocabulary (1 of 2)). Hear → Say → See → Use. Transliteration is printed for Core students (cover it for Develop/Stretch).
The two Eids: the acts of worship (Eid prayer, takbirs, zakat al-Fitr) and the family customs (Eid money, sweets,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two Eids (website vocabulary (2 of 2)). Hear → Say → See → Use. Transliteration is printed for Core students (cover it for Develop/Stretch).
The two Eids: the acts of worship (Eid prayer, takbirs, zakat al-Fitr) and the family customs (Eid money, sweets,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cultural passive (website vocabulary (1 of 2)). Hear → Say → See → Use. Transliteration is printed for Core students (cover it for Develop/Stretch).
The cultural passive: cards show the active verb too. The doer disappears; the custom becomes the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cultural passive (website vocabulary (2 of 2)). Hear → Say → See → Use. Transliteration is printed for Core students (cover it for Develop/Stretch).
The cultural passive: cards show the active verb too. The doer disappears; the custom becomes the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“Forming the present passive” (يُفَعِّلُ → يُفَعَّلُ: the prefix takes a ḍamma and the letter before the ending a fatḥa; no extra word) and “The passive verb agrees with the thing affected” (the former object becomes the nominative subject; the verb agrees with it in gender). Website teaching point: “The passive changes the vowels, not the letters.”
Website mistake: يُزَيَّنُ الشَّارِعَ ✗ → الشَّارِعُ. Note الحَلْوَى is feminine → تُوَزَّعُ.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“Present for the general custom” (add a hedge where the custom is regional) and “Past for personal experience” (صَامَ is hollow: صُمْتُ، صُمْنَا). Website teaching point: “General custom in the present, personal memory in the past.”
Website mistake 3: فِي رَمَضَانٍ ✗ → فِي رَمَضَانَ (diptote, D6-L01).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“One new structure and one choice: form the passive by changing the vowel pattern, and decide between present for the general custom and past for your own memory.”
• Forming the present passive: The prefix takes a ḍamma and the letter before the ending takes a fatḥa. No extra word is added.
• The passive verb agrees with the thing affected: What was the object becomes the subject and is nominative. The verb agrees with it in gender.
• Present for the general custom: Use the present for what happens each year, and add a hedge where the custom is regional.
• Past for personal experience: صَامَ is hollow, so the middle vowel shortens: صُمْتُ، صُمْنَا.
Website common error: Leaving the affected noun in the accusative after a passive verb. Once the verb is passive, that noun becomes the subject and must be nominative: يُزَيَّنُ الشَّارِعُ, not الشَّارِعَ.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at each verb: “Every year or my memory? Who does it — does it matter? Then the passive.” Students add one sentence about their own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Islamic Celebrations — Eid, Ramadan and Religious Occasions”)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two Eids and the family). Then turn each into a passive: تُقَامُ صَلَاةُ العِيدِ · تُتَبَادَلُ الهَدَايَا. The other website cards (a birthday, a graduation, gifts) lead into D6-L04.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Islamic Celebrations — Eid, Ramadan and Religious Occasions”)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two Eids and the family). Then turn each into a passive: تُقَامُ صَلَاةُ العِيدِ · تُتَبَادَلُ الهَدَايَا. The other website cards (a birthday, a graduation, gifts) lead into D6-L04.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passive sentence about YOUR family’s Ramadan or 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passive sentence about YOUR family’s Ramadan or 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4 and 5. Develop / Stretch: all 5 — and list the passive verbs you hear.
Listen 1: just listen. Listen 2: note answers. Then chat the letters.
Support: after the second listening, show the read-along slide (Arabic + English, line by line) for Core students.
SCRIPT (read aloud):
فِي رَمَضَانَ يَصُومُ المُسْلِمُونَ مِنَ الفَجْرِ إِلَى المَغْرِبِ، ثُمَّ يُفْطِرُونَ مَعًا. عِنْدَنَا تُعَدُّ المَائِدَةُ قَبْلَ المَغْرِبِ بِقَلِيلٍ، وَيَجْتَمِعُ الأَقَارِبُ وَالجِيرَانُ. وَفِي بَعْضِ البُلْدَانِ تُزَيَّنُ الشَّوَارِعُ بِالفَوَانِيسِ، وَلٰكِنْ لَيْسَ دَائِمًا؛ فَالعَادَاتُ تَخْتَلِفُ. أَنَا صُمْتُ لِأَوَّلِ مَرَّةٍ عِنْدَمَا كُنْتُ فِي السَّابِعَةِ، وَكَانَتْ تَجْرِبَةً لَا تُنْسَى. وَفِي عِيدِ الفِطْرِ تُقَامُ صَلَاةُ العِيدِ صَبَاحًا، وَتُتَبَادَلُ التَّهَانِي، وَتُوَزَّعُ الحَلْوَى عَلَى الجِيرَانِ، وَيَأْخُذُ الأَطْفَالُ العِيدِيَّةَ.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حَضَرْتَ مُنَاسَبَةً بِنَفْسِكَ؟ (And have you attended an occasion yourself?)
B: نَعَمْ، صُمْتُ لِأَوَّلِ مَرَّةٍ وَأَنَا صَغِيرٌ، وَزُرْنَا الأَقَارِبَ فِي أَوَّلِ أَيَّامِ العِيدِ. (Yes, I fasted for the first time when I was little, and we visited relatives on the first day of Eid.)
Website prompts and model: general custom (present + passive + hedge) → personal memory (past, hollow verb). Invite students to compare Ramadan in their family’s country of origin with Ramadan here. To a girl: صِفِي · أَعْطِي · حَضَرْتِهَا · مُسْتَعْمِلَةً.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six sentences naming Ramadan and Eid customs in the present tense. · Develop — Add two passive verbs with accurate nominative subjects. · Stretch — Add a past-tense personal memory and a hedge that acknowledges regional difference.
Website writing task (Stretch): Write eighty to ninety words describing Ramadan and Eid. Use the present tense for the general customs, at least two passive verbs, one past-tense sentence about a personal or observed experience, and one hedge acknowledging that customs differ.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يَصُومُ · يَبْدَأُ · تُعَدُّ · تُوَزَّعُ · تُزَيَّنُ · تُقَامُ · تُتَبَادَلُ (passives) · فِي بَعْضِ البُلْدَانِ … لَيْسَ دَائِمًا · زُرْنَا … وَكَانَ يَوْمًا جَمِيلًا.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(D6-L04 · Cultural Celebrations Beyond Islam in the Arab World) will spend class time USING this language, so students prepare it tonight — short, simple, easy to access (school guidance: “Simple, Short, Interesting, Relevant, Easy to access”). The five words come from the website D6-L04 vocabulary (celebrations of other communities and coexistence).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D6  ·  D6-L03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D6-L03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Islamic Celebrations — Eid, Ramadan and Religious Occasions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المُنَاسَبَاتُ الإِسْلَامِيَّةُ — العِيدَانِ وَرَمَضَانُ</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Ramadan and the two Eids: the general custom in the present (</a:t>
            </a:r>
            <a:pPr algn="l" indent="0" marL="0">
              <a:buNone/>
            </a:pPr>
            <a:r>
              <a:rPr lang="ar-SA" altLang="en-US" sz="1800" dirty="0">
                <a:solidFill>
                  <a:srgbClr val="C6D2E6"/>
                </a:solidFill>
                <a:latin typeface="Amiri" pitchFamily="34" charset="0"/>
                <a:ea typeface="Amiri" pitchFamily="34" charset="-122"/>
                <a:cs typeface="Amiri" pitchFamily="34" charset="-120"/>
              </a:rPr>
              <a:t>يَصُومُ المُسْلِمُونَ</a:t>
            </a:r>
            <a:pPr algn="l" indent="0" marL="0">
              <a:buNone/>
            </a:pPr>
            <a:r>
              <a:rPr lang="en-US" sz="1400" dirty="0">
                <a:solidFill>
                  <a:srgbClr val="C6D2E6"/>
                </a:solidFill>
                <a:latin typeface="Calibri" pitchFamily="34" charset="0"/>
                <a:ea typeface="Calibri" pitchFamily="34" charset="-122"/>
                <a:cs typeface="Calibri" pitchFamily="34" charset="-120"/>
              </a:rPr>
              <a:t>), what is done with the passive (</a:t>
            </a:r>
            <a:pPr algn="l" indent="0" marL="0">
              <a:buNone/>
            </a:pPr>
            <a:r>
              <a:rPr lang="ar-SA" altLang="en-US" sz="1800" dirty="0">
                <a:solidFill>
                  <a:srgbClr val="C6D2E6"/>
                </a:solidFill>
                <a:latin typeface="Amiri" pitchFamily="34" charset="0"/>
                <a:ea typeface="Amiri" pitchFamily="34" charset="-122"/>
                <a:cs typeface="Amiri" pitchFamily="34" charset="-120"/>
              </a:rPr>
              <a:t>تُزَيَّنُ الشَّوَارِعُ</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تُوَزَّعُ الحَلْوَى</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تُتَبَادَلُ التَّهَانِي</a:t>
            </a:r>
            <a:pPr algn="l" indent="0" marL="0">
              <a:buNone/>
            </a:pPr>
            <a:r>
              <a:rPr lang="en-US" sz="1400" dirty="0">
                <a:solidFill>
                  <a:srgbClr val="C6D2E6"/>
                </a:solidFill>
                <a:latin typeface="Calibri" pitchFamily="34" charset="0"/>
                <a:ea typeface="Calibri" pitchFamily="34" charset="-122"/>
                <a:cs typeface="Calibri" pitchFamily="34" charset="-120"/>
              </a:rPr>
              <a:t>), your own memory in the past (</a:t>
            </a:r>
            <a:pPr algn="l" indent="0" marL="0">
              <a:buNone/>
            </a:pPr>
            <a:r>
              <a:rPr lang="ar-SA" altLang="en-US" sz="1800" dirty="0">
                <a:solidFill>
                  <a:srgbClr val="C6D2E6"/>
                </a:solidFill>
                <a:latin typeface="Amiri" pitchFamily="34" charset="0"/>
                <a:ea typeface="Amiri" pitchFamily="34" charset="-122"/>
                <a:cs typeface="Amiri" pitchFamily="34" charset="-120"/>
              </a:rPr>
              <a:t>صُمْتُ لِأَوَّلِ مَرَّةٍ</a:t>
            </a:r>
            <a:pPr algn="l" indent="0" marL="0">
              <a:buNone/>
            </a:pPr>
            <a:r>
              <a:rPr lang="en-US" sz="1400" dirty="0">
                <a:solidFill>
                  <a:srgbClr val="C6D2E6"/>
                </a:solidFill>
                <a:latin typeface="Calibri" pitchFamily="34" charset="0"/>
                <a:ea typeface="Calibri" pitchFamily="34" charset="-122"/>
                <a:cs typeface="Calibri" pitchFamily="34" charset="-120"/>
              </a:rPr>
              <a:t>) — and a hedge for regional customs.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D6-L03 · Development D6 · Countries, Cultures and Celebrations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D6 › D6-L03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cultural passive; present for custom, past for memory.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Ramadan / Eid / passive, fix slips, then a family’s Ramadan and Eid.</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D6-L04.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السَّحُورُ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evening meal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pre-dawn meal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crescent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عِيدِيَّةٌ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Eid money for children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Eid prayer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Eid sweets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الإِفْطَارُ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fasting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night prayer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iftar, the evening meal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تَحْتَفِلُ العَائِلَةُ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“I” past of </a:t>
            </a:r>
            <a:pPr algn="l" indent="0" marL="0">
              <a:buNone/>
            </a:pPr>
            <a:r>
              <a:rPr lang="ar-SA" altLang="en-US" sz="1650" b="1" dirty="0">
                <a:solidFill>
                  <a:srgbClr val="1B3B6F"/>
                </a:solidFill>
                <a:latin typeface="Amiri" pitchFamily="34" charset="0"/>
                <a:ea typeface="Amiri" pitchFamily="34" charset="-122"/>
                <a:cs typeface="Amiri" pitchFamily="34" charset="-120"/>
              </a:rPr>
              <a:t>زَارَ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زَارْتُ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أَزُورُ</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السَّحُورُ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evening meal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pre-dawn meal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crescent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عِيدِيَّةٌ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Eid money for children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Eid prayer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Eid sweets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الإِفْطَارُ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fasting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night prayer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iftar, the evening meal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(D6-L02).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تَحْتَفِلُ العَائِلَةُ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D6-L02: yaḥtafilu bi-.</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“I” past of </a:t>
            </a:r>
            <a:pPr algn="l" indent="0" marL="0">
              <a:buNone/>
            </a:pPr>
            <a:r>
              <a:rPr lang="ar-SA" altLang="en-US" sz="1650" b="1" dirty="0">
                <a:solidFill>
                  <a:srgbClr val="1B3B6F"/>
                </a:solidFill>
                <a:latin typeface="Amiri" pitchFamily="34" charset="0"/>
                <a:ea typeface="Amiri" pitchFamily="34" charset="-122"/>
                <a:cs typeface="Amiri" pitchFamily="34" charset="-120"/>
              </a:rPr>
              <a:t>زَارَ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زَارْتُ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أَزُورُ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D5: hollow verbs (</a:t>
            </a:r>
            <a:pPr algn="l" indent="0" marL="0">
              <a:buNone/>
            </a:pPr>
            <a:r>
              <a:rPr lang="ar-SA" altLang="en-US" sz="1350" dirty="0">
                <a:solidFill>
                  <a:srgbClr val="8A6D1E"/>
                </a:solidFill>
                <a:latin typeface="Amiri" pitchFamily="34" charset="0"/>
                <a:ea typeface="Amiri" pitchFamily="34" charset="-122"/>
                <a:cs typeface="Amiri" pitchFamily="34" charset="-120"/>
              </a:rPr>
              <a:t>صَامَ</a:t>
            </a:r>
            <a:pPr algn="l" indent="0" marL="0">
              <a:buNone/>
            </a:pPr>
            <a:r>
              <a:rPr lang="en-US" sz="1050" i="1" dirty="0">
                <a:solidFill>
                  <a:srgbClr val="8A6D1E"/>
                </a:solidFill>
                <a:latin typeface="Calibri" pitchFamily="34" charset="0"/>
                <a:ea typeface="Calibri" pitchFamily="34" charset="-122"/>
                <a:cs typeface="Calibri" pitchFamily="34" charset="-120"/>
              </a:rPr>
              <a:t> works the same way).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passive puts the CUSTOM first — the doer disappears.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يُزَيِّنُ النَّاسُ الشَّوَارِعَ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تُزَيَّنُ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الشَّوَارِعُ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customs of Ramadan and the two Eids.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the present passive (</a:t>
            </a:r>
            <a:pPr algn="l" indent="0" marL="0">
              <a:buNone/>
            </a:pPr>
            <a:r>
              <a:rPr lang="ar-SA" altLang="en-US" sz="1700" dirty="0">
                <a:solidFill>
                  <a:srgbClr val="1F2A37"/>
                </a:solidFill>
                <a:latin typeface="Amiri" pitchFamily="34" charset="0"/>
                <a:ea typeface="Amiri" pitchFamily="34" charset="-122"/>
                <a:cs typeface="Amiri" pitchFamily="34" charset="-120"/>
              </a:rPr>
              <a:t>يُزَيَّنُ</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تُوَزَّعُ</a:t>
            </a:r>
            <a:pPr algn="l" indent="0" marL="0">
              <a:buNone/>
            </a:pPr>
            <a:r>
              <a:rPr lang="en-US" sz="1300" dirty="0">
                <a:solidFill>
                  <a:srgbClr val="1F2A37"/>
                </a:solidFill>
                <a:latin typeface="Calibri" pitchFamily="34" charset="0"/>
                <a:ea typeface="Calibri" pitchFamily="34" charset="-122"/>
                <a:cs typeface="Calibri" pitchFamily="34" charset="-120"/>
              </a:rPr>
              <a:t>) with a nominative subject.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present for general customs and the past for a personal memory (</a:t>
            </a:r>
            <a:pPr algn="l" indent="0" marL="0">
              <a:buNone/>
            </a:pPr>
            <a:r>
              <a:rPr lang="ar-SA" altLang="en-US" sz="1700" dirty="0">
                <a:solidFill>
                  <a:srgbClr val="1F2A37"/>
                </a:solidFill>
                <a:latin typeface="Amiri" pitchFamily="34" charset="0"/>
                <a:ea typeface="Amiri" pitchFamily="34" charset="-122"/>
                <a:cs typeface="Amiri" pitchFamily="34" charset="-120"/>
              </a:rPr>
              <a:t>صُمْتُ</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Hedge customs that differ between countries.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Ramadan and Eid customs.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describe them in the present.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two passive verbs with a nominative subject.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a:t>
            </a:r>
            <a:pPr algn="l" indent="0" marL="0">
              <a:buNone/>
            </a:pPr>
            <a:r>
              <a:rPr lang="ar-SA" altLang="en-US" sz="1700" b="1" dirty="0">
                <a:solidFill>
                  <a:srgbClr val="C9780A"/>
                </a:solidFill>
                <a:latin typeface="Amiri" pitchFamily="34" charset="0"/>
                <a:ea typeface="Amiri" pitchFamily="34" charset="-122"/>
                <a:cs typeface="Amiri" pitchFamily="34" charset="-120"/>
              </a:rPr>
              <a:t>صُمْتُ / صُمْنَا</a:t>
            </a:r>
            <a:pPr algn="l" indent="0" marL="0">
              <a:buNone/>
            </a:pPr>
            <a:r>
              <a:rPr lang="en-US" sz="1300" b="1" dirty="0">
                <a:solidFill>
                  <a:srgbClr val="C9780A"/>
                </a:solidFill>
                <a:latin typeface="Calibri" pitchFamily="34" charset="0"/>
                <a:ea typeface="Calibri" pitchFamily="34" charset="-122"/>
                <a:cs typeface="Calibri" pitchFamily="34" charset="-120"/>
              </a:rPr>
              <a:t> correctly.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add a personal memory in the past.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hedge a regional custom.</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29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Ramadan · 11</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two Eids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cultural passive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رَمَضَانُ · صَوْمٌ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‎رمضان · روزہ‎ </a:t>
            </a:r>
            <a:pPr indent="0" marL="0">
              <a:buNone/>
            </a:pPr>
            <a:r>
              <a:rPr lang="en-US" sz="950" b="1" dirty="0">
                <a:solidFill>
                  <a:srgbClr val="2E8B57"/>
                </a:solidFill>
                <a:latin typeface="Calibri" pitchFamily="34" charset="0"/>
                <a:ea typeface="Calibri" pitchFamily="34" charset="-122"/>
                <a:cs typeface="Calibri" pitchFamily="34" charset="-120"/>
              </a:rPr>
              <a:t> rōza · Ramadan · fasting (Urdu roza is Persian)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الإِفْطَارُ · السَّحُورُ</a:t>
            </a:r>
            <a:endParaRPr lang="ar-SA" sz="175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‎افطار · سحری‎ </a:t>
            </a:r>
            <a:pPr indent="0" marL="0">
              <a:buNone/>
            </a:pPr>
            <a:r>
              <a:rPr lang="en-US" sz="950" b="1" dirty="0">
                <a:solidFill>
                  <a:srgbClr val="2E8B57"/>
                </a:solidFill>
                <a:latin typeface="Calibri" pitchFamily="34" charset="0"/>
                <a:ea typeface="Calibri" pitchFamily="34" charset="-122"/>
                <a:cs typeface="Calibri" pitchFamily="34" charset="-120"/>
              </a:rPr>
              <a:t> iftār · sehrī · iftar · suhoor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عِيدِيَّةٌ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‎عیدی‎ </a:t>
            </a:r>
            <a:pPr indent="0" marL="0">
              <a:buNone/>
            </a:pPr>
            <a:r>
              <a:rPr lang="en-US" sz="950" b="1" dirty="0">
                <a:solidFill>
                  <a:srgbClr val="2E8B57"/>
                </a:solidFill>
                <a:latin typeface="Calibri" pitchFamily="34" charset="0"/>
                <a:ea typeface="Calibri" pitchFamily="34" charset="-122"/>
                <a:cs typeface="Calibri" pitchFamily="34" charset="-120"/>
              </a:rPr>
              <a:t> ʿīdī · Eid money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صَدَقَةٌ · زَكَاةُ الفِطْرِ</a:t>
            </a:r>
            <a:endParaRPr lang="ar-SA" sz="16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‎صدقہ · فطرانہ‎ </a:t>
            </a:r>
            <a:pPr indent="0" marL="0">
              <a:buNone/>
            </a:pPr>
            <a:r>
              <a:rPr lang="en-US" sz="950" b="1" dirty="0">
                <a:solidFill>
                  <a:srgbClr val="2E8B57"/>
                </a:solidFill>
                <a:latin typeface="Calibri" pitchFamily="34" charset="0"/>
                <a:ea typeface="Calibri" pitchFamily="34" charset="-122"/>
                <a:cs typeface="Calibri" pitchFamily="34" charset="-120"/>
              </a:rPr>
              <a:t> fiṭrāna · charity · zakat al-Fitr</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التَّرَاوِيحُ · لَيْلَةُ القَدْرِ</a:t>
            </a:r>
            <a:endParaRPr lang="ar-SA" sz="13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‎تراویح · شبِ قدر‎ </a:t>
            </a:r>
            <a:pPr indent="0" marL="0">
              <a:buNone/>
            </a:pPr>
            <a:r>
              <a:rPr lang="en-US" sz="950" b="1" dirty="0">
                <a:solidFill>
                  <a:srgbClr val="2E8B57"/>
                </a:solidFill>
                <a:latin typeface="Calibri" pitchFamily="34" charset="0"/>
                <a:ea typeface="Calibri" pitchFamily="34" charset="-122"/>
                <a:cs typeface="Calibri" pitchFamily="34" charset="-120"/>
              </a:rPr>
              <a:t> shab-e-qadr · Tarawih · Laylat al-Qadr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Ramadan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رَمَضَانُ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Ramadan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ra-ma-ḍā-nu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diptote: </a:t>
            </a:r>
            <a:pPr algn="l" indent="0" marL="0">
              <a:buNone/>
            </a:pPr>
            <a:r>
              <a:rPr lang="ar-SA" altLang="en-US" sz="1300" dirty="0">
                <a:solidFill>
                  <a:srgbClr val="8A6D1E"/>
                </a:solidFill>
                <a:latin typeface="Amiri" pitchFamily="34" charset="0"/>
                <a:ea typeface="Amiri" pitchFamily="34" charset="-122"/>
                <a:cs typeface="Amiri" pitchFamily="34" charset="-120"/>
              </a:rPr>
              <a:t>فِي رَمَضَانَ</a:t>
            </a:r>
            <a:pPr algn="l" indent="0" marL="0">
              <a:buNone/>
            </a:pPr>
            <a:r>
              <a:rPr lang="en-US" sz="1000" i="1" dirty="0">
                <a:solidFill>
                  <a:srgbClr val="8A6D1E"/>
                </a:solidFill>
                <a:latin typeface="Calibri" pitchFamily="34" charset="0"/>
                <a:ea typeface="Calibri" pitchFamily="34" charset="-122"/>
                <a:cs typeface="Calibri" pitchFamily="34" charset="-120"/>
              </a:rPr>
              <a:t>, never </a:t>
            </a:r>
            <a:pPr algn="l" indent="0" marL="0">
              <a:buNone/>
            </a:pPr>
            <a:r>
              <a:rPr lang="ar-SA" altLang="en-US" sz="1300" dirty="0">
                <a:solidFill>
                  <a:srgbClr val="8A6D1E"/>
                </a:solidFill>
                <a:latin typeface="Amiri" pitchFamily="34" charset="0"/>
                <a:ea typeface="Amiri" pitchFamily="34" charset="-122"/>
                <a:cs typeface="Amiri" pitchFamily="34" charset="-120"/>
              </a:rPr>
              <a:t>رَمَضَانٍ</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4782312" y="1938528"/>
            <a:ext cx="1704442"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70444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Both forms are current.</a:t>
            </a:r>
            <a:endParaRPr lang="en-US" sz="8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الصِّيَامُ / الصَّوْمُ</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fasting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aṣ-ṣi-yā-mu / aṣ-ṣaw-mu</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5" name="Shape 32"/>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we · she</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يَصُومُ / صَامَ</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fasts / fasted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ya-ṣū-mu / ṣā-ma</a:t>
            </a:r>
            <a:endParaRPr lang="en-US" sz="1350" dirty="0"/>
          </a:p>
        </p:txBody>
      </p:sp>
      <p:sp>
        <p:nvSpPr>
          <p:cNvPr id="41" name="Shape 38"/>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3" name="Text 40"/>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صَامَتْ</a:t>
            </a:r>
            <a:endParaRPr lang="ar-SA" sz="1500" dirty="0"/>
          </a:p>
        </p:txBody>
      </p:sp>
      <p:sp>
        <p:nvSpPr>
          <p:cNvPr id="44" name="Shape 41"/>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46" name="Text 43"/>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صُمْنَا</a:t>
            </a:r>
            <a:endParaRPr lang="ar-SA" sz="1500" dirty="0"/>
          </a:p>
        </p:txBody>
      </p:sp>
      <p:sp>
        <p:nvSpPr>
          <p:cNvPr id="47" name="Shape 44"/>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9" name="Text 46"/>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صُمْتُ</a:t>
            </a:r>
            <a:endParaRPr lang="ar-SA" sz="150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3" name="Shape 5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past · we</a:t>
            </a:r>
            <a:endParaRPr lang="en-US" sz="800" dirty="0"/>
          </a:p>
        </p:txBody>
      </p:sp>
      <p:sp>
        <p:nvSpPr>
          <p:cNvPr id="55" name="Text 5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يُفْطِرُ</a:t>
            </a:r>
            <a:endParaRPr lang="ar-SA" sz="3000" dirty="0"/>
          </a:p>
        </p:txBody>
      </p:sp>
      <p:sp>
        <p:nvSpPr>
          <p:cNvPr id="56" name="Text 5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breaks the fast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yuf-ṭi-ru</a:t>
            </a:r>
            <a:endParaRPr lang="en-US" sz="1350" dirty="0"/>
          </a:p>
        </p:txBody>
      </p:sp>
      <p:sp>
        <p:nvSpPr>
          <p:cNvPr id="57" name="Shape 5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59" name="Text 5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أَفْطَرْنَا</a:t>
            </a:r>
            <a:endParaRPr lang="ar-SA" sz="1500" dirty="0"/>
          </a:p>
        </p:txBody>
      </p:sp>
      <p:sp>
        <p:nvSpPr>
          <p:cNvPr id="60" name="Shape 5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62" name="Text 59"/>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أَفْطَرَ</a:t>
            </a:r>
            <a:endParaRPr lang="ar-SA"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6" name="Shape 6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7" name="Text 6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8" name="Text 6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الإِفْطَارُ</a:t>
            </a:r>
            <a:endParaRPr lang="ar-SA" sz="3000" dirty="0"/>
          </a:p>
        </p:txBody>
      </p:sp>
      <p:sp>
        <p:nvSpPr>
          <p:cNvPr id="69" name="Text 6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iftar, the evening meal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al-if-ṭā-ru</a:t>
            </a:r>
            <a:endParaRPr lang="en-US" sz="1350" dirty="0"/>
          </a:p>
        </p:txBody>
      </p:sp>
      <p:sp>
        <p:nvSpPr>
          <p:cNvPr id="70" name="Shape 6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566928"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3" name="Shape 7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4" name="Text 7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5" name="Text 7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السَّحُورُ</a:t>
            </a:r>
            <a:endParaRPr lang="ar-SA" sz="3000" dirty="0"/>
          </a:p>
        </p:txBody>
      </p:sp>
      <p:sp>
        <p:nvSpPr>
          <p:cNvPr id="76" name="Text 7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suhoor, the pre-dawn meal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as-sa-ḥū-ru</a:t>
            </a:r>
            <a:endParaRPr lang="en-US"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Ramadan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الهِلَالُ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crescent moon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al-hi-lā-lu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Its sighting marks the start of the month.</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الفَوَانِيسُ</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lanterns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al-fa-wā-nī-su</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Plural of </a:t>
            </a:r>
            <a:pPr algn="l" indent="0" marL="0">
              <a:buNone/>
            </a:pPr>
            <a:r>
              <a:rPr lang="ar-SA" altLang="en-US" sz="1300" dirty="0">
                <a:solidFill>
                  <a:srgbClr val="8A6D1E"/>
                </a:solidFill>
                <a:latin typeface="Amiri" pitchFamily="34" charset="0"/>
                <a:ea typeface="Amiri" pitchFamily="34" charset="-122"/>
                <a:cs typeface="Amiri" pitchFamily="34" charset="-120"/>
              </a:rPr>
              <a:t>فَانُوسٌ</a:t>
            </a:r>
            <a:pPr algn="l" indent="0" marL="0">
              <a:buNone/>
            </a:pPr>
            <a:r>
              <a:rPr lang="en-US" sz="1000" i="1" dirty="0">
                <a:solidFill>
                  <a:srgbClr val="8A6D1E"/>
                </a:solidFill>
                <a:latin typeface="Calibri" pitchFamily="34" charset="0"/>
                <a:ea typeface="Calibri" pitchFamily="34" charset="-122"/>
                <a:cs typeface="Calibri" pitchFamily="34" charset="-120"/>
              </a:rPr>
              <a:t>; a diptote.</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2" name="Shape 29"/>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An iḍāfa.</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لَيْلَةُ القَدْرِ</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Laylat al-Qadr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lay-la-tu al-qad-ri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يُصَلِّي التَّرَاوِيحَ</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prays Tarawih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yu-ṣal-lī at-ta-rā-wī-ḥa</a:t>
            </a:r>
            <a:endParaRPr lang="en-US" sz="1350" dirty="0"/>
          </a:p>
        </p:txBody>
      </p:sp>
      <p:sp>
        <p:nvSpPr>
          <p:cNvPr id="41" name="Text 38"/>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Night prayers during Ramadan.</a:t>
            </a:r>
            <a:endParaRPr lang="en-US" sz="100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5" name="Text 4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رُوحُ رَمَضَانَ</a:t>
            </a:r>
            <a:endParaRPr lang="ar-SA" sz="3000" dirty="0"/>
          </a:p>
        </p:txBody>
      </p:sp>
      <p:sp>
        <p:nvSpPr>
          <p:cNvPr id="46" name="Text 4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spirit of Ramadan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rū-ḥu ra-ma-ḍā-na</a:t>
            </a:r>
            <a:endParaRPr lang="en-US" sz="1350" dirty="0"/>
          </a:p>
        </p:txBody>
      </p:sp>
      <p:sp>
        <p:nvSpPr>
          <p:cNvPr id="47" name="Text 44"/>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Note the diptote in the iḍāfa.</a:t>
            </a:r>
            <a:endParaRPr lang="en-US" sz="10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two Eids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عِيدُ الفِطْرِ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Eid al-Fitr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ʿī-du al-fiṭ-ri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Marks the end of Ramadan.</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عِيدُ الأَضْحَى</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Eid al-Adha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ʿī-du al-aḍ-ḥā</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3" name="Shape 3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صَلَاةُ العِيدِ</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Eid prayer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ṣa-lā-tu al-ʿī-di</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تَكْبِيرَاتُ العِيدِ</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Eid takbirs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tak-bī-rā-tu al-ʿī-di</a:t>
            </a:r>
            <a:endParaRPr lang="en-US" sz="135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5" name="Shape 4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زَكَاةُ الفِطْرِ</a:t>
            </a:r>
            <a:endParaRPr lang="ar-SA" sz="3000" dirty="0"/>
          </a:p>
        </p:txBody>
      </p:sp>
      <p:sp>
        <p:nvSpPr>
          <p:cNvPr id="48" name="Text 4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zakat al-Fitr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za-kā-tu al-fiṭ-ri</a:t>
            </a:r>
            <a:endParaRPr lang="en-US" sz="1350" dirty="0"/>
          </a:p>
        </p:txBody>
      </p:sp>
      <p:sp>
        <p:nvSpPr>
          <p:cNvPr id="49" name="Text 46"/>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Charity given before the Eid prayer.</a:t>
            </a:r>
            <a:endParaRPr lang="en-US" sz="10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two Eids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Feminine.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عِيدِيَّةٌ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Eid money given to children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ʿī-diy-ya-tun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7" name="Shape 24"/>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past · we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يَتَصَدَّقُ</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gives charity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ya-ta-ṣad-da-qu</a:t>
            </a:r>
            <a:endParaRPr lang="en-US" sz="1350" dirty="0"/>
          </a:p>
        </p:txBody>
      </p:sp>
      <p:sp>
        <p:nvSpPr>
          <p:cNvPr id="31" name="Shape 2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33" name="Text 3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تَصَدَّقْنَا</a:t>
            </a:r>
            <a:endParaRPr lang="ar-SA" sz="1500" dirty="0"/>
          </a:p>
        </p:txBody>
      </p:sp>
      <p:sp>
        <p:nvSpPr>
          <p:cNvPr id="34" name="Shape 3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36" name="Text 33"/>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تَصَدَّقَ</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0" name="Shape 37"/>
          <p:cNvSpPr/>
          <p:nvPr/>
        </p:nvSpPr>
        <p:spPr>
          <a:xfrm>
            <a:off x="960120" y="1938528"/>
            <a:ext cx="1580083"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Plural of تَهْنِئَةٌ.</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التَّهَانِي</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congratulations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at-ta-hā-nī</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الحَلْوَى</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sweets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al-ḥal-wā</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زِيَارَةُ الأَقَارِبِ</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visiting relatives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zi-yā-ra-tu al-a-qā-ri-bi</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cultural passive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active · f.</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يُزَيَّنُ</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decorated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yu-zay-ya-nu</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تُزَيَّنُ</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active</a:t>
            </a:r>
            <a:endParaRPr lang="en-US" sz="700" dirty="0"/>
          </a:p>
        </p:txBody>
      </p:sp>
      <p:sp>
        <p:nvSpPr>
          <p:cNvPr id="27" name="Text 24"/>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يُزَيِّنُ</a:t>
            </a:r>
            <a:endParaRPr lang="ar-SA" sz="135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1" name="Shape 28"/>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active</a:t>
            </a:r>
            <a:endParaRPr lang="en-US" sz="8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تُتَبَادَلُ</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are exchanged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tu-ta-bā-da-lu</a:t>
            </a:r>
            <a:endParaRPr lang="en-US" sz="1350" dirty="0"/>
          </a:p>
        </p:txBody>
      </p:sp>
      <p:sp>
        <p:nvSpPr>
          <p:cNvPr id="37" name="Shape 34"/>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active</a:t>
            </a:r>
            <a:endParaRPr lang="en-US" sz="700" dirty="0"/>
          </a:p>
        </p:txBody>
      </p:sp>
      <p:sp>
        <p:nvSpPr>
          <p:cNvPr id="39" name="Text 36"/>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يَتَبَادَلُ</a:t>
            </a:r>
            <a:endParaRPr lang="ar-SA"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3" name="Shape 40"/>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active · m.</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تُوَزَّعُ</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are distributed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tu-waz-za-ʿu</a:t>
            </a:r>
            <a:endParaRPr lang="en-US" sz="1350" dirty="0"/>
          </a:p>
        </p:txBody>
      </p:sp>
      <p:sp>
        <p:nvSpPr>
          <p:cNvPr id="47" name="Shape 44"/>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9" name="Text 46"/>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يُوَزَّعُ</a:t>
            </a:r>
            <a:endParaRPr lang="ar-SA" sz="1500" dirty="0"/>
          </a:p>
        </p:txBody>
      </p:sp>
      <p:sp>
        <p:nvSpPr>
          <p:cNvPr id="50" name="Shape 47"/>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active</a:t>
            </a:r>
            <a:endParaRPr lang="en-US" sz="700" dirty="0"/>
          </a:p>
        </p:txBody>
      </p:sp>
      <p:sp>
        <p:nvSpPr>
          <p:cNvPr id="52" name="Text 49"/>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يُوَزِّعُ</a:t>
            </a:r>
            <a:endParaRPr lang="ar-SA" sz="135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56" name="Shape 5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active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تُقَامُ</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are held (of events)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tu-qā-mu</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active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يُقِيمُ</a:t>
            </a:r>
            <a:endParaRPr lang="ar-SA"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cultural passive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يُعَدُّ</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prepared, is considered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yu-ʿad-du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تَضَامُنٌ مُجْتَمَعِيٌّ</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community solidarity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ta-ḍā-mu-nun muj-ta-ma-ʿiy-yun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مَائِدَةٌ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dining table, spread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mā-ʾi-da-tun</a:t>
            </a:r>
            <a:endParaRPr lang="en-US" sz="1350" dirty="0"/>
          </a:p>
        </p:txBody>
      </p:sp>
      <p:sp>
        <p:nvSpPr>
          <p:cNvPr id="30" name="Text 27"/>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Plural </a:t>
            </a:r>
            <a:pPr algn="l" indent="0" marL="0">
              <a:buNone/>
            </a:pPr>
            <a:r>
              <a:rPr lang="ar-SA" altLang="en-US" sz="1300" dirty="0">
                <a:solidFill>
                  <a:srgbClr val="8A6D1E"/>
                </a:solidFill>
                <a:latin typeface="Amiri" pitchFamily="34" charset="0"/>
                <a:ea typeface="Amiri" pitchFamily="34" charset="-122"/>
                <a:cs typeface="Amiri" pitchFamily="34" charset="-120"/>
              </a:rPr>
              <a:t>مَوَائِدُ</a:t>
            </a:r>
            <a:pPr algn="l" indent="0" marL="0">
              <a:buNone/>
            </a:pPr>
            <a:r>
              <a:rPr lang="en-US" sz="1000" i="1" dirty="0">
                <a:solidFill>
                  <a:srgbClr val="8A6D1E"/>
                </a:solidFill>
                <a:latin typeface="Calibri" pitchFamily="34" charset="0"/>
                <a:ea typeface="Calibri" pitchFamily="34" charset="-122"/>
                <a:cs typeface="Calibri" pitchFamily="34" charset="-120"/>
              </a:rPr>
              <a:t>, a diptote.</a:t>
            </a:r>
            <a:endParaRPr lang="en-US" sz="1000" dirty="0"/>
          </a:p>
        </p:txBody>
      </p:sp>
      <p:sp>
        <p:nvSpPr>
          <p:cNvPr id="31" name="Shape 2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11312" y="4261104"/>
            <a:ext cx="310896" cy="310896"/>
          </a:xfrm>
          <a:prstGeom prst="ellipse">
            <a:avLst/>
          </a:prstGeom>
          <a:solidFill>
            <a:srgbClr val="F4F1EA"/>
          </a:solidFill>
          <a:ln w="12700">
            <a:solidFill>
              <a:srgbClr val="F4F1EA"/>
            </a:solidFill>
            <a:prstDash val="solid"/>
          </a:ln>
        </p:spPr>
      </p:sp>
      <p:sp>
        <p:nvSpPr>
          <p:cNvPr id="33" name="Text 3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34" name="Shape 31"/>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Hedging language.</a:t>
            </a:r>
            <a:endParaRPr lang="en-US" sz="800" dirty="0"/>
          </a:p>
        </p:txBody>
      </p:sp>
      <p:sp>
        <p:nvSpPr>
          <p:cNvPr id="36" name="Text 3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بَعْضِ البُلْدَانِ</a:t>
            </a:r>
            <a:endParaRPr lang="ar-SA" sz="3000" dirty="0"/>
          </a:p>
        </p:txBody>
      </p:sp>
      <p:sp>
        <p:nvSpPr>
          <p:cNvPr id="37" name="Text 3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some countries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baʿ-ḍi al-bul-dā-ni</a:t>
            </a:r>
            <a:endParaRPr lang="en-US" sz="13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THE PRESENT PASSIVE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does it? It doesn’t matter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المَبْنِيُّ لِلْمَجْهُولِ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919472" y="1810512"/>
            <a:ext cx="6739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7" name="Text 14"/>
          <p:cNvSpPr txBox="1"/>
          <p:nvPr/>
        </p:nvSpPr>
        <p:spPr>
          <a:xfrm>
            <a:off x="27249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Passive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Active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937760" y="2286000"/>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يُزَيَّنُ</a:t>
            </a:r>
            <a:pPr rtl="1" algn="ctr" indent="0" marL="0">
              <a:buNone/>
            </a:pPr>
            <a:r>
              <a:rPr lang="ar-SA" altLang="en-US" sz="1950" b="1" dirty="0">
                <a:solidFill>
                  <a:srgbClr val="1B3B6F"/>
                </a:solidFill>
                <a:latin typeface="Amiri" pitchFamily="34" charset="0"/>
                <a:ea typeface="Amiri" pitchFamily="34" charset="-122"/>
                <a:cs typeface="Amiri" pitchFamily="34" charset="-120"/>
              </a:rPr>
              <a:t> </a:t>
            </a:r>
            <a:pPr rtl="1" algn="ctr" indent="0" marL="0">
              <a:buNone/>
            </a:pPr>
            <a:r>
              <a:rPr lang="ar-SA" altLang="en-US" sz="1950" b="1" dirty="0">
                <a:solidFill>
                  <a:srgbClr val="D6336C"/>
                </a:solidFill>
                <a:latin typeface="Amiri" pitchFamily="34" charset="0"/>
                <a:ea typeface="Amiri" pitchFamily="34" charset="-122"/>
                <a:cs typeface="Amiri" pitchFamily="34" charset="-120"/>
              </a:rPr>
              <a:t>الشَّارِعُ</a:t>
            </a:r>
            <a:pPr rtl="1" algn="ctr" indent="0" marL="0">
              <a:buNone/>
            </a:pPr>
            <a:r>
              <a:rPr lang="ar-SA" altLang="en-US" sz="1950" b="1" dirty="0">
                <a:solidFill>
                  <a:srgbClr val="1B3B6F"/>
                </a:solidFill>
                <a:latin typeface="Amiri" pitchFamily="34" charset="0"/>
                <a:ea typeface="Amiri" pitchFamily="34" charset="-122"/>
                <a:cs typeface="Amiri" pitchFamily="34" charset="-120"/>
              </a:rPr>
              <a:t> بِالفَوَانِيسِ.</a:t>
            </a:r>
            <a:endParaRPr lang="ar-SA" sz="1950" dirty="0"/>
          </a:p>
        </p:txBody>
      </p:sp>
      <p:sp>
        <p:nvSpPr>
          <p:cNvPr id="21" name="Text 18"/>
          <p:cNvSpPr txBox="1"/>
          <p:nvPr/>
        </p:nvSpPr>
        <p:spPr>
          <a:xfrm>
            <a:off x="4892040" y="2676997"/>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street is decorated with lanterns.</a:t>
            </a:r>
            <a:endParaRPr lang="en-US" sz="950" dirty="0"/>
          </a:p>
        </p:txBody>
      </p:sp>
      <p:sp>
        <p:nvSpPr>
          <p:cNvPr id="22" name="Text 19"/>
          <p:cNvSpPr txBox="1"/>
          <p:nvPr/>
        </p:nvSpPr>
        <p:spPr>
          <a:xfrm>
            <a:off x="274320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يُزَيَّنُ</a:t>
            </a:r>
            <a:endParaRPr lang="ar-SA" sz="2400" dirty="0"/>
          </a:p>
        </p:txBody>
      </p:sp>
      <p:sp>
        <p:nvSpPr>
          <p:cNvPr id="23" name="Text 20"/>
          <p:cNvSpPr txBox="1"/>
          <p:nvPr/>
        </p:nvSpPr>
        <p:spPr>
          <a:xfrm>
            <a:off x="54864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يُزَيِّنُ</a:t>
            </a:r>
            <a:endParaRPr lang="ar-SA" sz="24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4937760" y="3023006"/>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تُوَزَّعُ</a:t>
            </a:r>
            <a:pPr rtl="1" algn="ctr" indent="0" marL="0">
              <a:buNone/>
            </a:pPr>
            <a:r>
              <a:rPr lang="ar-SA" altLang="en-US" sz="1950" b="1" dirty="0">
                <a:solidFill>
                  <a:srgbClr val="1B3B6F"/>
                </a:solidFill>
                <a:latin typeface="Amiri" pitchFamily="34" charset="0"/>
                <a:ea typeface="Amiri" pitchFamily="34" charset="-122"/>
                <a:cs typeface="Amiri" pitchFamily="34" charset="-120"/>
              </a:rPr>
              <a:t> </a:t>
            </a:r>
            <a:pPr rtl="1" algn="ctr" indent="0" marL="0">
              <a:buNone/>
            </a:pPr>
            <a:r>
              <a:rPr lang="ar-SA" altLang="en-US" sz="1950" b="1" dirty="0">
                <a:solidFill>
                  <a:srgbClr val="D6336C"/>
                </a:solidFill>
                <a:latin typeface="Amiri" pitchFamily="34" charset="0"/>
                <a:ea typeface="Amiri" pitchFamily="34" charset="-122"/>
                <a:cs typeface="Amiri" pitchFamily="34" charset="-120"/>
              </a:rPr>
              <a:t>الحَلْوَى</a:t>
            </a:r>
            <a:pPr rtl="1" algn="ctr" indent="0" marL="0">
              <a:buNone/>
            </a:pPr>
            <a:r>
              <a:rPr lang="ar-SA" altLang="en-US" sz="1950" b="1" dirty="0">
                <a:solidFill>
                  <a:srgbClr val="1B3B6F"/>
                </a:solidFill>
                <a:latin typeface="Amiri" pitchFamily="34" charset="0"/>
                <a:ea typeface="Amiri" pitchFamily="34" charset="-122"/>
                <a:cs typeface="Amiri" pitchFamily="34" charset="-120"/>
              </a:rPr>
              <a:t> عَلَى الجِيرَانِ.</a:t>
            </a:r>
            <a:endParaRPr lang="ar-SA" sz="1950" dirty="0"/>
          </a:p>
        </p:txBody>
      </p:sp>
      <p:sp>
        <p:nvSpPr>
          <p:cNvPr id="28" name="Text 25"/>
          <p:cNvSpPr txBox="1"/>
          <p:nvPr/>
        </p:nvSpPr>
        <p:spPr>
          <a:xfrm>
            <a:off x="4892040" y="3414004"/>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Sweets are handed out to the neighbours.</a:t>
            </a:r>
            <a:endParaRPr lang="en-US" sz="950" dirty="0"/>
          </a:p>
        </p:txBody>
      </p:sp>
      <p:sp>
        <p:nvSpPr>
          <p:cNvPr id="29" name="Text 26"/>
          <p:cNvSpPr txBox="1"/>
          <p:nvPr/>
        </p:nvSpPr>
        <p:spPr>
          <a:xfrm>
            <a:off x="274320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تُوَزَّعُ</a:t>
            </a:r>
            <a:endParaRPr lang="ar-SA" sz="2400" dirty="0"/>
          </a:p>
        </p:txBody>
      </p:sp>
      <p:sp>
        <p:nvSpPr>
          <p:cNvPr id="30" name="Text 27"/>
          <p:cNvSpPr txBox="1"/>
          <p:nvPr/>
        </p:nvSpPr>
        <p:spPr>
          <a:xfrm>
            <a:off x="54864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يُوَزِّعُ</a:t>
            </a:r>
            <a:endParaRPr lang="ar-SA" sz="24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4937760" y="3760013"/>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تُتَبَادَلُ</a:t>
            </a:r>
            <a:pPr rtl="1" algn="ctr" indent="0" marL="0">
              <a:buNone/>
            </a:pPr>
            <a:r>
              <a:rPr lang="ar-SA" altLang="en-US" sz="1950" b="1" dirty="0">
                <a:solidFill>
                  <a:srgbClr val="1B3B6F"/>
                </a:solidFill>
                <a:latin typeface="Amiri" pitchFamily="34" charset="0"/>
                <a:ea typeface="Amiri" pitchFamily="34" charset="-122"/>
                <a:cs typeface="Amiri" pitchFamily="34" charset="-120"/>
              </a:rPr>
              <a:t> </a:t>
            </a:r>
            <a:pPr rtl="1" algn="ctr" indent="0" marL="0">
              <a:buNone/>
            </a:pPr>
            <a:r>
              <a:rPr lang="ar-SA" altLang="en-US" sz="1950" b="1" dirty="0">
                <a:solidFill>
                  <a:srgbClr val="D6336C"/>
                </a:solidFill>
                <a:latin typeface="Amiri" pitchFamily="34" charset="0"/>
                <a:ea typeface="Amiri" pitchFamily="34" charset="-122"/>
                <a:cs typeface="Amiri" pitchFamily="34" charset="-120"/>
              </a:rPr>
              <a:t>التَّهَانِي</a:t>
            </a:r>
            <a:pPr rtl="1" algn="ctr" indent="0" marL="0">
              <a:buNone/>
            </a:pPr>
            <a:r>
              <a:rPr lang="ar-SA" altLang="en-US" sz="1950" b="1" dirty="0">
                <a:solidFill>
                  <a:srgbClr val="1B3B6F"/>
                </a:solidFill>
                <a:latin typeface="Amiri" pitchFamily="34" charset="0"/>
                <a:ea typeface="Amiri" pitchFamily="34" charset="-122"/>
                <a:cs typeface="Amiri" pitchFamily="34" charset="-120"/>
              </a:rPr>
              <a:t> وَالهَدَايَا.</a:t>
            </a:r>
            <a:endParaRPr lang="ar-SA" sz="1950" dirty="0"/>
          </a:p>
        </p:txBody>
      </p:sp>
      <p:sp>
        <p:nvSpPr>
          <p:cNvPr id="35" name="Text 32"/>
          <p:cNvSpPr txBox="1"/>
          <p:nvPr/>
        </p:nvSpPr>
        <p:spPr>
          <a:xfrm>
            <a:off x="4892040" y="4151010"/>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Greetings and gifts are exchanged.</a:t>
            </a:r>
            <a:endParaRPr lang="en-US" sz="950" dirty="0"/>
          </a:p>
        </p:txBody>
      </p:sp>
      <p:sp>
        <p:nvSpPr>
          <p:cNvPr id="36" name="Text 33"/>
          <p:cNvSpPr txBox="1"/>
          <p:nvPr/>
        </p:nvSpPr>
        <p:spPr>
          <a:xfrm>
            <a:off x="274320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تُتَبَادَلُ</a:t>
            </a:r>
            <a:endParaRPr lang="ar-SA" sz="2400" dirty="0"/>
          </a:p>
        </p:txBody>
      </p:sp>
      <p:sp>
        <p:nvSpPr>
          <p:cNvPr id="37" name="Text 34"/>
          <p:cNvSpPr txBox="1"/>
          <p:nvPr/>
        </p:nvSpPr>
        <p:spPr>
          <a:xfrm>
            <a:off x="54864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يَتَبَادَلُ</a:t>
            </a:r>
            <a:endParaRPr lang="ar-SA" sz="24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4937760" y="4497019"/>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تُقَامُ</a:t>
            </a:r>
            <a:pPr rtl="1" algn="ctr" indent="0" marL="0">
              <a:buNone/>
            </a:pPr>
            <a:r>
              <a:rPr lang="ar-SA" altLang="en-US" sz="1950" b="1" dirty="0">
                <a:solidFill>
                  <a:srgbClr val="1B3B6F"/>
                </a:solidFill>
                <a:latin typeface="Amiri" pitchFamily="34" charset="0"/>
                <a:ea typeface="Amiri" pitchFamily="34" charset="-122"/>
                <a:cs typeface="Amiri" pitchFamily="34" charset="-120"/>
              </a:rPr>
              <a:t> </a:t>
            </a:r>
            <a:pPr rtl="1" algn="ctr" indent="0" marL="0">
              <a:buNone/>
            </a:pPr>
            <a:r>
              <a:rPr lang="ar-SA" altLang="en-US" sz="1950" b="1" dirty="0">
                <a:solidFill>
                  <a:srgbClr val="D6336C"/>
                </a:solidFill>
                <a:latin typeface="Amiri" pitchFamily="34" charset="0"/>
                <a:ea typeface="Amiri" pitchFamily="34" charset="-122"/>
                <a:cs typeface="Amiri" pitchFamily="34" charset="-120"/>
              </a:rPr>
              <a:t>صَلَاةُ</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العِيدِ صَبَاحًا.</a:t>
            </a:r>
            <a:endParaRPr lang="ar-SA" sz="1950" dirty="0"/>
          </a:p>
        </p:txBody>
      </p:sp>
      <p:sp>
        <p:nvSpPr>
          <p:cNvPr id="40" name="Text 37"/>
          <p:cNvSpPr txBox="1"/>
          <p:nvPr/>
        </p:nvSpPr>
        <p:spPr>
          <a:xfrm>
            <a:off x="4892040" y="4888017"/>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Eid prayer is held in the morning.</a:t>
            </a:r>
            <a:endParaRPr lang="en-US" sz="950" dirty="0"/>
          </a:p>
        </p:txBody>
      </p:sp>
      <p:sp>
        <p:nvSpPr>
          <p:cNvPr id="41" name="Text 38"/>
          <p:cNvSpPr txBox="1"/>
          <p:nvPr/>
        </p:nvSpPr>
        <p:spPr>
          <a:xfrm>
            <a:off x="274320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تُقَامُ</a:t>
            </a:r>
            <a:endParaRPr lang="ar-SA" sz="2400" dirty="0"/>
          </a:p>
        </p:txBody>
      </p:sp>
      <p:sp>
        <p:nvSpPr>
          <p:cNvPr id="42" name="Text 39"/>
          <p:cNvSpPr txBox="1"/>
          <p:nvPr/>
        </p:nvSpPr>
        <p:spPr>
          <a:xfrm>
            <a:off x="54864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يُقِيمُ</a:t>
            </a:r>
            <a:endParaRPr lang="ar-SA" sz="240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4937760" y="5234026"/>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تُعَدُّ</a:t>
            </a:r>
            <a:pPr rtl="1" algn="ctr" indent="0" marL="0">
              <a:buNone/>
            </a:pPr>
            <a:r>
              <a:rPr lang="ar-SA" altLang="en-US" sz="1950" b="1" dirty="0">
                <a:solidFill>
                  <a:srgbClr val="1B3B6F"/>
                </a:solidFill>
                <a:latin typeface="Amiri" pitchFamily="34" charset="0"/>
                <a:ea typeface="Amiri" pitchFamily="34" charset="-122"/>
                <a:cs typeface="Amiri" pitchFamily="34" charset="-120"/>
              </a:rPr>
              <a:t> </a:t>
            </a:r>
            <a:pPr rtl="1" algn="ctr" indent="0" marL="0">
              <a:buNone/>
            </a:pPr>
            <a:r>
              <a:rPr lang="ar-SA" altLang="en-US" sz="1950" b="1" dirty="0">
                <a:solidFill>
                  <a:srgbClr val="D6336C"/>
                </a:solidFill>
                <a:latin typeface="Amiri" pitchFamily="34" charset="0"/>
                <a:ea typeface="Amiri" pitchFamily="34" charset="-122"/>
                <a:cs typeface="Amiri" pitchFamily="34" charset="-120"/>
              </a:rPr>
              <a:t>المَائِدَةُ</a:t>
            </a:r>
            <a:pPr rtl="1" algn="ctr" indent="0" marL="0">
              <a:buNone/>
            </a:pPr>
            <a:r>
              <a:rPr lang="ar-SA" altLang="en-US" sz="1950" b="1" dirty="0">
                <a:solidFill>
                  <a:srgbClr val="1B3B6F"/>
                </a:solidFill>
                <a:latin typeface="Amiri" pitchFamily="34" charset="0"/>
                <a:ea typeface="Amiri" pitchFamily="34" charset="-122"/>
                <a:cs typeface="Amiri" pitchFamily="34" charset="-120"/>
              </a:rPr>
              <a:t> قَبْلَ المَغْرِبِ.</a:t>
            </a:r>
            <a:endParaRPr lang="ar-SA" sz="1950" dirty="0"/>
          </a:p>
        </p:txBody>
      </p:sp>
      <p:sp>
        <p:nvSpPr>
          <p:cNvPr id="45" name="Text 42"/>
          <p:cNvSpPr txBox="1"/>
          <p:nvPr/>
        </p:nvSpPr>
        <p:spPr>
          <a:xfrm>
            <a:off x="4892040" y="5625023"/>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table is prepared before sunset.</a:t>
            </a:r>
            <a:endParaRPr lang="en-US" sz="950" dirty="0"/>
          </a:p>
        </p:txBody>
      </p:sp>
      <p:sp>
        <p:nvSpPr>
          <p:cNvPr id="46" name="Text 43"/>
          <p:cNvSpPr txBox="1"/>
          <p:nvPr/>
        </p:nvSpPr>
        <p:spPr>
          <a:xfrm>
            <a:off x="274320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تُعَدُّ</a:t>
            </a:r>
            <a:endParaRPr lang="ar-SA" sz="2400" dirty="0"/>
          </a:p>
        </p:txBody>
      </p:sp>
      <p:sp>
        <p:nvSpPr>
          <p:cNvPr id="47" name="Text 44"/>
          <p:cNvSpPr txBox="1"/>
          <p:nvPr/>
        </p:nvSpPr>
        <p:spPr>
          <a:xfrm>
            <a:off x="54864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يُعِدُّ</a:t>
            </a:r>
            <a:endParaRPr lang="ar-SA" sz="240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Passive: u on the prefix, a before the last letter — and the noun after it is the SUBJECT (-u).</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PRESENT, PAST AND THE HEDGE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Every year — or the year I was seven?</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العَادَةُ وَالذِّكْرَى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71450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7145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GENERAL CUSTOM · CORE</a:t>
            </a:r>
            <a:endParaRPr lang="en-US" sz="850" dirty="0"/>
          </a:p>
        </p:txBody>
      </p:sp>
      <p:sp>
        <p:nvSpPr>
          <p:cNvPr id="18" name="Text 15"/>
          <p:cNvSpPr txBox="1"/>
          <p:nvPr/>
        </p:nvSpPr>
        <p:spPr>
          <a:xfrm>
            <a:off x="9992868" y="1874520"/>
            <a:ext cx="16017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يَصُومُ · يَتَصَدَّقُ</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يَصُومُ المُسْلِمُونَ فِي رَمَضَانَ.</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Muslims fast in Ramadan.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Every year: present.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MY MEMORY · DEVELOP</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صُمْتُ · زُرْنَا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صُمْتُ لِأَوَّلِ مَرَّةٍ عِنْدَمَا كُنْتُ فِي السَّابِعَةِ.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fasted for the first time when I was seven.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ṣāma → ṣum-tu.</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9888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REGIONAL CUSTOM · STRETCH</a:t>
            </a:r>
            <a:endParaRPr lang="en-US" sz="850" dirty="0"/>
          </a:p>
        </p:txBody>
      </p:sp>
      <p:sp>
        <p:nvSpPr>
          <p:cNvPr id="34" name="Text 31"/>
          <p:cNvSpPr txBox="1"/>
          <p:nvPr/>
        </p:nvSpPr>
        <p:spPr>
          <a:xfrm>
            <a:off x="2628900"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 بَعْضِ البُلْدَانِ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فِي بَعْضِ البُلْدَانِ تُزَيَّنُ الشَّوَارِعُ بِالفَوَانِيسِ.</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In some countries the streets are decorated with lanterns.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Hedge customs.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ṣāma is hollow — shorten the stem.</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صُمْتُ لِأَوَّلِ مَرَّةٍ</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34" charset="0"/>
                <a:ea typeface="Amiri" pitchFamily="34" charset="-122"/>
                <a:cs typeface="Amiri" pitchFamily="34" charset="-120"/>
              </a:rPr>
              <a:t>صَامْتُ لِأَوَّلِ مَرَّةٍ</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The cultural passive and tense choice</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34" charset="0"/>
                <a:ea typeface="Amiri" pitchFamily="34" charset="-122"/>
                <a:cs typeface="Amiri" pitchFamily="34" charset="-120"/>
              </a:rPr>
              <a:t>المَبْنِيُّ لِلْمَجْهُولِ فِي الوَصْفِ الثَّقَافِيِّ</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Forming the present passive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يُفَعِّلُ → يُفَعَّلُ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يُزَيِّنُ ← يُزَيَّنُ   ·   يُوَزِّعُ ← يُوَزَّعُ</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The passive verb agrees with the thing affected</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passive verb + nominative subject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يُزَيَّنُ الشَّارِعُ بِالفَوَانِيسِ   ·   تُتَبَادَلُ التَّهَانِي وَالهَدَايَا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Present for the general custom</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يَصُومُ / يَتَصَدَّقُ / تُقَامُ</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يَصُومُ المُسْلِمُونَ فِي رَمَضَانَ   ·   فِي بَعْضِ البُلْدَانِ تُزَيَّنُ الشَّوَارِعُ</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Past for personal experience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صُمْتُ / حَضَرْتُ / زُرْنَا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صُمْتُ لِأَوَّلِ مَرَّةٍ عِنْدَمَا كُنْتُ فِي السَّابِعَةِ   ·   زُرْنَا الأَقَارِبَ فِي أَوَّلِ أَيَّامِ العِيدِ</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form of </a:t>
            </a:r>
            <a:pPr algn="l" indent="0" marL="0">
              <a:buNone/>
            </a:pPr>
            <a:r>
              <a:rPr lang="ar-SA" altLang="en-US" sz="1650" b="1" dirty="0">
                <a:solidFill>
                  <a:srgbClr val="1B3B6F"/>
                </a:solidFill>
                <a:latin typeface="Amiri" pitchFamily="34" charset="0"/>
                <a:ea typeface="Amiri" pitchFamily="34" charset="-122"/>
                <a:cs typeface="Amiri" pitchFamily="34" charset="-120"/>
              </a:rPr>
              <a:t>يُزَيِّنُ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 الشَّارِعُ بِالفَوَانِيسِ.</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 الشَّارِعَ بِالفَوَانِيسِ.</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 الشَّارِعُ الفَوَانِيسَ.</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يَصُومُ المُسْلِمُونَ فِي ___.</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personal memory.</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صُمْتُ لِأَوَّلِ مَرَّةٍ فِي السَّابِعَةِ مِنْ عُمْرِي.</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صَامْتُ لِأَوَّلِ مَرَّةٍ فِي السَّابِعَةِ مِنْ عُمْرِي.</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أَصُومُ لِأَوَّلِ مَرَّةٍ فِي السَّابِعَةِ مِنْ عُمْرِي.</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form of </a:t>
            </a:r>
            <a:pPr algn="l" indent="0" marL="0">
              <a:buNone/>
            </a:pPr>
            <a:r>
              <a:rPr lang="ar-SA" altLang="en-US" sz="1650" b="1" dirty="0">
                <a:solidFill>
                  <a:srgbClr val="1B3B6F"/>
                </a:solidFill>
                <a:latin typeface="Amiri" pitchFamily="34" charset="0"/>
                <a:ea typeface="Amiri" pitchFamily="34" charset="-122"/>
                <a:cs typeface="Amiri" pitchFamily="34" charset="-120"/>
              </a:rPr>
              <a:t>يُزَيِّنُ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يَزِينُ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يُزَيِّنُ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يُزَيَّنُ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takes a ḍamma on the prefix and a fatḥa before the ending.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يُزَيَّنُ الشَّارِعُ بِالفَوَانِيسِ.</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يُزَيَّنُ الشَّارِعَ بِالفَوَانِيسِ.</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يُزَيَّنُ الشَّارِعُ الفَوَانِيسَ.</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thing affected becomes the nominative subject, and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introduces the means.</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يَصُومُ المُسْلِمُونَ فِي ___.</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رَمَضَانٍ</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رَمَضَانَ</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رَمَضَانُ</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رَمَضَان</a:t>
            </a:r>
            <a:pPr algn="l" indent="0" marL="0">
              <a:buNone/>
            </a:pPr>
            <a:r>
              <a:rPr lang="en-US" sz="1050" i="1" dirty="0">
                <a:solidFill>
                  <a:srgbClr val="8A6D1E"/>
                </a:solidFill>
                <a:latin typeface="Calibri" pitchFamily="34" charset="0"/>
                <a:ea typeface="Calibri" pitchFamily="34" charset="-122"/>
                <a:cs typeface="Calibri" pitchFamily="34" charset="-120"/>
              </a:rPr>
              <a:t> is a diptote, so the genitive takes a bare fatḥa.</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personal memory.</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صُمْتُ لِأَوَّلِ مَرَّةٍ فِي السَّابِعَةِ مِنْ عُمْرِي.</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صَامْتُ لِأَوَّلِ مَرَّةٍ فِي السَّابِعَةِ مِنْ عُمْرِي.</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أَصُومُ لِأَوَّلِ مَرَّةٍ فِي السَّابِعَةِ مِنْ عُمْرِي.</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صَامَ</a:t>
            </a:r>
            <a:pPr algn="l" indent="0" marL="0">
              <a:buNone/>
            </a:pPr>
            <a:r>
              <a:rPr lang="en-US" sz="1050" i="1" dirty="0">
                <a:solidFill>
                  <a:srgbClr val="8A6D1E"/>
                </a:solidFill>
                <a:latin typeface="Calibri" pitchFamily="34" charset="0"/>
                <a:ea typeface="Calibri" pitchFamily="34" charset="-122"/>
                <a:cs typeface="Calibri" pitchFamily="34" charset="-120"/>
              </a:rPr>
              <a:t> is hollow, so the stem shortens to </a:t>
            </a:r>
            <a:pPr algn="l" indent="0" marL="0">
              <a:buNone/>
            </a:pPr>
            <a:r>
              <a:rPr lang="ar-SA" altLang="en-US" sz="1350" dirty="0">
                <a:solidFill>
                  <a:srgbClr val="8A6D1E"/>
                </a:solidFill>
                <a:latin typeface="Amiri" pitchFamily="34" charset="0"/>
                <a:ea typeface="Amiri" pitchFamily="34" charset="-122"/>
                <a:cs typeface="Amiri" pitchFamily="34" charset="-120"/>
              </a:rPr>
              <a:t>صُمْـ</a:t>
            </a:r>
            <a:pPr algn="l" indent="0" marL="0">
              <a:buNone/>
            </a:pPr>
            <a:r>
              <a:rPr lang="en-US" sz="1050" i="1" dirty="0">
                <a:solidFill>
                  <a:srgbClr val="8A6D1E"/>
                </a:solidFill>
                <a:latin typeface="Calibri" pitchFamily="34" charset="0"/>
                <a:ea typeface="Calibri" pitchFamily="34" charset="-122"/>
                <a:cs typeface="Calibri" pitchFamily="34" charset="-120"/>
              </a:rPr>
              <a:t> before the suffix.</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Watch me describe Ramadan and Eid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Custom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يَصُومُ</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المُسْلِمُونَ فِي رَمَضَانَ</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General: present.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Passive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تُعَدُّ</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المَائِدَةُ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What is done.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Hedge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D6336C"/>
                </a:solidFill>
                <a:latin typeface="Amiri" pitchFamily="34" charset="0"/>
                <a:ea typeface="Amiri" pitchFamily="34" charset="-122"/>
                <a:cs typeface="Amiri" pitchFamily="34" charset="-120"/>
              </a:rPr>
              <a:t>فِي بَعْضِ البُلْدَانِ</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تُزَيَّنُ الشَّوَارِعُ</a:t>
            </a:r>
            <a:endParaRPr lang="ar-SA" sz="1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Regional.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Memory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D5FBF"/>
                </a:solidFill>
                <a:latin typeface="Amiri" pitchFamily="34" charset="0"/>
                <a:ea typeface="Amiri" pitchFamily="34" charset="-122"/>
                <a:cs typeface="Amiri" pitchFamily="34" charset="-120"/>
              </a:rPr>
              <a:t>زُرْنَا</a:t>
            </a:r>
            <a:pPr rtl="1" algn="ctr" indent="0" marL="0">
              <a:buNone/>
            </a:pPr>
            <a:r>
              <a:rPr lang="ar-SA" altLang="en-US" sz="2300" b="1" dirty="0">
                <a:solidFill>
                  <a:srgbClr val="1B3B6F"/>
                </a:solidFill>
                <a:latin typeface="Amiri" pitchFamily="34" charset="0"/>
                <a:ea typeface="Amiri" pitchFamily="34" charset="-122"/>
                <a:cs typeface="Amiri" pitchFamily="34" charset="-120"/>
              </a:rPr>
              <a:t> الأَقَارِبَ فِي العِيدِ</a:t>
            </a:r>
            <a:endParaRPr lang="ar-SA" sz="23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Mine: past.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TENSE CHOICE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PASSIVE</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HEDGE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يَصُومُ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المُسْلِمُونَ شَهْرَ رَمَضَانَ مِنَ الفَجْرِ إِلَى المَغْرِبِ. وَفِي المَسَاءِ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تُعَدُّ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المَائِدَةُ وَيَجْتَمِعُ الأَقَارِبُ عَلَى الإِفْطَارِ.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وَفِي بَعْضِ البُلْدَانِ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تُزَيَّنُ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الشَّوَارِعُ بِالفَوَانِيسِ. وَفِي عِيدِ الفِطْرِ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تُقَامُ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صَلَاةُ العِيدِ صَبَاحًا، وَقَدْ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زُرْنَا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الأَقَارِبَ فِي أَوَّلِ أَيَّامِ العِيدِ.</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Muslims fast the month of Ramadan from dawn to sunset. In the evening the table is prepared and relatives gather for iftar. In some countries the streets are decorated with lanterns. On Eid al-Fitr the Eid prayer is held in the morning, and we visited our relatives on the first day of Eid.</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يُزَيَّنُ الشَّارِعُ بِالفَوَانِيسِ</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street is decorated with lanterns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Passive verb, nominative subject, بِـ for the means.</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يَصُومُ المُسْلِمُونَ فِي رَمَضَانَ</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Muslims fast in Ramadan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Present for a general custom; رَمَضَان is a diptote.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صُمْتُ لِأَوَّلِ مَرَّةٍ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fasted for the first time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صَامَ is hollow, so the stem becomes صُمْـ.</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ISLAMIC CELEBRATIONS — EID, RAMADAN AND RELIGIOUS OCCASIONS”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Which occasion? Match the picture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المُنَاسَبَاتُ وَالاحْتِفَالَاتُ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crescent and star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Kaaba and a mosque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family and gifts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عِيدُ الأَضْحَى مُنَاسَبَةٌ إِسْلَامِيَّةٌ.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تَجْتَمِعُ العَائِلَةُ لِلاحْتِفَالِ.</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يَحْتَفِلُ المُسْلِمُونَ بِعِيدِ الفِطْرِ بَعْدَ رَمَضَانَ.</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المُنَاسَبَاتُ وَالاحْتِفَالَاتُ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crescent and star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يَحْتَفِلُ المُسْلِمُونَ بِعِيدِ الفِطْرِ بَعْدَ رَمَضَانَ.</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Muslims celebrate Eid al-Fitr after Ramadan.</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Kaaba and a mosque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عِيدُ الأَضْحَى مُنَاسَبَةٌ إِسْلَامِيَّةٌ.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Eid al-Adha is an Islamic occasion.</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family and gifts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تَجْتَمِعُ العَائِلَةُ لِلاحْتِفَالِ.</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family gathers to celebrate.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السَّحُورُ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الإِفْطَارُ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لَيْلَةُ القَدْرِ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عِيدِيَّةٌ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صَلَاةُ العِيدِ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زَكَاةُ الفِطْرِ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يُزَيَّنُ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تُتَبَادَلُ</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تُوَزَّعُ</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Ramadan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Eid</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Passive verb</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Ramadan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السَّحُورُ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الإِفْطَارُ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لَيْلَةُ القَدْرِ</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Eid</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عِيدِيَّةٌ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صَلَاةُ العِيدِ</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زَكَاةُ الفِطْرِ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Passive verb</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يُزَيَّنُ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تُتَبَادَلُ</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تُوَزَّعُ</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with a feminine plural subject.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يُتَبَادَلُ التَّهَانِي وَالهَدَايَا.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تُتَبَادَلُ التَّهَانِيَ وَالهَدَايَا.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تُتَبَادَلُ التَّهَانِي وَالهَدَايَا.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describes a general custom?</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تَصَدَّقْتُ أَمْسِ قَبْلَ الصَّلَاةِ.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يَتَصَدَّقُ النَّاسُ قَبْلَ صَلَاةِ العِيدِ.</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سَأَتَصَدَّقُ غَدًا.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qualifies a regional custom accurately?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تُزَيَّنُ كُلُّ الشَّوَارِعِ فِي كُلِّ البُلْدَانِ.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بَعْضِ البُلْدَانِ تُزَيَّنُ الشَّوَارِعُ بِالفَوَانِيسِ.</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تُزَيَّنُ الشَّوَارِعُ أَبَدًا.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الحَلْوَى عَلَى الجِيرَانِ فِي أَوَّلِ أَيَّامِ العِيدِ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يُوَزَّعُ</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تُوَزِّعُ</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تُوَزَّعُ</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with a feminine plural subject.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يُتَبَادَلُ التَّهَانِي وَالهَدَايَا.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تُتَبَادَلُ التَّهَانِيَ وَالهَدَايَا.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تُتَبَادَلُ التَّهَانِي وَالهَدَايَا.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verb agrees with the nominative subject </a:t>
            </a:r>
            <a:pPr algn="l" indent="0" marL="0">
              <a:buNone/>
            </a:pPr>
            <a:r>
              <a:rPr lang="ar-SA" altLang="en-US" sz="1350" dirty="0">
                <a:solidFill>
                  <a:srgbClr val="8A6D1E"/>
                </a:solidFill>
                <a:latin typeface="Amiri" pitchFamily="34" charset="0"/>
                <a:ea typeface="Amiri" pitchFamily="34" charset="-122"/>
                <a:cs typeface="Amiri" pitchFamily="34" charset="-120"/>
              </a:rPr>
              <a:t>التَّهَانِي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describes a general custom?</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تَصَدَّقْتُ أَمْسِ قَبْلَ الصَّلَاةِ.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يَتَصَدَّقُ النَّاسُ قَبْلَ صَلَاةِ العِيدِ.</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سَأَتَصَدَّقُ غَدًا.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present tense describes what generally happens.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qualifies a regional custom accurately?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تُزَيَّنُ كُلُّ الشَّوَارِعِ فِي كُلِّ البُلْدَانِ.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بَعْضِ البُلْدَانِ تُزَيَّنُ الشَّوَارِعُ بِالفَوَانِيسِ.</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تُزَيَّنُ الشَّوَارِعُ أَبَدًا.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hedge reports where the custom is found without claiming it is universal.</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الحَلْوَى عَلَى الجِيرَانِ فِي أَوَّلِ أَيَّامِ العِيدِ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يُوَزَّعُ</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تُوَزِّعُ</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تُوَزَّعُ</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الحَلْوَى</a:t>
            </a:r>
            <a:pPr algn="l" indent="0" marL="0">
              <a:buNone/>
            </a:pPr>
            <a:r>
              <a:rPr lang="en-US" sz="1050" i="1" dirty="0">
                <a:solidFill>
                  <a:srgbClr val="8A6D1E"/>
                </a:solidFill>
                <a:latin typeface="Calibri" pitchFamily="34" charset="0"/>
                <a:ea typeface="Calibri" pitchFamily="34" charset="-122"/>
                <a:cs typeface="Calibri" pitchFamily="34" charset="-120"/>
              </a:rPr>
              <a:t> is feminine and is the subject of the passive verb.</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يُزَيَّنُ الشَّارِعَ بِالفَوَانِيسِ.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Passive: the noun ends in -u!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صَامْتُ لِأَوَّلِ مَرَّةٍ.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ṣāma + -tu: which stem?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فِي رَمَضَانٍ يَصُومُ النَّاسُ.</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Ramaḍān: tanwīn or not?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يُزَيَّنُ الشَّارِعَ بِالفَوَانِيسِ.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يُزَيَّنُ الشَّارِعُ بِالفَوَانِيسِ.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 passive verb the affected noun becomes the nominative subject.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صَامْتُ لِأَوَّلِ مَرَّةٍ.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صُمْتُ لِأَوَّلِ مَرَّةٍ.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صَامَ</a:t>
            </a:r>
            <a:pPr algn="l" indent="0" marL="0">
              <a:buNone/>
            </a:pPr>
            <a:r>
              <a:rPr lang="en-US" sz="1150" b="1" dirty="0">
                <a:solidFill>
                  <a:srgbClr val="1B3B6F"/>
                </a:solidFill>
                <a:latin typeface="Calibri" pitchFamily="34" charset="0"/>
                <a:ea typeface="Calibri" pitchFamily="34" charset="-122"/>
                <a:cs typeface="Calibri" pitchFamily="34" charset="-120"/>
              </a:rPr>
              <a:t> is a hollow verb and shortens before a consonant suffix.</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فِي رَمَضَانٍ يَصُومُ النَّاسُ.</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فِي رَمَضَانَ يَصُومُ النَّاسُ.</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رَمَضَان</a:t>
            </a:r>
            <a:pPr algn="l" indent="0" marL="0">
              <a:buNone/>
            </a:pPr>
            <a:r>
              <a:rPr lang="en-US" sz="1150" b="1" dirty="0">
                <a:solidFill>
                  <a:srgbClr val="1B3B6F"/>
                </a:solidFill>
                <a:latin typeface="Calibri" pitchFamily="34" charset="0"/>
                <a:ea typeface="Calibri" pitchFamily="34" charset="-122"/>
                <a:cs typeface="Calibri" pitchFamily="34" charset="-120"/>
              </a:rPr>
              <a:t> is a diptote and takes no tanwīn.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Listening: a family describes Ramadan and Eid</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 people break the fast?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sunset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dawn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midday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prepared shortly before sunset?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lanterns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prayer mats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table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describe street decoration?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happens everywhere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never happens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happens in some countries, but not always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was the speaker when first fasting?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Seven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Twelve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children receive at Eid?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New lanterns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Eid money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prayer book</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4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Ramadan first, then Eid.</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رَمَضَانَ يَصُومُ المُسْلِمُونَ مِنَ الفَجْرِ إِلَى المَغْرِبِ، ثُمَّ يُفْطِرُونَ مَعًا.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Ramadan Muslims fast from dawn to sunset, then break their fast together.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عِنْدَنَا تُعَدُّ المَائِدَةُ قَبْلَ المَغْرِبِ بِقَلِيلٍ، وَيَجْتَمِعُ الأَقَارِبُ وَالجِيرَانُ.</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ours the table is prepared shortly before sunset, and relatives and neighbours gather.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وَفِي بَعْضِ البُلْدَانِ تُزَيَّنُ الشَّوَارِعُ بِالفَوَانِيسِ، وَلٰكِنْ لَيْسَ دَائِمًا؛ فَالعَادَاتُ تَخْتَلِفُ.</a:t>
            </a:r>
            <a:endParaRPr lang="ar-SA" sz="18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some countries the streets are decorated with lanterns, but not always — customs differ.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صُمْتُ لِأَوَّلِ مَرَّةٍ عِنْدَمَا كُنْتُ فِي السَّابِعَةِ، وَكَانَتْ تَجْرِبَةً لَا تُنْسَى.</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fasted for the first time when I was seven, and it was an unforgettable experience.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وَفِي عِيدِ الفِطْرِ تُقَامُ صَلَاةُ العِيدِ صَبَاحًا، وَتُتَبَادَلُ التَّهَانِي، وَتُوَزَّعُ الحَلْوَى عَلَى الجِيرَانِ، وَيَأْخُذُ الأَطْفَالُ العِيدِيَّةَ.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Eid al-Fitr the Eid prayer is held in the morning, greetings are exchanged, sweets are handed out to neighbours, and children receive Eid money.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 people break the fast?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 sunset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dawn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midday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يَصُومُ … مِنَ الفَجْرِ إِلَى المَغْرِبِ، ثُمَّ يُفْطِرُونَ.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prepared shortly before sunset?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lanterns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prayer mats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table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تُعَدُّ المَائِدَةُ قَبْلَ المَغْرِبِ بِقَلِيلٍ.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describe street decoration?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happens everywhere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never happens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happens in some countries, but not always</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بَعْضِ البُلْدَانِ تُزَيَّنُ الشَّوَارِعُ … وَلٰكِنْ لَيْسَ دَائِمًا.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was the speaker when first fasting?</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Seven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Twelve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صُمْتُ لِأَوَّلِ مَرَّةٍ عِنْدَمَا كُنْتُ فِي السَّابِعَةِ.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children receive at Eid?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New lanterns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Eid money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prayer book</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وَيَأْخُذُ الأَطْفَالُ العِيدِيَّةَ.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4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Ramadan first, then Eid.</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Speaking: describe a celebration accurately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مَا يَحْدُثُ عَادَةً فِي رَمَضَانَ. اِسْتَعْمِلْ فِعْلًا مَبْنِيًّا لِلْمَجْهُولِ.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تَخْتَلِفُ العَادَاتُ مِنْ بَلَدٍ إِلَى بَلَدٍ؟ أَعْطِ مِثَالًا.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مُنَاسَبَةً حَضَرْتَهَا بِنَفْسِكَ، مُسْتَعْمِلًا الفِعْلَ المَاضِيَ.</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D5FBF"/>
                </a:solidFill>
                <a:latin typeface="Amiri" pitchFamily="34" charset="0"/>
                <a:ea typeface="Amiri" pitchFamily="34" charset="-122"/>
                <a:cs typeface="Amiri" pitchFamily="34" charset="-120"/>
              </a:rPr>
              <a:t>فِي رَمَضَانَ يَصُومُ المُسْلِمُونَ ، وَتُعَدُّ ___ .</a:t>
            </a:r>
            <a:endParaRPr lang="ar-SA" sz="15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بَعْضِ البُلْدَانِ ___ ، بَيْنَمَا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فِي العِيدِ المَاضِي ___ ، وَكَانَ يَوْمًا ___ .</a:t>
            </a:r>
            <a:endParaRPr lang="ar-SA" sz="14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مَا يَحْدُثُ عَادَةً فِي رَمَضَانَ.</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what usually happens in Ramadan.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يَصُومُ المُسْلِمُونَ مِنَ الفَجْرِ إِلَى المَغْرِبِ، وَفِي بَعْضِ البُلْدَانِ تُزَيَّنُ الشَّوَارِعُ بِالفَوَانِيسِ.</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Muslims fast from dawn to sunset, and in some countries the streets are decorated with lanterns.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six sentences naming Ramadan and Eid customs in the present tense.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Ramadan and Eid customs in the present tense.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two passive verbs with accurate nominative subjects.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two passive verbs with a nominative subject.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past-tense personal memory and a hedge that acknowledges regional difference.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present custom · 2 passives · a past memory · a hedge.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تُعَدُّ ______ قَبْلَ المَغْرِبِ.</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prepared before sunset.</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تُتَبَادَلُ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are exchanged.</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بَعْضِ البُلْدَانِ تُزَيَّنُ ______ بِـ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some countries … are decorated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صُمْتُ لِأَوَّلِ مَرَّةٍ عِنْدَمَا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fasted for the first time when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فِي رَمَضَانَ يَصُومُ المُسْلِمُونَ مِنَ ______ إِلَى ______ .</a:t>
            </a:r>
            <a:endParaRPr lang="ar-SA" sz="14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Ramadan Muslims fast from …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المَسَاءِ نُفْطِرُ مَعَ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evening we break our fast with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صَبَاحِ العِيدِ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Eid morning we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يَأْخُذُ الأَطْفَالُ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Children receive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يَصُومُ  ·  صُمْتُ · صُمْنَا  ·  يُفْطِرُ  ·  الإِفْطَارُ  ·  السَّحُورُ  ·  تُعَدُّ  ·  تُزَيَّنُ  ·  تُتَبَادَلُ  ·  تُوَزَّعُ  ·  تُقَامُ  ·  صَلَاةُ العِيدِ  ·  فِي بَعْضِ البُلْدَانِ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ea typeface="Calibri" pitchFamily="34" charset="-122"/>
                <a:cs typeface="Calibri" pitchFamily="34" charset="-120"/>
              </a:rPr>
              <a:t>Write eighty to ninety words describing Ramadan and Eid. Use the present tense for the general customs, at least two passive verbs, one past-tense sentence about a personal or observed experience, and one hedge acknowledging that customs differ.</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two passive verbs, each with a nominative subject.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present-tense sentence describing a general custom.</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past-tense sentence, with a correctly shortened hollow verb if you use </a:t>
            </a:r>
            <a:pPr algn="l" indent="0" marL="0">
              <a:buNone/>
            </a:pPr>
            <a:r>
              <a:rPr lang="ar-SA" altLang="en-US" sz="1550" dirty="0">
                <a:solidFill>
                  <a:srgbClr val="1F2A37"/>
                </a:solidFill>
                <a:latin typeface="Amiri" pitchFamily="34" charset="0"/>
                <a:ea typeface="Amiri" pitchFamily="34" charset="-122"/>
                <a:cs typeface="Amiri" pitchFamily="34" charset="-120"/>
              </a:rPr>
              <a:t>صَامَ</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hedge such as </a:t>
            </a:r>
            <a:pPr algn="l" indent="0" marL="0">
              <a:buNone/>
            </a:pPr>
            <a:r>
              <a:rPr lang="ar-SA" altLang="en-US" sz="1550" dirty="0">
                <a:solidFill>
                  <a:srgbClr val="1F2A37"/>
                </a:solidFill>
                <a:latin typeface="Amiri" pitchFamily="34" charset="0"/>
                <a:ea typeface="Amiri" pitchFamily="34" charset="-122"/>
                <a:cs typeface="Amiri" pitchFamily="34" charset="-120"/>
              </a:rPr>
              <a:t>فِي بَعْضِ البُلْدَانِ</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لَيْسَ دَائِمًا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يَبْدَأُ الشَّهْرُ عِنْدَ رُؤْيَةِ الهِلَالِ</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month begins when the crescent is sighted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يَزْدَادُ التَّضَامُنُ المُجْتَمَعِيُّ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community solidarity increases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تُوَزَّعُ الوَجَبَاتُ عَلَى المُحْتَاجِينَ</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meals are distributed to those in need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فَلِكُلِّ مُجْتَمَعٍ طَرِيقَتُهُ</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each community has its own way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وَكَانَ يَوْمًا جَمِيلًا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it was a beautiful day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يَصُومُ المُسْلِمُونَ شَهْرَ رَمَضَانَ مِنَ الفَجْرِ إِلَى المَغْرِبِ، وَيَبْدَأُ الشَّهْرُ عِنْدَ رُؤْيَةِ الهِلَالِ. وَفِي المَسَاءِ تُعَدُّ المَائِدَةُ وَيَجْتَمِعُ الأَقَارِبُ عَلَى الإِفْطَارِ. وَيَزْدَادُ التَّضَامُنُ المُجْتَمَعِيُّ، فَيَتَصَدَّقُ النَّاسُ وَتُوَزَّعُ الوَجَبَاتُ عَلَى المُحْتَاجِينَ. وَفِي بَعْضِ البُلْدَانِ تُزَيَّنُ الشَّوَارِعُ بِالفَوَانِيسِ، وَلٰكِنْ لَيْسَ دَائِمًا؛ فَالعَادَاتُ تَخْتَلِفُ مِنْ مَكَانٍ إِلَى مَكَانٍ. وَفِي عِيدِ الفِطْرِ تُقَامُ صَلَاةُ العِيدِ صَبَاحًا، وَتُتَبَادَلُ التَّهَانِي، وَيَأْخُذُ الأَطْفَالُ العِيدِيَّةَ. وَقَدْ زُرْنَا الأَقَارِبَ فِي أَوَّلِ أَيَّامِ العِيدِ، وَكَانَ يَوْمًا جَمِيلًا.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Muslims fast the month of Ramadan from dawn to sunset, and the month begins when the crescent is sighted. In the evening the table is prepared and relatives gather for iftar. Community solidarity increases: people give charity and meals are distributed to those in need. In some countries the streets are decorated with lanterns, but not always — customs differ from place to place. On Eid al-Fitr the Eid prayer is held in the morning, greetings are exchanged and children receive Eid money. We visited our relatives on the first day of Eid, and it was a beautiful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present general custom</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passive verbs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past memory</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hedge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General customs are in the present.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34" charset="0"/>
                <a:ea typeface="Amiri" pitchFamily="34" charset="-122"/>
                <a:cs typeface="Amiri" pitchFamily="34" charset="-120"/>
              </a:rPr>
              <a:t>رَمَضَانَ</a:t>
            </a:r>
            <a:pPr algn="l" indent="0" marL="0">
              <a:buNone/>
            </a:pPr>
            <a:r>
              <a:rPr lang="en-US" sz="1300" dirty="0">
                <a:solidFill>
                  <a:srgbClr val="1F2A37"/>
                </a:solidFill>
                <a:latin typeface="Calibri" pitchFamily="34" charset="0"/>
                <a:ea typeface="Calibri" pitchFamily="34" charset="-122"/>
                <a:cs typeface="Calibri" pitchFamily="34" charset="-120"/>
              </a:rPr>
              <a:t> has no tanwīn.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my passive verb the noun ends in -u.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passive verb agrees in gender (</a:t>
            </a:r>
            <a:pPr algn="l" indent="0" marL="0">
              <a:buNone/>
            </a:pPr>
            <a:r>
              <a:rPr lang="ar-SA" altLang="en-US" sz="1700" dirty="0">
                <a:solidFill>
                  <a:srgbClr val="1F2A37"/>
                </a:solidFill>
                <a:latin typeface="Amiri" pitchFamily="34" charset="0"/>
                <a:ea typeface="Amiri" pitchFamily="34" charset="-122"/>
                <a:cs typeface="Amiri" pitchFamily="34" charset="-120"/>
              </a:rPr>
              <a:t>تُزَيَّنُ الشَّوَارِعُ</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added a past memory (</a:t>
            </a:r>
            <a:pPr algn="l" indent="0" marL="0">
              <a:buNone/>
            </a:pPr>
            <a:r>
              <a:rPr lang="ar-SA" altLang="en-US" sz="1700" dirty="0">
                <a:solidFill>
                  <a:srgbClr val="1F2A37"/>
                </a:solidFill>
                <a:latin typeface="Amiri" pitchFamily="34" charset="0"/>
                <a:ea typeface="Amiri" pitchFamily="34" charset="-122"/>
                <a:cs typeface="Amiri" pitchFamily="34" charset="-120"/>
              </a:rPr>
              <a:t>صُمْتُ</a:t>
            </a:r>
            <a:pPr algn="l" indent="0" marL="0">
              <a:buNone/>
            </a:pPr>
            <a:r>
              <a:rPr lang="en-US" sz="1300" dirty="0">
                <a:solidFill>
                  <a:srgbClr val="1F2A37"/>
                </a:solidFill>
                <a:latin typeface="Calibri" pitchFamily="34" charset="0"/>
                <a:ea typeface="Calibri" pitchFamily="34" charset="-122"/>
                <a:cs typeface="Calibri" pitchFamily="34" charset="-120"/>
              </a:rPr>
              <a:t>) and a hedge.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تُوَزَّعُ الحَلْوَى عَلَى الجِيرَانِ.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تُوَزَّعُ الحَلْوَى الجِيرَانَ.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تُوَزِّعُ الحَلْوَى عَلَى الجِيرَانِ.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يَصُومُ النَّاسُ فِي</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form of </a:t>
            </a:r>
            <a:pPr algn="l" indent="0" marL="0">
              <a:buNone/>
            </a:pPr>
            <a:r>
              <a:rPr lang="ar-SA" altLang="en-US" sz="1650" b="1" dirty="0">
                <a:solidFill>
                  <a:srgbClr val="1B3B6F"/>
                </a:solidFill>
                <a:latin typeface="Amiri" pitchFamily="34" charset="0"/>
                <a:ea typeface="Amiri" pitchFamily="34" charset="-122"/>
                <a:cs typeface="Amiri" pitchFamily="34" charset="-120"/>
              </a:rPr>
              <a:t>صَامَ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صُمْنَا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صَامْنَا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صِمْنَا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تُوَزَّعُ الحَلْوَى عَلَى الجِيرَانِ.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تُوَزَّعُ الحَلْوَى الجِيرَانَ.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تُوَزِّعُ الحَلْوَى عَلَى الجِيرَانِ.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verb takes a nominative subject and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for the recipients.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يَصُومُ النَّاسُ فِي</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رَمَضَانٍ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رَمَضَانَ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رَمَضَانًا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رَمَضَان</a:t>
            </a:r>
            <a:pPr algn="l" indent="0" marL="0">
              <a:buNone/>
            </a:pPr>
            <a:r>
              <a:rPr lang="en-US" sz="1050" i="1" dirty="0">
                <a:solidFill>
                  <a:srgbClr val="8A6D1E"/>
                </a:solidFill>
                <a:latin typeface="Calibri" pitchFamily="34" charset="0"/>
                <a:ea typeface="Calibri" pitchFamily="34" charset="-122"/>
                <a:cs typeface="Calibri" pitchFamily="34" charset="-120"/>
              </a:rPr>
              <a:t> is a diptote, so the genitive is a bare fatḥa.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form of </a:t>
            </a:r>
            <a:pPr algn="l" indent="0" marL="0">
              <a:buNone/>
            </a:pPr>
            <a:r>
              <a:rPr lang="ar-SA" altLang="en-US" sz="1650" b="1" dirty="0">
                <a:solidFill>
                  <a:srgbClr val="1B3B6F"/>
                </a:solidFill>
                <a:latin typeface="Amiri" pitchFamily="34" charset="0"/>
                <a:ea typeface="Amiri" pitchFamily="34" charset="-122"/>
                <a:cs typeface="Amiri" pitchFamily="34" charset="-120"/>
              </a:rPr>
              <a:t>صَامَ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صُمْنَا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صَامْنَا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صِمْنَا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hollow stem shortens to </a:t>
            </a:r>
            <a:pPr algn="l" indent="0" marL="0">
              <a:buNone/>
            </a:pPr>
            <a:r>
              <a:rPr lang="ar-SA" altLang="en-US" sz="1350" dirty="0">
                <a:solidFill>
                  <a:srgbClr val="8A6D1E"/>
                </a:solidFill>
                <a:latin typeface="Amiri" pitchFamily="34" charset="0"/>
                <a:ea typeface="Amiri" pitchFamily="34" charset="-122"/>
                <a:cs typeface="Amiri" pitchFamily="34" charset="-120"/>
              </a:rPr>
              <a:t>صُمْـ</a:t>
            </a:r>
            <a:pPr algn="l" indent="0" marL="0">
              <a:buNone/>
            </a:pPr>
            <a:r>
              <a:rPr lang="en-US" sz="1050" i="1" dirty="0">
                <a:solidFill>
                  <a:srgbClr val="8A6D1E"/>
                </a:solidFill>
                <a:latin typeface="Calibri" pitchFamily="34" charset="0"/>
                <a:ea typeface="Calibri" pitchFamily="34" charset="-122"/>
                <a:cs typeface="Calibri" pitchFamily="34" charset="-120"/>
              </a:rPr>
              <a:t> before a consonant suffix.</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Reading: one month, many customs</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يَصُومُ المُسْلِمُونَ شَهْرَ رَمَضَانَ كُلَّ سَنَةٍ، وَيَبْدَأُ الشَّهْرُ عِنْدَ رُؤْيَةِ الهِلَالِ. وَإِلَى جَانِبِ الصِّيَامِ يَزْدَادُ التَّضَامُنُ المُجْتَمَعِيُّ: يَتَصَدَّقُ النَّاسُ، وَتُوَزَّعُ وَجَبَاتُ الإِفْطَارِ عَلَى المُحْتَاجِينَ. وَتَخْتَلِفُ العَادَاتُ مِنْ بَلَدٍ إِلَى بَلَدٍ؛ فَفِي بَعْضِ المُدُنِ تُزَيَّنُ الشَّوَارِعُ بِالفَوَانِيسِ، وَفِي مُدُنٍ أُخْرَى يَكُونُ الاحْتِفَالُ أَبْسَطَ وَأَهْدَأَ. وَفِي عِيدِ الفِطْرِ تُقَامُ صَلَاةُ العِيدِ فِي الصَّبَاحِ، ثُمَّ تُتَبَادَلُ التَّهَانِي وَتُزَارُ الأَقَارِبُ. وَمِنَ الخَطَأِ أَنْ نَتَصَوَّرَ أَنَّ الاحْتِفَالَ وَاحِدٌ فِي كُلِّ مَكَانٍ؛ فَلِكُلِّ مُجْتَمَعٍ طَرِيقَتُهُ.</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رُؤْيَةِ الهِلَالِ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sighting of the crescent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التَّضَامُنُ المُجْتَمَعِيُّ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community solidarity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يَتَصَدَّقُ</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gives charity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وَجَبَاتُ الإِفْطَارِ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iftar meals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المُحْتَاجِينَ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those in need</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أَبْسَطَ وَأَهْدَأَ</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simpler and calmer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تُقَامُ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held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تُتَبَادَلُ التَّهَانِي</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greetings are exchanged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تُزَارُ الأَقَارِبُ</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relatives are visited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نَتَصَوَّرَ</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imagine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marks the start of the month?</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Friday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sighting of the crescent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public holiday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increases alongside fasting?</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Working hours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Community solidarity</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distributed to those in need?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Iftar meals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Lanterns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Books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celebrations differ between cities?</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identical everywhere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 decorate the streets; in others it is simpler and quieter</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capitals celebrate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warn against?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Imagining the celebration is the same everywhere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Visiting relatives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Giving to charity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marks the start of the month?</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first Friday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sighting of the crescent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public holiday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يَبْدَأُ الشَّهْرُ عِنْدَ رُؤْيَةِ الهِلَالِ.</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increases alongside fasting?</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Working hours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Community solidarity</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يَزْدَادُ التَّضَامُنُ المُجْتَمَعِيُّ.</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distributed to those in need?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Iftar meals</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Lanterns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Books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تُوَزَّعُ وَجَبَاتُ الإِفْطَارِ عَلَى المُحْتَاجِينَ.</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celebrations differ between cities?</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identical everywhere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Some decorate the streets; in others it is simpler and quieter</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capitals celebrate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فَفِي بَعْضِ المُدُنِ تُزَيَّنُ الشَّوَارِعُ … وَفِي مُدُنٍ أُخْرَى يَكُونُ الاحْتِفَالُ أَبْسَطَ.</a:t>
            </a:r>
            <a:endParaRPr lang="ar-SA"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warn against?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Imagining the celebration is the same everywhere</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Visiting relatives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Giving to charity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وَمِنَ الخَطَأِ أَنْ نَتَصَوَّرَ أَنَّ الاحْتِفَالَ وَاحِدٌ فِي كُلِّ مَكَانٍ.</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Celebration Mission — Passive, Tense and Accuracy</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which is the passive of </a:t>
            </a:r>
            <a:pPr algn="l" indent="0" marL="0">
              <a:buNone/>
            </a:pPr>
            <a:r>
              <a:rPr lang="ar-SA" altLang="en-US" sz="1650" b="1" dirty="0">
                <a:solidFill>
                  <a:srgbClr val="1B3B6F"/>
                </a:solidFill>
                <a:latin typeface="Amiri" pitchFamily="34" charset="0"/>
                <a:ea typeface="Amiri" pitchFamily="34" charset="-122"/>
                <a:cs typeface="Amiri" pitchFamily="34" charset="-120"/>
              </a:rPr>
              <a:t>يُزَيِّنُ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زَيَّنَ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يُزَيَّنُ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بِالفَوَانِيسِ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الشَّارِعُ</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الشَّارِعَ</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الشَّارِعِ</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Diptote: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فِي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يَصُومُ النَّاسُ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the pre-dawn meal?</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الإِفْطَارُ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الحَلْوَى</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السَّحُورُ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money given to children at Eid?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عِيدِيَّةٌ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زَكَاةُ الفِطْرِ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تَكْبِيرَاتُ العِيدِ</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form: which is the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past of </a:t>
            </a:r>
            <a:pPr algn="l" indent="0" marL="0">
              <a:buNone/>
            </a:pPr>
            <a:r>
              <a:rPr lang="ar-SA" altLang="en-US" sz="1650" b="1" dirty="0">
                <a:solidFill>
                  <a:srgbClr val="1B3B6F"/>
                </a:solidFill>
                <a:latin typeface="Amiri" pitchFamily="34" charset="0"/>
                <a:ea typeface="Amiri" pitchFamily="34" charset="-122"/>
                <a:cs typeface="Amiri" pitchFamily="34" charset="-120"/>
              </a:rPr>
              <a:t>صَامَ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صَامْنَا</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صُمْنَا</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صِمْنَا</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which is the passive of </a:t>
            </a:r>
            <a:pPr algn="l" indent="0" marL="0">
              <a:buNone/>
            </a:pPr>
            <a:r>
              <a:rPr lang="ar-SA" altLang="en-US" sz="1650" b="1" dirty="0">
                <a:solidFill>
                  <a:srgbClr val="1B3B6F"/>
                </a:solidFill>
                <a:latin typeface="Amiri" pitchFamily="34" charset="0"/>
                <a:ea typeface="Amiri" pitchFamily="34" charset="-122"/>
                <a:cs typeface="Amiri" pitchFamily="34" charset="-120"/>
              </a:rPr>
              <a:t>يُزَيِّنُ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يَزِينُ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يُزَيَّنُ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زَيَّنَ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ḍamma on the prefix and a fatḥa before the ending.</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يُزَيَّنُ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بِالفَوَانِيسِ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الشَّارِعُ</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الشَّارِعَ</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الشَّارِعِ</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affected noun becomes the nominative subject.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Diptote: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فِي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يَصُومُ النَّاسُ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رَمَضَانٍ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رَمَضَانُ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رَمَضَانَ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رَمَضَان</a:t>
            </a:r>
            <a:pPr algn="l" indent="0" marL="0">
              <a:buNone/>
            </a:pPr>
            <a:r>
              <a:rPr lang="en-US" sz="1050" i="1" dirty="0">
                <a:solidFill>
                  <a:srgbClr val="8A6D1E"/>
                </a:solidFill>
                <a:latin typeface="Calibri" pitchFamily="34" charset="0"/>
                <a:ea typeface="Calibri" pitchFamily="34" charset="-122"/>
                <a:cs typeface="Calibri" pitchFamily="34" charset="-120"/>
              </a:rPr>
              <a:t> takes no tanwīn.</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the pre-dawn meal?</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الإِفْطَارُ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الحَلْوَى</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السَّحُورُ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السَّحُور</a:t>
            </a:r>
            <a:pPr algn="l" indent="0" marL="0">
              <a:buNone/>
            </a:pPr>
            <a:r>
              <a:rPr lang="en-US" sz="1050" i="1" dirty="0">
                <a:solidFill>
                  <a:srgbClr val="8A6D1E"/>
                </a:solidFill>
                <a:latin typeface="Calibri" pitchFamily="34" charset="0"/>
                <a:ea typeface="Calibri" pitchFamily="34" charset="-122"/>
                <a:cs typeface="Calibri" pitchFamily="34" charset="-120"/>
              </a:rPr>
              <a:t> is eaten before dawn.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money given to children at Eid?</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عِيدِيَّةٌ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زَكَاةُ الفِطْرِ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تَكْبِيرَاتُ العِيدِ</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العِيدِيَّة</a:t>
            </a:r>
            <a:pPr algn="l" indent="0" marL="0">
              <a:buNone/>
            </a:pPr>
            <a:r>
              <a:rPr lang="en-US" sz="1050" i="1" dirty="0">
                <a:solidFill>
                  <a:srgbClr val="8A6D1E"/>
                </a:solidFill>
                <a:latin typeface="Calibri" pitchFamily="34" charset="0"/>
                <a:ea typeface="Calibri" pitchFamily="34" charset="-122"/>
                <a:cs typeface="Calibri" pitchFamily="34" charset="-120"/>
              </a:rPr>
              <a:t> is the Eid gift of money.</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form: which is the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past of </a:t>
            </a:r>
            <a:pPr algn="l" indent="0" marL="0">
              <a:buNone/>
            </a:pPr>
            <a:r>
              <a:rPr lang="ar-SA" altLang="en-US" sz="1650" b="1" dirty="0">
                <a:solidFill>
                  <a:srgbClr val="1B3B6F"/>
                </a:solidFill>
                <a:latin typeface="Amiri" pitchFamily="34" charset="0"/>
                <a:ea typeface="Amiri" pitchFamily="34" charset="-122"/>
                <a:cs typeface="Amiri" pitchFamily="34" charset="-120"/>
              </a:rPr>
              <a:t>صَامَ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صَامْنَا</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صُمْنَا</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صِمْنَا</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hollow verb shortens before a consonant suffix.</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D6-L03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D6-L04: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D6-L04 · Cultural Celebrations Beyond Islam in the Arab World</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عِيدُ المِيلَادِ</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Christmas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كَنِيسَةٌ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church</a:t>
            </a:r>
            <a:pPr indent="0" marL="0">
              <a:buNone/>
            </a:pPr>
            <a:r>
              <a:rPr lang="en-US" sz="1000" i="1" dirty="0">
                <a:solidFill>
                  <a:srgbClr val="5A6472"/>
                </a:solidFill>
                <a:latin typeface="Calibri" pitchFamily="34" charset="0"/>
                <a:ea typeface="Calibri" pitchFamily="34" charset="-122"/>
                <a:cs typeface="Calibri" pitchFamily="34" charset="-120"/>
              </a:rPr>
              <a:t>  pl. كَنَائِسُ</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مِهْرَجَانٌ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festival</a:t>
            </a:r>
            <a:pPr indent="0" marL="0">
              <a:buNone/>
            </a:pPr>
            <a:r>
              <a:rPr lang="en-US" sz="1000" i="1" dirty="0">
                <a:solidFill>
                  <a:srgbClr val="5A6472"/>
                </a:solidFill>
                <a:latin typeface="Calibri" pitchFamily="34" charset="0"/>
                <a:ea typeface="Calibri" pitchFamily="34" charset="-122"/>
                <a:cs typeface="Calibri" pitchFamily="34" charset="-120"/>
              </a:rPr>
              <a:t>  pl. مِهْرَجَانَاتٌ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العَيْشُ المُشْتَرَكُ</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coexistence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يَحْتَرِمُ الاخْتِلَافَ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respects difference</a:t>
            </a:r>
            <a:pPr indent="0" marL="0">
              <a:buNone/>
            </a:pPr>
            <a:r>
              <a:rPr lang="en-US" sz="1000" i="1" dirty="0">
                <a:solidFill>
                  <a:srgbClr val="5A6472"/>
                </a:solidFill>
                <a:latin typeface="Calibri" pitchFamily="34" charset="0"/>
                <a:ea typeface="Calibri" pitchFamily="34" charset="-122"/>
                <a:cs typeface="Calibri" pitchFamily="34" charset="-120"/>
              </a:rPr>
              <a:t>  تَحْتَرِمُ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other communities live in your town or in Arab countries, and what do they celebrate?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فِي مَدِينَتِي يَعِيشُ … وَيَحْتَفِلُونَ بِـ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12 Ramadan and Eid words; write six present-tense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60–70-word description with two passive verbs.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80–90 words with a memory and a hedge.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D6-L03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D6-L04 · Cultural Celebrations Beyond Islam in the Arab World</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الاحْتِفَالَاتُ الثَّقَافِيَّةُ فِي العَالَمِ العَرَبِيِّ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custom → present (</a:t>
            </a:r>
            <a:pPr algn="l" indent="0" marL="0">
              <a:buNone/>
            </a:pPr>
            <a:r>
              <a:rPr lang="ar-SA" altLang="en-US" sz="1700" b="1" dirty="0">
                <a:solidFill>
                  <a:srgbClr val="FFFFFF"/>
                </a:solidFill>
                <a:latin typeface="Amiri" pitchFamily="34" charset="0"/>
                <a:ea typeface="Amiri" pitchFamily="34" charset="-122"/>
                <a:cs typeface="Amiri" pitchFamily="34" charset="-120"/>
              </a:rPr>
              <a:t>يَصُومُ</a:t>
            </a:r>
            <a:pPr algn="l" indent="0" marL="0">
              <a:buNone/>
            </a:pPr>
            <a:r>
              <a:rPr lang="en-US" sz="1300" b="1" dirty="0">
                <a:solidFill>
                  <a:srgbClr val="FFFFFF"/>
                </a:solidFill>
                <a:latin typeface="Calibri" pitchFamily="34" charset="0"/>
                <a:ea typeface="Calibri" pitchFamily="34" charset="-122"/>
                <a:cs typeface="Calibri" pitchFamily="34" charset="-120"/>
              </a:rPr>
              <a:t>) · what is done → passive + noun in -u (</a:t>
            </a:r>
            <a:pPr algn="l" indent="0" marL="0">
              <a:buNone/>
            </a:pPr>
            <a:r>
              <a:rPr lang="ar-SA" altLang="en-US" sz="1700" b="1" dirty="0">
                <a:solidFill>
                  <a:srgbClr val="FFFFFF"/>
                </a:solidFill>
                <a:latin typeface="Amiri" pitchFamily="34" charset="0"/>
                <a:ea typeface="Amiri" pitchFamily="34" charset="-122"/>
                <a:cs typeface="Amiri" pitchFamily="34" charset="-120"/>
              </a:rPr>
              <a:t>تُزَيَّنُ الشَّوَارِعُ</a:t>
            </a:r>
            <a:pPr algn="l" indent="0" marL="0">
              <a:buNone/>
            </a:pPr>
            <a:r>
              <a:rPr lang="en-US" sz="1300" b="1" dirty="0">
                <a:solidFill>
                  <a:srgbClr val="FFFFFF"/>
                </a:solidFill>
                <a:latin typeface="Calibri" pitchFamily="34" charset="0"/>
                <a:ea typeface="Calibri" pitchFamily="34" charset="-122"/>
                <a:cs typeface="Calibri" pitchFamily="34" charset="-120"/>
              </a:rPr>
              <a:t>) · my memory → past (</a:t>
            </a:r>
            <a:pPr algn="l" indent="0" marL="0">
              <a:buNone/>
            </a:pPr>
            <a:r>
              <a:rPr lang="ar-SA" altLang="en-US" sz="1700" b="1" dirty="0">
                <a:solidFill>
                  <a:srgbClr val="FFFFFF"/>
                </a:solidFill>
                <a:latin typeface="Amiri" pitchFamily="34" charset="0"/>
                <a:ea typeface="Amiri" pitchFamily="34" charset="-122"/>
                <a:cs typeface="Amiri" pitchFamily="34" charset="-120"/>
              </a:rPr>
              <a:t>صُمْتُ</a:t>
            </a:r>
            <a:pPr algn="l" indent="0" marL="0">
              <a:buNone/>
            </a:pPr>
            <a:r>
              <a:rPr lang="en-US" sz="1300" b="1" dirty="0">
                <a:solidFill>
                  <a:srgbClr val="FFFFFF"/>
                </a:solidFill>
                <a:latin typeface="Calibri" pitchFamily="34" charset="0"/>
                <a:ea typeface="Calibri" pitchFamily="34" charset="-122"/>
                <a:cs typeface="Calibri" pitchFamily="34" charset="-120"/>
              </a:rPr>
              <a:t>) · regional custom → hedge.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D6-L03 · Islamic Celebrations — Eid, Ramadan and Religious Occasions</dc:title>
  <dc:subject>PptxGenJS Presentation</dc:subject>
  <dc:creator>Al Madina Online School · Arabic Department</dc:creator>
  <cp:lastModifiedBy>Al Madina Online School · Arabic Department</cp:lastModifiedBy>
  <cp:revision>1</cp:revision>
  <dcterms:created xsi:type="dcterms:W3CDTF">2026-10-03T10:24:49Z</dcterms:created>
  <dcterms:modified xsi:type="dcterms:W3CDTF">2026-10-03T10:24:49Z</dcterms:modified>
</cp:coreProperties>
</file>