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D6-L03.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(D5: صَامَ → صُمْتُ like زَارَ → زُرْتُ), diptotes (D6-L01: فِي رَمَضَانَ), passive (D4-L03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D6-L02. Questions 4–5 retrieve D6-L02 (يَحْتَفِلُ بِـ) and the D5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D6-L01).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(D6-L04 · Cultural Celebrations Beyond Islam in the Arab World) will spend class time USING this language, so students prepare it tonight — short, simple, easy to access (school guidance: “Simple, Short, Interesting, Relevant, Easy to access”). The five words come from the website D6-L04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Islamic Celebrations — Eid, Ramadan and Religious Occasions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المُنَاسَبَاتُ الإِسْلَامِيَّةُ — العِيدَانِ وَرَمَضَانُ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Ramadan and the two Eids: the general custom in the present (</a:t>
            </a:r>
            <a:pPr algn="l" indent="0" marL="0">
              <a:buNone/>
            </a:pPr>
            <a:r>
              <a:rPr lang="ar-SA" altLang="en-US" sz="1800" dirty="0">
                <a:solidFill>
                  <a:srgbClr val="C6D2E6"/>
                </a:solidFill>
                <a:latin typeface="Amiri" pitchFamily="2" charset="-78"/>
                <a:cs typeface="Amiri" pitchFamily="2" charset="-78"/>
              </a:rPr>
              <a:t>يَصُومُ المُسْلِمُونَ</a:t>
            </a:r>
            <a:pPr algn="l" indent="0" marL="0">
              <a:buNone/>
            </a:pPr>
            <a:r>
              <a:rPr lang="en-US" sz="1400" dirty="0">
                <a:solidFill>
                  <a:srgbClr val="C6D2E6"/>
                </a:solidFill>
                <a:latin typeface="Calibri" pitchFamily="34" charset="0"/>
                <a:cs typeface="Amiri" pitchFamily="2" charset="-78"/>
              </a:rPr>
              <a:t>), what is done with the passive (</a:t>
            </a:r>
            <a:pPr algn="l" indent="0" marL="0">
              <a:buNone/>
            </a:pPr>
            <a:r>
              <a:rPr lang="ar-SA" altLang="en-US" sz="1800" dirty="0">
                <a:solidFill>
                  <a:srgbClr val="C6D2E6"/>
                </a:solidFill>
                <a:latin typeface="Amiri" pitchFamily="2" charset="-78"/>
                <a:cs typeface="Amiri" pitchFamily="2" charset="-78"/>
              </a:rPr>
              <a:t>تُزَيَّنُ الشَّوَارِعُ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تُوَزَّعُ الحَلْوَى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تُتَبَادَلُ التَّهَانِي</a:t>
            </a:r>
            <a:pPr algn="l" indent="0" marL="0">
              <a:buNone/>
            </a:pPr>
            <a:r>
              <a:rPr lang="en-US" sz="1400" dirty="0">
                <a:solidFill>
                  <a:srgbClr val="C6D2E6"/>
                </a:solidFill>
                <a:latin typeface="Calibri" pitchFamily="34" charset="0"/>
                <a:cs typeface="Amiri" pitchFamily="2" charset="-78"/>
              </a:rPr>
              <a:t>), your own memory in the past (</a:t>
            </a:r>
            <a:pPr algn="l" indent="0" marL="0">
              <a:buNone/>
            </a:pPr>
            <a:r>
              <a:rPr lang="ar-SA" altLang="en-US" sz="1800" dirty="0">
                <a:solidFill>
                  <a:srgbClr val="C6D2E6"/>
                </a:solidFill>
                <a:latin typeface="Amiri" pitchFamily="2" charset="-78"/>
                <a:cs typeface="Amiri" pitchFamily="2" charset="-78"/>
              </a:rPr>
              <a:t>صُمْتُ لِأَوَّلِ مَرَّةٍ</a:t>
            </a:r>
            <a:pPr algn="l" indent="0" marL="0">
              <a:buNone/>
            </a:pPr>
            <a:r>
              <a:rPr lang="en-US" sz="1400" dirty="0">
                <a:solidFill>
                  <a:srgbClr val="C6D2E6"/>
                </a:solidFill>
                <a:latin typeface="Calibri" pitchFamily="34" charset="0"/>
                <a:cs typeface="Amiri" pitchFamily="2" charset="-78"/>
              </a:rPr>
              <a:t>) — and a hedge for regional customs.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D6-L03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D6-L02: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 hollow verbs (</a:t>
            </a:r>
            <a:pPr algn="l" indent="0" marL="0">
              <a:buNone/>
            </a:pPr>
            <a:r>
              <a:rPr lang="ar-SA" altLang="en-US" sz="1350" dirty="0">
                <a:solidFill>
                  <a:srgbClr val="8A6D1E"/>
                </a:solidFill>
                <a:latin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يُزَيِّنُ النَّاسُ الشَّوَارِعَ ← </a:t>
            </a:r>
            <a:pPr rtl="1" algn="ctr" indent="0" marL="0">
              <a:lnSpc>
                <a:spcPct val="120000"/>
              </a:lnSpc>
              <a:buNone/>
            </a:pPr>
            <a:r>
              <a:rPr lang="ar-SA" altLang="en-US" sz="1950" b="1" dirty="0">
                <a:solidFill>
                  <a:srgbClr val="0E7C86"/>
                </a:solidFill>
                <a:latin typeface="Amiri" pitchFamily="2" charset="-78"/>
                <a:cs typeface="Amiri" pitchFamily="2" charset="-78"/>
              </a:rPr>
              <a:t>تُزَيَّنُ</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cs typeface="Amiri" pitchFamily="2" charset="-78"/>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a:t>
            </a:r>
            <a:pPr algn="l" indent="0" marL="0">
              <a:buNone/>
            </a:pPr>
            <a:r>
              <a:rPr lang="ar-SA" altLang="en-US" sz="1700" dirty="0">
                <a:solidFill>
                  <a:srgbClr val="1F2A37"/>
                </a:solidFill>
                <a:latin typeface="Amiri" pitchFamily="2" charset="-78"/>
                <a:cs typeface="Amiri" pitchFamily="2" charset="-78"/>
              </a:rPr>
              <a:t>يُزَيَّنُ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تُوَزَّعُ</a:t>
            </a:r>
            <a:pPr algn="l" indent="0" marL="0">
              <a:buNone/>
            </a:pPr>
            <a:r>
              <a:rPr lang="en-US" sz="1300" dirty="0">
                <a:solidFill>
                  <a:srgbClr val="1F2A37"/>
                </a:solidFill>
                <a:latin typeface="Calibri" pitchFamily="34" charset="0"/>
                <a:cs typeface="Amiri" pitchFamily="2" charset="-78"/>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present for general customs and the past for a personal memory (</a:t>
            </a:r>
            <a:pPr algn="l" indent="0" marL="0">
              <a:buNone/>
            </a:pPr>
            <a:r>
              <a:rPr lang="ar-SA" altLang="en-US" sz="1700" dirty="0">
                <a:solidFill>
                  <a:srgbClr val="1F2A37"/>
                </a:solidFill>
                <a:latin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t>
            </a:r>
            <a:pPr algn="l" indent="0" marL="0">
              <a:buNone/>
            </a:pPr>
            <a:r>
              <a:rPr lang="ar-SA" altLang="en-US" sz="1700" b="1" dirty="0">
                <a:solidFill>
                  <a:srgbClr val="C9780A"/>
                </a:solidFill>
                <a:latin typeface="Amiri" pitchFamily="2" charset="-78"/>
                <a:cs typeface="Amiri" pitchFamily="2" charset="-78"/>
              </a:rPr>
              <a:t>صُمْتُ / صُمْنَا</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‎رمضان · روزہ‎ </a:t>
            </a:r>
            <a:pPr indent="0" marL="0">
              <a:buNone/>
            </a:pPr>
            <a:r>
              <a:rPr lang="en-US" sz="950" b="1" dirty="0">
                <a:solidFill>
                  <a:srgbClr val="2E8B57"/>
                </a:solidFill>
                <a:latin typeface="Calibri" pitchFamily="34" charset="0"/>
                <a:cs typeface="Amiri" pitchFamily="2" charset="-78"/>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‎افطار · سحری‎ </a:t>
            </a:r>
            <a:pPr indent="0" marL="0">
              <a:buNone/>
            </a:pPr>
            <a:r>
              <a:rPr lang="en-US" sz="950" b="1" dirty="0">
                <a:solidFill>
                  <a:srgbClr val="2E8B57"/>
                </a:solidFill>
                <a:latin typeface="Calibri" pitchFamily="34" charset="0"/>
                <a:cs typeface="Amiri" pitchFamily="2" charset="-78"/>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‎عیدی‎ </a:t>
            </a:r>
            <a:pPr indent="0" marL="0">
              <a:buNone/>
            </a:pPr>
            <a:r>
              <a:rPr lang="en-US" sz="950" b="1" dirty="0">
                <a:solidFill>
                  <a:srgbClr val="2E8B57"/>
                </a:solidFill>
                <a:latin typeface="Calibri" pitchFamily="34" charset="0"/>
                <a:cs typeface="Amiri" pitchFamily="2" charset="-78"/>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‎صدقہ · فطرانہ‎ </a:t>
            </a:r>
            <a:pPr indent="0" marL="0">
              <a:buNone/>
            </a:pPr>
            <a:r>
              <a:rPr lang="en-US" sz="950" b="1" dirty="0">
                <a:solidFill>
                  <a:srgbClr val="2E8B57"/>
                </a:solidFill>
                <a:latin typeface="Calibri" pitchFamily="34" charset="0"/>
                <a:cs typeface="Amiri" pitchFamily="2" charset="-78"/>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‎تراویح · شبِ قدر‎ </a:t>
            </a:r>
            <a:pPr indent="0" marL="0">
              <a:buNone/>
            </a:pPr>
            <a:r>
              <a:rPr lang="en-US" sz="950" b="1" dirty="0">
                <a:solidFill>
                  <a:srgbClr val="2E8B57"/>
                </a:solidFill>
                <a:latin typeface="Calibri" pitchFamily="34" charset="0"/>
                <a:cs typeface="Amiri" pitchFamily="2" charset="-78"/>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Ramadan</a:t>
            </a:r>
            <a:endParaRPr lang="en-US" sz="1350" dirty="0"/>
          </a:p>
          <a:p>
            <a:pPr indent="0" marL="0">
              <a:buNone/>
            </a:pPr>
            <a:r>
              <a:rPr lang="en-US" sz="1100" i="1" dirty="0">
                <a:solidFill>
                  <a:srgbClr val="5A6472"/>
                </a:solidFill>
                <a:latin typeface="Calibri" pitchFamily="34" charset="0"/>
                <a:cs typeface="Amiri" pitchFamily="2" charset="-78"/>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diptote: </a:t>
            </a:r>
            <a:pPr algn="l" indent="0" marL="0">
              <a:buNone/>
            </a:pPr>
            <a:r>
              <a:rPr lang="ar-SA" altLang="en-US" sz="1300" dirty="0">
                <a:solidFill>
                  <a:srgbClr val="8A6D1E"/>
                </a:solidFill>
                <a:latin typeface="Amiri" pitchFamily="2" charset="-78"/>
                <a:cs typeface="Amiri" pitchFamily="2" charset="-78"/>
              </a:rPr>
              <a:t>فِي رَمَضَانَ</a:t>
            </a:r>
            <a:pPr algn="l" indent="0" marL="0">
              <a:buNone/>
            </a:pPr>
            <a:r>
              <a:rPr lang="en-US" sz="1000" i="1" dirty="0">
                <a:solidFill>
                  <a:srgbClr val="8A6D1E"/>
                </a:solidFill>
                <a:latin typeface="Calibri" pitchFamily="34" charset="0"/>
                <a:cs typeface="Amiri" pitchFamily="2" charset="-78"/>
              </a:rPr>
              <a:t>, never </a:t>
            </a:r>
            <a:pPr algn="l" indent="0" marL="0">
              <a:buNone/>
            </a:pPr>
            <a:r>
              <a:rPr lang="ar-SA" altLang="en-US" sz="1300" dirty="0">
                <a:solidFill>
                  <a:srgbClr val="8A6D1E"/>
                </a:solidFill>
                <a:latin typeface="Amiri" pitchFamily="2" charset="-78"/>
                <a:cs typeface="Amiri" pitchFamily="2" charset="-78"/>
              </a:rPr>
              <a:t>رَمَضَانٍ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fasting</a:t>
            </a:r>
            <a:endParaRPr lang="en-US" sz="1350" dirty="0"/>
          </a:p>
          <a:p>
            <a:pPr indent="0" marL="0">
              <a:buNone/>
            </a:pPr>
            <a:r>
              <a:rPr lang="en-US" sz="1100" i="1" dirty="0">
                <a:solidFill>
                  <a:srgbClr val="5A6472"/>
                </a:solidFill>
                <a:latin typeface="Calibri" pitchFamily="34" charset="0"/>
                <a:cs typeface="Amiri" pitchFamily="2" charset="-78"/>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fasts / fasted</a:t>
            </a:r>
            <a:endParaRPr lang="en-US" sz="1350" dirty="0"/>
          </a:p>
          <a:p>
            <a:pPr indent="0" marL="0">
              <a:buNone/>
            </a:pPr>
            <a:r>
              <a:rPr lang="en-US" sz="1100" i="1" dirty="0">
                <a:solidFill>
                  <a:srgbClr val="5A6472"/>
                </a:solidFill>
                <a:latin typeface="Calibri" pitchFamily="34" charset="0"/>
                <a:cs typeface="Amiri" pitchFamily="2" charset="-78"/>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breaks the fast</a:t>
            </a:r>
            <a:endParaRPr lang="en-US" sz="1350" dirty="0"/>
          </a:p>
          <a:p>
            <a:pPr indent="0" marL="0">
              <a:buNone/>
            </a:pPr>
            <a:r>
              <a:rPr lang="en-US" sz="1100" i="1" dirty="0">
                <a:solidFill>
                  <a:srgbClr val="5A6472"/>
                </a:solidFill>
                <a:latin typeface="Calibri" pitchFamily="34" charset="0"/>
                <a:cs typeface="Amiri" pitchFamily="2" charset="-78"/>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iftar, the evening meal</a:t>
            </a:r>
            <a:endParaRPr lang="en-US" sz="1350" dirty="0"/>
          </a:p>
          <a:p>
            <a:pPr indent="0" marL="0">
              <a:buNone/>
            </a:pPr>
            <a:r>
              <a:rPr lang="en-US" sz="1100" i="1" dirty="0">
                <a:solidFill>
                  <a:srgbClr val="5A6472"/>
                </a:solidFill>
                <a:latin typeface="Calibri" pitchFamily="34" charset="0"/>
                <a:cs typeface="Amiri" pitchFamily="2" charset="-78"/>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suhoor, the pre-dawn meal</a:t>
            </a:r>
            <a:endParaRPr lang="en-US" sz="1350" dirty="0"/>
          </a:p>
          <a:p>
            <a:pPr indent="0" marL="0">
              <a:buNone/>
            </a:pPr>
            <a:r>
              <a:rPr lang="en-US" sz="1100" i="1" dirty="0">
                <a:solidFill>
                  <a:srgbClr val="5A6472"/>
                </a:solidFill>
                <a:latin typeface="Calibri" pitchFamily="34" charset="0"/>
                <a:cs typeface="Amiri" pitchFamily="2" charset="-78"/>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crescent moon</a:t>
            </a:r>
            <a:endParaRPr lang="en-US" sz="1350" dirty="0"/>
          </a:p>
          <a:p>
            <a:pPr indent="0" marL="0">
              <a:buNone/>
            </a:pPr>
            <a:r>
              <a:rPr lang="en-US" sz="1100" i="1" dirty="0">
                <a:solidFill>
                  <a:srgbClr val="5A6472"/>
                </a:solidFill>
                <a:latin typeface="Calibri" pitchFamily="34" charset="0"/>
                <a:cs typeface="Amiri" pitchFamily="2" charset="-78"/>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lanterns</a:t>
            </a:r>
            <a:endParaRPr lang="en-US" sz="1350" dirty="0"/>
          </a:p>
          <a:p>
            <a:pPr indent="0" marL="0">
              <a:buNone/>
            </a:pPr>
            <a:r>
              <a:rPr lang="en-US" sz="1100" i="1" dirty="0">
                <a:solidFill>
                  <a:srgbClr val="5A6472"/>
                </a:solidFill>
                <a:latin typeface="Calibri" pitchFamily="34" charset="0"/>
                <a:cs typeface="Amiri" pitchFamily="2" charset="-78"/>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of </a:t>
            </a:r>
            <a:pPr algn="l" indent="0" marL="0">
              <a:buNone/>
            </a:pPr>
            <a:r>
              <a:rPr lang="ar-SA" altLang="en-US" sz="1300" dirty="0">
                <a:solidFill>
                  <a:srgbClr val="8A6D1E"/>
                </a:solidFill>
                <a:latin typeface="Amiri" pitchFamily="2" charset="-78"/>
                <a:cs typeface="Amiri" pitchFamily="2" charset="-78"/>
              </a:rPr>
              <a:t>فَانُوسٌ</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Laylat al-Qadr</a:t>
            </a:r>
            <a:endParaRPr lang="en-US" sz="1350" dirty="0"/>
          </a:p>
          <a:p>
            <a:pPr indent="0" marL="0">
              <a:buNone/>
            </a:pPr>
            <a:r>
              <a:rPr lang="en-US" sz="1100" i="1" dirty="0">
                <a:solidFill>
                  <a:srgbClr val="5A6472"/>
                </a:solidFill>
                <a:latin typeface="Calibri" pitchFamily="34" charset="0"/>
                <a:cs typeface="Amiri" pitchFamily="2" charset="-78"/>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prays Tarawih</a:t>
            </a:r>
            <a:endParaRPr lang="en-US" sz="1350" dirty="0"/>
          </a:p>
          <a:p>
            <a:pPr indent="0" marL="0">
              <a:buNone/>
            </a:pPr>
            <a:r>
              <a:rPr lang="en-US" sz="1100" i="1" dirty="0">
                <a:solidFill>
                  <a:srgbClr val="5A6472"/>
                </a:solidFill>
                <a:latin typeface="Calibri" pitchFamily="34" charset="0"/>
                <a:cs typeface="Amiri" pitchFamily="2" charset="-78"/>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spirit of Ramadan</a:t>
            </a:r>
            <a:endParaRPr lang="en-US" sz="1350" dirty="0"/>
          </a:p>
          <a:p>
            <a:pPr indent="0" marL="0">
              <a:buNone/>
            </a:pPr>
            <a:r>
              <a:rPr lang="en-US" sz="1100" i="1" dirty="0">
                <a:solidFill>
                  <a:srgbClr val="5A6472"/>
                </a:solidFill>
                <a:latin typeface="Calibri" pitchFamily="34" charset="0"/>
                <a:cs typeface="Amiri" pitchFamily="2" charset="-78"/>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al-Fitr</a:t>
            </a:r>
            <a:endParaRPr lang="en-US" sz="1350" dirty="0"/>
          </a:p>
          <a:p>
            <a:pPr indent="0" marL="0">
              <a:buNone/>
            </a:pPr>
            <a:r>
              <a:rPr lang="en-US" sz="1100" i="1" dirty="0">
                <a:solidFill>
                  <a:srgbClr val="5A6472"/>
                </a:solidFill>
                <a:latin typeface="Calibri" pitchFamily="34" charset="0"/>
                <a:cs typeface="Amiri" pitchFamily="2" charset="-78"/>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al-Adha</a:t>
            </a:r>
            <a:endParaRPr lang="en-US" sz="1350" dirty="0"/>
          </a:p>
          <a:p>
            <a:pPr indent="0" marL="0">
              <a:buNone/>
            </a:pPr>
            <a:r>
              <a:rPr lang="en-US" sz="1100" i="1" dirty="0">
                <a:solidFill>
                  <a:srgbClr val="5A6472"/>
                </a:solidFill>
                <a:latin typeface="Calibri" pitchFamily="34" charset="0"/>
                <a:cs typeface="Amiri" pitchFamily="2" charset="-78"/>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prayer</a:t>
            </a:r>
            <a:endParaRPr lang="en-US" sz="1350" dirty="0"/>
          </a:p>
          <a:p>
            <a:pPr indent="0" marL="0">
              <a:buNone/>
            </a:pPr>
            <a:r>
              <a:rPr lang="en-US" sz="1100" i="1" dirty="0">
                <a:solidFill>
                  <a:srgbClr val="5A6472"/>
                </a:solidFill>
                <a:latin typeface="Calibri" pitchFamily="34" charset="0"/>
                <a:cs typeface="Amiri" pitchFamily="2" charset="-78"/>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takbirs</a:t>
            </a:r>
            <a:endParaRPr lang="en-US" sz="1350" dirty="0"/>
          </a:p>
          <a:p>
            <a:pPr indent="0" marL="0">
              <a:buNone/>
            </a:pPr>
            <a:r>
              <a:rPr lang="en-US" sz="1100" i="1" dirty="0">
                <a:solidFill>
                  <a:srgbClr val="5A6472"/>
                </a:solidFill>
                <a:latin typeface="Calibri" pitchFamily="34" charset="0"/>
                <a:cs typeface="Amiri" pitchFamily="2" charset="-78"/>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zakat al-Fitr</a:t>
            </a:r>
            <a:endParaRPr lang="en-US" sz="1350" dirty="0"/>
          </a:p>
          <a:p>
            <a:pPr indent="0" marL="0">
              <a:buNone/>
            </a:pPr>
            <a:r>
              <a:rPr lang="en-US" sz="1100" i="1" dirty="0">
                <a:solidFill>
                  <a:srgbClr val="5A6472"/>
                </a:solidFill>
                <a:latin typeface="Calibri" pitchFamily="34" charset="0"/>
                <a:cs typeface="Amiri" pitchFamily="2" charset="-78"/>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money given to children</a:t>
            </a:r>
            <a:endParaRPr lang="en-US" sz="1350" dirty="0"/>
          </a:p>
          <a:p>
            <a:pPr indent="0" marL="0">
              <a:buNone/>
            </a:pPr>
            <a:r>
              <a:rPr lang="en-US" sz="1100" i="1" dirty="0">
                <a:solidFill>
                  <a:srgbClr val="5A6472"/>
                </a:solidFill>
                <a:latin typeface="Calibri" pitchFamily="34" charset="0"/>
                <a:cs typeface="Amiri" pitchFamily="2" charset="-78"/>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charity</a:t>
            </a:r>
            <a:endParaRPr lang="en-US" sz="1350" dirty="0"/>
          </a:p>
          <a:p>
            <a:pPr indent="0" marL="0">
              <a:buNone/>
            </a:pPr>
            <a:r>
              <a:rPr lang="en-US" sz="1100" i="1" dirty="0">
                <a:solidFill>
                  <a:srgbClr val="5A6472"/>
                </a:solidFill>
                <a:latin typeface="Calibri" pitchFamily="34" charset="0"/>
                <a:cs typeface="Amiri" pitchFamily="2" charset="-78"/>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congratulations</a:t>
            </a:r>
            <a:endParaRPr lang="en-US" sz="1350" dirty="0"/>
          </a:p>
          <a:p>
            <a:pPr indent="0" marL="0">
              <a:buNone/>
            </a:pPr>
            <a:r>
              <a:rPr lang="en-US" sz="1100" i="1" dirty="0">
                <a:solidFill>
                  <a:srgbClr val="5A6472"/>
                </a:solidFill>
                <a:latin typeface="Calibri" pitchFamily="34" charset="0"/>
                <a:cs typeface="Amiri" pitchFamily="2" charset="-78"/>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sweets</a:t>
            </a:r>
            <a:endParaRPr lang="en-US" sz="1350" dirty="0"/>
          </a:p>
          <a:p>
            <a:pPr indent="0" marL="0">
              <a:buNone/>
            </a:pPr>
            <a:r>
              <a:rPr lang="en-US" sz="1100" i="1" dirty="0">
                <a:solidFill>
                  <a:srgbClr val="5A6472"/>
                </a:solidFill>
                <a:latin typeface="Calibri" pitchFamily="34" charset="0"/>
                <a:cs typeface="Amiri" pitchFamily="2" charset="-78"/>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visiting relatives</a:t>
            </a:r>
            <a:endParaRPr lang="en-US" sz="1350" dirty="0"/>
          </a:p>
          <a:p>
            <a:pPr indent="0" marL="0">
              <a:buNone/>
            </a:pPr>
            <a:r>
              <a:rPr lang="en-US" sz="1100" i="1" dirty="0">
                <a:solidFill>
                  <a:srgbClr val="5A6472"/>
                </a:solidFill>
                <a:latin typeface="Calibri" pitchFamily="34" charset="0"/>
                <a:cs typeface="Amiri" pitchFamily="2" charset="-78"/>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a:t>
            </a:r>
            <a:endParaRPr lang="en-US" sz="1350" dirty="0"/>
          </a:p>
          <a:p>
            <a:pPr indent="0" marL="0">
              <a:buNone/>
            </a:pPr>
            <a:r>
              <a:rPr lang="en-US" sz="1100" i="1" dirty="0">
                <a:solidFill>
                  <a:srgbClr val="5A6472"/>
                </a:solidFill>
                <a:latin typeface="Calibri" pitchFamily="34" charset="0"/>
                <a:cs typeface="Amiri" pitchFamily="2" charset="-78"/>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exchanged</a:t>
            </a:r>
            <a:endParaRPr lang="en-US" sz="1350" dirty="0"/>
          </a:p>
          <a:p>
            <a:pPr indent="0" marL="0">
              <a:buNone/>
            </a:pPr>
            <a:r>
              <a:rPr lang="en-US" sz="1100" i="1" dirty="0">
                <a:solidFill>
                  <a:srgbClr val="5A6472"/>
                </a:solidFill>
                <a:latin typeface="Calibri" pitchFamily="34" charset="0"/>
                <a:cs typeface="Amiri" pitchFamily="2" charset="-78"/>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distributed</a:t>
            </a:r>
            <a:endParaRPr lang="en-US" sz="1350" dirty="0"/>
          </a:p>
          <a:p>
            <a:pPr indent="0" marL="0">
              <a:buNone/>
            </a:pPr>
            <a:r>
              <a:rPr lang="en-US" sz="1100" i="1" dirty="0">
                <a:solidFill>
                  <a:srgbClr val="5A6472"/>
                </a:solidFill>
                <a:latin typeface="Calibri" pitchFamily="34" charset="0"/>
                <a:cs typeface="Amiri" pitchFamily="2" charset="-78"/>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held (of events)</a:t>
            </a:r>
            <a:endParaRPr lang="en-US" sz="1350" dirty="0"/>
          </a:p>
          <a:p>
            <a:pPr indent="0" marL="0">
              <a:buNone/>
            </a:pPr>
            <a:r>
              <a:rPr lang="en-US" sz="1100" i="1" dirty="0">
                <a:solidFill>
                  <a:srgbClr val="5A6472"/>
                </a:solidFill>
                <a:latin typeface="Calibri" pitchFamily="34" charset="0"/>
                <a:cs typeface="Amiri" pitchFamily="2" charset="-78"/>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prepared, is considered</a:t>
            </a:r>
            <a:endParaRPr lang="en-US" sz="1350" dirty="0"/>
          </a:p>
          <a:p>
            <a:pPr indent="0" marL="0">
              <a:buNone/>
            </a:pPr>
            <a:r>
              <a:rPr lang="en-US" sz="1100" i="1" dirty="0">
                <a:solidFill>
                  <a:srgbClr val="5A6472"/>
                </a:solidFill>
                <a:latin typeface="Calibri" pitchFamily="34" charset="0"/>
                <a:cs typeface="Amiri" pitchFamily="2" charset="-78"/>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solidarity</a:t>
            </a:r>
            <a:endParaRPr lang="en-US" sz="1350" dirty="0"/>
          </a:p>
          <a:p>
            <a:pPr indent="0" marL="0">
              <a:buNone/>
            </a:pPr>
            <a:r>
              <a:rPr lang="en-US" sz="1100" i="1" dirty="0">
                <a:solidFill>
                  <a:srgbClr val="5A6472"/>
                </a:solidFill>
                <a:latin typeface="Calibri" pitchFamily="34" charset="0"/>
                <a:cs typeface="Amiri" pitchFamily="2" charset="-78"/>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table, spread</a:t>
            </a:r>
            <a:endParaRPr lang="en-US" sz="1350" dirty="0"/>
          </a:p>
          <a:p>
            <a:pPr indent="0" marL="0">
              <a:buNone/>
            </a:pPr>
            <a:r>
              <a:rPr lang="en-US" sz="1100" i="1" dirty="0">
                <a:solidFill>
                  <a:srgbClr val="5A6472"/>
                </a:solidFill>
                <a:latin typeface="Calibri" pitchFamily="34" charset="0"/>
                <a:cs typeface="Amiri" pitchFamily="2" charset="-78"/>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cs typeface="Amiri" pitchFamily="2" charset="-78"/>
              </a:rPr>
              <a:t>مَوَائِدُ</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يُزَيَّنُ</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الشَّارِعُ</a:t>
            </a:r>
            <a:pPr rtl="1" algn="ctr" indent="0" marL="0">
              <a:buNone/>
            </a:pPr>
            <a:r>
              <a:rPr lang="ar-SA" altLang="en-US" sz="1950" b="1" dirty="0">
                <a:solidFill>
                  <a:srgbClr val="1B3B6F"/>
                </a:solidFill>
                <a:latin typeface="Amiri" pitchFamily="2" charset="-78"/>
                <a:cs typeface="Amiri" pitchFamily="2" charset="-78"/>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تُوَزَّعُ</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الحَلْوَى</a:t>
            </a:r>
            <a:pPr rtl="1" algn="ctr" indent="0" marL="0">
              <a:buNone/>
            </a:pPr>
            <a:r>
              <a:rPr lang="ar-SA" altLang="en-US" sz="1950" b="1" dirty="0">
                <a:solidFill>
                  <a:srgbClr val="1B3B6F"/>
                </a:solidFill>
                <a:latin typeface="Amiri" pitchFamily="2" charset="-78"/>
                <a:cs typeface="Amiri" pitchFamily="2" charset="-78"/>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تُتَبَادَلُ</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التَّهَانِي</a:t>
            </a:r>
            <a:pPr rtl="1" algn="ctr" indent="0" marL="0">
              <a:buNone/>
            </a:pPr>
            <a:r>
              <a:rPr lang="ar-SA" altLang="en-US" sz="1950" b="1" dirty="0">
                <a:solidFill>
                  <a:srgbClr val="1B3B6F"/>
                </a:solidFill>
                <a:latin typeface="Amiri" pitchFamily="2" charset="-78"/>
                <a:cs typeface="Amiri" pitchFamily="2" charset="-78"/>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تُقَامُ</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صَلَاةُ</a:t>
            </a:r>
            <a:pPr rtl="1" algn="ctr" indent="0" marL="0">
              <a:buNone/>
            </a:pPr>
            <a:r>
              <a:rPr lang="ar-SA" altLang="en-US" sz="1950" b="1" dirty="0">
                <a:solidFill>
                  <a:srgbClr val="1B3B6F"/>
                </a:solidFill>
                <a:latin typeface="Amiri" pitchFamily="2" charset="-78"/>
                <a:cs typeface="Amiri" pitchFamily="2" charset="-78"/>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تُعَدُّ</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cs typeface="Amiri" pitchFamily="2" charset="-78"/>
              </a:rPr>
              <a:t>المَائِدَةُ</a:t>
            </a:r>
            <a:pPr rtl="1" algn="ctr" indent="0" marL="0">
              <a:buNone/>
            </a:pPr>
            <a:r>
              <a:rPr lang="ar-SA" altLang="en-US" sz="1950" b="1" dirty="0">
                <a:solidFill>
                  <a:srgbClr val="1B3B6F"/>
                </a:solidFill>
                <a:latin typeface="Amiri" pitchFamily="2" charset="-78"/>
                <a:cs typeface="Amiri" pitchFamily="2" charset="-78"/>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thing affected becomes the nominative subject, and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يَصُومُ</a:t>
            </a:r>
            <a:pPr rtl="1" algn="ctr" indent="0" marL="0">
              <a:buNone/>
            </a:pPr>
            <a:r>
              <a:rPr lang="ar-SA" altLang="en-US" sz="2200" b="1" dirty="0">
                <a:solidFill>
                  <a:srgbClr val="1B3B6F"/>
                </a:solidFill>
                <a:latin typeface="Amiri" pitchFamily="2" charset="-78"/>
                <a:cs typeface="Amiri" pitchFamily="2" charset="-78"/>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تُعَدُّ</a:t>
            </a:r>
            <a:pPr rtl="1" algn="ctr" indent="0" marL="0">
              <a:buNone/>
            </a:pPr>
            <a:r>
              <a:rPr lang="ar-SA" altLang="en-US" sz="2800" b="1" dirty="0">
                <a:solidFill>
                  <a:srgbClr val="1B3B6F"/>
                </a:solidFill>
                <a:latin typeface="Amiri" pitchFamily="2" charset="-78"/>
                <a:cs typeface="Amiri" pitchFamily="2" charset="-78"/>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cs typeface="Amiri" pitchFamily="2" charset="-78"/>
              </a:rPr>
              <a:t>فِي بَعْضِ البُلْدَانِ</a:t>
            </a:r>
            <a:pPr rtl="1" algn="ctr" indent="0" marL="0">
              <a:lnSpc>
                <a:spcPct val="120000"/>
              </a:lnSpc>
              <a:buNone/>
            </a:pPr>
            <a:r>
              <a:rPr lang="ar-SA" altLang="en-US" sz="1800" b="1" dirty="0">
                <a:solidFill>
                  <a:srgbClr val="1B3B6F"/>
                </a:solidFill>
                <a:latin typeface="Amiri" pitchFamily="2" charset="-78"/>
                <a:cs typeface="Amiri" pitchFamily="2" charset="-78"/>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cs typeface="Amiri" pitchFamily="2" charset="-78"/>
              </a:rPr>
              <a:t>زُرْنَا</a:t>
            </a:r>
            <a:pPr rtl="1" algn="ctr" indent="0" marL="0">
              <a:buNone/>
            </a:pPr>
            <a:r>
              <a:rPr lang="ar-SA" altLang="en-US" sz="2300" b="1" dirty="0">
                <a:solidFill>
                  <a:srgbClr val="1B3B6F"/>
                </a:solidFill>
                <a:latin typeface="Amiri" pitchFamily="2" charset="-78"/>
                <a:cs typeface="Amiri" pitchFamily="2" charset="-78"/>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cs typeface="Amiri" pitchFamily="2" charset="-78"/>
              </a:rPr>
              <a:t>يَصُومُ</a:t>
            </a:r>
            <a:pPr rtl="1" algn="r" indent="0" marL="0">
              <a:lnSpc>
                <a:spcPct val="120000"/>
              </a:lnSpc>
              <a:buNone/>
            </a:pPr>
            <a:r>
              <a:rPr lang="ar-SA" altLang="en-US" sz="1400" b="1" dirty="0">
                <a:solidFill>
                  <a:srgbClr val="1B3B6F"/>
                </a:solidFill>
                <a:latin typeface="Amiri" pitchFamily="2" charset="-78"/>
                <a:cs typeface="Amiri" pitchFamily="2" charset="-78"/>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cs typeface="Amiri" pitchFamily="2" charset="-78"/>
              </a:rPr>
              <a:t> المَائِدَةُ وَيَجْتَمِعُ الأَقَارِبُ عَلَى الإِفْطَارِ. </a:t>
            </a:r>
            <a:pPr rtl="1" algn="r" indent="0" marL="0">
              <a:lnSpc>
                <a:spcPct val="120000"/>
              </a:lnSpc>
              <a:buNone/>
            </a:pPr>
            <a:r>
              <a:rPr lang="ar-SA" altLang="en-US" sz="1400" b="1" dirty="0">
                <a:solidFill>
                  <a:srgbClr val="D6336C"/>
                </a:solidFill>
                <a:latin typeface="Amiri" pitchFamily="2" charset="-78"/>
                <a:cs typeface="Amiri" pitchFamily="2" charset="-78"/>
              </a:rPr>
              <a:t>وَفِي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cs typeface="Amiri" pitchFamily="2" charset="-78"/>
              </a:rPr>
              <a:t>تُزَيَّنُ</a:t>
            </a:r>
            <a:pPr rtl="1" algn="r" indent="0" marL="0">
              <a:lnSpc>
                <a:spcPct val="120000"/>
              </a:lnSpc>
              <a:buNone/>
            </a:pPr>
            <a:r>
              <a:rPr lang="ar-SA" altLang="en-US" sz="1400" b="1" dirty="0">
                <a:solidFill>
                  <a:srgbClr val="1B3B6F"/>
                </a:solidFill>
                <a:latin typeface="Amiri" pitchFamily="2" charset="-78"/>
                <a:cs typeface="Amiri" pitchFamily="2" charset="-78"/>
              </a:rPr>
              <a:t> الشَّوَارِعُ بِالفَوَانِيسِ. وَفِي عِيدِ الفِطْرِ </a:t>
            </a:r>
            <a:pPr rtl="1" algn="r" indent="0" marL="0">
              <a:lnSpc>
                <a:spcPct val="120000"/>
              </a:lnSpc>
              <a:buNone/>
            </a:pPr>
            <a:r>
              <a:rPr lang="ar-SA" altLang="en-US" sz="1400" b="1" dirty="0">
                <a:solidFill>
                  <a:srgbClr val="0E7C86"/>
                </a:solidFill>
                <a:latin typeface="Amiri" pitchFamily="2" charset="-78"/>
                <a:cs typeface="Amiri" pitchFamily="2" charset="-78"/>
              </a:rPr>
              <a:t>تُقَامُ</a:t>
            </a:r>
            <a:pPr rtl="1" algn="r" indent="0" marL="0">
              <a:lnSpc>
                <a:spcPct val="120000"/>
              </a:lnSpc>
              <a:buNone/>
            </a:pPr>
            <a:r>
              <a:rPr lang="ar-SA" altLang="en-US" sz="1400" b="1" dirty="0">
                <a:solidFill>
                  <a:srgbClr val="1B3B6F"/>
                </a:solidFill>
                <a:latin typeface="Amiri" pitchFamily="2" charset="-78"/>
                <a:cs typeface="Amiri" pitchFamily="2" charset="-78"/>
              </a:rPr>
              <a:t> صَلَاةُ العِيدِ صَبَاحًا، وَقَدْ </a:t>
            </a:r>
            <a:pPr rtl="1" algn="r" indent="0" marL="0">
              <a:lnSpc>
                <a:spcPct val="120000"/>
              </a:lnSpc>
              <a:buNone/>
            </a:pPr>
            <a:r>
              <a:rPr lang="ar-SA" altLang="en-US" sz="1400" b="1" dirty="0">
                <a:solidFill>
                  <a:srgbClr val="1D5FBF"/>
                </a:solidFill>
                <a:latin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cs typeface="Amiri" pitchFamily="2" charset="-78"/>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street is decorated with lanterns</a:t>
            </a:r>
            <a:endParaRPr lang="en-US" sz="1250" dirty="0"/>
          </a:p>
          <a:p>
            <a:pPr indent="0" marL="0">
              <a:buNone/>
            </a:pPr>
            <a:r>
              <a:rPr lang="en-US" sz="1050" i="1" dirty="0">
                <a:solidFill>
                  <a:srgbClr val="8A6D1E"/>
                </a:solidFill>
                <a:latin typeface="Calibri" pitchFamily="34" charset="0"/>
                <a:cs typeface="Amiri" pitchFamily="2" charset="-78"/>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Muslims fast in Ramadan</a:t>
            </a:r>
            <a:endParaRPr lang="en-US" sz="1250" dirty="0"/>
          </a:p>
          <a:p>
            <a:pPr indent="0" marL="0">
              <a:buNone/>
            </a:pPr>
            <a:r>
              <a:rPr lang="en-US" sz="1050" i="1" dirty="0">
                <a:solidFill>
                  <a:srgbClr val="8A6D1E"/>
                </a:solidFill>
                <a:latin typeface="Calibri" pitchFamily="34" charset="0"/>
                <a:cs typeface="Amiri" pitchFamily="2" charset="-78"/>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fasted for the first time</a:t>
            </a:r>
            <a:endParaRPr lang="en-US" sz="1250" dirty="0"/>
          </a:p>
          <a:p>
            <a:pPr indent="0" marL="0">
              <a:buNone/>
            </a:pPr>
            <a:r>
              <a:rPr lang="en-US" sz="1050" i="1" dirty="0">
                <a:solidFill>
                  <a:srgbClr val="8A6D1E"/>
                </a:solidFill>
                <a:latin typeface="Calibri" pitchFamily="34" charset="0"/>
                <a:cs typeface="Amiri" pitchFamily="2" charset="-78"/>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agrees with the nominative subject </a:t>
            </a:r>
            <a:pPr algn="l" indent="0" marL="0">
              <a:buNone/>
            </a:pPr>
            <a:r>
              <a:rPr lang="ar-SA" altLang="en-US" sz="1350" dirty="0">
                <a:solidFill>
                  <a:srgbClr val="8A6D1E"/>
                </a:solidFill>
                <a:latin typeface="Amiri" pitchFamily="2" charset="-78"/>
                <a:cs typeface="Amiri" pitchFamily="2" charset="-78"/>
              </a:rPr>
              <a:t>التَّهَانِي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الحَلْوَى</a:t>
            </a:r>
            <a:pPr algn="l" indent="0" marL="0">
              <a:buNone/>
            </a:pPr>
            <a:r>
              <a:rPr lang="en-US" sz="1050" i="1" dirty="0">
                <a:solidFill>
                  <a:srgbClr val="8A6D1E"/>
                </a:solidFill>
                <a:latin typeface="Calibri" pitchFamily="34" charset="0"/>
                <a:cs typeface="Amiri" pitchFamily="2" charset="-78"/>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صَامَ</a:t>
            </a:r>
            <a:pPr algn="l" indent="0" marL="0">
              <a:buNone/>
            </a:pPr>
            <a:r>
              <a:rPr lang="en-US" sz="1150" b="1" dirty="0">
                <a:solidFill>
                  <a:srgbClr val="1B3B6F"/>
                </a:solidFill>
                <a:latin typeface="Calibri" pitchFamily="34" charset="0"/>
                <a:cs typeface="Amiri" pitchFamily="2" charset="-78"/>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رَمَضَان</a:t>
            </a:r>
            <a:pPr algn="l" indent="0" marL="0">
              <a:buNone/>
            </a:pPr>
            <a:r>
              <a:rPr lang="en-US" sz="1150" b="1" dirty="0">
                <a:solidFill>
                  <a:srgbClr val="1B3B6F"/>
                </a:solidFill>
                <a:latin typeface="Calibri" pitchFamily="34" charset="0"/>
                <a:cs typeface="Amiri" pitchFamily="2" charset="-78"/>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describe a celebration accurately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مَا يَحْدُثُ عَادَةً فِي رَمَضَانَ.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تَخْتَلِفُ العَادَاتُ مِنْ بَلَدٍ إِلَى بَلَدٍ؟ أَعْطِ مِثَالًا.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مُنَاسَبَةً حَضَرْتَهَا بِنَفْسِكَ، مُسْتَعْمِلًا الفِعْلَ المَاضِيَ.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cs typeface="Amiri" pitchFamily="2" charset="-78"/>
              </a:rPr>
              <a:t>فِي رَمَضَانَ يَصُومُ المُسْلِمُونَ ، وَتُعَدُّ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بَعْضِ البُلْدَانِ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فِي العِيدِ المَاضِي ___ ، وَكَانَ يَوْمًا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مَا يَحْدُثُ عَادَةً فِي رَمَضَانَ.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usually happens in Ramadan.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يَصُومُ المُسْلِمُونَ مِنَ الفَجْرِ إِلَى المَغْرِبِ، وَفِي بَعْضِ البُلْدَانِ تُزَيَّنُ الشَّوَارِعُ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Muslims fast from dawn to sunset, and in some countries the streets are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with a correctly shortened hollow verb if you use </a:t>
            </a:r>
            <a:pPr algn="l" indent="0" marL="0">
              <a:buNone/>
            </a:pPr>
            <a:r>
              <a:rPr lang="ar-SA" altLang="en-US" sz="1550" dirty="0">
                <a:solidFill>
                  <a:srgbClr val="1F2A37"/>
                </a:solidFill>
                <a:latin typeface="Amiri" pitchFamily="2" charset="-78"/>
                <a:cs typeface="Amiri" pitchFamily="2" charset="-78"/>
              </a:rPr>
              <a:t>صَامَ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 such as </a:t>
            </a:r>
            <a:pPr algn="l" indent="0" marL="0">
              <a:buNone/>
            </a:pPr>
            <a:r>
              <a:rPr lang="ar-SA" altLang="en-US" sz="1550" dirty="0">
                <a:solidFill>
                  <a:srgbClr val="1F2A37"/>
                </a:solidFill>
                <a:latin typeface="Amiri" pitchFamily="2" charset="-78"/>
                <a:cs typeface="Amiri" pitchFamily="2" charset="-78"/>
              </a:rPr>
              <a:t>فِي بَعْضِ البُلْدَانِ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cs typeface="Amiri" pitchFamily="2" charset="-78"/>
              </a:rPr>
              <a:t>رَمَضَانَ</a:t>
            </a:r>
            <a:pPr algn="l" indent="0" marL="0">
              <a:buNone/>
            </a:pPr>
            <a:r>
              <a:rPr lang="en-US" sz="1300" dirty="0">
                <a:solidFill>
                  <a:srgbClr val="1F2A37"/>
                </a:solidFill>
                <a:latin typeface="Calibri" pitchFamily="34" charset="0"/>
                <a:cs typeface="Amiri" pitchFamily="2" charset="-78"/>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 agrees in gender (</a:t>
            </a:r>
            <a:pPr algn="l" indent="0" marL="0">
              <a:buNone/>
            </a:pPr>
            <a:r>
              <a:rPr lang="ar-SA" altLang="en-US" sz="1700" dirty="0">
                <a:solidFill>
                  <a:srgbClr val="1F2A37"/>
                </a:solidFill>
                <a:latin typeface="Amiri" pitchFamily="2" charset="-78"/>
                <a:cs typeface="Amiri" pitchFamily="2" charset="-78"/>
              </a:rPr>
              <a:t>تُزَيَّنُ الشَّوَارِعُ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past memory (</a:t>
            </a:r>
            <a:pPr algn="l" indent="0" marL="0">
              <a:buNone/>
            </a:pPr>
            <a:r>
              <a:rPr lang="ar-SA" altLang="en-US" sz="1700" dirty="0">
                <a:solidFill>
                  <a:srgbClr val="1F2A37"/>
                </a:solidFill>
                <a:latin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verb takes a nominative subject and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cs typeface="Amiri" pitchFamily="2" charset="-78"/>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السَّحُور</a:t>
            </a:r>
            <a:pPr algn="l" indent="0" marL="0">
              <a:buNone/>
            </a:pPr>
            <a:r>
              <a:rPr lang="en-US" sz="1050" i="1" dirty="0">
                <a:solidFill>
                  <a:srgbClr val="8A6D1E"/>
                </a:solidFill>
                <a:latin typeface="Calibri" pitchFamily="34" charset="0"/>
                <a:cs typeface="Amiri" pitchFamily="2" charset="-78"/>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D6-L04 · Cultural Celebrations Beyond Islam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Christmas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church</a:t>
            </a:r>
            <a:pPr indent="0" marL="0">
              <a:buNone/>
            </a:pPr>
            <a:r>
              <a:rPr lang="en-US" sz="1000" i="1" dirty="0">
                <a:solidFill>
                  <a:srgbClr val="5A6472"/>
                </a:solidFill>
                <a:latin typeface="Calibri" pitchFamily="34" charset="0"/>
                <a:cs typeface="Amiri" pitchFamily="2" charset="-78"/>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festival</a:t>
            </a:r>
            <a:pPr indent="0" marL="0">
              <a:buNone/>
            </a:pPr>
            <a:r>
              <a:rPr lang="en-US" sz="1000" i="1" dirty="0">
                <a:solidFill>
                  <a:srgbClr val="5A6472"/>
                </a:solidFill>
                <a:latin typeface="Calibri" pitchFamily="34" charset="0"/>
                <a:cs typeface="Amiri" pitchFamily="2" charset="-78"/>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coexistence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respects difference</a:t>
            </a:r>
            <a:pPr indent="0" marL="0">
              <a:buNone/>
            </a:pPr>
            <a:r>
              <a:rPr lang="en-US" sz="1000" i="1" dirty="0">
                <a:solidFill>
                  <a:srgbClr val="5A6472"/>
                </a:solidFill>
                <a:latin typeface="Calibri" pitchFamily="34" charset="0"/>
                <a:cs typeface="Amiri" pitchFamily="2" charset="-78"/>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D6-L04 · Cultural Celebrations Beyond Islam in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الاحْتِفَالَاتُ الثَّقَافِيَّةُ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custom → present (</a:t>
            </a:r>
            <a:pPr algn="l" indent="0" marL="0">
              <a:buNone/>
            </a:pPr>
            <a:r>
              <a:rPr lang="ar-SA" altLang="en-US" sz="1700" b="1" dirty="0">
                <a:solidFill>
                  <a:srgbClr val="FFFFFF"/>
                </a:solidFill>
                <a:latin typeface="Amiri" pitchFamily="2" charset="-78"/>
                <a:cs typeface="Amiri" pitchFamily="2" charset="-78"/>
              </a:rPr>
              <a:t>يَصُومُ</a:t>
            </a:r>
            <a:pPr algn="l" indent="0" marL="0">
              <a:buNone/>
            </a:pPr>
            <a:r>
              <a:rPr lang="en-US" sz="1300" b="1" dirty="0">
                <a:solidFill>
                  <a:srgbClr val="FFFFFF"/>
                </a:solidFill>
                <a:latin typeface="Calibri" pitchFamily="34" charset="0"/>
                <a:cs typeface="Amiri" pitchFamily="2" charset="-78"/>
              </a:rPr>
              <a:t>) · what is done → passive + noun in -u (</a:t>
            </a:r>
            <a:pPr algn="l" indent="0" marL="0">
              <a:buNone/>
            </a:pPr>
            <a:r>
              <a:rPr lang="ar-SA" altLang="en-US" sz="1700" b="1" dirty="0">
                <a:solidFill>
                  <a:srgbClr val="FFFFFF"/>
                </a:solidFill>
                <a:latin typeface="Amiri" pitchFamily="2" charset="-78"/>
                <a:cs typeface="Amiri" pitchFamily="2" charset="-78"/>
              </a:rPr>
              <a:t>تُزَيَّنُ الشَّوَارِعُ</a:t>
            </a:r>
            <a:pPr algn="l" indent="0" marL="0">
              <a:buNone/>
            </a:pPr>
            <a:r>
              <a:rPr lang="en-US" sz="1300" b="1" dirty="0">
                <a:solidFill>
                  <a:srgbClr val="FFFFFF"/>
                </a:solidFill>
                <a:latin typeface="Calibri" pitchFamily="34" charset="0"/>
                <a:cs typeface="Amiri" pitchFamily="2" charset="-78"/>
              </a:rPr>
              <a:t>) · my memory → past (</a:t>
            </a:r>
            <a:pPr algn="l" indent="0" marL="0">
              <a:buNone/>
            </a:pPr>
            <a:r>
              <a:rPr lang="ar-SA" altLang="en-US" sz="1700" b="1" dirty="0">
                <a:solidFill>
                  <a:srgbClr val="FFFFFF"/>
                </a:solidFill>
                <a:latin typeface="Amiri" pitchFamily="2" charset="-78"/>
                <a:cs typeface="Amiri" pitchFamily="2" charset="-78"/>
              </a:rPr>
              <a:t>صُمْتُ</a:t>
            </a:r>
            <a:pPr algn="l" indent="0" marL="0">
              <a:buNone/>
            </a:pPr>
            <a:r>
              <a:rPr lang="en-US" sz="1300" b="1" dirty="0">
                <a:solidFill>
                  <a:srgbClr val="FFFFFF"/>
                </a:solidFill>
                <a:latin typeface="Calibri" pitchFamily="34" charset="0"/>
                <a:cs typeface="Amiri" pitchFamily="2" charset="-78"/>
              </a:rPr>
              <a:t>) · regional custom → hedge.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D6-L03 · Islamic Celebrations — Eid, Ramadan and Religious Occasions</dc:title>
  <dc:subject>PptxGenJS Presentation</dc:subject>
  <dc:creator>Al Madina Online School · Arabic Department</dc:creator>
  <cp:lastModifiedBy>Al Madina Online School · Arabic Department</cp:lastModifiedBy>
  <cp:revision>1</cp:revision>
  <dcterms:created xsi:type="dcterms:W3CDTF">2026-10-11T06:41:07Z</dcterms:created>
  <dcterms:modified xsi:type="dcterms:W3CDTF">2026-10-11T06:41:07Z</dcterms:modified>
</cp:coreProperties>
</file>