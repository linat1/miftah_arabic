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D6-L10. The website lesson “Listening — Culture, Celebration and Identity Texts”: vocabulary, grammar rules and quiz, patterns, common mistakes, sorter, listening, reading, speaking prompts and model, writing task and model, differentiation, final check and the lesson mission. Picture match: website visual game “Listening — Culture, Celebration and Identity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LISTENING-SKILLS lesson: the website text is one person’s identity across three tenses (childhood · last year · now · next year), with a hedge in the middle.
• Before listening, students mark every question P / N / F (past / now / future) and circle any question about “all / some / always”. Then they listen for the verb form and the qualifier, not the topic.
• Core: questions 1, 2 and 3 + sort ten verbs P / N / F. Develop: all questions, justifying two from the verb form. Stretch: the website ~70-word third-person summary that reports the hedge exactly.
• The transcript-reading task (Nūr and Sami) trains attribution: who said what. Read the listening text yourself at natural speed; do NOT show the script until after the second listening.
• TEACHER-WRITTEN ITEMS: the website common mistakes (English listening habits) rebuilt as Arabic sentence pairs on the same three points; English added to the patterns and speaking model; the website visual game repeats D6-L02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D6-L09. Questions 4–5 retrieve D6-L09 (أَنَّ + accusative · أَطْمَحُ إِلَى).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topic does not tell you the tense — the verb shape does. And one small hedge can change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عقیدہ، وطن are shared. CAREFUL: Urdu تقلید is a fiqh term (following a madhhab); Arabic التَّقَالِيدُ = cultural traditions. Urdu مناسب = suitable; Arabic المُنَاسَبَةُ = an occasion (المُنَاسَبَاتُ = special occasions). Urdu عادت (habit) helps: Arabic عَادَةً = usually, a present-habit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for culture (website vocabulary (1 of 2)). Hear → Say → See → Use. Transliteration is printed for Core students (cover it for Develop/Stretch).
Listening for culture: the nouns that carry the topic. Cards show singular / plural — listen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for culture (website vocabulary (2 of 2)). Hear → Say → See → Use. Transliteration is printed for Core students (cover it for Develop/Stretch).
Listening for culture: the nouns that carry the topic. Cards show singular / plural — listen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Tense signals in speech (website vocabulary (1 of 2)). Hear → Say → See → Use. Transliteration is printed for Core students (cover it for Develop/Stretch).
Tense signals in speech: each time phrase predicts the verb shape that follows (past · present habit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Tense signals in speech (website vocabulary (2 of 2)). Hear → Say → See → Use. Transliteration is printed for Core students (cover it for Develop/Stretch).
Tense signals in speech: each time phrase predicts the verb shape that follows (past · present habit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Qualifiers to catch (website vocabulary (1 of 2)). Hear → Say → See → Use. Transliteration is printed for Core students (cover it for Develop/Stretch).
Qualifiers to catch: each one NARROWS a claim. An option that says “all / always” after one of these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Qualifiers to catch (website vocabulary (2 of 2)). Hear → Say → See → Use. Transliteration is printed for Core students (cover it for Develop/Stretch).
Qualifiers to catch: each one NARROWS a claim. An option that says “all / always” after one of these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“Tense from the verb shape” (suffix = past · prefix = present · سَـ = future; the topic does not tell you the tense, the word shape does) and “Past habit versus single event” (كَانَ يَحْتَفِلُ = used to celebrate; احْتَفَلَ = celebrated once).
Before listening: mark each question P / N / F, then listen for that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“Qualified claims” (a qualifier narrows the claim; any option that widens it back to everyone is wrong) and “Attribution in a dialogue” (note each claim against its speaker as you listen; decide only afterwards).
Website teaching points: “A hedge changes the answer … Examiners build distractors from exactly this difference.” · “A distractor often reports something true, but attributes it to the wrong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things to catch at speed: which tense the verb carries, which speaker said it, and whether the claim was qualified.”
• Tense from the verb shape: The topic does not tell you the tense; the word shape does.
• Past habit versus single event: كَانَ يَحْتَفِلُ means used to celebrate; احْتَفَلَ means celebrated once.
• Qualified claims: A qualifier narrows the claim. Any option that widens it back to everyone is wrong.
• Attribution in a dialogue: Note each claim against its speaker as you listen; decide only afterwards.
Website common error: Choosing an option that repeats words you heard but widens a qualified claim into a universal one, or attributes a true statement to the wrong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model the annotate → predict → hear → reject routine on question 4 (the Eid-money hedge). The copy box shows the transcript AFTER annotation (show it only after the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sentence about your family in each column: كُنَّا … · عَادَةً … · سَـ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sentence about your family in each column: كُنَّا … · عَادَةً … · سَـ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the verb or hedge that proves each answer.
Listen 1: just listen. Listen 2: note answers. Then chat the letters.
Support: after the second listening, show the read-along slide (Arabic + English, line by line) for Core students.
SCRIPT (read aloud):
فِي الطُّفُولَةِ كُنَّا نَحْتَفِلُ بِالعِيدِ فِي بَلَدِ أُسْرَتِي، وَكَانَتْ جَدَّتِي تُعِدُّ الحَلْوَى بِنَفْسِهَا. وَفِي العَامِ المَاضِي زُرْنَا الأَقَارِبَ هُنَاكَ بَعْدَ غِيَابٍ طَوِيلٍ. أَمَّا الآنَ فَنَحْتَفِلُ عَادَةً فِي المَرْكَزِ الثَّقَافِيِّ مَعَ الجَالِيَةِ، وَتُزَيَّنُ القَاعَةُ وَتُتَبَادَلُ التَّهَانِي. وَفِي بَعْضِ العَائِلَاتِ تُوَزَّعُ العِيدِيَّةُ عَلَى الأَطْفَالِ، وَلٰكِنْ لَيْسَ دَائِمًا؛ فَالعَادَاتُ تَخْتَلِفُ. فِي رَأْيِي الاِنْتِمَاءُ لَا يَعْنِي مَكَانًا وَاحِدًا. وَالعَامَ القَادِمَ سَنُنَظِّمُ حَفْلًا أَكْبَرَ، وَسَنَدْعُو الجِيرَانَ لِكَيْ يَتَعَرَّفُوا عَلَى تَقَالِيدِنَا.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قَالَ إِنَّ كُلَّ العَائِلَاتِ تَفْعَلُ ذٰلِكَ؟ (And did he say that all families do that?)
B: لَا، قَالَ فِي بَعْضِ العَائِلَاتِ وَلَيْسَ دَائِمًا، لِأَنَّ العَادَاتِ تَخْتَلِفُ. (No — he said in some families and not always, because customs differ.)
Website prompts and model: retell in the THIRD person (we → he): كُنَّا نَحْتَفِلُ → كَانَ يَحْتَفِلُ · زُرْنَا → زَارَ · نَحْتَفِلُ → يَحْتَفِلُ · سَنُنَظِّمُ → سَيُنَظِّمُ. Report the hedge EXACTLY — never widen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Sort ten verbs from the text into past, present and future. · Develop — Answer the questions and justify two answers from the verb form. · Stretch — Report one qualified claim exactly, without widening it into a universal statement.
Website writing task (Stretch): Write about seventy words summarising the listening text. Report what the speaker used to do, what they do now, how they qualified one claim, and what they will do next year.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كَانَ … يَحْتَفِلُ · كَانَتْ جَدَّتُهُ تُعِدُّ · زَارَ · يَحْتَفِلُ عَادَةً · تُزَيَّنُ · تُتَبَادَلُ · قَالَ إِنَّ … فِي بَعْضِ العَائِلَاتِ وَلَيْسَ دَائِمًا · سَيُنَظِّمُ · سَيَدْعُو.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(D6-L11 · D6 Consolidation — Complete Review and Speaking Preparation) will spend class time USING this language, so students prepare it tonight — short, simple, easy to access (school guidance: “Simple, Short, Interesting, Relevant, Easy to access”). The five words come from the website D6-L11 vocabulary (speaking with control and qualifying in real time).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Culture, Celebration and Identity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الاِسْتِمَاعُ — نُصُوصُ الثَّقَافَةِ وَالاحْتِفَالِ وَالهُوِيَّةِ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Catch three things at speed: the TENSE in the verb shape (</a:t>
            </a:r>
            <a:pPr algn="l" indent="0" marL="0">
              <a:buNone/>
            </a:pPr>
            <a:r>
              <a:rPr lang="ar-SA" altLang="en-US" sz="1800" dirty="0">
                <a:solidFill>
                  <a:srgbClr val="C6D2E6"/>
                </a:solidFill>
                <a:latin typeface="Amiri" pitchFamily="2" charset="-78"/>
                <a:cs typeface="Amiri" pitchFamily="2" charset="-78"/>
              </a:rPr>
              <a:t>احْتَفَلْنَا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نَحْتَفِلُ</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سَنَحْتَفِلُ</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كُنَّا نَحْتَفِلُ</a:t>
            </a:r>
            <a:pPr algn="l" indent="0" marL="0">
              <a:buNone/>
            </a:pPr>
            <a:r>
              <a:rPr lang="en-US" sz="1400" dirty="0">
                <a:solidFill>
                  <a:srgbClr val="C6D2E6"/>
                </a:solidFill>
                <a:latin typeface="Calibri" pitchFamily="34" charset="0"/>
                <a:cs typeface="Amiri" pitchFamily="2" charset="-78"/>
              </a:rPr>
              <a:t>), the HEDGE that narrows a claim (</a:t>
            </a:r>
            <a:pPr algn="l" indent="0" marL="0">
              <a:buNone/>
            </a:pPr>
            <a:r>
              <a:rPr lang="ar-SA" altLang="en-US" sz="1800" dirty="0">
                <a:solidFill>
                  <a:srgbClr val="C6D2E6"/>
                </a:solidFill>
                <a:latin typeface="Amiri" pitchFamily="2" charset="-78"/>
                <a:cs typeface="Amiri" pitchFamily="2" charset="-78"/>
              </a:rPr>
              <a:t>فِي بَعْضِ العَائِلَاتِ</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لَيْسَ دَائِمًا</a:t>
            </a:r>
            <a:pPr algn="l" indent="0" marL="0">
              <a:buNone/>
            </a:pPr>
            <a:r>
              <a:rPr lang="en-US" sz="1400" dirty="0">
                <a:solidFill>
                  <a:srgbClr val="C6D2E6"/>
                </a:solidFill>
                <a:latin typeface="Calibri" pitchFamily="34" charset="0"/>
                <a:cs typeface="Amiri" pitchFamily="2" charset="-78"/>
              </a:rPr>
              <a:t>) — and WHO said it in a dialogue.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D6-L10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Verb shape = tense; hedges narrow claims; track the speaker.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tense, fix hedge and speaker slips, then one identity across three tenses.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المُعْتَقَدَاتُ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traditions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beliefs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values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لَيْسَ دَائِمًا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always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all families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family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some families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جُزْءٌ مِنَ الهُوِيَّةِ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أَطْمَحُ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أَنْ أُتْقِنَ الفُصْحَى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المُعْتَقَدَاتُ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traditions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beliefs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values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لَيْسَ دَائِمًا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always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all families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my family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some families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جُزْءٌ مِنَ الهُوِيَّةِ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اللُّغَةَ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D6-L09: the noun after anna ends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أَطْمَحُ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أَنْ أُتْقِنَ الفُصْحَى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D6-L09.</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topic does not tell you the tense — the verb shape does. And one small hedge can change the answer.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احْتَفَلْنَا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نَحْتَفِلُ</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cs typeface="Amiri" pitchFamily="2" charset="-78"/>
              </a:rPr>
              <a:t>سَنَحْتَفِلُ</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cs typeface="Amiri" pitchFamily="2" charset="-78"/>
              </a:rPr>
              <a:t>فِي بَعْضِ</a:t>
            </a:r>
            <a:pPr rtl="1" algn="ctr" indent="0" marL="0">
              <a:lnSpc>
                <a:spcPct val="120000"/>
              </a:lnSpc>
              <a:buNone/>
            </a:pPr>
            <a:r>
              <a:rPr lang="ar-SA" altLang="en-US" sz="1950" b="1" dirty="0">
                <a:solidFill>
                  <a:srgbClr val="1B3B6F"/>
                </a:solidFill>
                <a:latin typeface="Amiri" pitchFamily="2" charset="-78"/>
                <a:cs typeface="Amiri" pitchFamily="2" charset="-78"/>
              </a:rPr>
              <a:t> العَائِلَاتِ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cultural vocabulary at speed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past, present and future apart from the verb shape.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a hedge (</a:t>
            </a:r>
            <a:pPr algn="l" indent="0" marL="0">
              <a:buNone/>
            </a:pPr>
            <a:r>
              <a:rPr lang="ar-SA" altLang="en-US" sz="1700" dirty="0">
                <a:solidFill>
                  <a:srgbClr val="1F2A37"/>
                </a:solidFill>
                <a:latin typeface="Amiri" pitchFamily="2" charset="-78"/>
                <a:cs typeface="Amiri" pitchFamily="2" charset="-78"/>
              </a:rPr>
              <a:t>أَحْيَانًا</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لَيْسَ دَائِمًا</a:t>
            </a:r>
            <a:pPr algn="l" indent="0" marL="0">
              <a:buNone/>
            </a:pPr>
            <a:r>
              <a:rPr lang="en-US" sz="1300" dirty="0">
                <a:solidFill>
                  <a:srgbClr val="1F2A37"/>
                </a:solidFill>
                <a:latin typeface="Calibri" pitchFamily="34" charset="0"/>
                <a:cs typeface="Amiri" pitchFamily="2" charset="-78"/>
              </a:rPr>
              <a:t>) and what it changes.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Reject a distractor with the wrong speaker or the wrong tense.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mark each question past, now or future.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hear the tense from the verb shape.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hear </a:t>
            </a:r>
            <a:pPr algn="l" indent="0" marL="0">
              <a:buNone/>
            </a:pPr>
            <a:r>
              <a:rPr lang="ar-SA" altLang="en-US" sz="1700" b="1" dirty="0">
                <a:solidFill>
                  <a:srgbClr val="C9780A"/>
                </a:solidFill>
                <a:latin typeface="Amiri" pitchFamily="2" charset="-78"/>
                <a:cs typeface="Amiri" pitchFamily="2" charset="-78"/>
              </a:rPr>
              <a:t>كَانَ</a:t>
            </a:r>
            <a:pPr algn="l" indent="0" marL="0">
              <a:buNone/>
            </a:pPr>
            <a:r>
              <a:rPr lang="en-US" sz="1300" b="1" dirty="0">
                <a:solidFill>
                  <a:srgbClr val="C9780A"/>
                </a:solidFill>
                <a:latin typeface="Calibri" pitchFamily="34" charset="0"/>
                <a:cs typeface="Amiri" pitchFamily="2" charset="-78"/>
              </a:rPr>
              <a:t> + present as “used to”.</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justify an answer from the verb form.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report a hedge exactly, without widening it.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track who said what in a dialogue.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for culture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Tense signals in speech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Qualifiers to catch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عَقِيدَةٌ / مُعْتَقَدٌ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‎عقیدہ‎ </a:t>
            </a:r>
            <a:pPr indent="0" marL="0">
              <a:buNone/>
            </a:pPr>
            <a:r>
              <a:rPr lang="en-US" sz="950" b="1" dirty="0">
                <a:solidFill>
                  <a:srgbClr val="2E8B57"/>
                </a:solidFill>
                <a:latin typeface="Calibri" pitchFamily="34" charset="0"/>
                <a:cs typeface="Amiri" pitchFamily="2" charset="-78"/>
              </a:rPr>
              <a:t> ʿaqīda · belief (same root)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تَقْلِيدٌ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‎تقلید‎ </a:t>
            </a:r>
            <a:pPr indent="0" marL="0">
              <a:buNone/>
            </a:pPr>
            <a:r>
              <a:rPr lang="en-US" sz="950" b="1" dirty="0">
                <a:solidFill>
                  <a:srgbClr val="2E8B57"/>
                </a:solidFill>
                <a:latin typeface="Calibri" pitchFamily="34" charset="0"/>
                <a:cs typeface="Amiri" pitchFamily="2" charset="-78"/>
              </a:rPr>
              <a:t> taqlīd · Arabic: tradition · Urdu (fiqh): following a school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وَطَنٌ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‎وطن‎ </a:t>
            </a:r>
            <a:pPr indent="0" marL="0">
              <a:buNone/>
            </a:pPr>
            <a:r>
              <a:rPr lang="en-US" sz="950" b="1" dirty="0">
                <a:solidFill>
                  <a:srgbClr val="2E8B57"/>
                </a:solidFill>
                <a:latin typeface="Calibri" pitchFamily="34" charset="0"/>
                <a:cs typeface="Amiri" pitchFamily="2" charset="-78"/>
              </a:rPr>
              <a:t> waṭan · homeland (same word)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عَادَةً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ʿādat · Urdu: a habit · Arabic عَادَةً: usually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مُنَاسَبَةٌ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‎مناسب‎ </a:t>
            </a:r>
            <a:pPr indent="0" marL="0">
              <a:buNone/>
            </a:pPr>
            <a:r>
              <a:rPr lang="en-US" sz="950" b="1" dirty="0">
                <a:solidFill>
                  <a:srgbClr val="2E8B57"/>
                </a:solidFill>
                <a:latin typeface="Calibri" pitchFamily="34" charset="0"/>
                <a:cs typeface="Amiri" pitchFamily="2" charset="-78"/>
              </a:rPr>
              <a:t> munāsib · Urdu: suitable · Arabic: an occasion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for culture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المُفْرَدَاتُ الثَّقَافِيَّةُ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vocabulary</a:t>
            </a:r>
            <a:endParaRPr lang="en-US" sz="1350" dirty="0"/>
          </a:p>
          <a:p>
            <a:pPr indent="0" marL="0">
              <a:buNone/>
            </a:pPr>
            <a:r>
              <a:rPr lang="en-US" sz="1100" i="1" dirty="0">
                <a:solidFill>
                  <a:srgbClr val="5A6472"/>
                </a:solidFill>
                <a:latin typeface="Calibri" pitchFamily="34" charset="0"/>
                <a:cs typeface="Amiri" pitchFamily="2" charset="-78"/>
              </a:rPr>
              <a:t>al-muf-ra-dā-tu ath-tha-qā-fiy-ya-tu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المُعْتَقَدَاتُ</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beliefs</a:t>
            </a:r>
            <a:endParaRPr lang="en-US" sz="1350" dirty="0"/>
          </a:p>
          <a:p>
            <a:pPr indent="0" marL="0">
              <a:buNone/>
            </a:pPr>
            <a:r>
              <a:rPr lang="en-US" sz="1100" i="1" dirty="0">
                <a:solidFill>
                  <a:srgbClr val="5A6472"/>
                </a:solidFill>
                <a:latin typeface="Calibri" pitchFamily="34" charset="0"/>
                <a:cs typeface="Amiri" pitchFamily="2" charset="-78"/>
              </a:rPr>
              <a:t>al-muʿ-ta-qa-dā-tu</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مُعْتَقَدٌ</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القِيَمُ</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values</a:t>
            </a:r>
            <a:endParaRPr lang="en-US" sz="1350" dirty="0"/>
          </a:p>
          <a:p>
            <a:pPr indent="0" marL="0">
              <a:buNone/>
            </a:pPr>
            <a:r>
              <a:rPr lang="en-US" sz="1100" i="1" dirty="0">
                <a:solidFill>
                  <a:srgbClr val="5A6472"/>
                </a:solidFill>
                <a:latin typeface="Calibri" pitchFamily="34" charset="0"/>
                <a:cs typeface="Amiri" pitchFamily="2" charset="-78"/>
              </a:rPr>
              <a:t>al-qi-ya-mu</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قِيمَةٌ</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التَّقَالِيدُ</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traditions</a:t>
            </a:r>
            <a:endParaRPr lang="en-US" sz="1350" dirty="0"/>
          </a:p>
          <a:p>
            <a:pPr indent="0" marL="0">
              <a:buNone/>
            </a:pPr>
            <a:r>
              <a:rPr lang="en-US" sz="1100" i="1" dirty="0">
                <a:solidFill>
                  <a:srgbClr val="5A6472"/>
                </a:solidFill>
                <a:latin typeface="Calibri" pitchFamily="34" charset="0"/>
                <a:cs typeface="Amiri" pitchFamily="2" charset="-78"/>
              </a:rPr>
              <a:t>at-ta-qā-lī-du</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5" name="Text 5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تَقْلِيدٌ</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for culture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المُنَاسَبَةُ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occasion</a:t>
            </a:r>
            <a:endParaRPr lang="en-US" sz="1350" dirty="0"/>
          </a:p>
          <a:p>
            <a:pPr indent="0" marL="0">
              <a:buNone/>
            </a:pPr>
            <a:r>
              <a:rPr lang="en-US" sz="1100" i="1" dirty="0">
                <a:solidFill>
                  <a:srgbClr val="5A6472"/>
                </a:solidFill>
                <a:latin typeface="Calibri" pitchFamily="34" charset="0"/>
                <a:cs typeface="Amiri" pitchFamily="2" charset="-78"/>
              </a:rPr>
              <a:t>al-mu-nā-sa-ba-tu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المُنَاسَبَاتُ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الاِنْتِمَاءُ</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belonging</a:t>
            </a:r>
            <a:endParaRPr lang="en-US" sz="1350" dirty="0"/>
          </a:p>
          <a:p>
            <a:pPr indent="0" marL="0">
              <a:buNone/>
            </a:pPr>
            <a:r>
              <a:rPr lang="en-US" sz="1100" i="1" dirty="0">
                <a:solidFill>
                  <a:srgbClr val="5A6472"/>
                </a:solidFill>
                <a:latin typeface="Calibri" pitchFamily="34" charset="0"/>
                <a:cs typeface="Amiri" pitchFamily="2" charset="-78"/>
              </a:rPr>
              <a:t>aln-ti-mā-ʾu</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الوَطَنُ</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homeland</a:t>
            </a:r>
            <a:endParaRPr lang="en-US" sz="1350" dirty="0"/>
          </a:p>
          <a:p>
            <a:pPr indent="0" marL="0">
              <a:buNone/>
            </a:pPr>
            <a:r>
              <a:rPr lang="en-US" sz="1100" i="1" dirty="0">
                <a:solidFill>
                  <a:srgbClr val="5A6472"/>
                </a:solidFill>
                <a:latin typeface="Calibri" pitchFamily="34" charset="0"/>
                <a:cs typeface="Amiri" pitchFamily="2" charset="-78"/>
              </a:rPr>
              <a:t>al-wa-ṭa-nu</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الأَوْطَانُ</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الجَالِيَةُ</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community abroad</a:t>
            </a:r>
            <a:endParaRPr lang="en-US" sz="1350" dirty="0"/>
          </a:p>
          <a:p>
            <a:pPr indent="0" marL="0">
              <a:buNone/>
            </a:pPr>
            <a:r>
              <a:rPr lang="en-US" sz="1100" i="1" dirty="0">
                <a:solidFill>
                  <a:srgbClr val="5A6472"/>
                </a:solidFill>
                <a:latin typeface="Calibri" pitchFamily="34" charset="0"/>
                <a:cs typeface="Amiri" pitchFamily="2" charset="-78"/>
              </a:rPr>
              <a:t>al-jā-li-ya-tu</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الجَالِيَاتُ</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Tense signals in speech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الطُّفُولَةِ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childhood</a:t>
            </a:r>
            <a:endParaRPr lang="en-US" sz="1350" dirty="0"/>
          </a:p>
          <a:p>
            <a:pPr indent="0" marL="0">
              <a:buNone/>
            </a:pPr>
            <a:r>
              <a:rPr lang="en-US" sz="1100" i="1" dirty="0">
                <a:solidFill>
                  <a:srgbClr val="5A6472"/>
                </a:solidFill>
                <a:latin typeface="Calibri" pitchFamily="34" charset="0"/>
                <a:cs typeface="Amiri" pitchFamily="2" charset="-78"/>
              </a:rPr>
              <a:t>fī aṭ-ṭu-fū-la-ti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past.</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العَامَ المَاضِيَ</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year</a:t>
            </a:r>
            <a:endParaRPr lang="en-US" sz="1350" dirty="0"/>
          </a:p>
          <a:p>
            <a:pPr indent="0" marL="0">
              <a:buNone/>
            </a:pPr>
            <a:r>
              <a:rPr lang="en-US" sz="1100" i="1" dirty="0">
                <a:solidFill>
                  <a:srgbClr val="5A6472"/>
                </a:solidFill>
                <a:latin typeface="Calibri" pitchFamily="34" charset="0"/>
                <a:cs typeface="Amiri" pitchFamily="2" charset="-78"/>
              </a:rPr>
              <a:t>al-ʿā-ma al-mā-ḍi-ya</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4" name="Shape 31"/>
          <p:cNvSpPr/>
          <p:nvPr/>
        </p:nvSpPr>
        <p:spPr>
          <a:xfrm>
            <a:off x="960120" y="1938528"/>
            <a:ext cx="1766621"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a present habit.</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 سَنَةٍ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year</a:t>
            </a:r>
            <a:endParaRPr lang="en-US" sz="1350" dirty="0"/>
          </a:p>
          <a:p>
            <a:pPr indent="0" marL="0">
              <a:buNone/>
            </a:pPr>
            <a:r>
              <a:rPr lang="en-US" sz="1100" i="1" dirty="0">
                <a:solidFill>
                  <a:srgbClr val="5A6472"/>
                </a:solidFill>
                <a:latin typeface="Calibri" pitchFamily="34" charset="0"/>
                <a:cs typeface="Amiri" pitchFamily="2" charset="-78"/>
              </a:rPr>
              <a:t>kul-la sa-na-tin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1" name="Shape 38"/>
          <p:cNvSpPr/>
          <p:nvPr/>
        </p:nvSpPr>
        <p:spPr>
          <a:xfrm>
            <a:off x="8604504" y="4279392"/>
            <a:ext cx="1766621"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8604504" y="4279392"/>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a present habit.</a:t>
            </a:r>
            <a:endParaRPr lang="en-US" sz="8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عَادَةً</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Tense signals in speech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present.</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الآنَ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now</a:t>
            </a:r>
            <a:endParaRPr lang="en-US" sz="1350" dirty="0"/>
          </a:p>
          <a:p>
            <a:pPr indent="0" marL="0">
              <a:buNone/>
            </a:pPr>
            <a:r>
              <a:rPr lang="en-US" sz="1100" i="1" dirty="0">
                <a:solidFill>
                  <a:srgbClr val="5A6472"/>
                </a:solidFill>
                <a:latin typeface="Calibri" pitchFamily="34" charset="0"/>
                <a:cs typeface="Amiri" pitchFamily="2" charset="-78"/>
              </a:rPr>
              <a:t>al-ʾā-na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المُسْتَقْبَلِ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العَامَ القَادِمَ</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year</a:t>
            </a:r>
            <a:endParaRPr lang="en-US" sz="1350" dirty="0"/>
          </a:p>
          <a:p>
            <a:pPr indent="0" marL="0">
              <a:buNone/>
            </a:pPr>
            <a:r>
              <a:rPr lang="en-US" sz="1100" i="1" dirty="0">
                <a:solidFill>
                  <a:srgbClr val="5A6472"/>
                </a:solidFill>
                <a:latin typeface="Calibri" pitchFamily="34" charset="0"/>
                <a:cs typeface="Amiri" pitchFamily="2" charset="-78"/>
              </a:rPr>
              <a:t>al-ʿā-ma al-qā-di-ma</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1" name="Shape 38"/>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قَرِيبًا</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soon</a:t>
            </a:r>
            <a:endParaRPr lang="en-US" sz="1350" dirty="0"/>
          </a:p>
          <a:p>
            <a:pPr indent="0" marL="0">
              <a:buNone/>
            </a:pPr>
            <a:r>
              <a:rPr lang="en-US" sz="1100" i="1" dirty="0">
                <a:solidFill>
                  <a:srgbClr val="5A6472"/>
                </a:solidFill>
                <a:latin typeface="Calibri" pitchFamily="34" charset="0"/>
                <a:cs typeface="Amiri" pitchFamily="2" charset="-78"/>
              </a:rPr>
              <a:t>qa-rī-ban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Qualifiers to catch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Not always.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أَحْيَانًا</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لَيْسَ دَائِمًا</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بَعْضِ العَائِلَاتِ</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families</a:t>
            </a:r>
            <a:endParaRPr lang="en-US" sz="1350" dirty="0"/>
          </a:p>
          <a:p>
            <a:pPr indent="0" marL="0">
              <a:buNone/>
            </a:pPr>
            <a:r>
              <a:rPr lang="en-US" sz="1100" i="1" dirty="0">
                <a:solidFill>
                  <a:srgbClr val="5A6472"/>
                </a:solidFill>
                <a:latin typeface="Calibri" pitchFamily="34" charset="0"/>
                <a:cs typeface="Amiri" pitchFamily="2" charset="-78"/>
              </a:rPr>
              <a:t>fī baʿ-ḍi al-ʿā-ʾi-lā-ti</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يَخْتَلِفُ مِنْ … إِلَى …</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differs from … to …</a:t>
            </a:r>
            <a:endParaRPr lang="en-US" sz="1350" dirty="0"/>
          </a:p>
          <a:p>
            <a:pPr indent="0" marL="0">
              <a:buNone/>
            </a:pPr>
            <a:r>
              <a:rPr lang="en-US" sz="1100" i="1" dirty="0">
                <a:solidFill>
                  <a:srgbClr val="5A6472"/>
                </a:solidFill>
                <a:latin typeface="Calibri" pitchFamily="34" charset="0"/>
                <a:cs typeface="Amiri" pitchFamily="2" charset="-78"/>
              </a:rPr>
              <a:t>yakh-ta-li-fu min … i-lā …</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Qualifiers to catch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despite</a:t>
            </a:r>
            <a:endParaRPr lang="en-US" sz="1350" dirty="0"/>
          </a:p>
          <a:p>
            <a:pPr indent="0" marL="0">
              <a:buNone/>
            </a:pPr>
            <a:r>
              <a:rPr lang="en-US" sz="1100" i="1" dirty="0">
                <a:solidFill>
                  <a:srgbClr val="5A6472"/>
                </a:solidFill>
                <a:latin typeface="Calibri" pitchFamily="34" charset="0"/>
                <a:cs typeface="Amiri" pitchFamily="2" charset="-78"/>
              </a:rPr>
              <a:t>ʿa-lā ar-ragh-mi min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25" name="Text 22"/>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an accusative noun.</a:t>
            </a:r>
            <a:endParaRPr lang="en-US" sz="1000" dirty="0"/>
          </a:p>
        </p:txBody>
      </p:sp>
      <p:sp>
        <p:nvSpPr>
          <p:cNvPr id="26" name="Shape 2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566928"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9" name="Text 2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30" name="Text 2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4" name="Text 3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35" name="Text 3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6" name="Text 3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Marks an opinion, not a fact.</a:t>
            </a:r>
            <a:endParaRPr lang="en-US" sz="10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FOCUS · PART 1 · HEAR THE TENSE IN THE VERB SHAPE (WEBSITE RULES 1–2)</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celebration — four times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شَكْلُ الفِعْلِ يُحَدِّدُ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7" name="Text 14"/>
          <p:cNvSpPr txBox="1"/>
          <p:nvPr/>
        </p:nvSpPr>
        <p:spPr>
          <a:xfrm>
            <a:off x="309067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shape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34516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suffix</a:t>
            </a:r>
            <a:endParaRPr lang="en-US" sz="1100" dirty="0"/>
          </a:p>
        </p:txBody>
      </p:sp>
      <p:sp>
        <p:nvSpPr>
          <p:cNvPr id="21" name="Text 18"/>
          <p:cNvSpPr txBox="1"/>
          <p:nvPr/>
        </p:nvSpPr>
        <p:spPr>
          <a:xfrm>
            <a:off x="3108960" y="2286000"/>
            <a:ext cx="60350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احْتَفَلْنَا</a:t>
            </a:r>
            <a:pPr rtl="1" algn="ctr" indent="0" marL="0">
              <a:buNone/>
            </a:pPr>
            <a:r>
              <a:rPr lang="ar-SA" altLang="en-US" sz="2100" b="1" dirty="0">
                <a:solidFill>
                  <a:srgbClr val="1B3B6F"/>
                </a:solidFill>
                <a:latin typeface="Amiri" pitchFamily="2" charset="-78"/>
                <a:cs typeface="Amiri" pitchFamily="2" charset="-78"/>
              </a:rPr>
              <a:t> فِي بَلَدِ أُسْرَتِي</a:t>
            </a:r>
            <a:endParaRPr lang="ar-SA" sz="2100" dirty="0"/>
          </a:p>
        </p:txBody>
      </p:sp>
      <p:sp>
        <p:nvSpPr>
          <p:cNvPr id="22" name="Text 19"/>
          <p:cNvSpPr txBox="1"/>
          <p:nvPr/>
        </p:nvSpPr>
        <p:spPr>
          <a:xfrm>
            <a:off x="3063240" y="2706624"/>
            <a:ext cx="6126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celebrated in my family’s country</a:t>
            </a:r>
            <a:endParaRPr lang="en-US" sz="950" dirty="0"/>
          </a:p>
        </p:txBody>
      </p:sp>
      <p:sp>
        <p:nvSpPr>
          <p:cNvPr id="23" name="Text 20"/>
          <p:cNvSpPr txBox="1"/>
          <p:nvPr/>
        </p:nvSpPr>
        <p:spPr>
          <a:xfrm>
            <a:off x="548640" y="2267712"/>
            <a:ext cx="2377440" cy="731520"/>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احْتَفَلْنَا</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34516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habit</a:t>
            </a:r>
            <a:endParaRPr lang="en-US" sz="1100" dirty="0"/>
          </a:p>
        </p:txBody>
      </p:sp>
      <p:sp>
        <p:nvSpPr>
          <p:cNvPr id="28" name="Text 25"/>
          <p:cNvSpPr txBox="1"/>
          <p:nvPr/>
        </p:nvSpPr>
        <p:spPr>
          <a:xfrm>
            <a:off x="3108960" y="3072384"/>
            <a:ext cx="6035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فِي الطُّفُولَةِ </a:t>
            </a:r>
            <a:pPr rtl="1" algn="ctr" indent="0" marL="0">
              <a:buNone/>
            </a:pPr>
            <a:r>
              <a:rPr lang="ar-SA" altLang="en-US" sz="2100" b="1" dirty="0">
                <a:solidFill>
                  <a:srgbClr val="1D5FBF"/>
                </a:solidFill>
                <a:latin typeface="Amiri" pitchFamily="2" charset="-78"/>
                <a:cs typeface="Amiri" pitchFamily="2" charset="-78"/>
              </a:rPr>
              <a:t>كُنَّا نَحْتَفِلُ</a:t>
            </a:r>
            <a:pPr rtl="1" algn="ctr" indent="0" marL="0">
              <a:buNone/>
            </a:pPr>
            <a:r>
              <a:rPr lang="ar-SA" altLang="en-US" sz="2100" b="1" dirty="0">
                <a:solidFill>
                  <a:srgbClr val="1B3B6F"/>
                </a:solidFill>
                <a:latin typeface="Amiri" pitchFamily="2" charset="-78"/>
                <a:cs typeface="Amiri" pitchFamily="2" charset="-78"/>
              </a:rPr>
              <a:t> بِالعِيدِ</a:t>
            </a:r>
            <a:endParaRPr lang="ar-SA" sz="2100" dirty="0"/>
          </a:p>
        </p:txBody>
      </p:sp>
      <p:sp>
        <p:nvSpPr>
          <p:cNvPr id="29" name="Text 26"/>
          <p:cNvSpPr txBox="1"/>
          <p:nvPr/>
        </p:nvSpPr>
        <p:spPr>
          <a:xfrm>
            <a:off x="3063240" y="3493008"/>
            <a:ext cx="6126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childhood we used to celebrate Eid</a:t>
            </a:r>
            <a:endParaRPr lang="en-US" sz="950" dirty="0"/>
          </a:p>
        </p:txBody>
      </p:sp>
      <p:sp>
        <p:nvSpPr>
          <p:cNvPr id="30" name="Text 27"/>
          <p:cNvSpPr txBox="1"/>
          <p:nvPr/>
        </p:nvSpPr>
        <p:spPr>
          <a:xfrm>
            <a:off x="548640" y="3054096"/>
            <a:ext cx="237744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كُنَّا نَحْتَفِلُ</a:t>
            </a:r>
            <a:endParaRPr lang="ar-SA" sz="22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34516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prefix</a:t>
            </a:r>
            <a:endParaRPr lang="en-US" sz="1100" dirty="0"/>
          </a:p>
        </p:txBody>
      </p:sp>
      <p:sp>
        <p:nvSpPr>
          <p:cNvPr id="35" name="Text 32"/>
          <p:cNvSpPr txBox="1"/>
          <p:nvPr/>
        </p:nvSpPr>
        <p:spPr>
          <a:xfrm>
            <a:off x="3108960" y="3858768"/>
            <a:ext cx="603504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نَحْتَفِلُ</a:t>
            </a:r>
            <a:pPr rtl="1" algn="ctr" indent="0" marL="0">
              <a:buNone/>
            </a:pPr>
            <a:r>
              <a:rPr lang="ar-SA" altLang="en-US" sz="2100" b="1" dirty="0">
                <a:solidFill>
                  <a:srgbClr val="1B3B6F"/>
                </a:solidFill>
                <a:latin typeface="Amiri" pitchFamily="2" charset="-78"/>
                <a:cs typeface="Amiri" pitchFamily="2" charset="-78"/>
              </a:rPr>
              <a:t> عَادَةً فِي المَرْكَزِ</a:t>
            </a:r>
            <a:endParaRPr lang="ar-SA" sz="2100" dirty="0"/>
          </a:p>
        </p:txBody>
      </p:sp>
      <p:sp>
        <p:nvSpPr>
          <p:cNvPr id="36" name="Text 33"/>
          <p:cNvSpPr txBox="1"/>
          <p:nvPr/>
        </p:nvSpPr>
        <p:spPr>
          <a:xfrm>
            <a:off x="3063240" y="4279392"/>
            <a:ext cx="6126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usually celebrate at the centre</a:t>
            </a:r>
            <a:endParaRPr lang="en-US" sz="950" dirty="0"/>
          </a:p>
        </p:txBody>
      </p:sp>
      <p:sp>
        <p:nvSpPr>
          <p:cNvPr id="37" name="Text 34"/>
          <p:cNvSpPr txBox="1"/>
          <p:nvPr/>
        </p:nvSpPr>
        <p:spPr>
          <a:xfrm>
            <a:off x="548640" y="3840480"/>
            <a:ext cx="237744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نَحْتَفِلُ</a:t>
            </a:r>
            <a:endParaRPr lang="ar-SA" sz="220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934516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sa-</a:t>
            </a:r>
            <a:endParaRPr lang="en-US" sz="1100" dirty="0"/>
          </a:p>
        </p:txBody>
      </p:sp>
      <p:sp>
        <p:nvSpPr>
          <p:cNvPr id="42" name="Text 39"/>
          <p:cNvSpPr txBox="1"/>
          <p:nvPr/>
        </p:nvSpPr>
        <p:spPr>
          <a:xfrm>
            <a:off x="3108960" y="4645152"/>
            <a:ext cx="6035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العَامَ القَادِمَ </a:t>
            </a:r>
            <a:pPr rtl="1" algn="ctr" indent="0" marL="0">
              <a:buNone/>
            </a:pPr>
            <a:r>
              <a:rPr lang="ar-SA" altLang="en-US" sz="2100" b="1" dirty="0">
                <a:solidFill>
                  <a:srgbClr val="1D5FBF"/>
                </a:solidFill>
                <a:latin typeface="Amiri" pitchFamily="2" charset="-78"/>
                <a:cs typeface="Amiri" pitchFamily="2" charset="-78"/>
              </a:rPr>
              <a:t>سَنُنَظِّمُ</a:t>
            </a:r>
            <a:pPr rtl="1" algn="ctr" indent="0" marL="0">
              <a:buNone/>
            </a:pPr>
            <a:r>
              <a:rPr lang="ar-SA" altLang="en-US" sz="2100" b="1" dirty="0">
                <a:solidFill>
                  <a:srgbClr val="1B3B6F"/>
                </a:solidFill>
                <a:latin typeface="Amiri" pitchFamily="2" charset="-78"/>
                <a:cs typeface="Amiri" pitchFamily="2" charset="-78"/>
              </a:rPr>
              <a:t> حَفْلًا</a:t>
            </a:r>
            <a:endParaRPr lang="ar-SA" sz="2100" dirty="0"/>
          </a:p>
        </p:txBody>
      </p:sp>
      <p:sp>
        <p:nvSpPr>
          <p:cNvPr id="43" name="Text 40"/>
          <p:cNvSpPr txBox="1"/>
          <p:nvPr/>
        </p:nvSpPr>
        <p:spPr>
          <a:xfrm>
            <a:off x="3063240" y="5065776"/>
            <a:ext cx="6126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next year we will organise a party</a:t>
            </a:r>
            <a:endParaRPr lang="en-US" sz="950" dirty="0"/>
          </a:p>
        </p:txBody>
      </p:sp>
      <p:sp>
        <p:nvSpPr>
          <p:cNvPr id="44" name="Text 41"/>
          <p:cNvSpPr txBox="1"/>
          <p:nvPr/>
        </p:nvSpPr>
        <p:spPr>
          <a:xfrm>
            <a:off x="548640" y="4626864"/>
            <a:ext cx="237744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سَنُنَظِّمُ</a:t>
            </a:r>
            <a:endParaRPr lang="ar-SA" sz="2200" dirty="0"/>
          </a:p>
        </p:txBody>
      </p:sp>
      <p:sp>
        <p:nvSpPr>
          <p:cNvPr id="45" name="Shape 42"/>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 is short but decisive — listen at the very start of the verb.</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2 · HEDGES AND SPEAKERS (WEBSITE RULES 3–4) · DEVELOP / STRETCH</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Some, not all — and who said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التَّحَفُّظُ وَالمُتَحَدِّثُ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HEDGE · CORE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 بَعْضِ العَائِلَاتِ</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فِي بَعْضِ العَائِلَاتِ تُوَزَّعُ العِيدِيَّةُ.</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families Eid money is given out.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Some — not all.</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HEDGE · DEVELOP</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لَيْسَ دَائِمًا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لَيْسَ دَائِمًا يَتَشَابَهُ الاحْتِفَالُ.</a:t>
            </a:r>
            <a:endParaRPr lang="ar-SA" sz="25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celebration is not always the same.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always — not never.</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SPEAKER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قَالَتْ نُورُ إِنَّهَا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cs typeface="Amiri" pitchFamily="2" charset="-78"/>
              </a:rPr>
              <a:t>قَالَتْ نُورُ إِنَّهَا تَحْتَفِظُ بِلُغَتِهَا.</a:t>
            </a:r>
            <a:endParaRPr lang="ar-SA" sz="24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Nūr said that she keeps her language.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Note A / B / both.</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hedge narrows the claim.</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cs typeface="Amiri" pitchFamily="2" charset="-78"/>
              </a:rPr>
              <a:t>فِي بَعْضِ العَائِلَاتِ</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cs typeface="Amiri" pitchFamily="2" charset="-78"/>
              </a:rPr>
              <a:t>فِي كُلِّ العَائِلَاتِ</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Hearing tense, attribution and qualification</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تَمْيِيزُ الزَّمَنِ وَالمُتَحَدِّثِ وَالتَّحَفُّظِ</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Tense from the verb shape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suffix = past · prefix = present · </a:t>
            </a:r>
            <a:pPr algn="l" indent="0" marL="0">
              <a:buNone/>
            </a:pPr>
            <a:r>
              <a:rPr lang="ar-SA" altLang="en-US" sz="1350" dirty="0">
                <a:solidFill>
                  <a:srgbClr val="5A6472"/>
                </a:solidFill>
                <a:latin typeface="Amiri" pitchFamily="2" charset="-78"/>
                <a:cs typeface="Amiri" pitchFamily="2" charset="-78"/>
              </a:rPr>
              <a:t>سَـ</a:t>
            </a:r>
            <a:pPr algn="l" indent="0" marL="0">
              <a:buNone/>
            </a:pPr>
            <a:r>
              <a:rPr lang="en-US" sz="1050" dirty="0">
                <a:solidFill>
                  <a:srgbClr val="5A6472"/>
                </a:solidFill>
                <a:latin typeface="Calibri" pitchFamily="34" charset="0"/>
                <a:cs typeface="Amiri" pitchFamily="2" charset="-78"/>
              </a:rPr>
              <a:t> = future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احْتَفَلْنَا   ·   نَحْتَفِلُ   ·   سَنَحْتَفِلُ</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Past habit versus single event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كَانَ</a:t>
            </a:r>
            <a:pPr algn="l" indent="0" marL="0">
              <a:buNone/>
            </a:pPr>
            <a:r>
              <a:rPr lang="en-US" sz="1050" dirty="0">
                <a:solidFill>
                  <a:srgbClr val="5A6472"/>
                </a:solidFill>
                <a:latin typeface="Calibri" pitchFamily="34" charset="0"/>
                <a:cs typeface="Amiri" pitchFamily="2" charset="-78"/>
              </a:rPr>
              <a:t> + present vs a single past verb</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كَانَ يَحْتَفِلُ كُلَّ سَنَةٍ   ·   احْتَفَلَ العَامَ المَاضِيَ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Qualified claims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أَحْيَانًا / لَيْسَ دَائِمًا / فِي بَعْضِ</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فِي بَعْضِ العَائِلَاتِ تُزَيَّنُ البُيُوتُ   ·   لَيْسَ دَائِمًا يَتَشَابَهُ الاحْتِفَالُ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Attribution in a dialogue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Speaker A / Speaker B / both</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قَالَتْ نُورُ إِنَّهَا تَحْتَفِظُ بِلُغَتِهَا   ·   قَالَ سَامِي إِنَّهُ يَتَكَيَّفُ بِسُرْعَةٍ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نَحْتَفِلُ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سَنَحْتَفِلُ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احْتَفَلْنَا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 يَحْتَفِلُ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used to celebrate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celebrated once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will celebrate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speaker says </a:t>
            </a:r>
            <a:pPr algn="l" indent="0" marL="0">
              <a:buNone/>
            </a:pPr>
            <a:r>
              <a:rPr lang="ar-SA" altLang="en-US" sz="1650" b="1" dirty="0">
                <a:solidFill>
                  <a:srgbClr val="1B3B6F"/>
                </a:solidFill>
                <a:latin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Which option is wrong?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families do this.</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families do this.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varies between families.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العَامَ القَادِمَ</a:t>
            </a:r>
            <a:pPr algn="l" indent="0" marL="0">
              <a:buNone/>
            </a:pPr>
            <a:r>
              <a:rPr lang="en-US" sz="1250" b="1" dirty="0">
                <a:solidFill>
                  <a:srgbClr val="1B3B6F"/>
                </a:solidFill>
                <a:latin typeface="Calibri" pitchFamily="34" charset="0"/>
                <a:cs typeface="Amiri" pitchFamily="2" charset="-78"/>
              </a:rPr>
              <a:t>. Which tense should follow?</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 with </a:t>
            </a:r>
            <a:pPr algn="l" indent="0" marL="0">
              <a:buNone/>
            </a:pPr>
            <a:r>
              <a:rPr lang="ar-SA" altLang="en-US" sz="1650" dirty="0">
                <a:solidFill>
                  <a:srgbClr val="1F2A37"/>
                </a:solidFill>
                <a:latin typeface="Amiri" pitchFamily="2" charset="-78"/>
                <a:cs typeface="Amiri" pitchFamily="2" charset="-78"/>
              </a:rPr>
              <a:t>سَـ</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 habit</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نَحْتَفِلُ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سَنَحْتَفِلُ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احْتَفَلْنَا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suffix with no prefix marks the past.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 يَحْتَفِلُ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used to celebrate</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celebrated once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will celebrate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is a past habit.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speaker says </a:t>
            </a:r>
            <a:pPr algn="l" indent="0" marL="0">
              <a:buNone/>
            </a:pPr>
            <a:r>
              <a:rPr lang="ar-SA" altLang="en-US" sz="1650" b="1" dirty="0">
                <a:solidFill>
                  <a:srgbClr val="1B3B6F"/>
                </a:solidFill>
                <a:latin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Which option is wrong?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 families do this.</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All families do this.</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varies between families.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rules out any claim about all families.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العَامَ القَادِمَ</a:t>
            </a:r>
            <a:pPr algn="l" indent="0" marL="0">
              <a:buNone/>
            </a:pPr>
            <a:r>
              <a:rPr lang="en-US" sz="1250" b="1" dirty="0">
                <a:solidFill>
                  <a:srgbClr val="1B3B6F"/>
                </a:solidFill>
                <a:latin typeface="Calibri" pitchFamily="34" charset="0"/>
                <a:cs typeface="Amiri" pitchFamily="2" charset="-78"/>
              </a:rPr>
              <a:t>. Which tense should follow?</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Future with </a:t>
            </a:r>
            <a:pPr algn="l" indent="0" marL="0">
              <a:buNone/>
            </a:pPr>
            <a:r>
              <a:rPr lang="ar-SA" altLang="en-US" sz="1650" b="1" dirty="0">
                <a:solidFill>
                  <a:srgbClr val="1F2A37"/>
                </a:solidFill>
                <a:latin typeface="Amiri" pitchFamily="2" charset="-78"/>
                <a:cs typeface="Amiri" pitchFamily="2" charset="-78"/>
              </a:rPr>
              <a:t>سَـ</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Present habit</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future time phrase requires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or </a:t>
            </a:r>
            <a:pPr algn="l" indent="0" marL="0">
              <a:buNone/>
            </a:pPr>
            <a:r>
              <a:rPr lang="ar-SA" altLang="en-US" sz="1350" dirty="0">
                <a:solidFill>
                  <a:srgbClr val="8A6D1E"/>
                </a:solidFill>
                <a:latin typeface="Amiri" pitchFamily="2" charset="-78"/>
                <a:cs typeface="Amiri" pitchFamily="2" charset="-78"/>
              </a:rPr>
              <a:t>سَوْفَ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annotate, then listen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Mark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algn="ctr" indent="0" marL="0">
              <a:buNone/>
            </a:pPr>
            <a:r>
              <a:rPr lang="en-US" sz="2800" b="1" dirty="0">
                <a:solidFill>
                  <a:srgbClr val="1B3B6F"/>
                </a:solidFill>
                <a:latin typeface="Calibri" pitchFamily="34" charset="0"/>
                <a:cs typeface="Amiri" pitchFamily="2" charset="-78"/>
              </a:rPr>
              <a:t>P · N · F</a:t>
            </a:r>
            <a:endParaRPr lang="en-US"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now or future?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Shape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cs typeface="Amiri" pitchFamily="2" charset="-78"/>
              </a:rPr>
              <a:t>كُنَّا نَحْتَفِلُ</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D6336C"/>
                </a:solidFill>
                <a:latin typeface="Amiri" pitchFamily="2" charset="-78"/>
                <a:cs typeface="Amiri" pitchFamily="2" charset="-78"/>
              </a:rPr>
              <a:t>نَحْتَفِلُ</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Used to vs now.</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Hedge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فِي بَعْضِ</a:t>
            </a:r>
            <a:pPr rtl="1" algn="ctr" indent="0" marL="0">
              <a:buNone/>
            </a:pPr>
            <a:r>
              <a:rPr lang="ar-SA" altLang="en-US" sz="2800" b="1" dirty="0">
                <a:solidFill>
                  <a:srgbClr val="1B3B6F"/>
                </a:solidFill>
                <a:latin typeface="Amiri" pitchFamily="2" charset="-78"/>
                <a:cs typeface="Amiri" pitchFamily="2" charset="-78"/>
              </a:rPr>
              <a:t> العَائِلَاتِ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Some, not all.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Reject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لَيْسَ دَائِمًا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Cross out “always”.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 FUTURE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HEDGE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فِي الطُّفُولَةِ </a:t>
            </a:r>
            <a:pPr rtl="1" algn="r" indent="0" marL="0">
              <a:lnSpc>
                <a:spcPct val="120000"/>
              </a:lnSpc>
              <a:buNone/>
            </a:pPr>
            <a:r>
              <a:rPr lang="ar-SA" altLang="en-US" sz="1400" b="1" dirty="0">
                <a:solidFill>
                  <a:srgbClr val="1D5FBF"/>
                </a:solidFill>
                <a:latin typeface="Amiri" pitchFamily="2" charset="-78"/>
                <a:cs typeface="Amiri" pitchFamily="2" charset="-78"/>
              </a:rPr>
              <a:t>كُنَّا نَحْتَفِلُ</a:t>
            </a:r>
            <a:pPr rtl="1" algn="r" indent="0" marL="0">
              <a:lnSpc>
                <a:spcPct val="120000"/>
              </a:lnSpc>
              <a:buNone/>
            </a:pPr>
            <a:r>
              <a:rPr lang="ar-SA" altLang="en-US" sz="1400" b="1" dirty="0">
                <a:solidFill>
                  <a:srgbClr val="1B3B6F"/>
                </a:solidFill>
                <a:latin typeface="Amiri" pitchFamily="2" charset="-78"/>
                <a:cs typeface="Amiri" pitchFamily="2" charset="-78"/>
              </a:rPr>
              <a:t> بِالعِيدِ فِي بَلَدِ أُسْرَتِي. أَمَّا الآنَ </a:t>
            </a:r>
            <a:pPr rtl="1" algn="r" indent="0" marL="0">
              <a:lnSpc>
                <a:spcPct val="120000"/>
              </a:lnSpc>
              <a:buNone/>
            </a:pPr>
            <a:r>
              <a:rPr lang="ar-SA" altLang="en-US" sz="1400" b="1" dirty="0">
                <a:solidFill>
                  <a:srgbClr val="D6336C"/>
                </a:solidFill>
                <a:latin typeface="Amiri" pitchFamily="2" charset="-78"/>
                <a:cs typeface="Amiri" pitchFamily="2" charset="-78"/>
              </a:rPr>
              <a:t>فَنَحْتَفِلُ</a:t>
            </a:r>
            <a:pPr rtl="1" algn="r" indent="0" marL="0">
              <a:lnSpc>
                <a:spcPct val="120000"/>
              </a:lnSpc>
              <a:buNone/>
            </a:pPr>
            <a:r>
              <a:rPr lang="ar-SA" altLang="en-US" sz="1400" b="1" dirty="0">
                <a:solidFill>
                  <a:srgbClr val="1B3B6F"/>
                </a:solidFill>
                <a:latin typeface="Amiri" pitchFamily="2" charset="-78"/>
                <a:cs typeface="Amiri" pitchFamily="2" charset="-78"/>
              </a:rPr>
              <a:t> عَادَةً فِي المَرْكَزِ الثَّقَافِيِّ. وَ</a:t>
            </a:r>
            <a:pPr rtl="1" algn="r" indent="0" marL="0">
              <a:lnSpc>
                <a:spcPct val="120000"/>
              </a:lnSpc>
              <a:buNone/>
            </a:pPr>
            <a:r>
              <a:rPr lang="ar-SA" altLang="en-US" sz="1400" b="1" dirty="0">
                <a:solidFill>
                  <a:srgbClr val="0E7C86"/>
                </a:solidFill>
                <a:latin typeface="Amiri" pitchFamily="2" charset="-78"/>
                <a:cs typeface="Amiri" pitchFamily="2" charset="-78"/>
              </a:rPr>
              <a:t>فِي بَعْضِ العَائِلَاتِ</a:t>
            </a:r>
            <a:pPr rtl="1" algn="r" indent="0" marL="0">
              <a:lnSpc>
                <a:spcPct val="120000"/>
              </a:lnSpc>
              <a:buNone/>
            </a:pPr>
            <a:r>
              <a:rPr lang="ar-SA" altLang="en-US" sz="1400" b="1" dirty="0">
                <a:solidFill>
                  <a:srgbClr val="1B3B6F"/>
                </a:solidFill>
                <a:latin typeface="Amiri" pitchFamily="2" charset="-78"/>
                <a:cs typeface="Amiri" pitchFamily="2" charset="-78"/>
              </a:rPr>
              <a:t> تُوَزَّعُ العِيدِيَّةُ عَلَى الأَطْفَالِ، وَلٰكِنْ </a:t>
            </a:r>
            <a:pPr rtl="1" algn="r" indent="0" marL="0">
              <a:lnSpc>
                <a:spcPct val="120000"/>
              </a:lnSpc>
              <a:buNone/>
            </a:pPr>
            <a:r>
              <a:rPr lang="ar-SA" altLang="en-US" sz="1400" b="1" dirty="0">
                <a:solidFill>
                  <a:srgbClr val="0E7C86"/>
                </a:solidFill>
                <a:latin typeface="Amiri" pitchFamily="2" charset="-78"/>
                <a:cs typeface="Amiri" pitchFamily="2" charset="-78"/>
              </a:rPr>
              <a:t>لَيْسَ دَائِمًا</a:t>
            </a:r>
            <a:pPr rtl="1" algn="r" indent="0" marL="0">
              <a:lnSpc>
                <a:spcPct val="120000"/>
              </a:lnSpc>
              <a:buNone/>
            </a:pPr>
            <a:r>
              <a:rPr lang="ar-SA" altLang="en-US" sz="1400" b="1" dirty="0">
                <a:solidFill>
                  <a:srgbClr val="1B3B6F"/>
                </a:solidFill>
                <a:latin typeface="Amiri" pitchFamily="2" charset="-78"/>
                <a:cs typeface="Amiri" pitchFamily="2" charset="-78"/>
              </a:rPr>
              <a:t>. وَالعَامَ القَادِمَ </a:t>
            </a:r>
            <a:pPr rtl="1" algn="r" indent="0" marL="0">
              <a:lnSpc>
                <a:spcPct val="120000"/>
              </a:lnSpc>
              <a:buNone/>
            </a:pPr>
            <a:r>
              <a:rPr lang="ar-SA" altLang="en-US" sz="1400" b="1" dirty="0">
                <a:solidFill>
                  <a:srgbClr val="1D5FBF"/>
                </a:solidFill>
                <a:latin typeface="Amiri" pitchFamily="2" charset="-78"/>
                <a:cs typeface="Amiri" pitchFamily="2" charset="-78"/>
              </a:rPr>
              <a:t>سَنُنَظِّمُ</a:t>
            </a:r>
            <a:pPr rtl="1" algn="r" indent="0" marL="0">
              <a:lnSpc>
                <a:spcPct val="120000"/>
              </a:lnSpc>
              <a:buNone/>
            </a:pPr>
            <a:r>
              <a:rPr lang="ar-SA" altLang="en-US" sz="1400" b="1" dirty="0">
                <a:solidFill>
                  <a:srgbClr val="1B3B6F"/>
                </a:solidFill>
                <a:latin typeface="Amiri" pitchFamily="2" charset="-78"/>
                <a:cs typeface="Amiri" pitchFamily="2" charset="-78"/>
              </a:rPr>
              <a:t> حَفْلًا أَكْبَرَ.</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childhood we used to celebrate Eid in my family’s country. Now we usually celebrate at the cultural centre. In some families Eid money is given to the children, but not always. And next year we will organise a bigger party.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كَانَ يَحْتَفِلُ كُلَّ سَنَةٍ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used to celebrate every year</a:t>
            </a:r>
            <a:endParaRPr lang="en-US" sz="1250" dirty="0"/>
          </a:p>
          <a:p>
            <a:pPr indent="0" marL="0">
              <a:buNone/>
            </a:pPr>
            <a:r>
              <a:rPr lang="en-US" sz="1050" i="1" dirty="0">
                <a:solidFill>
                  <a:srgbClr val="8A6D1E"/>
                </a:solidFill>
                <a:latin typeface="Calibri" pitchFamily="34" charset="0"/>
                <a:cs typeface="Amiri" pitchFamily="2" charset="-78"/>
              </a:rPr>
              <a:t>A past habit, not a single event.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بَعْضِ العَائِلَاتِ</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some families</a:t>
            </a:r>
            <a:endParaRPr lang="en-US" sz="1250" dirty="0"/>
          </a:p>
          <a:p>
            <a:pPr indent="0" marL="0">
              <a:buNone/>
            </a:pPr>
            <a:r>
              <a:rPr lang="en-US" sz="1050" i="1" dirty="0">
                <a:solidFill>
                  <a:srgbClr val="8A6D1E"/>
                </a:solidFill>
                <a:latin typeface="Calibri" pitchFamily="34" charset="0"/>
                <a:cs typeface="Amiri" pitchFamily="2" charset="-78"/>
              </a:rPr>
              <a:t>The claim is narrowed to some families.</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سَنَحْتَفِلُ العَامَ القَادِمَ</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will celebrate next year</a:t>
            </a:r>
            <a:endParaRPr lang="en-US" sz="1250" dirty="0"/>
          </a:p>
          <a:p>
            <a:pPr indent="0" marL="0">
              <a:buNone/>
            </a:pPr>
            <a:r>
              <a:rPr lang="en-US" sz="1050" i="1" dirty="0">
                <a:solidFill>
                  <a:srgbClr val="8A6D1E"/>
                </a:solidFill>
                <a:latin typeface="Calibri" pitchFamily="34" charset="0"/>
                <a:cs typeface="Amiri" pitchFamily="2" charset="-78"/>
              </a:rPr>
              <a:t>The سَـ is short but decisive.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احْتَفَلْنَا فِي بَلَدِ أُسْرَتِي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زُرْتُ الأَقَارِبَ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كَانَتْ جَدَّتِي تَحْكِي لَنَا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نَحْتَفِلُ عَادَةً فِي المَرْكَزِ</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تُزَيَّنُ البُيُوتُ كُلَّ سَنَةٍ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أَتَحَدَّثُ العَرَبِيَّةَ فِي البَيْتِ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سَأَزُورُ بَلَدَ أُسْرَتِي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نُنَظِّمُ حَفْلًا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سَنَدْعُو الجِيرَانَ قَرِيبًا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habit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احْتَفَلْنَا فِي بَلَدِ أُسْرَتِي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زُرْتُ الأَقَارِبَ</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كَانَتْ جَدَّتِي تَحْكِي لَنَا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habit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نَحْتَفِلُ عَادَةً فِي المَرْكَزِ</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تُزَيَّنُ البُيُوتُ كُلَّ سَنَةٍ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أَتَحَدَّثُ العَرَبِيَّةَ فِي البَيْتِ</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سَأَزُورُ بَلَدَ أُسْرَتِي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نُنَظِّمُ حَفْلًا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سَنَدْعُو الجِيرَانَ قَرِيبًا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“beliefs”?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التَّقَالِيدُ</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المُنَاسَبَةُ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المُعْتَقَدَاتُ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dialogue, what should you note while listening?</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closing line</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said each thing</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numbers</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speaker says </a:t>
            </a:r>
            <a:pPr algn="l" indent="0" marL="0">
              <a:buNone/>
            </a:pPr>
            <a:r>
              <a:rPr lang="ar-SA" altLang="en-US" sz="1650" b="1" dirty="0">
                <a:solidFill>
                  <a:srgbClr val="1B3B6F"/>
                </a:solidFill>
                <a:latin typeface="Amiri" pitchFamily="2" charset="-78"/>
                <a:cs typeface="Amiri" pitchFamily="2" charset="-78"/>
              </a:rPr>
              <a:t>فِي رَأْيِي</a:t>
            </a:r>
            <a:pPr algn="l" indent="0" marL="0">
              <a:buNone/>
            </a:pPr>
            <a:r>
              <a:rPr lang="en-US" sz="1250" b="1" dirty="0">
                <a:solidFill>
                  <a:srgbClr val="1B3B6F"/>
                </a:solidFill>
                <a:latin typeface="Calibri" pitchFamily="34" charset="0"/>
                <a:cs typeface="Amiri" pitchFamily="2" charset="-78"/>
              </a:rPr>
              <a:t>. What does that signal?</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opinion, not a fact</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quotation</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safest first step before the audio starts?</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every option.</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the transcript first.</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Predict the tense and information type each question wants.</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“beliefs”?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التَّقَالِيدُ</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المُنَاسَبَةُ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المُعْتَقَدَاتُ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المُعْتَقَدَاتُ</a:t>
            </a:r>
            <a:pPr algn="l" indent="0" marL="0">
              <a:buNone/>
            </a:pPr>
            <a:r>
              <a:rPr lang="en-US" sz="1050" i="1" dirty="0">
                <a:solidFill>
                  <a:srgbClr val="8A6D1E"/>
                </a:solidFill>
                <a:latin typeface="Calibri" pitchFamily="34" charset="0"/>
                <a:cs typeface="Amiri" pitchFamily="2" charset="-78"/>
              </a:rPr>
              <a:t> are beliefs.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dialogue, what should you note while listening?</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closing line</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Who said each thing</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numbers</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Attribution matters as much as the fact itself.</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speaker says </a:t>
            </a:r>
            <a:pPr algn="l" indent="0" marL="0">
              <a:buNone/>
            </a:pPr>
            <a:r>
              <a:rPr lang="ar-SA" altLang="en-US" sz="1650" b="1" dirty="0">
                <a:solidFill>
                  <a:srgbClr val="1B3B6F"/>
                </a:solidFill>
                <a:latin typeface="Amiri" pitchFamily="2" charset="-78"/>
                <a:cs typeface="Amiri" pitchFamily="2" charset="-78"/>
              </a:rPr>
              <a:t>فِي رَأْيِي</a:t>
            </a:r>
            <a:pPr algn="l" indent="0" marL="0">
              <a:buNone/>
            </a:pPr>
            <a:r>
              <a:rPr lang="en-US" sz="1250" b="1" dirty="0">
                <a:solidFill>
                  <a:srgbClr val="1B3B6F"/>
                </a:solidFill>
                <a:latin typeface="Calibri" pitchFamily="34" charset="0"/>
                <a:cs typeface="Amiri" pitchFamily="2" charset="-78"/>
              </a:rPr>
              <a:t>. What does that signal?</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opinion, not a fact</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quotation</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رَأْيِي</a:t>
            </a:r>
            <a:pPr algn="l" indent="0" marL="0">
              <a:buNone/>
            </a:pPr>
            <a:r>
              <a:rPr lang="en-US" sz="1050" i="1" dirty="0">
                <a:solidFill>
                  <a:srgbClr val="8A6D1E"/>
                </a:solidFill>
                <a:latin typeface="Calibri" pitchFamily="34" charset="0"/>
                <a:cs typeface="Amiri" pitchFamily="2" charset="-78"/>
              </a:rPr>
              <a:t> marks a personal view.</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safest first step before the audio starts?</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every option.</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 the transcript first.</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Predict the tense and information type each question wants.</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Prediction tells you exactly what to listen for.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كُلُّ العَائِلَاتِ تُوَزِّعُ العِيدِيَّةَ.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Some or all?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الطُّفُولَةِ يَحْتَفِلُ بِالعِيدِ هُنَاكَ.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Used to → kāna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قَالَ سَامِي إِنَّهُ كَانَ يَتَحَدَّثُ العَرَبِيَّةَ فِي البَيْتِ فَقَطْ.</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said it — Nūr or Sami?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كُلُّ العَائِلَاتِ تُوَزِّعُ العِيدِيَّةَ.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بَعْضِ العَائِلَاتِ تُوَزَّعُ العِيدِيَّةُ.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speaker said some families, not all.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الطُّفُولَةِ يَحْتَفِلُ بِالعِيدِ هُنَاكَ.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الطُّفُولَةِ كَانَ يَحْتَفِلُ بِالعِيدِ هُنَاكَ.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Used to = kāna + present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قَالَ سَامِي إِنَّهُ كَانَ يَتَحَدَّثُ العَرَبِيَّةَ فِي البَيْتِ فَقَطْ.</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قَالَتْ نُورُ إِنَّهَا كَانَتْ تَتَحَدَّثُ العَرَبِيَّةَ فِي البَيْتِ فَقَطْ.</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Nūr said this, not Sami.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an identity across three tenses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used to happen in childhood?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celebrated Eid in the family's country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stayed at home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travelled every month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moved house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cancelled the celebration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visited relatives after a long absence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they usually celebrate now?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grandmother's house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Abroad every year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cultural centre with the community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Eid money custom described?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happens in some families, but not always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happens in every family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never happens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the neighbours be invited next year?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reduce the cost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they can get to know the traditions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the hall is small</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Mark P / N / F first.</a:t>
            </a:r>
            <a:endParaRPr lang="en-US" sz="1250" dirty="0"/>
          </a:p>
          <a:p>
            <a:pPr algn="l" indent="0" marL="0">
              <a:buNone/>
            </a:pPr>
            <a:r>
              <a:rPr lang="en-US" sz="1250" dirty="0">
                <a:solidFill>
                  <a:srgbClr val="1E6B52"/>
                </a:solidFill>
                <a:latin typeface="Calibri" pitchFamily="34" charset="0"/>
                <a:cs typeface="Amiri" pitchFamily="2" charset="-78"/>
              </a:rPr>
              <a:t>Core: questions 1, 2 and 3.</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فِي الطُّفُولَةِ كُنَّا نَحْتَفِلُ بِالعِيدِ فِي بَلَدِ أُسْرَتِي، وَكَانَتْ جَدَّتِي تُعِدُّ الحَلْوَى بِنَفْسِهَا.</a:t>
            </a:r>
            <a:endParaRPr lang="ar-SA" sz="18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childhood we used to celebrate Eid in my family’s country, and my grandmother used to make the sweets herself.</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العَامِ المَاضِي زُرْنَا الأَقَارِبَ هُنَاكَ بَعْدَ غِيَابٍ طَوِيلٍ.</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 we visited our relatives there after a long absence.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أَمَّا الآنَ فَنَحْتَفِلُ عَادَةً فِي المَرْكَزِ الثَّقَافِيِّ مَعَ الجَالِيَةِ، وَتُزَيَّنُ القَاعَةُ وَتُتَبَادَلُ التَّهَانِي.</a:t>
            </a:r>
            <a:endParaRPr lang="ar-SA" sz="16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 we usually celebrate at the cultural centre with the community; the hall is decorated and greetings are exchanged.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وَفِي بَعْضِ العَائِلَاتِ تُوَزَّعُ العِيدِيَّةُ عَلَى الأَطْفَالِ، وَلٰكِنْ لَيْسَ دَائِمًا؛ فَالعَادَاتُ تَخْتَلِفُ. فِي رَأْيِي الاِنْتِمَاءُ لَا يَعْنِي مَكَانًا وَاحِدًا.</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some families Eid money is given to the children, but not always — customs differ. In my opinion, belonging does not mean one place.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وَالعَامَ القَادِمَ سَنُنَظِّمُ حَفْلًا أَكْبَرَ، وَسَنَدْعُو الجِيرَانَ لِكَيْ يَتَعَرَّفُوا عَلَى تَقَالِيدِنَا.</a:t>
            </a:r>
            <a:endParaRPr lang="ar-SA" sz="18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year we will organise a bigger party, and we will invite the neighbours so they get to know our traditions.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used to happen in childhood?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celebrated Eid in the family's country</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stayed at home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travelled every month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كُنَّا نَحْتَفِلُ بِالعِيدِ فِي بَلَدِ أُسْرَتِي.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moved house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cancelled the celebration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visited relatives after a long absence</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زُرْنَا الأَقَارِبَ هُنَاكَ بَعْدَ غِيَابٍ طَوِيلٍ.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they usually celebrate now?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grandmother's house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Abroad every year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At the cultural centre with the community</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 الآنَ فَنَحْتَفِلُ عَادَةً فِي المَرْكَزِ الثَّقَافِيِّ.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Eid money custom described?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happens in some families, but not always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happens in every family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never happens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بَعْضِ العَائِلَاتِ تُوَزَّعُ العِيدِيَّةُ … وَلٰكِنْ لَيْسَ دَائِمًا.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the neighbours be invited next year?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reduce the cost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they can get to know the traditions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the hall is small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سَنَدْعُو الجِيرَانَ لِكَيْ يَتَعَرَّفُوا عَلَى تَقَالِيدِنَا.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Mark P / N / F first.</a:t>
            </a:r>
            <a:endParaRPr lang="en-US" sz="1250" dirty="0"/>
          </a:p>
          <a:p>
            <a:pPr algn="l" indent="0" marL="0">
              <a:buNone/>
            </a:pPr>
            <a:r>
              <a:rPr lang="en-US" sz="1250" dirty="0">
                <a:solidFill>
                  <a:srgbClr val="1E6B52"/>
                </a:solidFill>
                <a:latin typeface="Calibri" pitchFamily="34" charset="0"/>
                <a:cs typeface="Amiri" pitchFamily="2" charset="-78"/>
              </a:rPr>
              <a:t>Core: questions 1, 2 and 3.</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report what you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كَانَ يَفْعَلُ المُتَحَدِّثُ فِي الطُّفُولَةِ؟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يَفْعَلُ الآنَ عَادَةً؟ وَهَلْ هُنَاكَ تَحَفُّظٌ فِي كَلَامِهِ؟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خُطَّتُهُ لِلْعَامِ القَادِمِ؟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2" charset="-78"/>
                <a:cs typeface="Amiri" pitchFamily="2" charset="-78"/>
              </a:rPr>
              <a:t>فِي الطُّفُولَةِ كَانَ ___ ، وَكَانَتْ جَدَّتُهُ ___ .</a:t>
            </a:r>
            <a:endParaRPr lang="ar-SA" sz="14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الآنَ يَحْتَفِلُ عَادَةً ___ ، وَقَالَ: فِي بَعْضِ ___ .</a:t>
            </a:r>
            <a:endParaRPr lang="ar-SA" sz="13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العَامَ القَادِمَ سَـ ___ لِكَيْ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كَانَ يَفْعَلُ فِي الطُّفُولَةِ؟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he use to do in childhood?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كَانَ يَحْتَفِلُ بِالعِيدِ فِي بَلَدِ أُسْرَتِهِ، وَكَانَتْ جَدَّتُهُ تُعِدُّ الحَلْوَى.</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He used to celebrate Eid in his family’s country, and his grandmother used to make the sweets.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Sort ten verbs from the text into past, present and future.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past, two present, two future sentences about the speaker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the questions and justify two answers from the verb form.</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third-person summary with كَانَ + present and one reported hedge.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Report one qualified claim exactly, without widening it into a universal statement.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past habit · present custom · exact hedge · future plan.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كَانَتْ جَدَّتُهُ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grandmother used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تُزَيَّنُ ______ ، وَتُتَبَادَلُ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decorated and … are exchanged.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وَقَالَ إِنَّهُ فِي بَعْضِ العَائِلَاتِ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said that in some families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 لَيْسَ دَائِمًا،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not always,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الطُّفُولَةِ كَانَ يَحْتَفِلُ بِـ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childhood he used to celebrate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العَامِ المَاضِي زَارَ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year he visited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الآنَ فَيَحْتَفِلُ عَادَةً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he usually celebrates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العَامَ القَادِمَ سَيُنَظِّمُ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year he will organise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كَانَ يَحْتَفِلُ  ·  كَانَتْ تُعِدُّ  ·  زَارَ  ·  عَادَةً  ·  يَحْتَفِلُ  ·  تُزَيَّنُ  ·  تُتَبَادَلُ  ·  فِي بَعْضِ العَائِلَاتِ  ·  لَيْسَ دَائِمًا  ·  أَحْيَانًا  ·  سَيُنَظِّمُ  ·  سَيَدْعُو</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seventy words summarising the listening text. Report what the speaker used to do, what they do now, how they qualified one claim, and what they will do next year.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plus present construction for the past habit.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present-tense verbs for current customs.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reported qualification such as </a:t>
            </a:r>
            <a:pPr algn="l" indent="0" marL="0">
              <a:buNone/>
            </a:pPr>
            <a:r>
              <a:rPr lang="ar-SA" altLang="en-US" sz="1550" dirty="0">
                <a:solidFill>
                  <a:srgbClr val="1F2A37"/>
                </a:solidFill>
                <a:latin typeface="Amiri" pitchFamily="2" charset="-78"/>
                <a:cs typeface="Amiri" pitchFamily="2" charset="-78"/>
              </a:rPr>
              <a:t>فِي بَعْضِ العَائِلَاتِ</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لَيْسَ دَائِمًا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future verb with </a:t>
            </a:r>
            <a:pPr algn="l" indent="0" marL="0">
              <a:buNone/>
            </a:pPr>
            <a:r>
              <a:rPr lang="ar-SA" altLang="en-US" sz="1550" dirty="0">
                <a:solidFill>
                  <a:srgbClr val="1F2A37"/>
                </a:solidFill>
                <a:latin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سَوْفَ</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غِيَابٍ طَوِيلٍ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a long absence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تُعِدُّ الحَلْوَى بِنَفْسِهَا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made the sweets herself</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 العَادَاتِ تَخْتَلِفُ</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customs differ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الاِنْتِمَاءُ لَا يَعْنِي مَكَانًا وَاحِدًا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belonging does not mean one place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لِكَيْ يَتَعَرَّفُوا عَلَى تَقَالِيدِهِ</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they get to know his traditions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الطُّفُولَةِ كَانَ المُتَحَدِّثُ يَحْتَفِلُ بِالعِيدِ فِي بَلَدِ أُسْرَتِهِ، وَكَانَتْ جَدَّتُهُ تُعِدُّ الحَلْوَى بِنَفْسِهَا. وَفِي العَامِ المَاضِي زَارَ الأَقَارِبَ هُنَاكَ. أَمَّا الآنَ فَيَحْتَفِلُ عَادَةً فِي المَرْكَزِ الثَّقَافِيِّ، وَتُزَيَّنُ القَاعَةُ وَتُتَبَادَلُ التَّهَانِي. وَقَالَ إِنَّ العِيدِيَّةَ تُوَزَّعُ فِي بَعْضِ العَائِلَاتِ وَلَيْسَ دَائِمًا، لِأَنَّ العَادَاتِ تَخْتَلِفُ. وَفِي العَامِ القَادِمِ سَيُنَظِّمُ حَفْلًا أَكْبَرَ، وَسَيَدْعُو الجِيرَانَ لِكَيْ يَتَعَرَّفُوا عَلَى تَقَالِيدِهِ.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childhood the speaker used to celebrate Eid in his family’s country, and his grandmother used to make the sweets herself. Last year he visited his relatives there. Now he usually celebrates at the cultural centre; the hall is decorated and greetings are exchanged. He said that Eid money is given out in some families, but not always, because customs differ. Next year he will organise a bigger party and invite the neighbours so they get to know his traditions.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 present (twice)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present habit with عَادَةً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hedge reported exactly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future verbs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marked every question P / N / F before listening.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took the tense from the verb shape, not the topic.</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t>
            </a:r>
            <a:pPr algn="l" indent="0" marL="0">
              <a:buNone/>
            </a:pPr>
            <a:r>
              <a:rPr lang="ar-SA" altLang="en-US" sz="1700" dirty="0">
                <a:solidFill>
                  <a:srgbClr val="1F2A37"/>
                </a:solidFill>
                <a:latin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 present for “used to”.</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switched “we” to “he”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reported the hedge exactly, without widening it.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a past habit?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يَحْتَفِلُ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احْتَفَلَ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سَيَحْتَفِلُ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لَيْسَ دَائِمًا</a:t>
            </a:r>
            <a:pPr algn="l" indent="0" marL="0">
              <a:buNone/>
            </a:pPr>
            <a:r>
              <a:rPr lang="en-US" sz="1250" b="1" dirty="0">
                <a:solidFill>
                  <a:srgbClr val="1B3B6F"/>
                </a:solidFill>
                <a:latin typeface="Calibri" pitchFamily="34" charset="0"/>
                <a:cs typeface="Amiri" pitchFamily="2" charset="-78"/>
              </a:rPr>
              <a:t>. Which option is ruled out?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people do this.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Everyone always does this.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varies.</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العَامَ القَادِمَ</a:t>
            </a:r>
            <a:pPr algn="l" indent="0" marL="0">
              <a:buNone/>
            </a:pPr>
            <a:r>
              <a:rPr lang="en-US" sz="1250" b="1" dirty="0">
                <a:solidFill>
                  <a:srgbClr val="1B3B6F"/>
                </a:solidFill>
                <a:latin typeface="Calibri" pitchFamily="34" charset="0"/>
                <a:cs typeface="Amiri" pitchFamily="2" charset="-78"/>
              </a:rPr>
              <a:t>. Which form should follow?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سَنُنَظِّمُ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نَظَّمْنَا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كُنَّا نُنَظِّمُ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a past habit?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كَانَ يَحْتَفِلُ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احْتَفَلَ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سَيَحْتَفِلُ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is a past habit.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لَيْسَ دَائِمًا</a:t>
            </a:r>
            <a:pPr algn="l" indent="0" marL="0">
              <a:buNone/>
            </a:pPr>
            <a:r>
              <a:rPr lang="en-US" sz="1250" b="1" dirty="0">
                <a:solidFill>
                  <a:srgbClr val="1B3B6F"/>
                </a:solidFill>
                <a:latin typeface="Calibri" pitchFamily="34" charset="0"/>
                <a:cs typeface="Amiri" pitchFamily="2" charset="-78"/>
              </a:rPr>
              <a:t>. Which option is ruled out?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 people do this.</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Everyone always does this.</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varies.</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qualifier rules out the universal claim.</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العَامَ القَادِمَ</a:t>
            </a:r>
            <a:pPr algn="l" indent="0" marL="0">
              <a:buNone/>
            </a:pPr>
            <a:r>
              <a:rPr lang="en-US" sz="1250" b="1" dirty="0">
                <a:solidFill>
                  <a:srgbClr val="1B3B6F"/>
                </a:solidFill>
                <a:latin typeface="Calibri" pitchFamily="34" charset="0"/>
                <a:cs typeface="Amiri" pitchFamily="2" charset="-78"/>
              </a:rPr>
              <a:t>. Which form should follow?</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سَنُنَظِّمُ</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نَظَّمْنَا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كُنَّا نُنَظِّمُ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future time phrase requires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the transcript, annotated for tense and attribution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اِقْرَأِ الحِوَارَ وَحَدِّدْ زَمَنَ كُلِّ فِعْلٍ وَمَنْ قَالَهُ. نُورُ: فِي الطُّفُولَةِ كُنْتُ أَتَحَدَّثُ العَرَبِيَّةَ فِي البَيْتِ فَقَطْ، وَالآنَ أَدْرُسُهَا فِي المَدْرَسَةِ أَيْضًا. سَامِي: أَمَّا أَنَا فَقَدْ تَعَلَّمْتُهَا مُتَأَخِّرًا، وَلٰكِنَّنِي تَكَيَّفْتُ بِسُرْعَةٍ. نُورُ: أَحْتَفِظُ بِلُغَتِي لِأَنَّهَا تَرْبِطُنِي بِجُذُورِي. سَامِي: وَأَنَا أَعْتَزُّ بِهَا أَيْضًا، وَفِي بَعْضِ الأَحْيَانِ أَخْلِطُ بَيْنَ اللُّغَتَيْنِ. نُورُ: هٰذَا طَبِيعِيٌّ، وَلَيْسَ دَائِمًا مُشْكِلَةً. سَامِي: فِي العَامِ القَادِمِ سَأَزُورُ بَلَدَ أُسْرَتِي، وَأَطْمَحُ إِلَى أَنْ أُتْقِنَ الفُصْحَى.</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تُعِدُّ</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prepares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الحَلْوَى</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sweets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بَعْدَ غِيَابٍ طَوِيلٍ</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a long absence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القَاعَةُ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hall</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التَّهَانِي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greetings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العِيدِيَّةُ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Eid money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تُوَزَّعُ</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distributed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يَعْنِي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does not mean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حَفْلًا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party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تَقَالِيدِنَا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traditions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spoke Arabic only at home in childhood?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learned Arabic late?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takes pride in the language?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 only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only</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Nūr describe mixing the languages?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a problem</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Natural, and not always a problem</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Impossible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does Sami use for his plan?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 with </a:t>
            </a:r>
            <a:pPr algn="l" indent="0" marL="0">
              <a:buNone/>
            </a:pPr>
            <a:r>
              <a:rPr lang="ar-SA" altLang="en-US" sz="1650" dirty="0">
                <a:solidFill>
                  <a:srgbClr val="1F2A37"/>
                </a:solidFill>
                <a:latin typeface="Amiri" pitchFamily="2" charset="-78"/>
                <a:cs typeface="Amiri" pitchFamily="2" charset="-78"/>
              </a:rPr>
              <a:t>سَـ</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cs typeface="Amiri" pitchFamily="2" charset="-78"/>
              </a:rPr>
              <a:t>أَطْمَحُ إِلَى</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 habit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spoke Arabic only at home in childhood?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Nūr</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نُورُ: فِي الطُّفُولَةِ كُنْتُ أَتَحَدَّثُ العَرَبِيَّةَ فِي البَيْتِ فَقَطْ.</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learned Arabic late?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سَامِي: أَمَّا أَنَا فَقَدْ تَعَلَّمْتُهَا مُتَأَخِّرًا.</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takes pride in the language?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 only</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 only</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Nūr keeps it because of her roots; Sami says </a:t>
            </a:r>
            <a:pPr algn="l" indent="0" marL="0">
              <a:buNone/>
            </a:pPr>
            <a:r>
              <a:rPr lang="ar-SA" altLang="en-US" sz="1350" dirty="0">
                <a:solidFill>
                  <a:srgbClr val="8A6D1E"/>
                </a:solidFill>
                <a:latin typeface="Amiri" pitchFamily="2" charset="-78"/>
                <a:cs typeface="Amiri" pitchFamily="2" charset="-78"/>
              </a:rPr>
              <a:t>وَأَنَا أَعْتَزُّ بِهَا أَيْضًا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Nūr describe mixing the languages?</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a problem</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Natural, and not always a problem</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Impossible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هٰذَا طَبِيعِيٌّ، وَلَيْسَ دَائِمًا مُشْكِلَةً.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does Sami use for his plan?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Future with </a:t>
            </a:r>
            <a:pPr algn="l" indent="0" marL="0">
              <a:buNone/>
            </a:pPr>
            <a:r>
              <a:rPr lang="ar-SA" altLang="en-US" sz="1650" b="1" dirty="0">
                <a:solidFill>
                  <a:srgbClr val="1F2A37"/>
                </a:solidFill>
                <a:latin typeface="Amiri" pitchFamily="2" charset="-78"/>
                <a:cs typeface="Amiri" pitchFamily="2" charset="-78"/>
              </a:rPr>
              <a:t>سَـ</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cs typeface="Amiri" pitchFamily="2" charset="-78"/>
              </a:rPr>
              <a:t>أَطْمَحُ إِلَى</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Present habit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سَأَزُورُ بَلَدَ أُسْرَتِي، وَأَطْمَحُ إِلَى أَنْ أُتْقِنَ الفُصْحَى.</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Listening Mission — Tense, Speaker and Hedge</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نَزُورُ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زُرْنَا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سَنَزُورُ</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past habit?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تُعِدُّ الحَلْوَى</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أَعَدَّتِ الحَلْوَى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سَتُعِدُّ الحَلْوَى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future?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نَظَّمْنَا حَفْلًا</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نُنَظِّمُ حَفْلًا عَادَةً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سَنُنَظِّمُ حَفْلًا</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Which option is wrong?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families do this.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varies.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family does this.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“values”?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القِيَمُ</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المُنَاسَبَةُ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الجَالِيَةُ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“beliefs”?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التَّقَالِيدُ</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المُعْتَقَدَاتُ</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الوَطَنُ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past?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نَزُورُ</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زُرْنَا</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سَنَزُورُ</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suffix with no prefix marks the past.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past habit?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تُعِدُّ الحَلْوَى</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أَعَدَّتِ الحَلْوَى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سَتُعِدُّ الحَلْوَى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future?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نَظَّمْنَا حَفْلًا</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نُنَظِّمُ حَفْلًا عَادَةً</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سَنُنَظِّمُ حَفْلًا</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marks the future.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Which option is wrong?</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 families do this.</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varies.</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 family does this.</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rules out a universal claim.</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“values”?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القِيَمُ</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المُنَاسَبَةُ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الجَالِيَةُ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القِيَمُ</a:t>
            </a:r>
            <a:pPr algn="l" indent="0" marL="0">
              <a:buNone/>
            </a:pPr>
            <a:r>
              <a:rPr lang="en-US" sz="1050" i="1" dirty="0">
                <a:solidFill>
                  <a:srgbClr val="8A6D1E"/>
                </a:solidFill>
                <a:latin typeface="Calibri" pitchFamily="34" charset="0"/>
                <a:cs typeface="Amiri" pitchFamily="2" charset="-78"/>
              </a:rPr>
              <a:t> are values.</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“beliefs”?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التَّقَالِيدُ</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المُعْتَقَدَاتُ</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الوَطَنُ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المُعْتَقَدَاتُ</a:t>
            </a:r>
            <a:pPr algn="l" indent="0" marL="0">
              <a:buNone/>
            </a:pPr>
            <a:r>
              <a:rPr lang="en-US" sz="1050" i="1" dirty="0">
                <a:solidFill>
                  <a:srgbClr val="8A6D1E"/>
                </a:solidFill>
                <a:latin typeface="Calibri" pitchFamily="34" charset="0"/>
                <a:cs typeface="Amiri" pitchFamily="2" charset="-78"/>
              </a:rPr>
              <a:t> are beliefs.</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D6-L11 · D6 Consolidation — Complete Review and Speaking Preparation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الطَّلَاقَةُ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دَعْنِي أُفَكِّرُ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let me think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عَفْوًا، أَقْصِدُ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sorry, I mean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عَلَى حَدِّ عِلْمِي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 far as I know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أُعَمِّمُ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do not generalise</a:t>
            </a:r>
            <a:pPr indent="0" marL="0">
              <a:buNone/>
            </a:pPr>
            <a:r>
              <a:rPr lang="en-US" sz="1000" i="1" dirty="0">
                <a:solidFill>
                  <a:srgbClr val="5A6472"/>
                </a:solidFill>
                <a:latin typeface="Calibri" pitchFamily="34" charset="0"/>
                <a:cs typeface="Amiri" pitchFamily="2" charset="-78"/>
              </a:rPr>
              <a:t>  يُعَمِّمُ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 30-second answer: “How does your family celebrate Eid?” — one past verb, one present verb and one hedge.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فِي الطُّفُولَةِ كُنَّا … · الآنَ نَحْتَفِلُ … · وَفِي بَعْضِ العَائِلَاتِ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Sort the ten transcript verbs into P / N / F; learn the five speaking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50–60-word third-person summary of the listening.</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 70-word summary that reports the hedge exactly.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D6-L11 · D6 Consolidation — Complete Review and Speaking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تَرْسِيخُ الوَحْدَةِ — مُرَاجَعَةٌ شَامِلَةٌ وَإِعْدَادُ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mark P / N / F first — the verb shape gives the tense — some is not all, not always is not never — and note who said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D6-L10 · Listening — Culture, Celebration and Identity Texts</dc:title>
  <dc:subject>PptxGenJS Presentation</dc:subject>
  <dc:creator>Al Madina Online School · Arabic Department</dc:creator>
  <cp:lastModifiedBy>Al Madina Online School · Arabic Department</cp:lastModifiedBy>
  <cp:revision>1</cp:revision>
  <dcterms:created xsi:type="dcterms:W3CDTF">2026-10-11T06:41:12Z</dcterms:created>
  <dcterms:modified xsi:type="dcterms:W3CDTF">2026-10-11T06:41:12Z</dcterms:modified>
</cp:coreProperties>
</file>