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D6-L09. The website lesson “Writing — Countries, Culture and Identity (Paper 4 Extended Writing)”: vocabulary, grammar rules and quiz, patterns, common mistakes, sorter, listening, reading, speaking prompts and model, writing task and model, differentiation, final check and the lesson mission. Picture match: website visual game “Writing — Countries, Culture and Identity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three-paragraph frame — past celebration · present · future (70–90 words), one cultural verb with its preposition. Develop: 110–130 words with a passive and a formal connector. Stretch: the website task (130–140 words) with all six structures and a supported opinion — then the 90-second self-mark.
• Website key message: Range = variety of STRUCTURE, not long words. Accuracy: ONE cultural verb with the right preposition is worth more than three used carelessly.
• Identity is personal: any celebration or family tradition works, and a fictional family is always acceptable. This is the D6 writing showcase — keep the best draft for the D6-L12 assessment.
• TEACHER-WRITTEN ITEMS: English added to the patterns and speaking model (its last line smoothed); the key case-ending quiz distractors are kept on purpose;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D6-L08. Questions 4–5 retrieve D6-L08 (يُشِيرُ إِلَى) and D6-L07 (لَنْ + subjunctive).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Range = variety of structure, not long words. Plan where each structure goes, then check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تجربہ، نظریہ، انکار are shared. CAREFUL: Urdu انکار = saying no; Arabic لَا يُمْكِنُ إِنْكَارُ أَنَّ = “it cannot be denied that”. Urdu قیمت = price; Arabic القِيمَةُ الثَّقَافِيَّةُ = cultural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(1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Writing about identity (website vocabulary (2 of 2)). Hear → Say → See → Use. Transliteration is printed for Core students (cover it for Develop/Stretch).
Writing about identity: the content words. أَعْتَزُّ بِـ and أَنْتَمِي إِلَى keep their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(1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Opinion structures (website vocabulary (2 of 2)). Hear → Say → See → Use. Transliteration is printed for Core students (cover it for Develop/Stretch).
Opinion structures: أَنَّ + noun in -a (لَا يُمْكِنُ إِنْكَارُ أَنَّ اللُّغَةَ …) · أَنْ + verb in -a (مِنَ المُهِمِّ أَنْ نَحْتَفِظَ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(1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mark scheme (website vocabulary (2 of 2)). Hear → Say → See → Use. Transliteration is printed for Core students (cover it for Develop/Stretch).
The mark scheme: the three criteria (Task Completion · Range · Accuracy) and the four things to check in your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“Three tenses, signalled” (past experience → present habit → future aspiration; each section carries its own time phrase) and the website listening (a student plans each paragraph, adds an opinion, then counts the words and checks every suffix and preposition).
Website mistake: فِي الطُّفُولَةِ نَحْتَفِلُ ✗ → احْتَفَلْنَا.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“One cultural verb, correctly governed” (يَحْتَفِلُ بِـ · يَنْتَمِي إِلَى · يَتَمَسَّكُ بِـ · يَعْتَادُ عَلَى — choose one and get its preposition right), “An opinion with a supported claim” (أَنَّ makes the following noun accusative; follow the claim with a reason) and “A passive and a formal connector” (passive subject nominative; عَلَى الرَّغْمِ مِنْ + genitive).
Website teaching point: “Mark your own draft in ninety seconds: count the past verbs, check each suffix, check the preposition on every cultural verb, confirm the passive subject is nominative,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text, six structures. Plan where each will appear before you write, then check them one at a time afterwards.”
• Three tenses, signalled: Each section carries its own time phrase, and the verbs follow it.
• One cultural verb, correctly governed: Choose one and get its preposition right; that is worth more than using three carelessly.
• An opinion with a supported claim: أَنَّ makes the following noun accusative. Follow the claim with a reason.
• A passive and a formal connector: The passive subject is nominative; عَلَى الرَّغْمِ مِنْ takes a genitive noun.
Website common error: Using three cultural verbs with the wrong prepositions instead of one with the right preposition. Accuracy is worth more than quantity in the Accuracy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plan → draft → self-mark cycle. The copy box is the skeleton of the website model (one sentence per section). The full 130-word website model is on the Write / model slides. Then model the 90-second self-mark aloud: circle every verb, box every preposition, underline the passive subject, count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take one sentence from each column and join them into a mini four-section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then copy the student’s plan as your own plan.
Listen 1: just listen. Listen 2: note answers. Then chat the letters.
Support: after the second listening, show the read-along slide (Arabic + English, line by line) for Core students.
SCRIPT (read aloud):
قَبْلَ أَنْ أَكْتُبَ، خَطَّطْتُ لِكُلِّ فِقْرَةٍ. فِي الفِقْرَةِ الأُولَى كَتَبْتُ عَنِ المَاضِي: فِي الطُّفُولَةِ احْتَفَلْنَا بِالعِيدِ فِي بَلَدِ أُسْرَتِي، وَكَانَتْ جَدَّتِي تَحْكِي لَنَا القِصَصَ. وَفِي الفِقْرَةِ الثَّانِيَةِ كَتَبْتُ عَنِ الحَاضِرِ: أَمَّا الآنَ فَنَحْتَفِلُ هُنَا مَعَ الجَالِيَةِ، وَتُزَيَّنُ البُيُوتُ وَتُتَبَادَلُ التَّهَانِي. ثُمَّ أَضَفْتُ رَأْيِي: لَا يُمْكِنُ إِنْكَارُ أَنَّ اللُّغَةَ جُزْءٌ مِنَ الهُوِيَّةِ. وَفِي الخِتَامِ كَتَبْتُ عَنِ المُسْتَقْبَلِ: أَطْمَحُ إِلَى زِيَارَةِ بَلَدِ أُسْرَتِي، وَسَأُوَاصِلُ تَعَلُّمَ العَرَبِيَّةِ. وَأَخِيرًا عَدَدْتُ الكَلِمَاتِ وَرَاجَعْتُ كُلَّ لَاحِقَةٍ وَكُلَّ حَرْفِ جَرٍّ.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(And how will you finish?)
B: أَخْتِمُ بِرَأْيٍ: لَا يُمْكِنُ إِنْكَارُ أَنَّ اللُّغَةَ جُزْءٌ مِنَ الهُوِيَّةِ، ثُمَّ أَذْكُرُ طُمُوحِي: أَطْمَحُ إِلَى أَنْ أُتْقِنَ الفُصْحَى. (I finish with an opinion — it cannot be denied that language is part of identity — then I state my aspiration: I aspire to master classical Arabic.)
Website prompts and model: talk the plan through BEFORE writing. Pairs: 60 seconds each; the partner ticks past / present / opinion / future heard. To a girl: فِقْرَتِكِ · سَتَسْتَعْمِلِينَ · سَتَخْتِمِينَ.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with one structure per section. · Develop — Add a passive and a formal connector. · Stretch — Include all six target structures and a supported opinion within the word limit.
Website writing task (Stretch): Write 130 to 140 words on ثَقَافَتِي وَهُوِيَّتِي. Narrate a past cultural experience, describe the present, give a supported opinion and close with a future aspiration.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135 words). Evidence: احْتَفَلْنَا بِالعِيدِ · كَانَتْ جَدَّتِي تَحْكِي · زُرْنَا · تَبَادَلْنَا · أَكَلْنَا · تُزَيَّنُ البُيُوتُ · تُتَبَادَلُ التَّهَانِي · عَلَى الرَّغْمِ مِنْ بُعْدِ المَسَافَةِ · أَصْغَرُ مِنَ السَّابِقِ · لَا يُمْكِنُ إِنْكَارُ أَنَّ اللُّغَةَ … · سَأَزُورُ · أَطْمَحُ إِلَى أَنْ أُتْقِنَ · لِكَيْ أَقْرَأَ.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(D6-L10 · Listening — Culture, Celebration and Identity Texts) will spend class time USING this language, so students prepare it tonight — short, simple, easy to access (school guidance: “Simple, Short, Interesting, Relevant, Easy to access”). The five words come from the website D6-L10 vocabulary (listening for culture and qualifiers).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Writing — Countries, Culture and Identity (Paper 4)</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الكِتَابَةُ — الدُّوَلُ وَالثَّقَافَةُ وَالهُوِيَّةُ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write and self-mark 130–140 words on </a:t>
            </a:r>
            <a:pPr algn="l" indent="0" marL="0">
              <a:buNone/>
            </a:pPr>
            <a:r>
              <a:rPr lang="ar-SA" altLang="en-US" sz="1800" dirty="0">
                <a:solidFill>
                  <a:srgbClr val="C6D2E6"/>
                </a:solidFill>
                <a:latin typeface="Amiri" pitchFamily="34" charset="0"/>
                <a:ea typeface="Amiri" pitchFamily="34" charset="-122"/>
                <a:cs typeface="Amiri" pitchFamily="34" charset="-120"/>
              </a:rPr>
              <a:t>ثَقَافَتِي وَهُوِيَّتِي</a:t>
            </a:r>
            <a:pPr algn="l" indent="0" marL="0">
              <a:buNone/>
            </a:pPr>
            <a:r>
              <a:rPr lang="en-US" sz="1400" dirty="0">
                <a:solidFill>
                  <a:srgbClr val="C6D2E6"/>
                </a:solidFill>
                <a:latin typeface="Calibri" pitchFamily="34" charset="0"/>
                <a:ea typeface="Calibri" pitchFamily="34" charset="-122"/>
                <a:cs typeface="Calibri" pitchFamily="34" charset="-120"/>
              </a:rPr>
              <a:t> that shows the full D6 range: a past celebration (</a:t>
            </a:r>
            <a:pPr algn="l" indent="0" marL="0">
              <a:buNone/>
            </a:pPr>
            <a:r>
              <a:rPr lang="ar-SA" altLang="en-US" sz="1800" dirty="0">
                <a:solidFill>
                  <a:srgbClr val="C6D2E6"/>
                </a:solidFill>
                <a:latin typeface="Amiri" pitchFamily="34" charset="0"/>
                <a:ea typeface="Amiri" pitchFamily="34" charset="-122"/>
                <a:cs typeface="Amiri" pitchFamily="34" charset="-120"/>
              </a:rPr>
              <a:t>احْتَفَلْنَا بِالعِيدِ</a:t>
            </a:r>
            <a:pPr algn="l" indent="0" marL="0">
              <a:buNone/>
            </a:pPr>
            <a:r>
              <a:rPr lang="en-US" sz="1400" dirty="0">
                <a:solidFill>
                  <a:srgbClr val="C6D2E6"/>
                </a:solidFill>
                <a:latin typeface="Calibri" pitchFamily="34" charset="0"/>
                <a:ea typeface="Calibri" pitchFamily="34" charset="-122"/>
                <a:cs typeface="Calibri" pitchFamily="34" charset="-120"/>
              </a:rPr>
              <a:t>), the present (</a:t>
            </a:r>
            <a:pPr algn="l" indent="0" marL="0">
              <a:buNone/>
            </a:pPr>
            <a:r>
              <a:rPr lang="ar-SA" altLang="en-US" sz="1800" dirty="0">
                <a:solidFill>
                  <a:srgbClr val="C6D2E6"/>
                </a:solidFill>
                <a:latin typeface="Amiri" pitchFamily="34" charset="0"/>
                <a:ea typeface="Amiri" pitchFamily="34" charset="-122"/>
                <a:cs typeface="Amiri" pitchFamily="34" charset="-120"/>
              </a:rPr>
              <a:t>تُزَيَّنُ البُيُوتُ</a:t>
            </a:r>
            <a:pPr algn="l" indent="0" marL="0">
              <a:buNone/>
            </a:pPr>
            <a:r>
              <a:rPr lang="en-US" sz="1400" dirty="0">
                <a:solidFill>
                  <a:srgbClr val="C6D2E6"/>
                </a:solidFill>
                <a:latin typeface="Calibri" pitchFamily="34" charset="0"/>
                <a:ea typeface="Calibri" pitchFamily="34" charset="-122"/>
                <a:cs typeface="Calibri" pitchFamily="34" charset="-120"/>
              </a:rPr>
              <a:t>), a supported opinion (</a:t>
            </a:r>
            <a:pPr algn="l" indent="0" marL="0">
              <a:buNone/>
            </a:pPr>
            <a:r>
              <a:rPr lang="ar-SA" altLang="en-US" sz="1800" dirty="0">
                <a:solidFill>
                  <a:srgbClr val="C6D2E6"/>
                </a:solidFill>
                <a:latin typeface="Amiri" pitchFamily="34" charset="0"/>
                <a:ea typeface="Amiri" pitchFamily="34" charset="-122"/>
                <a:cs typeface="Amiri" pitchFamily="34" charset="-120"/>
              </a:rPr>
              <a:t>لَا يُمْكِنُ إِنْكَارُ أَنَّ اللُّغَةَ</a:t>
            </a:r>
            <a:pPr algn="l" indent="0" marL="0">
              <a:buNone/>
            </a:pPr>
            <a:r>
              <a:rPr lang="en-US" sz="1400" dirty="0">
                <a:solidFill>
                  <a:srgbClr val="C6D2E6"/>
                </a:solidFill>
                <a:latin typeface="Calibri" pitchFamily="34" charset="0"/>
                <a:ea typeface="Calibri" pitchFamily="34" charset="-122"/>
                <a:cs typeface="Calibri" pitchFamily="34" charset="-120"/>
              </a:rPr>
              <a:t> …) and a future aspiration (</a:t>
            </a:r>
            <a:pPr algn="l" indent="0" marL="0">
              <a:buNone/>
            </a:pPr>
            <a:r>
              <a:rPr lang="ar-SA" altLang="en-US" sz="1800" dirty="0">
                <a:solidFill>
                  <a:srgbClr val="C6D2E6"/>
                </a:solidFill>
                <a:latin typeface="Amiri" pitchFamily="34" charset="0"/>
                <a:ea typeface="Amiri" pitchFamily="34" charset="-122"/>
                <a:cs typeface="Amiri" pitchFamily="34" charset="-120"/>
              </a:rPr>
              <a:t>أَطْمَحُ إِلَى</a:t>
            </a:r>
            <a:pPr algn="l" indent="0" marL="0">
              <a:buNone/>
            </a:pPr>
            <a:r>
              <a:rPr lang="en-US" sz="1400" dirty="0">
                <a:solidFill>
                  <a:srgbClr val="C6D2E6"/>
                </a:solidFill>
                <a:latin typeface="Calibri" pitchFamily="34" charset="0"/>
                <a:ea typeface="Calibri" pitchFamily="34" charset="-122"/>
                <a:cs typeface="Calibri" pitchFamily="34" charset="-120"/>
              </a:rPr>
              <a:t> …).</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D6-L09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Six structures planned, then checked one at a time.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sentences into sections, fix slips, then hear a student plan the piece.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أَعْتَزُّ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belong to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take pride 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hope to</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conclusion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frankly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range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نَتَخَلَّى عَنْ لُغَتِنَا.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تَخَلَّيْنَا عَنْ لُغَتِنَا.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سَنَتَخَلَّى عَنْ لُغَتِنَا.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أَعْتَزُّ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belong to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take pride 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hope to</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 وِجْهَةِ نَظَرِي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from my point of view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conclusion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frankly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range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word count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accuracy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يُشِيرُ الكَاتِبُ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أَهَمِّيَّةِ 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D6-L08.</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نَتَخَلَّى عَنْ لُغَتِنَا.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تَخَلَّيْنَا عَنْ لُغَتِنَا.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سَنَتَخَلَّى عَنْ لُغَتِنَا.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D6-L07: </a:t>
            </a:r>
            <a:pPr algn="l" indent="0" marL="0">
              <a:buNone/>
            </a:pPr>
            <a:r>
              <a:rPr lang="ar-SA" altLang="en-US" sz="1350" dirty="0">
                <a:solidFill>
                  <a:srgbClr val="8A6D1E"/>
                </a:solidFill>
                <a:latin typeface="Amiri" pitchFamily="34" charset="0"/>
                <a:ea typeface="Amiri" pitchFamily="34" charset="-122"/>
                <a:cs typeface="Amiri" pitchFamily="34" charset="-120"/>
              </a:rPr>
              <a:t>لَنْ</a:t>
            </a:r>
            <a:pPr algn="l" indent="0" marL="0">
              <a:buNone/>
            </a:pPr>
            <a:r>
              <a:rPr lang="en-US" sz="1050" i="1" dirty="0">
                <a:solidFill>
                  <a:srgbClr val="8A6D1E"/>
                </a:solidFill>
                <a:latin typeface="Calibri" pitchFamily="34" charset="0"/>
                <a:ea typeface="Calibri" pitchFamily="34" charset="-122"/>
                <a:cs typeface="Calibri" pitchFamily="34" charset="-120"/>
              </a:rPr>
              <a:t> + present.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Range = variety of structure, not long words. Plan where each structure goes, then check them one by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احْتَفَلْنَا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تُزَيَّنُ البُيُوتُ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لَا يُمْكِنُ إِنْكَارُ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130–140 words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full D6 range in one coherent piece.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Support an opinion with </a:t>
            </a:r>
            <a:pPr algn="l" indent="0" marL="0">
              <a:buNone/>
            </a:pPr>
            <a:r>
              <a:rPr lang="ar-SA" altLang="en-US" sz="1700" dirty="0">
                <a:solidFill>
                  <a:srgbClr val="1F2A37"/>
                </a:solidFill>
                <a:latin typeface="Amiri" pitchFamily="34" charset="0"/>
                <a:ea typeface="Amiri" pitchFamily="34" charset="-122"/>
                <a:cs typeface="Amiri" pitchFamily="34" charset="-120"/>
              </a:rPr>
              <a:t>لَا يُمْكِنُ إِنْكَارُ أَنَّ</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مِنْ وِجْهَةِ نَظَرِي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Self-mark my draft for Task Completion, Range and Accuracy.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paragraph per section with frames.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passive and a formal connector.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support my opinion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130–140 words with all six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against the three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Writing about identity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 structures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mark scheme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‎ہویت / شناخت‎ </a:t>
            </a:r>
            <a:pPr indent="0" marL="0">
              <a:buNone/>
            </a:pPr>
            <a:r>
              <a:rPr lang="en-US" sz="950" b="1" dirty="0">
                <a:solidFill>
                  <a:srgbClr val="2E8B57"/>
                </a:solidFill>
                <a:latin typeface="Calibri" pitchFamily="34" charset="0"/>
                <a:ea typeface="Calibri" pitchFamily="34" charset="-122"/>
                <a:cs typeface="Calibri" pitchFamily="34" charset="-120"/>
              </a:rPr>
              <a:t> shanākht · identity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experience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قِيمَةٌ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‎قیمت‎ </a:t>
            </a:r>
            <a:pPr indent="0" marL="0">
              <a:buNone/>
            </a:pPr>
            <a:r>
              <a:rPr lang="en-US" sz="950" b="1" dirty="0">
                <a:solidFill>
                  <a:srgbClr val="2E8B57"/>
                </a:solidFill>
                <a:latin typeface="Calibri" pitchFamily="34" charset="0"/>
                <a:ea typeface="Calibri" pitchFamily="34" charset="-122"/>
                <a:cs typeface="Calibri" pitchFamily="34" charset="-120"/>
              </a:rPr>
              <a:t> qīmat · Urdu: price · Arabic: value (also price)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إِنْكَارٌ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‎انکار‎ </a:t>
            </a:r>
            <a:pPr indent="0" marL="0">
              <a:buNone/>
            </a:pPr>
            <a:r>
              <a:rPr lang="en-US" sz="950" b="1" dirty="0">
                <a:solidFill>
                  <a:srgbClr val="2E8B57"/>
                </a:solidFill>
                <a:latin typeface="Calibri" pitchFamily="34" charset="0"/>
                <a:ea typeface="Calibri" pitchFamily="34" charset="-122"/>
                <a:cs typeface="Calibri" pitchFamily="34" charset="-120"/>
              </a:rPr>
              <a:t> inkār · Urdu: refusal · Arabic: denial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نَظَرٌ / نَظَرِيَّةٌ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‎نظر / نظریہ‎ </a:t>
            </a:r>
            <a:pPr indent="0" marL="0">
              <a:buNone/>
            </a:pPr>
            <a:r>
              <a:rPr lang="en-US" sz="950" b="1" dirty="0">
                <a:solidFill>
                  <a:srgbClr val="2E8B57"/>
                </a:solidFill>
                <a:latin typeface="Calibri" pitchFamily="34" charset="0"/>
                <a:ea typeface="Calibri" pitchFamily="34" charset="-122"/>
                <a:cs typeface="Calibri" pitchFamily="34" charset="-120"/>
              </a:rPr>
              <a:t> nazar / nazariya · view / point of view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about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الهُوِيَّةُ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identity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al-hu-wiy-ya-tu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الأُسْلُوبُ الشَّخْصِيُّ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personal style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al-us-lū-bu ash-shakh-ṣiy-yu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القِيمَةُ الثَّقَافِيَّةُ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value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al-qī-ma-tu ath-tha-qā-fiy-ya-tu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القِيَمُ الثَّقَافِيَّةُ</a:t>
            </a:r>
            <a:endParaRPr lang="ar-SA" sz="15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التَّكَامُلُ</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integration, coming together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at-ta-kā-mu-lu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about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شَخْصِيَّةٌ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personal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shakh-ṣiy-ya-tun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تَجَارِبُ شَخْصِيَّةٌ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يُمَيِّزُنِي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distinguishes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yu-may-yi-zu-nī</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أَعْتَزُّ بِـ</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take pride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aʿ-taz-zu bi</a:t>
            </a:r>
            <a:endParaRPr lang="en-US" sz="1350" dirty="0"/>
          </a:p>
        </p:txBody>
      </p:sp>
      <p:sp>
        <p:nvSpPr>
          <p:cNvPr id="41" name="Shape 38"/>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3" name="Text 40"/>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اِعْتَزَّ</a:t>
            </a:r>
            <a:endParaRPr lang="ar-SA" sz="1350" dirty="0"/>
          </a:p>
        </p:txBody>
      </p:sp>
      <p:sp>
        <p:nvSpPr>
          <p:cNvPr id="44" name="Shape 41"/>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6" name="Text 43"/>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يَعْتَزُّ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0" name="Shape 47"/>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أَنْتَمِي إِلَى</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belong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an-ta-mī i-lā</a:t>
            </a:r>
            <a:endParaRPr lang="en-US" sz="1350" dirty="0"/>
          </a:p>
        </p:txBody>
      </p:sp>
      <p:sp>
        <p:nvSpPr>
          <p:cNvPr id="56" name="Shape 5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8" name="Text 5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اِنْتَمَى</a:t>
            </a:r>
            <a:endParaRPr lang="ar-SA" sz="1350" dirty="0"/>
          </a:p>
        </p:txBody>
      </p:sp>
      <p:sp>
        <p:nvSpPr>
          <p:cNvPr id="59" name="Shape 5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1" name="Text 58"/>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يَنْتَمِي</a:t>
            </a:r>
            <a:endParaRPr lang="ar-SA" sz="150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structures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an accusative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wij-ha-ti na-ẓa-rī</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أَعْتَقِدُ أَنَّ</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believe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aʿ-ta-qi-du an-na</a:t>
            </a:r>
            <a:endParaRPr lang="en-US" sz="1350" dirty="0"/>
          </a:p>
        </p:txBody>
      </p:sp>
      <p:sp>
        <p:nvSpPr>
          <p:cNvPr id="39" name="Shape 36"/>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41" name="Text 38"/>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اِعْتَقَدَ</a:t>
            </a:r>
            <a:endParaRPr lang="ar-SA" sz="1350" dirty="0"/>
          </a:p>
        </p:txBody>
      </p:sp>
      <p:sp>
        <p:nvSpPr>
          <p:cNvPr id="42" name="Shape 39"/>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4" name="Text 41"/>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يَعْتَقِدُ</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المُهِمِّ أَنْ</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important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mi-na al-mu-him-mi an</a:t>
            </a:r>
            <a:endParaRPr lang="en-US" sz="1350" dirty="0"/>
          </a:p>
        </p:txBody>
      </p:sp>
      <p:sp>
        <p:nvSpPr>
          <p:cNvPr id="50" name="Text 47"/>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Opinion structures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بِصَرَاحَةٍ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frankly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bi-ṣa-rā-ḥa-tin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الخِتَامِ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al-khi-tā-mi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 · past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أَتَمَنَّى أَنْ</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hope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a-ta-man-nā an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36" name="Text 3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تَمَنَّى</a:t>
            </a:r>
            <a:endParaRPr lang="ar-SA" sz="135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يَتَمَنَّى</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3" name="Shape 4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past</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أَطْمَحُ إِلَى</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aspire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aṭ-ma-ḥu i-lā</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طَمَحَ</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يَطْمَحُ</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mark scheme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إِنْجَازُ المُهِمَّةِ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Task Completion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in-jā-zu al-mu-him-ma-ti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التَّنَوُّعُ اللُّغَوِيُّ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at-ta-naw-wu-ʿu all-lu-gha-wiy-yu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عَدَدُ الكَلِمَاتِ</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word count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ʿa-da-du al-ka-li-mā-ti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mark scheme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المُرَاجَعَةُ الذَّاتِيَّةُ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self-checking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al-mu-rā-ja-ʿa-tu adh-dhā-tiy-ya-tu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لَاحِقَةُ الفِعْلِ</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verb suffix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lā-ḥi-qa-tu al-fiʿ-li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حَرْفُ الجَرِّ الصَّحِيحُ</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correct preposition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ḥar-fu al-jar-ri aṣ-ṣa-ḥī-ḥu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المُطَابَقَةُ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al-mu-ṭā-ba-qa-tu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GRAMMAR FOCUS · PART 1 · THE FOUR-SECTION PLAN (WEBSITE RULE 1 + LISTENING)</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present, opinion,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cultural verb</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فِي الطُّفُولَةِ</a:t>
            </a:r>
            <a:pPr rtl="1" algn="ctr" indent="0" marL="0">
              <a:buNone/>
            </a:pPr>
            <a:r>
              <a:rPr lang="ar-SA" altLang="en-US" sz="1950" b="1" dirty="0">
                <a:solidFill>
                  <a:srgbClr val="1B3B6F"/>
                </a:solidFill>
                <a:latin typeface="Amiri" pitchFamily="34" charset="0"/>
                <a:ea typeface="Amiri" pitchFamily="34" charset="-122"/>
                <a:cs typeface="Amiri" pitchFamily="34" charset="-120"/>
              </a:rPr>
              <a:t> احْتَفَلْنَا بِالعِيدِ فِي بَلَدِ أُسْرَتِي.</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childhood we celebrated Eid in my family’s country.</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past</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passive</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أَمَّا الآنَ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فَنَحْتَفِلُ هُنَا، وَتُزَيَّنُ البُيُوتُ.</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Now we celebrate here, and the houses are decorated.</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present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anna + noun in -a</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لَا يُمْكِنُ إِنْكَارُ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اللُّغَةَ جُزْءٌ مِنَ الهُوِيَّةِ.</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cannot be denied that language is part of identity.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opinion</a:t>
            </a:r>
            <a:endParaRPr lang="en-US" sz="11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present</a:t>
            </a:r>
            <a:endParaRPr lang="en-US" sz="1100" dirty="0"/>
          </a:p>
        </p:txBody>
      </p:sp>
      <p:sp>
        <p:nvSpPr>
          <p:cNvPr id="42" name="Text 39"/>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وَفِي المُسْتَقْبَلِ</a:t>
            </a:r>
            <a:pPr rtl="1" algn="ctr" indent="0" marL="0">
              <a:buNone/>
            </a:pPr>
            <a:r>
              <a:rPr lang="ar-SA" altLang="en-US" sz="1950" b="1" dirty="0">
                <a:solidFill>
                  <a:srgbClr val="1B3B6F"/>
                </a:solidFill>
                <a:latin typeface="Amiri" pitchFamily="34" charset="0"/>
                <a:ea typeface="Amiri" pitchFamily="34" charset="-122"/>
                <a:cs typeface="Amiri" pitchFamily="34" charset="-120"/>
              </a:rPr>
              <a:t> سَأَزُورُ بَلَدَ أُسْرَتِي مَرَّةً أُخْرَى.</a:t>
            </a:r>
            <a:endParaRPr lang="ar-SA" sz="1950" dirty="0"/>
          </a:p>
        </p:txBody>
      </p:sp>
      <p:sp>
        <p:nvSpPr>
          <p:cNvPr id="43" name="Text 40"/>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In the future I will visit my family’s country again.</a:t>
            </a:r>
            <a:endParaRPr lang="en-US" sz="950" dirty="0"/>
          </a:p>
        </p:txBody>
      </p:sp>
      <p:sp>
        <p:nvSpPr>
          <p:cNvPr id="44" name="Text 41"/>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future</a:t>
            </a:r>
            <a:endParaRPr lang="en-US" sz="1100" dirty="0"/>
          </a:p>
        </p:txBody>
      </p:sp>
      <p:sp>
        <p:nvSpPr>
          <p:cNvPr id="45" name="Shape 42"/>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aṭmaḥu ilā</a:t>
            </a:r>
            <a:endParaRPr lang="en-US" sz="1100" dirty="0"/>
          </a:p>
        </p:txBody>
      </p:sp>
      <p:sp>
        <p:nvSpPr>
          <p:cNvPr id="49" name="Text 46"/>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وَأَطْمَحُ إِلَى أَنْ أُتْقِنَ الفُصْحَى.</a:t>
            </a:r>
            <a:endParaRPr lang="ar-SA" sz="1950" dirty="0"/>
          </a:p>
        </p:txBody>
      </p:sp>
      <p:sp>
        <p:nvSpPr>
          <p:cNvPr id="50" name="Text 47"/>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And I aspire to master classical Arabic.</a:t>
            </a:r>
            <a:endParaRPr lang="en-US" sz="950" dirty="0"/>
          </a:p>
        </p:txBody>
      </p:sp>
      <p:sp>
        <p:nvSpPr>
          <p:cNvPr id="51" name="Text 48"/>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aspiration</a:t>
            </a:r>
            <a:endParaRPr lang="en-US" sz="1100" dirty="0"/>
          </a:p>
        </p:txBody>
      </p:sp>
      <p:sp>
        <p:nvSpPr>
          <p:cNvPr id="52" name="Text 4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Plan where each structure will go BEFORE writing — then check them one at a time.</a:t>
            </a:r>
            <a:endParaRPr lang="en-US" sz="11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VERB, OPINION, PASSIVE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Accuracy beats quantity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الدِّقَّةُ قَبْلَ الكَثْرَةِ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CULTURAL VERB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نَحْتَفِلُ بِالعِيدِ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نَحْتَفِلُ بِالعِيدِ كُلَّ سَنَةٍ.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celebrate Eid every year.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verb, right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يُمْكِنُ إِنْكَارُ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لَا يُمْكِنُ إِنْكَارُ أَنَّ التَّنَوُّعَ ثَرْوَةٌ.</a:t>
            </a:r>
            <a:endParaRPr lang="ar-SA" sz="22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cannot be denied that diversity is a richness.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Noun after anna: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تُزَيَّنُ البُيُوتُ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34" charset="0"/>
                <a:ea typeface="Amiri" pitchFamily="34" charset="-122"/>
                <a:cs typeface="Amiri" pitchFamily="34" charset="-120"/>
              </a:rPr>
              <a:t>تُزَيَّنُ البُيُوتُ فِي المُنَاسَبَاتِ.</a:t>
            </a:r>
            <a:endParaRPr lang="ar-SA" sz="26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Houses are decorated on special occasions.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Subject ends in -u.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noun after </a:t>
            </a:r>
            <a:pPr algn="l" indent="0" marL="0">
              <a:buNone/>
            </a:pPr>
            <a:r>
              <a:rPr lang="ar-SA" altLang="en-US" sz="1500" dirty="0">
                <a:solidFill>
                  <a:srgbClr val="1F2A37"/>
                </a:solidFill>
                <a:latin typeface="Amiri" pitchFamily="34" charset="0"/>
                <a:ea typeface="Amiri" pitchFamily="34" charset="-122"/>
                <a:cs typeface="Amiri" pitchFamily="34" charset="-120"/>
              </a:rPr>
              <a:t>أَنَّ</a:t>
            </a:r>
            <a:pPr algn="l" indent="0" marL="0">
              <a:buNone/>
            </a:pPr>
            <a:r>
              <a:rPr lang="en-US" sz="1150" dirty="0">
                <a:solidFill>
                  <a:srgbClr val="1F2A37"/>
                </a:solidFill>
                <a:latin typeface="Calibri" pitchFamily="34" charset="0"/>
                <a:ea typeface="Calibri" pitchFamily="34" charset="-122"/>
                <a:cs typeface="Calibri" pitchFamily="34" charset="-120"/>
              </a:rPr>
              <a:t>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اللُّغَةَ جُزْءٌ</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أَنَّ اللُّغَةُ جُزْءٌ</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Deploying the full range in one piece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تَوْظِيفُ القَوَاعِدِ كَامِلَةً فِي نَصٍّ وَاحِدٍ</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Three tenses, signalled</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experience → present habit → future aspiration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الطُّفُولَةِ احْتَفَلْنَا فِي بَلَدِ أُسْرَتِي   ·   وَفِي المُسْتَقْبَلِ سَأَزُورُهُ مَرَّةً أُخْرَى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One cultural verb, correctly governed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يَحْتَفِلُ بِـ · يَنْتَمِي إِلَى · يَتَمَسَّكُ بِـ · يَعْتَادُ عَلَى</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An opinion with a supported claim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لَا يُمْكِنُ إِنْكَارُ أَنَّ</a:t>
            </a:r>
            <a:pPr algn="l" indent="0" marL="0">
              <a:buNone/>
            </a:pPr>
            <a:r>
              <a:rPr lang="en-US" sz="1050" dirty="0">
                <a:solidFill>
                  <a:srgbClr val="5A6472"/>
                </a:solidFill>
                <a:latin typeface="Calibri" pitchFamily="34" charset="0"/>
                <a:ea typeface="Calibri" pitchFamily="34" charset="-122"/>
                <a:cs typeface="Calibri" pitchFamily="34" charset="-120"/>
              </a:rPr>
              <a:t> + accusative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لَا يُمْكِنُ إِنْكَارُ أَنَّ اللُّغَةَ جُزْءٌ مِنَ الهُوِيَّةِ   ·   مِنْ وِجْهَةِ نَظَرِي التَّنَوُّعُ ثَرْوَةٌ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 passive and a formal connector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تُزَيَّنُ / تُتَبَادَلُ · عِلَاوَةً عَلَى ذٰلِكَ · عَلَى الرَّغْمِ مِنْ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تُزَيَّنُ البُيُوتُ فِي المُنَاسَبَاتِ   ·   عَلَى الرَّغْمِ مِنْ بُعْدِ المَسَافَةِ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لَا يُمْكِنُ إِنْكَارُ أَنَّ ___ جُزْءٌ مِنَ الهُوِيَّةِ.</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أَعْتَزُّ ___ إِرْثِي الثَّقَافِيِّ.</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section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نَحْتَفِلُ فِي بَلَدِ أُسْرَتِي.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احْتَفَلْنَا فِي بَلَدِ أُسْرَتِي.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الطُّفُولَةِ سَنَحْتَفِلُ فِي بَلَدِ أُسْرَتِي.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cultural verb sentence.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بِالعِيدِ مَعَ الجِيرَانِ.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العِيدَ مَعَ الجِيرَانِ.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 عَلَى العِيدِ مَعَ الجِيرَانِ.</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لَا يُمْكِنُ إِنْكَارُ أَنَّ ___ جُزْءٌ مِنَ الهُوِيَّةِ.</a:t>
            </a:r>
            <a:endParaRPr lang="ar-SA" sz="145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أَعْتَزُّ ___ إِرْثِي الثَّقَافِيِّ.</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section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نَحْتَفِلُ فِي بَلَدِ أُسْرَتِي.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الطُّفُولَةِ احْتَفَلْنَا فِي بَلَدِ أُسْرَتِي.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الطُّفُولَةِ سَنَحْتَفِلُ فِي بَلَدِ أُسْرَتِي.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cultural verb sentence.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نَحْتَفِلُ بِالعِيدِ مَعَ الجِيرَانِ.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 العِيدَ مَعَ الجِيرَانِ.</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 عَلَى العِيدِ مَعَ الجِيرَانِ.</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a genitive noun.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plan, draft and self-mark</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Plan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المَاضِي · الحَاضِرُ · الرَّأْيُ · المُسْتَقْبَلُ</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boxes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احْتَفَلْنَا بِالعِيدِ</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Cultural verb + 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أَنَّ اللُّغَةَ</a:t>
            </a:r>
            <a:pPr rtl="1" algn="ctr" indent="0" marL="0">
              <a:buNone/>
            </a:pPr>
            <a:r>
              <a:rPr lang="ar-SA" altLang="en-US" sz="2200" b="1" dirty="0">
                <a:solidFill>
                  <a:srgbClr val="1B3B6F"/>
                </a:solidFill>
                <a:latin typeface="Amiri" pitchFamily="34" charset="0"/>
                <a:ea typeface="Amiri" pitchFamily="34" charset="-122"/>
                <a:cs typeface="Amiri" pitchFamily="34" charset="-120"/>
              </a:rPr>
              <a:t> جُزْءٌ مِنَ الهُوِيَّةِ</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Noun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Check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اللَّوَاحِقُ · حُرُوفُ الجَرِّ · العَدَدُ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90 seconds.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 FUTURE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PRESENT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OPINION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أَنْتَمِي إِلَى ثَقَافَتَيْنِ، وَأَعْتَزُّ بِهِمَا مَعًا.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الطُّفُولَةِ احْتَفَلْنَا بِالعِيدِ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بَلَدِ أُسْرَتِي.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أَمَّا الآنَ فَنَحْتَفِلُ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هُنَا،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وَتُزَيَّنُ البُيُوتُ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لَا يُمْكِنُ إِنْكَارُ أَنَّ اللُّغَةَ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جُزْءٌ مِنَ الهُوِيَّةِ،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وَأَطْمَحُ 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 أُتْقِنَ الفُصْحَى.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belong to two cultures, and I take pride in both. In childhood we celebrated Eid in my family’s country. Now we celebrate here, and the houses are decorated. It cannot be denied that language is part of identity, and I aspire to master classical Arabic.</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لَا يُمْكِنُ إِنْكَارُ أَنَّ اللُّغَةَ جُزْءٌ مِنَ الهُوِيَّةِ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cannot be denied that language is part of identity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أَنَّ makes the noun accusative; the predicate stays nominative.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أَعْتَزُّ بِإِرْثِي الثَّقَافِيِّ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take pride in my cultural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بِـ is fixed with أَعْتَزُّ.</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تُزَيَّنُ البُيُوتُ فِي المُنَاسَبَاتِ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houses are decorated on special occasions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passive with a nominative subject.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هُنَاكَ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بَلَدَ أُسْرَتِي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هُنَا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فِي المُنَاسَبَاتِ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اللُّغَةَ مُهِمَّةٌ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زِيَارَتِهِ</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وَسَأُوَاصِلُ تَعَلُّمَ العَرَبِيَّةِ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Opinion and future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section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هُنَاكَ</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بَلَدَ أُسْرَتِي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جَدَّتِي تَحْكِي لَنَا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Present section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هُنَا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تُزَيَّنُ البُيُوتُ فِي المُنَاسَبَاتِ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Opinion and future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اللُّغَةَ مُهِمَّةٌ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أَطْمَحُ إِلَى زِيَارَتِهِ</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وَسَأُوَاصِلُ تَعَلُّمَ العَرَبِيَّةِ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أَزُورَ بَلَدَ أُسْرَتِي.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 البُيُوتُ فِي المُنَاسَبَاتِ.</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suffix is correct.</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moves through three tenses.</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is 135 words.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Accuracy?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covers all content points.</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response has an interesting title.</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cultural verb has its correct preposition.</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أَطْمَحُ ___ أَنْ أَزُورَ بَلَدَ أُسْرَتِي.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أَطْمَحُ</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passive.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البُيُوتَ فِي المُنَاسَبَاتِ.</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تُزَيَّنُ البُيُوتُ فِي المُنَاسَبَاتِ.</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 البُيُوتُ فِي المُنَاسَبَاتِ.</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affected noun becomes the nominative subject.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suffix is correct.</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response moves through three tenses.</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is 135 words.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rewards variety of structure and tense.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Accuracy?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covers all content points.</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response has an interesting title.</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cultural verb has its correct preposition.</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Accuracy is about correct forms, including prepositions.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يُمْكِنُ إِنْكَارُ أَنَّ اللُّغَةُ جُزْءٌ مِنَ الهُوِيَّةِ.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anna: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نَحْتَفِلُ العِيدَ مَعَ الجِيرَانِ.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الطُّفُولَةِ نَحْتَفِلُ فِي بَلَدِ أُسْرَتِي.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Childhood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لَا يُمْكِنُ إِنْكَارُ أَنَّ اللُّغَةُ جُزْءٌ مِنَ الهُوِيَّةِ.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لَا يُمْكِنُ إِنْكَارُ أَنَّ اللُّغَةَ جُزْءٌ مِنَ الهُوِيَّةِ.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noun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is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نَحْتَفِلُ العِيدَ مَعَ الجِيرَانِ.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نَحْتَفِلُ بِالعِيدِ مَعَ الجِيرَانِ.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يَحْتَفِلُ</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الطُّفُولَةِ نَحْتَفِلُ فِي بَلَدِ أُسْرَتِي.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الطُّفُولَةِ احْتَفَلْنَا فِي بَلَدِ أُسْرَتِي.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time phrase requires a past verb.</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Listening: a student plans the final piece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student do before writing?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Planned each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Copied a model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Wrote a title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the grandmother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 for the neighbours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 each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Tell them stories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in the present-tense paragraph?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is described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past is discussed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Houses are decorated and greetings exchanged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opinion did the student add?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does not matter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customs matter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the final two checks?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Handwriting and title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Word count, suffixes and prepositions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was checked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Plan → past → present → opinion → future → check.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قَبْلَ أَنْ أَكْتُبَ، خَطَّطْتُ لِكُلِّ فِقْرَةٍ.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Before I wrote, I planned each paragraph.</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الفِقْرَةِ الأُولَى كَتَبْتُ عَنِ المَاضِي: فِي الطُّفُولَةِ احْتَفَلْنَا بِالعِيدِ فِي بَلَدِ أُسْرَتِي، وَكَانَتْ جَدَّتِي تَحْكِي لَنَا القِصَصَ.</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first paragraph I wrote about the past: in childhood we celebrated Eid in my family’s country, and my grandmother used to tell us stories.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وَفِي الفِقْرَةِ الثَّانِيَةِ كَتَبْتُ عَنِ الحَاضِرِ: أَمَّا الآنَ فَنَحْتَفِلُ هُنَا مَعَ الجَالِيَةِ، وَتُزَيَّنُ البُيُوتُ وَتُتَبَادَلُ التَّهَانِي.</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second paragraph I wrote about the present: now we celebrate here with the community; the houses are decorated and greetings are exchanged.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ثُمَّ أَضَفْتُ رَأْيِي: لَا يُمْكِنُ إِنْكَارُ أَنَّ اللُّغَةَ جُزْءٌ مِنَ الهُوِيَّةِ. وَفِي الخِتَامِ كَتَبْتُ عَنِ المُسْتَقْبَلِ: أَطْمَحُ إِلَى زِيَارَةِ بَلَدِ أُسْرَتِي، وَسَأُوَاصِلُ تَعَلُّمَ العَرَبِيَّةِ.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Then I added my opinion: it cannot be denied that language is part of identity. To finish I wrote about the future: I aspire to visit my family’s country, and I will keep learning Arabic.</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وَأَخِيرًا عَدَدْتُ الكَلِمَاتِ وَرَاجَعْتُ كُلَّ لَاحِقَةٍ وَكُلَّ حَرْفِ جَرٍّ.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Finally I counted the words and checked every suffix and every preposition.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student do before writing?</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Planned each paragraph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Copied a model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Wrote a title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أَنْ أَكْتُبَ، خَطَّطْتُ لِكُلِّ فِقْرَةٍ.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used the grandmother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 for the neighbours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 each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Tell them stories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جَدَّتِي تَحْكِي لَنَا القِصَصَ.</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in the present-tense paragraph?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is described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past is discussed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Houses are decorated and greetings exchanged</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وَتُزَيَّنُ البُيُوتُ وَتُتَبَادَلُ التَّهَانِي.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opinion did the student add?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does not matter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customs matter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اللُّغَةَ جُزْءٌ مِنَ الهُوِيَّةِ.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were the final two checks?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Handwriting and title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Word count, suffixes and prepositions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was checked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عَدَدْتُ الكَلِمَاتِ وَرَاجَعْتُ كُلَّ لَاحِقَةٍ وَكُلَّ حَرْفِ جَرٍّ.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Plan → past → present → opinion → future → check.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talk your plan through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مَوْضُوعُ فِقْرَتِكَ الأُولَى؟ وَأَيُّ زَمَنٍ سَتَسْتَعْمِلُ؟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 فِعْلٍ ثَقَافِيٍّ سَتَسْتَعْمِلُ؟ وَمَا حَرْفُ الجَرِّ الصَّحِيحُ؟</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سَتَخْتِمُ بِرَأْيٍ وَطُمُوحٍ؟</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سَأَكْتُبُ عَنِ المَاضِي: فِي الطُّفُولَةِ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سَأَسْتَعْمِلُ ___ ، وَحَرْفُ الجَرِّ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أَخْتِمُ بِرَأْيٍ: لَا يُمْكِنُ إِنْكَارُ أَنَّ ___ ، وَأَطْمَحُ إِلَى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مَوْضُوعُ فِقْرَتِكَ الأُولَى؟</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first paragraph about?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سَأَكْتُبُ عَنِ المَاضِي: فِي الطُّفُولَةِ احْتَفَلْنَا بِالعِيدِ فِي بَلَدِ أُسْرَتِي.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ea typeface="Calibri" pitchFamily="34" charset="-122"/>
                <a:cs typeface="Calibri" pitchFamily="34" charset="-120"/>
              </a:rPr>
              <a:t>I will write about the past: in childhood we celebrated Eid in my family’s country.</a:t>
            </a:r>
            <a:endParaRPr lang="en-US" sz="8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70–90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three-paragraph frame with one structure per section.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One paragraph per section with the frames; one cultural verb +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110–130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passive and a formal connector.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passive, a formal connector and a supported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Include all six target structures and a supported opinion within the word limit.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5+ past verbs · cultural verb · passive · connector · opinion · aspiration.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تُزَيَّنُ ______ ، وَتُتَبَادَلُ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are decorated / are exchanged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عَلَى الرَّغْمِ مِنْ بُعْدِ المَسَافَةِ نَحْتَفِظُ بِـ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the distance, we keep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cannot be denied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أَنْتَمِي إِلَى ______ ، وَأَعْتَزُّ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belong to … and I take pride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الطُّفُولَةِ احْتَفَلْنَا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childhood we celebrated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الآنَ فَنَحْتَفِلُ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now, 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المُسْتَقْبَلِ سَأَزُورُ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visit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أَنْتَمِي إِلَى  ·  أَعْتَزُّ بِـ  ·  احْتَفَلْنَا بِـ  ·  كَانَتْ جَدَّتِي تَحْكِي  ·  أَمَّا الآنَ فَـ  ·  تُزَيَّنُ البُيُوتُ  ·  عَلَى الرَّغْمِ مِنْ  ·  أَصْغَرُ مِنَ السَّابِقِ  ·  مِنْ وِجْهَةِ نَظَرِي  ·  لَا يُمْكِنُ إِنْكَارُ أَنَّ  ·  سَأَزُورُ  ·  أَطْمَحُ إِلَى</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130 to 140 words on </a:t>
            </a:r>
            <a:pPr algn="l" indent="0" marL="0">
              <a:buNone/>
            </a:pPr>
            <a:r>
              <a:rPr lang="ar-SA" altLang="en-US" sz="1750" b="1" dirty="0">
                <a:solidFill>
                  <a:srgbClr val="1F2A37"/>
                </a:solidFill>
                <a:latin typeface="Amiri" pitchFamily="34" charset="0"/>
                <a:ea typeface="Amiri" pitchFamily="34" charset="-122"/>
                <a:cs typeface="Amiri" pitchFamily="34" charset="-120"/>
              </a:rPr>
              <a:t>ثَقَافَتِي وَهُوِيَّتِي</a:t>
            </a:r>
            <a:pPr algn="l" indent="0" marL="0">
              <a:buNone/>
            </a:pPr>
            <a:r>
              <a:rPr lang="en-US" sz="1350" b="1" dirty="0">
                <a:solidFill>
                  <a:srgbClr val="1F2A37"/>
                </a:solidFill>
                <a:latin typeface="Calibri" pitchFamily="34" charset="0"/>
                <a:ea typeface="Calibri" pitchFamily="34" charset="-122"/>
                <a:cs typeface="Calibri" pitchFamily="34" charset="-120"/>
              </a:rPr>
              <a:t>. Narrate a past cultural experience, describe the present, give a supported opinion and close with a future aspiration.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or more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cultural verb with its correct preposition.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passive with a nominative subject and one formal connector.</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opinion structure and one future aspiration.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وَكَانَتْ جَدَّتِي تَحْكِي لَنَا قِصَصَ الحَيِّ القَدِيمِ</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my grandmother used to tell us stories of the old neighbourhood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وَالاحْتِفَالُ هُنَا أَصْغَرُ مِنَ السَّابِقِ وَلٰكِنَّهُ أَكْثَرُ تَنَوُّعًا</a:t>
            </a:r>
            <a:endParaRPr lang="ar-SA" sz="13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celebration here is smaller than before but more varied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فَهِيَ تَرْبِطُنِي بِجُذُورِي</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it ties me to my roots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أَقْرَأَ أَدَبَهَا بِنَفْسِي</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I can read its literature myself</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وِجْهَةِ نَظَرِي</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from my point of view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لَذِيذَةً.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فَهِيَ تَرْبِطُنِي بِجُذُورِي. وَفِي المُسْتَقْبَلِ سَأَزُورُ بَلَدَ أُسْرَتِي مَرَّةً أُخْرَى، وَأَطْمَحُ إِلَى أَنْ أُتْقِنَ الفُصْحَى لِكَيْ أَقْرَأَ أَدَبَهَا بِنَفْسِي.</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belong to two cultures, and I take pride in both. In childhood we celebrated Eid in my family’s country, and my grandmother used to tell us stories of the old neighbourhood. We visited relatives, exchanged gifts and ate delicious sweets. Now we celebrate here with the community; the houses are decorated and greetings are exchanged at the cultural centre. Despite the distance we keep our customs, and the celebration here is smaller than before but more varied. From my point of view, it cannot be denied that language is part of identity, for it ties me to my roots. In the future I will visit my family’s country again, and I aspire to master classical Arabic so that I can read its literature myself.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five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cultural verb + preposition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passive and a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opinion and an aspiration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section has a time phrase and matching verbs.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cultural verb has its correct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passive subject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أَنَّ</a:t>
            </a:r>
            <a:pPr algn="l" indent="0" marL="0">
              <a:buNone/>
            </a:pPr>
            <a:r>
              <a:rPr lang="en-US" sz="1300" dirty="0">
                <a:solidFill>
                  <a:srgbClr val="1F2A37"/>
                </a:solidFill>
                <a:latin typeface="Calibri" pitchFamily="34" charset="0"/>
                <a:ea typeface="Calibri" pitchFamily="34" charset="-122"/>
                <a:cs typeface="Calibri" pitchFamily="34" charset="-120"/>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my words (130–140) and checked every suffix.</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different tenses appear.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suffix is correct.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piece is 138 words.</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لُغَتِي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التَّنَوُّعُ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التَّنَوُّعَ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التَّنَوُّعِ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makes the following noun accusative.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check belongs to Range?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different tenses appear.</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suffix is correct.</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piece is 138 words.</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Range rewards variety of structure.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model identity piece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أَنْتَمِي إِلَى ثَقَافَتَيْنِ، وَأَعْتَزُّ بِهِمَا مَعًا. فِي الطُّفُولَةِ احْتَفَلْنَا بِالعِيدِ فِي بَلَدِ أُسْرَتِي، وَكَانَتْ جَدَّتِي تَحْكِي لَنَا قِصَصَ الحَيِّ القَدِيمِ. زُرْنَا الأَقَارِبَ، وَتَبَادَلْنَا الهَدَايَا، وَأَكَلْنَا حَلْوَى لَا أَنْسَى طَعْمَهَا. أَمَّا الآنَ فَنَحْتَفِلُ هُنَا مَعَ الجَالِيَةِ، وَتُزَيَّنُ البُيُوتُ وَتُتَبَادَلُ التَّهَانِي فِي المَرْكَزِ الثَّقَافِيِّ. عَلَى الرَّغْمِ مِنْ بُعْدِ المَسَافَةِ نَحْتَفِظُ بِعَادَاتِنَا، وَالاحْتِفَالُ هُنَا أَصْغَرُ مِنَ السَّابِقِ وَلٰكِنَّهُ أَكْثَرُ تَنَوُّعًا. وَمِنْ وِجْهَةِ نَظَرِي لَا يُمْكِنُ إِنْكَارُ أَنَّ اللُّغَةَ جُزْءٌ مِنَ الهُوِيَّةِ. وَفِي المُسْتَقْبَلِ سَأَزُورُ بَلَدَ أُسْرَتِي، وَأَطْمَحُ إِلَى أَنْ أُتْقِنَ الفُصْحَى.</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ثَقَافَتَيْنِ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cultures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بَلَدِ أُسْرَتِي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family’s country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تَحْكِي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tells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الحَيِّ القَدِيمِ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old neighbourhood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الأَقَارِبَ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relatives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حَلْوَى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sweets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التَّهَانِي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greetings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تَرْبِطُنِي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ties 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بِجُذُورِي</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to my roots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أُتْقِنَ الفُصْحَى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master classical Arabic</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at the start?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belong to one culture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belong to two cultures and take pride in both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reject both cultures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do?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Organised the travel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Taught at the centre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Told stories of the old neighbourhood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celebration here compared with before?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Smaller but more varied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Larger and simpler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Exactly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food matters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aspiration?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and to master fuṣḥā</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move permanently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stop studying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say at the start?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belong to one culture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belong to two cultures and take pride in both</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reject both cultures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أَنْتَمِي إِلَى ثَقَافَتَيْنِ، وَأَعْتَزُّ بِهِمَا مَعًا.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grandmother do?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Organised the travel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Taught at the centre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Told stories of the old neighbourhood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وَكَانَتْ جَدَّتِي تَحْكِي لَنَا قِصَصَ الحَيِّ القَدِيمِ.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celebration here compared with before?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Smaller but more varied</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Larger and simpler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Exactly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أَصْغَرُ مِنَ السَّابِقِ وَلٰكِنَّهُ أَكْثَرُ تَنَوُّعًا.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writer's opinion?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Language is part of identity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food matters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يُمْكِنُ إِنْكَارُ أَنَّ اللُّغَةَ جُزْءٌ مِنَ الهُوِيَّةِ.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aspiration?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and to master fuṣḥā</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move permanently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stop studying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سَأَزُورُ بَلَدَ أُسْرَتِي، وَأَطْمَحُ إِلَى أَنْ أُتْقِنَ الفُصْحَى.</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Final Writing Mission — Every Criterion Checked</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مُهِمَّةٌ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اللُّغَةِ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إِرْثِي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زِيَارَتِهِ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Cultural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بَلَدِ أُسْرَتِي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احْتَفَلْنَا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نَحْتَفِلُ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سَنَحْتَفِلُ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البُيُوتُ فِي المُنَاسَبَاتِ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تُزَيَّنُ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يُزَيَّنُ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مُهِمَّةٌ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اللُّغَةَ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اللُّغَةِ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أَعْتَزُّ</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إِرْثِي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أَعْتَزُّ</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أَطْمَحُ</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زِيَارَتِهِ</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أَطْمَحُ</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Cultural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الطُّفُولَةِ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فِي بَلَدِ أُسْرَتِي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احْتَفَلْنَا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نَحْتَفِلُ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childhood time phrase requires the past.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Passive: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البُيُوتُ فِي المُنَاسَبَاتِ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تُزَيِّنُ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تُزَيَّنُ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يُزَيَّنُ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passive agrees with the feminine plural subject.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D6-L10 · Listening — Culture, Celebration and Identity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المُعْتَقَدَاتُ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beliefs</a:t>
            </a:r>
            <a:pPr indent="0" marL="0">
              <a:buNone/>
            </a:pPr>
            <a:r>
              <a:rPr lang="en-US" sz="1000" i="1" dirty="0">
                <a:solidFill>
                  <a:srgbClr val="5A6472"/>
                </a:solidFill>
                <a:latin typeface="Calibri" pitchFamily="34" charset="0"/>
                <a:ea typeface="Calibri" pitchFamily="34" charset="-122"/>
                <a:cs typeface="Calibri" pitchFamily="34" charset="-120"/>
              </a:rPr>
              <a:t>  sing. مُعْتَقَدٌ</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القِيَمُ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values</a:t>
            </a:r>
            <a:pPr indent="0" marL="0">
              <a:buNone/>
            </a:pPr>
            <a:r>
              <a:rPr lang="en-US" sz="1000" i="1" dirty="0">
                <a:solidFill>
                  <a:srgbClr val="5A6472"/>
                </a:solidFill>
                <a:latin typeface="Calibri" pitchFamily="34" charset="0"/>
                <a:ea typeface="Calibri" pitchFamily="34" charset="-122"/>
                <a:cs typeface="Calibri" pitchFamily="34" charset="-120"/>
              </a:rPr>
              <a:t>  sing. قِيمَةٌ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التَّقَالِيدُ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traditions</a:t>
            </a:r>
            <a:pPr indent="0" marL="0">
              <a:buNone/>
            </a:pPr>
            <a:r>
              <a:rPr lang="en-US" sz="1000" i="1" dirty="0">
                <a:solidFill>
                  <a:srgbClr val="5A6472"/>
                </a:solidFill>
                <a:latin typeface="Calibri" pitchFamily="34" charset="0"/>
                <a:ea typeface="Calibri" pitchFamily="34" charset="-122"/>
                <a:cs typeface="Calibri" pitchFamily="34" charset="-120"/>
              </a:rPr>
              <a:t>  sing. تَقْلِيدٌ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دَائِمًا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not always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بَعْضِ العَائِلَاتِ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some families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Finish your final draft. Then: in a listening, how do you know if a speaker means the past, the present or the future?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أَعْرِفُ الزَّمَنَ مِنْ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70–90-word version from the frames; learn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Final 110–130-word version with a passive, a connector and an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final 130–140 words, self-marked against the three criteria.</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D6-L10 · Listening — Culture, Celebration and Identity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الاِسْتِمَاعُ — نُصُوصُ الثَّقَافَةِ وَالاحْتِفَالِ وَالهُوِيَّةِ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plan four sections · one cultural verb, right preposition · </a:t>
            </a:r>
            <a:pPr algn="l" indent="0" marL="0">
              <a:buNone/>
            </a:pPr>
            <a:r>
              <a:rPr lang="ar-SA" altLang="en-US" sz="1700" b="1" dirty="0">
                <a:solidFill>
                  <a:srgbClr val="FFFFFF"/>
                </a:solidFill>
                <a:latin typeface="Amiri" pitchFamily="34" charset="0"/>
                <a:ea typeface="Amiri" pitchFamily="34" charset="-122"/>
                <a:cs typeface="Amiri" pitchFamily="34" charset="-120"/>
              </a:rPr>
              <a:t>أَنَّ</a:t>
            </a:r>
            <a:pPr algn="l" indent="0" marL="0">
              <a:buNone/>
            </a:pPr>
            <a:r>
              <a:rPr lang="en-US" sz="1300" b="1" dirty="0">
                <a:solidFill>
                  <a:srgbClr val="FFFFFF"/>
                </a:solidFill>
                <a:latin typeface="Calibri" pitchFamily="34" charset="0"/>
                <a:ea typeface="Calibri" pitchFamily="34" charset="-122"/>
                <a:cs typeface="Calibri" pitchFamily="34" charset="-120"/>
              </a:rPr>
              <a:t> + -a · passive subject -u · count and check before you hand 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D6-L09 · Writing — Countries, Culture and Identity (Paper 4)</dc:title>
  <dc:subject>PptxGenJS Presentation</dc:subject>
  <dc:creator>Al Madina Online School · Arabic Department</dc:creator>
  <cp:lastModifiedBy>Al Madina Online School · Arabic Department</cp:lastModifiedBy>
  <cp:revision>1</cp:revision>
  <dcterms:created xsi:type="dcterms:W3CDTF">2026-10-03T10:39:14Z</dcterms:created>
  <dcterms:modified xsi:type="dcterms:W3CDTF">2026-10-03T10:39:14Z</dcterms:modified>
</cp:coreProperties>
</file>