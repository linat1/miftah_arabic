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D6-L09.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D6 writing showcase — keep the best draft for the D6-L12 assessment.
• TEACHER-WRITTEN ITEMS: English added to the patterns and speaking model (its last line smoothed); the key case-ending quiz distractors are kept on purpose;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D6-L08. Questions 4–5 retrieve D6-L08 (يُشِيرُ إِلَى) and D6-L07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(D6-L10 · Listening — Culture, Celebration and Identity Texts) will spend class time USING this language, so students prepare it tonight — short, simple, easy to access (school guidance: “Simple, Short, Interesting, Relevant, Easy to access”). The five words come from the website D6-L10 vocabulary (listening for culture and qualifiers).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Countries, Culture and Identity (Paper 4)</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الدُّوَلُ وَالثَّقَافَةُ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write and self-mark 130–140 words on </a:t>
            </a:r>
            <a:pPr algn="l" indent="0" marL="0">
              <a:buNone/>
            </a:pPr>
            <a:r>
              <a:rPr lang="ar-SA" altLang="en-US" sz="1800" dirty="0">
                <a:solidFill>
                  <a:srgbClr val="C6D2E6"/>
                </a:solidFill>
                <a:latin typeface="Amiri" pitchFamily="2" charset="-78"/>
                <a:ea typeface="Amiri" pitchFamily="2" charset="-78"/>
                <a:cs typeface="Amiri" pitchFamily="2" charset="-78"/>
              </a:rPr>
              <a:t>ثَقَافَتِي وَهُوِيَّتِي</a:t>
            </a:r>
            <a:pPr algn="l" indent="0" marL="0">
              <a:buNone/>
            </a:pPr>
            <a:r>
              <a:rPr lang="en-US" sz="1400" dirty="0">
                <a:solidFill>
                  <a:srgbClr val="C6D2E6"/>
                </a:solidFill>
                <a:latin typeface="Calibri" pitchFamily="34" charset="0"/>
                <a:cs typeface="Amiri" pitchFamily="2" charset="-78"/>
              </a:rPr>
              <a:t> that shows the full D6 range: a past celebration (</a:t>
            </a:r>
            <a:pPr algn="l" indent="0" marL="0">
              <a:buNone/>
            </a:pPr>
            <a:r>
              <a:rPr lang="ar-SA" altLang="en-US" sz="1800" dirty="0">
                <a:solidFill>
                  <a:srgbClr val="C6D2E6"/>
                </a:solidFill>
                <a:latin typeface="Amiri" pitchFamily="2" charset="-78"/>
                <a:ea typeface="Amiri" pitchFamily="2" charset="-78"/>
                <a:cs typeface="Amiri" pitchFamily="2" charset="-78"/>
              </a:rPr>
              <a:t>احْتَفَلْنَا بِالعِيدِ</a:t>
            </a:r>
            <a:pPr algn="l" indent="0" marL="0">
              <a:buNone/>
            </a:pPr>
            <a:r>
              <a:rPr lang="en-US" sz="1400" dirty="0">
                <a:solidFill>
                  <a:srgbClr val="C6D2E6"/>
                </a:solidFill>
                <a:latin typeface="Calibri" pitchFamily="34" charset="0"/>
                <a:cs typeface="Amiri" pitchFamily="2" charset="-78"/>
              </a:rPr>
              <a:t>), the present (</a:t>
            </a:r>
            <a:pPr algn="l" indent="0" marL="0">
              <a:buNone/>
            </a:pPr>
            <a:r>
              <a:rPr lang="ar-SA" altLang="en-US" sz="1800" dirty="0">
                <a:solidFill>
                  <a:srgbClr val="C6D2E6"/>
                </a:solidFill>
                <a:latin typeface="Amiri" pitchFamily="2" charset="-78"/>
                <a:ea typeface="Amiri" pitchFamily="2" charset="-78"/>
                <a:cs typeface="Amiri" pitchFamily="2" charset="-78"/>
              </a:rPr>
              <a:t>تُزَيَّنُ البُيُوتُ</a:t>
            </a:r>
            <a:pPr algn="l" indent="0" marL="0">
              <a:buNone/>
            </a:pPr>
            <a:r>
              <a:rPr lang="en-US" sz="1400" dirty="0">
                <a:solidFill>
                  <a:srgbClr val="C6D2E6"/>
                </a:solidFill>
                <a:latin typeface="Calibri" pitchFamily="34" charset="0"/>
                <a:cs typeface="Amiri" pitchFamily="2" charset="-78"/>
              </a:rPr>
              <a:t>), a supported opinion (</a:t>
            </a:r>
            <a:pPr algn="l" indent="0" marL="0">
              <a:buNone/>
            </a:pPr>
            <a:r>
              <a:rPr lang="ar-SA" altLang="en-US" sz="1800" dirty="0">
                <a:solidFill>
                  <a:srgbClr val="C6D2E6"/>
                </a:solidFill>
                <a:latin typeface="Amiri" pitchFamily="2" charset="-78"/>
                <a:ea typeface="Amiri" pitchFamily="2" charset="-78"/>
                <a:cs typeface="Amiri" pitchFamily="2" charset="-78"/>
              </a:rPr>
              <a:t>لَا يُمْكِنُ إِنْكَارُ أَنَّ اللُّغَةَ</a:t>
            </a:r>
            <a:pPr algn="l" indent="0" marL="0">
              <a:buNone/>
            </a:pPr>
            <a:r>
              <a:rPr lang="en-US" sz="1400" dirty="0">
                <a:solidFill>
                  <a:srgbClr val="C6D2E6"/>
                </a:solidFill>
                <a:latin typeface="Calibri" pitchFamily="34" charset="0"/>
                <a:cs typeface="Amiri" pitchFamily="2" charset="-78"/>
              </a:rPr>
              <a:t> …) and a future aspiration (</a:t>
            </a:r>
            <a:pPr algn="l" indent="0" marL="0">
              <a:buNone/>
            </a:pPr>
            <a:r>
              <a:rPr lang="ar-SA" altLang="en-US" sz="1800" dirty="0">
                <a:solidFill>
                  <a:srgbClr val="C6D2E6"/>
                </a:solidFill>
                <a:latin typeface="Amiri" pitchFamily="2" charset="-78"/>
                <a:ea typeface="Amiri" pitchFamily="2" charset="-78"/>
                <a:cs typeface="Amiri" pitchFamily="2" charset="-78"/>
              </a:rPr>
              <a:t>أَطْمَحُ إِلَى</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D6-L09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أَعْتَزُّ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وِجْهَةِ نَظَرِي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D6-L08.</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D6-L07: </a:t>
            </a:r>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احْتَفَلْنَا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تُزَيَّنُ البُيُوتُ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لَا يُمْكِنُ إِنْكَارُ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full D6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an opinion with </a:t>
            </a:r>
            <a:pPr algn="l" indent="0" marL="0">
              <a:buNone/>
            </a:pPr>
            <a:r>
              <a:rPr lang="ar-SA" altLang="en-US" sz="1700" dirty="0">
                <a:solidFill>
                  <a:srgbClr val="1F2A37"/>
                </a:solidFill>
                <a:latin typeface="Amiri" pitchFamily="2" charset="-78"/>
                <a:ea typeface="Amiri" pitchFamily="2" charset="-78"/>
                <a:cs typeface="Amiri" pitchFamily="2" charset="-78"/>
              </a:rPr>
              <a:t>لَا يُمْكِنُ إِنْكَارُ أَنَّ</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مِنْ وِجْهَةِ نَظَرِي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‎ہویت / شناخت‎ </a:t>
            </a:r>
            <a:pPr indent="0" marL="0">
              <a:buNone/>
            </a:pPr>
            <a:r>
              <a:rPr lang="en-US" sz="950" b="1" dirty="0">
                <a:solidFill>
                  <a:srgbClr val="2E8B57"/>
                </a:solidFill>
                <a:latin typeface="Calibri" pitchFamily="34" charset="0"/>
                <a:cs typeface="Amiri" pitchFamily="2" charset="-78"/>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‎انکار‎ </a:t>
            </a:r>
            <a:pPr indent="0" marL="0">
              <a:buNone/>
            </a:pPr>
            <a:r>
              <a:rPr lang="en-US" sz="950" b="1" dirty="0">
                <a:solidFill>
                  <a:srgbClr val="2E8B57"/>
                </a:solidFill>
                <a:latin typeface="Calibri" pitchFamily="34" charset="0"/>
                <a:cs typeface="Amiri" pitchFamily="2" charset="-78"/>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‎نظر / نظریہ‎ </a:t>
            </a:r>
            <a:pPr indent="0" marL="0">
              <a:buNone/>
            </a:pPr>
            <a:r>
              <a:rPr lang="en-US" sz="950" b="1" dirty="0">
                <a:solidFill>
                  <a:srgbClr val="2E8B57"/>
                </a:solidFill>
                <a:latin typeface="Calibri" pitchFamily="34" charset="0"/>
                <a:cs typeface="Amiri" pitchFamily="2" charset="-78"/>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style</a:t>
            </a:r>
            <a:endParaRPr lang="en-US" sz="1350" dirty="0"/>
          </a:p>
          <a:p>
            <a:pPr indent="0" marL="0">
              <a:buNone/>
            </a:pPr>
            <a:r>
              <a:rPr lang="en-US" sz="1100" i="1" dirty="0">
                <a:solidFill>
                  <a:srgbClr val="5A6472"/>
                </a:solidFill>
                <a:latin typeface="Calibri" pitchFamily="34" charset="0"/>
                <a:cs typeface="Amiri" pitchFamily="2" charset="-78"/>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value</a:t>
            </a:r>
            <a:endParaRPr lang="en-US" sz="1350" dirty="0"/>
          </a:p>
          <a:p>
            <a:pPr indent="0" marL="0">
              <a:buNone/>
            </a:pPr>
            <a:r>
              <a:rPr lang="en-US" sz="1100" i="1" dirty="0">
                <a:solidFill>
                  <a:srgbClr val="5A6472"/>
                </a:solidFill>
                <a:latin typeface="Calibri" pitchFamily="34" charset="0"/>
                <a:cs typeface="Amiri" pitchFamily="2" charset="-78"/>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integration, coming together</a:t>
            </a:r>
            <a:endParaRPr lang="en-US" sz="1350" dirty="0"/>
          </a:p>
          <a:p>
            <a:pPr indent="0" marL="0">
              <a:buNone/>
            </a:pPr>
            <a:r>
              <a:rPr lang="en-US" sz="1100" i="1" dirty="0">
                <a:solidFill>
                  <a:srgbClr val="5A6472"/>
                </a:solidFill>
                <a:latin typeface="Calibri" pitchFamily="34" charset="0"/>
                <a:cs typeface="Amiri" pitchFamily="2" charset="-78"/>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personal experience</a:t>
            </a:r>
            <a:endParaRPr lang="en-US" sz="1350" dirty="0"/>
          </a:p>
          <a:p>
            <a:pPr indent="0" marL="0">
              <a:buNone/>
            </a:pPr>
            <a:r>
              <a:rPr lang="en-US" sz="1100" i="1" dirty="0">
                <a:solidFill>
                  <a:srgbClr val="5A6472"/>
                </a:solidFill>
                <a:latin typeface="Calibri" pitchFamily="34" charset="0"/>
                <a:cs typeface="Amiri" pitchFamily="2" charset="-78"/>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distinguishes me</a:t>
            </a:r>
            <a:endParaRPr lang="en-US" sz="1350" dirty="0"/>
          </a:p>
          <a:p>
            <a:pPr indent="0" marL="0">
              <a:buNone/>
            </a:pPr>
            <a:r>
              <a:rPr lang="en-US" sz="1100" i="1" dirty="0">
                <a:solidFill>
                  <a:srgbClr val="5A6472"/>
                </a:solidFill>
                <a:latin typeface="Calibri" pitchFamily="34" charset="0"/>
                <a:cs typeface="Amiri" pitchFamily="2" charset="-78"/>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pride in</a:t>
            </a:r>
            <a:endParaRPr lang="en-US" sz="1350" dirty="0"/>
          </a:p>
          <a:p>
            <a:pPr indent="0" marL="0">
              <a:buNone/>
            </a:pPr>
            <a:r>
              <a:rPr lang="en-US" sz="1100" i="1" dirty="0">
                <a:solidFill>
                  <a:srgbClr val="5A6472"/>
                </a:solidFill>
                <a:latin typeface="Calibri" pitchFamily="34" charset="0"/>
                <a:cs typeface="Amiri" pitchFamily="2" charset="-78"/>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belong to</a:t>
            </a:r>
            <a:endParaRPr lang="en-US" sz="1350" dirty="0"/>
          </a:p>
          <a:p>
            <a:pPr indent="0" marL="0">
              <a:buNone/>
            </a:pPr>
            <a:r>
              <a:rPr lang="en-US" sz="1100" i="1" dirty="0">
                <a:solidFill>
                  <a:srgbClr val="5A6472"/>
                </a:solidFill>
                <a:latin typeface="Calibri" pitchFamily="34" charset="0"/>
                <a:cs typeface="Amiri" pitchFamily="2" charset="-78"/>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believe that</a:t>
            </a:r>
            <a:endParaRPr lang="en-US" sz="1350" dirty="0"/>
          </a:p>
          <a:p>
            <a:pPr indent="0" marL="0">
              <a:buNone/>
            </a:pPr>
            <a:r>
              <a:rPr lang="en-US" sz="1100" i="1" dirty="0">
                <a:solidFill>
                  <a:srgbClr val="5A6472"/>
                </a:solidFill>
                <a:latin typeface="Calibri" pitchFamily="34" charset="0"/>
                <a:cs typeface="Amiri" pitchFamily="2" charset="-78"/>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to</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Task Completion</a:t>
            </a:r>
            <a:endParaRPr lang="en-US" sz="1350" dirty="0"/>
          </a:p>
          <a:p>
            <a:pPr indent="0" marL="0">
              <a:buNone/>
            </a:pPr>
            <a:r>
              <a:rPr lang="en-US" sz="1100" i="1" dirty="0">
                <a:solidFill>
                  <a:srgbClr val="5A6472"/>
                </a:solidFill>
                <a:latin typeface="Calibri" pitchFamily="34" charset="0"/>
                <a:cs typeface="Amiri" pitchFamily="2" charset="-78"/>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a:t>
            </a:r>
            <a:endParaRPr lang="en-US" sz="1350" dirty="0"/>
          </a:p>
          <a:p>
            <a:pPr indent="0" marL="0">
              <a:buNone/>
            </a:pPr>
            <a:r>
              <a:rPr lang="en-US" sz="1100" i="1" dirty="0">
                <a:solidFill>
                  <a:srgbClr val="5A6472"/>
                </a:solidFill>
                <a:latin typeface="Calibri" pitchFamily="34" charset="0"/>
                <a:cs typeface="Amiri" pitchFamily="2" charset="-78"/>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self-checking</a:t>
            </a:r>
            <a:endParaRPr lang="en-US" sz="1350" dirty="0"/>
          </a:p>
          <a:p>
            <a:pPr indent="0" marL="0">
              <a:buNone/>
            </a:pPr>
            <a:r>
              <a:rPr lang="en-US" sz="1100" i="1" dirty="0">
                <a:solidFill>
                  <a:srgbClr val="5A6472"/>
                </a:solidFill>
                <a:latin typeface="Calibri" pitchFamily="34" charset="0"/>
                <a:cs typeface="Amiri" pitchFamily="2" charset="-78"/>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suffix</a:t>
            </a:r>
            <a:endParaRPr lang="en-US" sz="1350" dirty="0"/>
          </a:p>
          <a:p>
            <a:pPr indent="0" marL="0">
              <a:buNone/>
            </a:pPr>
            <a:r>
              <a:rPr lang="en-US" sz="1100" i="1" dirty="0">
                <a:solidFill>
                  <a:srgbClr val="5A6472"/>
                </a:solidFill>
                <a:latin typeface="Calibri" pitchFamily="34" charset="0"/>
                <a:cs typeface="Amiri" pitchFamily="2" charset="-78"/>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correct preposition</a:t>
            </a:r>
            <a:endParaRPr lang="en-US" sz="1350" dirty="0"/>
          </a:p>
          <a:p>
            <a:pPr indent="0" marL="0">
              <a:buNone/>
            </a:pPr>
            <a:r>
              <a:rPr lang="en-US" sz="1100" i="1" dirty="0">
                <a:solidFill>
                  <a:srgbClr val="5A6472"/>
                </a:solidFill>
                <a:latin typeface="Calibri" pitchFamily="34" charset="0"/>
                <a:cs typeface="Amiri" pitchFamily="2" charset="-78"/>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1950" b="1" dirty="0">
                <a:solidFill>
                  <a:srgbClr val="1B3B6F"/>
                </a:solidFill>
                <a:latin typeface="Amiri" pitchFamily="2" charset="-78"/>
                <a:ea typeface="Amiri" pitchFamily="2" charset="-78"/>
                <a:cs typeface="Amiri" pitchFamily="2" charset="-78"/>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1950" b="1" dirty="0">
                <a:solidFill>
                  <a:srgbClr val="1B3B6F"/>
                </a:solidFill>
                <a:latin typeface="Amiri" pitchFamily="2" charset="-78"/>
                <a:ea typeface="Amiri" pitchFamily="2" charset="-78"/>
                <a:cs typeface="Amiri" pitchFamily="2" charset="-78"/>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لَا يُمْكِنُ إِنْكَارُ أَنَّ</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وَفِي المُسْتَقْبَلِ</a:t>
            </a:r>
            <a:pPr rtl="1" algn="ctr" indent="0" marL="0">
              <a:buNone/>
            </a:pPr>
            <a:r>
              <a:rPr lang="ar-SA" altLang="en-US" sz="1950" b="1" dirty="0">
                <a:solidFill>
                  <a:srgbClr val="1B3B6F"/>
                </a:solidFill>
                <a:latin typeface="Amiri" pitchFamily="2" charset="-78"/>
                <a:ea typeface="Amiri" pitchFamily="2" charset="-78"/>
                <a:cs typeface="Amiri" pitchFamily="2" charset="-78"/>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noun after </a:t>
            </a:r>
            <a:pPr algn="l" indent="0" marL="0">
              <a:buNone/>
            </a:pPr>
            <a:r>
              <a:rPr lang="ar-SA" altLang="en-US" sz="1500" dirty="0">
                <a:solidFill>
                  <a:srgbClr val="1F2A37"/>
                </a:solidFill>
                <a:latin typeface="Amiri" pitchFamily="2" charset="-78"/>
                <a:ea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لَا يُمْكِنُ إِنْكَارُ أَنَّ</a:t>
            </a:r>
            <a:pPr algn="l" indent="0" marL="0">
              <a:buNone/>
            </a:pPr>
            <a:r>
              <a:rPr lang="en-US" sz="1050" dirty="0">
                <a:solidFill>
                  <a:srgbClr val="5A6472"/>
                </a:solidFill>
                <a:latin typeface="Calibri" pitchFamily="34" charset="0"/>
                <a:cs typeface="Amiri" pitchFamily="2" charset="-78"/>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أَنَّ اللُّغَةَ</a:t>
            </a:r>
            <a:pPr rtl="1" algn="ctr" indent="0" marL="0">
              <a:buNone/>
            </a:pPr>
            <a:r>
              <a:rPr lang="ar-SA" altLang="en-US" sz="2200" b="1" dirty="0">
                <a:solidFill>
                  <a:srgbClr val="1B3B6F"/>
                </a:solidFill>
                <a:latin typeface="Amiri" pitchFamily="2" charset="-78"/>
                <a:ea typeface="Amiri" pitchFamily="2" charset="-78"/>
                <a:cs typeface="Amiri" pitchFamily="2" charset="-78"/>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أَنْتَمِي إِلَى ثَقَافَتَيْنِ، وَأَعْتَزُّ بِهِمَا مَعًا.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الطُّفُولَةِ احْتَفَلْنَا بِالعِيدِ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بَلَدِ أُسْرَتِي.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أَمَّا الآنَ فَنَحْتَفِلُ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هُنَا،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وَتُزَيَّنُ البُيُوتُ</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لَا يُمْكِنُ إِنْكَارُ أَنَّ اللُّغَةَ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جُزْءٌ مِنَ الهُوِيَّةِ،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وَأَطْمَحُ 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cannot be denied that language is part of identity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take pride in my cultural heritage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houses are decorated on special occasions</a:t>
            </a:r>
            <a:endParaRPr lang="en-US" sz="1250" dirty="0"/>
          </a:p>
          <a:p>
            <a:pPr indent="0" marL="0">
              <a:buNone/>
            </a:pPr>
            <a:r>
              <a:rPr lang="en-US" sz="1050" i="1" dirty="0">
                <a:solidFill>
                  <a:srgbClr val="8A6D1E"/>
                </a:solidFill>
                <a:latin typeface="Calibri" pitchFamily="34" charset="0"/>
                <a:cs typeface="Amiri" pitchFamily="2" charset="-78"/>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your plan through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مَوْضُوعُ فِقْرَتِكَ الأُولَى؟ وَأَيُّ زَمَنٍ سَتَسْتَعْمِلُ؟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فِعْلٍ ثَقَافِيٍّ سَتَسْتَعْمِلُ؟ وَمَا حَرْفُ الجَرِّ الصَّحِيحُ؟</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سَتَخْتِمُ بِرَأْيٍ وَطُمُوحٍ؟</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سَأَكْتُبُ عَنِ المَاضِي: فِي الطُّفُولَةِ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سَأَسْتَعْمِلُ ___ ، وَحَرْفُ الجَرِّ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أَخْتِمُ بِرَأْيٍ: لَا يُمْكِنُ إِنْكَارُ أَنَّ ___ ، وَأَطْمَحُ إِلَى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مَوْضُوعُ فِقْرَتِكَ الأُولَى؟</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first paragraph about?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سَأَكْتُبُ عَنِ المَاضِي: فِي الطُّفُولَةِ احْتَفَلْنَا بِالعِيدِ فِي بَلَدِ أُسْرَتِي.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will write about the past: in childhood we celebrated Eid in my family’s country.</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 to 140 words on </a:t>
            </a:r>
            <a:pPr algn="l" indent="0" marL="0">
              <a:buNone/>
            </a:pPr>
            <a:r>
              <a:rPr lang="ar-SA" altLang="en-US" sz="1750" b="1" dirty="0">
                <a:solidFill>
                  <a:srgbClr val="1F2A37"/>
                </a:solidFill>
                <a:latin typeface="Amiri" pitchFamily="2" charset="-78"/>
                <a:ea typeface="Amiri" pitchFamily="2" charset="-78"/>
                <a:cs typeface="Amiri" pitchFamily="2" charset="-78"/>
              </a:rPr>
              <a:t>ثَقَافَتِي وَهُوِيَّتِي</a:t>
            </a:r>
            <a:pPr algn="l" indent="0" marL="0">
              <a:buNone/>
            </a:pPr>
            <a:r>
              <a:rPr lang="en-US" sz="1350" b="1" dirty="0">
                <a:solidFill>
                  <a:srgbClr val="1F2A37"/>
                </a:solidFill>
                <a:latin typeface="Calibri" pitchFamily="34" charset="0"/>
                <a:cs typeface="Amiri" pitchFamily="2" charset="-78"/>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مُهِمَّةٌ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أَعْتَزُّ</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إِرْثِي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أَعْتَزُّ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أَطْمَحُ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زِيَارَتِهِ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Cultural verb: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بَلَدِ أُسْرَتِي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البُيُوتُ فِي المُنَاسَبَاتِ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D6-L10 · Listening — Culture, Celebration and Identity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المُعْتَقَدَاتُ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beliefs</a:t>
            </a:r>
            <a:pPr indent="0" marL="0">
              <a:buNone/>
            </a:pPr>
            <a:r>
              <a:rPr lang="ar-SA" sz="1000" i="1" dirty="0">
                <a:solidFill>
                  <a:srgbClr val="5A6472"/>
                </a:solidFill>
                <a:latin typeface="Calibri" pitchFamily="34" charset="0"/>
                <a:ea typeface="Amiri" pitchFamily="2" charset="-78"/>
                <a:cs typeface="Amiri" pitchFamily="2" charset="-78"/>
              </a:rPr>
              <a:t>  sing. مُعْتَقَدٌ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values</a:t>
            </a:r>
            <a:pPr indent="0" marL="0">
              <a:buNone/>
            </a:pPr>
            <a:r>
              <a:rPr lang="ar-SA" sz="1000" i="1" dirty="0">
                <a:solidFill>
                  <a:srgbClr val="5A6472"/>
                </a:solidFill>
                <a:latin typeface="Calibri" pitchFamily="34" charset="0"/>
                <a:ea typeface="Amiri" pitchFamily="2" charset="-78"/>
                <a:cs typeface="Amiri" pitchFamily="2" charset="-78"/>
              </a:rPr>
              <a:t>  sing. قِيمَةٌ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التَّقَالِيدُ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traditions</a:t>
            </a:r>
            <a:pPr indent="0" marL="0">
              <a:buNone/>
            </a:pPr>
            <a:r>
              <a:rPr lang="ar-SA" sz="1000" i="1" dirty="0">
                <a:solidFill>
                  <a:srgbClr val="5A6472"/>
                </a:solidFill>
                <a:latin typeface="Calibri" pitchFamily="34" charset="0"/>
                <a:ea typeface="Amiri" pitchFamily="2" charset="-78"/>
                <a:cs typeface="Amiri" pitchFamily="2" charset="-78"/>
              </a:rPr>
              <a:t>  sing. تَقْلِيدٌ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دَائِمًا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not always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بَعْضِ العَائِلَاتِ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some families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in a listening, how do you know if a speaker means the past, the present or the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أَعْرِفُ الزَّمَنَ مِنْ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D6-L10 · Listening — Culture, Celebration and Identity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الثَّقَافَةِ وَالاحْتِفَالِ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four sections · one cultural verb, right preposition ·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 -a · passive subject -u · count and check before you hand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D6-L09 · Writing — Countries, Culture and Identity (Paper 4)</dc:title>
  <dc:subject>PptxGenJS Presentation</dc:subject>
  <dc:creator>Al Madina Online School · Arabic Department</dc:creator>
  <cp:lastModifiedBy>Al Madina Online School · Arabic Department</cp:lastModifiedBy>
  <cp:revision>1</cp:revision>
  <dcterms:created xsi:type="dcterms:W3CDTF">2026-10-11T06:41:11Z</dcterms:created>
  <dcterms:modified xsi:type="dcterms:W3CDTF">2026-10-11T06:41:11Z</dcterms:modified>
</cp:coreProperties>
</file>