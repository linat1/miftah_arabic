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Map · 2–6 Grammar spine (not marked) · 6–7 Assessment map · 7–21 Listening (20) · 21–29 Reading (10) · 29–46 Writing (20) · 46–56 Speaking (10, one-to-one or trusted pairs) · 56–60 Profile and P1 target.
FLEX slides are optional. Use them if the class is moving quickly; otherwise the same activities are on the website for homework.
Content source: Miftah Arabic website, Pathways › Development › D6 Countries, Cultures and Celebrations › D6-L12. The website D6-L12 is a four-skill, 60-mark unit assessment: a twelve-question grammar spine (revision, not counted), Part A listening (three texts — one family’s celebration across three tenses 8 · Nūr and Sami: who said what 6 · Arabic and the Arab world 6 = 20), Part B1 reading (a festival city: 10), Part B2 writing (five-field cultural profile 5 + 130–140-word article 15, marked task / range / accuracy) and Part C speaking (role play: meeting someone from another culture 4 + topic conversation 6), then a P1 target.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Identity is personal: the profile, article and role play may be about a fictional family. The reading text describes several communities (including a church service) — read it as describing others respectfully (al-Ḥujurāt 49:13); no participation is implied.
• Accuracy focus today: tense matches its time phrase · cultural verb + preposition · passive subject in -u · أَنَّ + accusative · a fair, qualified claim.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grammar spine · Part A listening · Part B1 reading · Part B2 writing · Part C speaking · mark scheme ·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D6-L11. Questions 2–5 are from the website twelve-question grammar spine (used diagnostically; the items that differ only in vowel endings are reviewed on the next slide).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choose ONE thing to check in your writing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REVIEW (website twelve-question grammar spine, correct answers): زُرْنَا · كَانَتْ تُعِدُّ · سَنُنَظِّمُ · لَنْ · بِـ · إِلَى · مَعَ · تُزَيَّنُ القَاعَةُ · الَّتِي · أَكْبَرُ مِنَ السَّابِقِ · لُبْنَانَ (diptote) · أَنَّ التَّنَوُّعَ. Close the vocabulary vault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sixty marks across listening, reading, writing and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1–4 (website Part A, 20 marks). Before listening: mark each question P / N / F and circle “who” and “all / some” questions (D6-L10). Each recording may be played twice; students answer after the second reading.
SCRIPT: فِي الطُّفُولَةِ كُنَّا نَحْتَفِلُ بِالعِيدِ فِي بَلَدِ أُسْرَتِي، وَكَانَتْ جَدَّتِي تُعِدُّ الحَلْوَى بِنَفْسِهَا. وَفِي العَامِ المَاضِي زُرْنَا الأَقَارِبَ هُنَاكَ بَعْدَ غِيَابٍ طَوِيلٍ، وَوَزَّعَ أَبِي العِيدِيَّةَ عَلَى الأَطْفَالِ. أَمَّا الآنَ فَنَحْتَفِلُ عَادَةً فِي المَرْكَزِ الثَّقَافِيِّ مَعَ الجَالِيَةِ، وَتُزَيَّنُ القَاعَةُ وَتُتَبَادَلُ التَّهَانِي. وَفِي بَعْضِ العَائِلَاتِ تُوَزَّعُ العِيدِيَّةُ، وَلٰكِنْ لَيْسَ دَائِمًا؛ فَالعَادَاتُ تَخْتَلِفُ. وَالعَامَ القَادِمَ سَنُنَظِّمُ حَفْلًا أَكْبَرَ، وَسَنَدْعُو الجِيرَانَ لِكَيْ يَتَعَرَّفُوا عَلَى تَقَالِيدِنَا. وَأَطْمَحُ إِلَى أَنْ أَزُورَ بَلَدَ أُسْرَتِي مَرَّةً أُخْرَى.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Reveal the script only after the attempt; ask which verb, speaker or hedge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5–8 (website Part A, 20 marks). Before listening: mark each question P / N / F and circle “who” and “all / some” questions (D6-L10). Each recording may be played twice; students answer after the second reading.
SCRIPT: فِي الطُّفُولَةِ كُنَّا نَحْتَفِلُ بِالعِيدِ فِي بَلَدِ أُسْرَتِي، وَكَانَتْ جَدَّتِي تُعِدُّ الحَلْوَى بِنَفْسِهَا. وَفِي العَامِ المَاضِي زُرْنَا الأَقَارِبَ هُنَاكَ بَعْدَ غِيَابٍ طَوِيلٍ، وَوَزَّعَ أَبِي العِيدِيَّةَ عَلَى الأَطْفَالِ. أَمَّا الآنَ فَنَحْتَفِلُ عَادَةً فِي المَرْكَزِ الثَّقَافِيِّ مَعَ الجَالِيَةِ، وَتُزَيَّنُ القَاعَةُ وَتُتَبَادَلُ التَّهَانِي. وَفِي بَعْضِ العَائِلَاتِ تُوَزَّعُ العِيدِيَّةُ، وَلٰكِنْ لَيْسَ دَائِمًا؛ فَالعَادَاتُ تَخْتَلِفُ. وَالعَامَ القَادِمَ سَنُنَظِّمُ حَفْلًا أَكْبَرَ، وَسَنَدْعُو الجِيرَانَ لِكَيْ يَتَعَرَّفُوا عَلَى تَقَالِيدِنَا. وَأَطْمَحُ إِلَى أَنْ أَزُورَ بَلَدَ أُسْرَتِي مَرَّةً أُخْرَى.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Reveal the script only after the attempt; ask which verb, speaker or hedge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2 · 6 QUESTIONS (website Part A, 20 marks). Before listening: mark each question P / N / F and circle “who” and “all / some” questions (D6-L10). Each recording may be played twice; students answer after the second reading.
SCRIPT: نُورُ: أَنَا مِنَ الجِيلِ الثَّانِي، وَأَنْتَمِي إِلَى ثَقَافَتَيْنِ. أَتَحَدَّثُ العَرَبِيَّةَ فِي البَيْتِ. سَامِي: وَأَنَا وُلِدْتُ هُنَاكَ وَجِئْتُ صَغِيرًا، وَتَكَيَّفْتُ مَعَ الحَيَاةِ هُنَا بِسُرْعَةٍ. نُورُ: أَحْتَفِظُ بِعَادَاتِ أُسْرَتِي، وَخَاصَّةً فِي المُنَاسَبَاتِ. سَامِي: وَأَنَا أَيْضًا أَحْتَفِظُ بِهَا، وَلٰكِنَّنِي أَحْيَانًا أَخْلِطُ بَيْنَ اللُّغَتَيْنِ. نُورُ: أَنَا كَذٰلِكَ! وَهٰذَا طَبِيعِيٌّ وَلَيْسَ مُشْكِلَةً. سَامِي: أَحِنُّ إِلَى وَطَنِي أَحْيَانًا. نُورُ: وَأَنَا لَمْ أَعِشْ هُنَاكَ، وَلٰكِنِّي أَشْعُرُ بِالانْتِمَاءِ إِلَيْهِ.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Reveal the script only after the attempt; ask which verb, speaker or hedge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3 · 6 QUESTIONS (website Part A, 20 marks). Before listening: mark each question P / N / F and circle “who” and “all / some” questions (D6-L10). Each recording may be played twice; students answer after the second reading.
SCRIPT: تُعَدُّ العَرَبِيَّةُ مِنْ أَوْسَعِ اللُّغَاتِ انْتِشَارًا، وَهِيَ إِحْدَى لُغَاتِ الأُمَمِ المُتَّحِدَةِ الرَّسْمِيَّةِ. وَتَضُمُّ المِنْطَقَةُ اثْنَتَيْنِ وَعِشْرِينَ دَوْلَةً تَخْتَلِفُ لَهَجَاتُهَا، بَيْنَمَا تَجْمَعُهَا الفُصْحَى فِي الكِتَابَةِ وَالإِعْلَامِ. وَإِلَى جَانِبِ العَرَبِيَّةِ تُوجَدُ لُغَاتٌ رَسْمِيَّةٌ أُخْرَى، مِثْلُ الأَمَازِيغِيَّةِ فِي المَغْرِبِ وَالجَزَائِرِ. وَقَدِ انْتَقَلَتْ كَلِمَاتٌ عَرَبِيَّةٌ إِلَى لُغَاتٍ أُخْرَى عَبْرَ التِّجَارَةِ وَالتَّرْجَمَةِ. وَيُشَارُ إِلَى أَنَّ التَّنَوُّعَ الثَّقَافِيَّ وَالدِّينِيَّ قَدِيمٌ فِي المِنْطَقَةِ، وَلَيْسَ صَحِيحًا أَنَّهَا ذَاتُ ثَقَافَةٍ وَاحِدَةٍ.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Reveal the script only after the attempt; ask which verb, speaker or hedge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Part B1). No English support on assessment texts. Strategy: adjectives → attitude · past = completed · what is left out (D6-L08). The text describes several communities, including a church service — describing others respectfully.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attitude, omission and tense signal · R4 tense gap-fill and aspiration).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attitude, omission and tense signal · R4 tense gap-fill and aspiration).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QUESTION 1 (website, 5 marks): one mark per field completed accurately in Arabic (a phrase is enough). Field 3 must use يَحْتَفِلُ بِـ with the preposition for the mark; field 5 rewards أَطْمَحُ إِلَى / أَتَمَنَّى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QUESTION 2 (website, 15 marks): write 130–140 words on ثَقَافَتِي وَهُوِيَّتِي — describe your background, narrate a past cultural experience (3+ events), give an opinion and state a future aspiration. Mark scheme exactly as on the website. The D6-L09 website model is a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(website, 4 marks). Teacher plays a visitor from another culture: مَرْحَبًا! أَنَا مِنْ اليَابَانِ، وَأَنْتَ؟ Answers to model: أَنَا مِنَ الجِيلِ الثَّانِي، وَأَنْتَمِي إِلَى ثَقَافَتَيْنِ … · فِي العِيدِ تُتَبَادَلُ التَّهَانِي … · وَأَنْتَ، كَيْفَ تَحْتَفِلُونَ فِي بَلَدِكَ؟ · تَعَلَّمْتُ مِنْ صَدِيقِي أَنَّ … Listen for the preposition on every cultural verb. To a girl: عَرِّفِي · صِفِي · اِسْأَلِي · اُذْكُرِي.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CONVERSATION (website, 6 marks): mirror the tense of each question and qualify cultural claims (D6-L11). Allow time-buying and repair phrases (دَعْنِي أُفَكِّرُ · عَفْوًا، أَقْصِدُ). To a girl: تُرِيدِينَ · مَرَرْتِ · حَيَاتِكِ. ORGANISATION: one-to-one while others finish writing, or trusted pairs with the teacher as examiner.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complete the four components to generate targeted guidance). The bands are a teacher guide in line with the D1–D5 assessments. Development is now complete — celebrate it before setting the P1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(P1-L01 · Diet and Nutrition — Reviewing and Extending Food Vocabulary) will spend class time USING this language, so students prepare it tonight — short, simple, easy to access (school guidance: “Simple, Short, Interesting, Relevant, Easy to access”). Progression begins with healthy lifestyles (website P1-L01 “Diet and Nutrition — Reviewing and Extending Food Vocabulary”).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Review and Unit Assessment: Countries, Cultures and Celebrations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المُرَاجَعَةُ وَتَقْيِيمُ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Show what you can understand and produce about countries, culture, celebration and identity — every tense accurate, every cultural verb with its preposition, every claim fair — then choose one precise next step for Progression P1.</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D6-L12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D6</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spine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D6 checklist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three texts,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27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P1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Progression P1: diet and nutrition.</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grammar spine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فَهْمُ المَسْمُوعِ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comprehension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listening comprehension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conversation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 form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زُرْنَا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زَارْنَا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زَارُوا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نَتَخَلَّى عَنْ لُغَتِنَا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يَتَكَيَّفُ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الحَيَاةِ 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الَّتِي زُرْتُهَا جَمِيلَةٌ.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الَّذِي زُرْتُهَا جَمِيلَةٌ.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الَّذِينَ زُرْتُهَا جَمِيلَةٌ.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فَهْمُ المَسْمُوعِ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comprehension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listening comprehension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conversation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 form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زُرْنَا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زَارْنَا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زَارُوا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نَتَخَلَّى عَنْ لُغَتِنَا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يَتَكَيَّفُ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الحَيَاةِ 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7.</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المَدِينَةُ الَّتِي زُرْتُهَا جَمِيلَةٌ.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 الَّذِي زُرْتُهَا جَمِيلَةٌ.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 الَّذِينَ زُرْتُهَا جَمِيلَةٌ.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9.</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choose ONE thing to check in your writing today.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الزَّمَنُ · حَرْفُ الجَرِّ · المَجْهُولُ · أَنَّ · التَّحَفُّظُ</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D6 GRAMMAR SPINE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D6 accuracy checklist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D6-L07 · L10</a:t>
            </a:r>
            <a:endParaRPr lang="en-US" sz="1100" dirty="0"/>
          </a:p>
        </p:txBody>
      </p:sp>
      <p:sp>
        <p:nvSpPr>
          <p:cNvPr id="21" name="Text 18"/>
          <p:cNvSpPr txBox="1"/>
          <p:nvPr/>
        </p:nvSpPr>
        <p:spPr>
          <a:xfrm>
            <a:off x="3291840" y="2267712"/>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زُرْنَا · كَانَتْ تُعِدُّ · سَنُنَظِّمُ · لَنْ نَتَخَلَّى</a:t>
            </a:r>
            <a:endParaRPr lang="ar-SA" sz="22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tense + time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D6-L02 · L05</a:t>
            </a:r>
            <a:endParaRPr lang="en-US" sz="1100" dirty="0"/>
          </a:p>
        </p:txBody>
      </p:sp>
      <p:sp>
        <p:nvSpPr>
          <p:cNvPr id="27" name="Text 24"/>
          <p:cNvSpPr txBox="1"/>
          <p:nvPr/>
        </p:nvSpPr>
        <p:spPr>
          <a:xfrm>
            <a:off x="3291840" y="3004718"/>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نَحْتَفِلُ بِالعِيدِ · أَنْتَمِي إِلَى · يَتَكَيَّفُ مَعَ</a:t>
            </a:r>
            <a:endParaRPr lang="ar-SA" sz="22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 preposition</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D6-L03</a:t>
            </a:r>
            <a:endParaRPr lang="en-US" sz="1100" dirty="0"/>
          </a:p>
        </p:txBody>
      </p:sp>
      <p:sp>
        <p:nvSpPr>
          <p:cNvPr id="33" name="Text 30"/>
          <p:cNvSpPr txBox="1"/>
          <p:nvPr/>
        </p:nvSpPr>
        <p:spPr>
          <a:xfrm>
            <a:off x="3291840" y="3741725"/>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تُزَيَّنُ القَاعَةُ بِالأَضْوَاءِ</a:t>
            </a:r>
            <a:endParaRPr lang="ar-SA" sz="22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D6-L05 · L07</a:t>
            </a:r>
            <a:endParaRPr lang="en-US" sz="1100" dirty="0"/>
          </a:p>
        </p:txBody>
      </p:sp>
      <p:sp>
        <p:nvSpPr>
          <p:cNvPr id="37" name="Text 34"/>
          <p:cNvSpPr txBox="1"/>
          <p:nvPr/>
        </p:nvSpPr>
        <p:spPr>
          <a:xfrm>
            <a:off x="3291840" y="4478731"/>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المَدِينَةُ الَّتِي زُرْتُهَا · أَكْبَرُ مِنَ السَّابِقِ</a:t>
            </a:r>
            <a:endParaRPr lang="ar-SA" sz="2200" dirty="0"/>
          </a:p>
        </p:txBody>
      </p:sp>
      <p:sp>
        <p:nvSpPr>
          <p:cNvPr id="38" name="Text 35"/>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relative · comparative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D6-L01 · L09</a:t>
            </a:r>
            <a:endParaRPr lang="en-US" sz="1100" dirty="0"/>
          </a:p>
        </p:txBody>
      </p:sp>
      <p:sp>
        <p:nvSpPr>
          <p:cNvPr id="41" name="Text 38"/>
          <p:cNvSpPr txBox="1"/>
          <p:nvPr/>
        </p:nvSpPr>
        <p:spPr>
          <a:xfrm>
            <a:off x="3291840" y="5215738"/>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إِلَى لُبْنَانَ · أَنَّ التَّنَوُّعَ ثَرْوَةٌ</a:t>
            </a:r>
            <a:endParaRPr lang="ar-SA" sz="2200" dirty="0"/>
          </a:p>
        </p:txBody>
      </p:sp>
      <p:sp>
        <p:nvSpPr>
          <p:cNvPr id="42" name="Text 39"/>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case after a word</a:t>
            </a:r>
            <a:endParaRPr lang="en-US" sz="1100" dirty="0"/>
          </a:p>
        </p:txBody>
      </p:sp>
      <p:sp>
        <p:nvSpPr>
          <p:cNvPr id="43" name="Shape 4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And one habit for every part today: a fair, qualified claim — </a:t>
            </a:r>
            <a:pPr algn="l" indent="0" marL="0">
              <a:buNone/>
            </a:pPr>
            <a:r>
              <a:rPr lang="ar-SA" altLang="en-US" sz="1500" b="1" dirty="0">
                <a:solidFill>
                  <a:srgbClr val="1B3B6F"/>
                </a:solidFill>
                <a:latin typeface="Amiri" pitchFamily="2" charset="-78"/>
                <a:ea typeface="Amiri" pitchFamily="2" charset="-78"/>
                <a:cs typeface="Amiri" pitchFamily="2" charset="-78"/>
              </a:rPr>
              <a:t>فِي بَعْضِ</a:t>
            </a:r>
            <a:pPr algn="l" indent="0" marL="0">
              <a:buNone/>
            </a:pPr>
            <a:r>
              <a:rPr lang="en-US" sz="1150" b="1" dirty="0">
                <a:solidFill>
                  <a:srgbClr val="1B3B6F"/>
                </a:solidFill>
                <a:latin typeface="Calibri" pitchFamily="34" charset="0"/>
                <a:cs typeface="Amiri" pitchFamily="2" charset="-78"/>
              </a:rPr>
              <a:t> … · </a:t>
            </a:r>
            <a:pPr algn="l" indent="0" marL="0">
              <a:buNone/>
            </a:pPr>
            <a:r>
              <a:rPr lang="ar-SA" altLang="en-US" sz="1500" b="1" dirty="0">
                <a:solidFill>
                  <a:srgbClr val="1B3B6F"/>
                </a:solidFill>
                <a:latin typeface="Amiri" pitchFamily="2" charset="-78"/>
                <a:ea typeface="Amiri" pitchFamily="2" charset="-78"/>
                <a:cs typeface="Amiri" pitchFamily="2" charset="-78"/>
              </a:rPr>
              <a:t>عَلَى حَدِّ عِلْمِي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texts (each heard twice): a celebration across three tenses (8) · Nūr and Sami (6) · Arabic and the Arab world (6)</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festival city: main idea, detail, attitude, omission and a tense gap-fill</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cultural profile (5) + a 130–140-word article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role play: meeting someone from another culture (4) + a topic conversation (6)</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A celebration across three tenses (1)</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family celebrate in childhood?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family's home country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cultural centre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school</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grandmother used to do?</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with them</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Decorate the hall</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Prepare the sweets herself</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cancelled the celebration</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moved abroad</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visited relatives after a long absence</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they usually celebrate now?</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cultural centre with the community</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village</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a relative's house</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A celebration across three tenses (1): answers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family celebrate in childhood?</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family's home country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cultural centre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school</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كُنَّا نَحْتَفِلُ بِالعِيدِ فِي بَلَدِ أُسْرَتِي.</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grandmother used to do?</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 with them</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Decorate the hall</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Prepare the sweets herself</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وَكَانَتْ جَدَّتِي تُعِدُّ الحَلْوَى بِنَفْسِهَا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cancelled the celebration</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moved abroad</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visited relatives after a long absence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وَفِي العَامِ المَاضِي زُرْنَا الأَقَارِبَ هُنَاكَ بَعْدَ غِيَابٍ طَوِيلٍ.</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they usually celebrate now?</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the cultural centre with the community</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village</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a relative's house</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أَمَّا الآنَ فَنَحْتَفِلُ عَادَةً فِي المَرْكَزِ الثَّقَافِيِّ.</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A celebration across three tenses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the hall now?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rebuilt each year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stays closed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decorated and greetings are exchanged</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next year?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celebration at all</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move to another city</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larger celebration, with neighbours invited</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aspiration?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visit the family's country again</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stop travelling</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change languages</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العِيدِيَّة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special sweet</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Money given to children at Eid</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Eid prayer</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A celebration across three tenses (2): answers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the hall now?</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rebuilt each year</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stays closed</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decorated and greetings are exchanged</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وَتُزَيَّنُ القَاعَةُ وَتُتَبَادَلُ التَّهَانِي.</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next year?</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celebration at all</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move to another city</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larger celebration, with neighbours invited</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وَالعَامَ القَادِمَ سَنُنَظِّمُ حَفْلًا أَكْبَرَ، وَسَنَدْعُو الجِيرَانَ.</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aspiration?</a:t>
            </a:r>
            <a:endParaRPr lang="en-US" sz="1250" dirty="0"/>
          </a:p>
        </p:txBody>
      </p:sp>
      <p:sp>
        <p:nvSpPr>
          <p:cNvPr id="49" name="Shape 46"/>
          <p:cNvSpPr/>
          <p:nvPr/>
        </p:nvSpPr>
        <p:spPr>
          <a:xfrm>
            <a:off x="548640" y="4794504"/>
            <a:ext cx="5362956"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40080" y="4831080"/>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visit the family's country again</a:t>
            </a:r>
            <a:endParaRPr lang="en-US" sz="1250" dirty="0"/>
          </a:p>
        </p:txBody>
      </p:sp>
      <p:sp>
        <p:nvSpPr>
          <p:cNvPr id="53" name="Shape 50"/>
          <p:cNvSpPr/>
          <p:nvPr/>
        </p:nvSpPr>
        <p:spPr>
          <a:xfrm>
            <a:off x="640080" y="5202936"/>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stop travelling</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change languages</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وَأَطْمَحُ إِلَى أَنْ أَزُورَ بَلَدَ أُسْرَتِي مَرَّةً أُخْرَى.</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العِيدِيَّة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special sweet</a:t>
            </a:r>
            <a:endParaRPr lang="en-US" sz="1250" dirty="0"/>
          </a:p>
        </p:txBody>
      </p:sp>
      <p:sp>
        <p:nvSpPr>
          <p:cNvPr id="67" name="Shape 64"/>
          <p:cNvSpPr/>
          <p:nvPr/>
        </p:nvSpPr>
        <p:spPr>
          <a:xfrm>
            <a:off x="6277356" y="5166360"/>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Money given to children at Eid</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Eid prayer</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العِيدِيَّة</a:t>
            </a:r>
            <a:pPr algn="l" indent="0" marL="0">
              <a:buNone/>
            </a:pPr>
            <a:r>
              <a:rPr lang="en-US" sz="1050" i="1" dirty="0">
                <a:solidFill>
                  <a:srgbClr val="8A6D1E"/>
                </a:solidFill>
                <a:latin typeface="Calibri" pitchFamily="34" charset="0"/>
                <a:cs typeface="Amiri" pitchFamily="2" charset="-78"/>
              </a:rPr>
              <a:t> is the gift of money given to children at Eid.</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Nūr and Sami: who said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belongs to the second generation?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was born in the family's country?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keeps the family customs?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 only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 only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mixes the two languages sometimes?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 only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 only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feels nostalgia for the homeland?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has never lived there?</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Nūr</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Nūr and Sami: who said what?: answers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belongs to the second generation?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Nūr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نُورُ: أَنَا مِنَ الجِيلِ الثَّانِي.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was born in the family's country?</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Nūr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سَامِي: وَأَنَا وُلِدْتُ هُنَاكَ.</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keeps the family customs?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Nūr only</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 only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Nūr says </a:t>
            </a:r>
            <a:pPr algn="l" indent="0" marL="0">
              <a:buNone/>
            </a:pPr>
            <a:r>
              <a:rPr lang="ar-SA" altLang="en-US" sz="1350" dirty="0">
                <a:solidFill>
                  <a:srgbClr val="8A6D1E"/>
                </a:solidFill>
                <a:latin typeface="Amiri" pitchFamily="2" charset="-78"/>
                <a:ea typeface="Amiri" pitchFamily="2" charset="-78"/>
                <a:cs typeface="Amiri" pitchFamily="2" charset="-78"/>
              </a:rPr>
              <a:t>أَحْتَفِظُ بِعَادَاتِ أُسْرَتِي</a:t>
            </a:r>
            <a:pPr algn="l" indent="0" marL="0">
              <a:buNone/>
            </a:pPr>
            <a:r>
              <a:rPr lang="en-US" sz="1050" i="1" dirty="0">
                <a:solidFill>
                  <a:srgbClr val="8A6D1E"/>
                </a:solidFill>
                <a:latin typeface="Calibri" pitchFamily="34" charset="0"/>
                <a:cs typeface="Amiri" pitchFamily="2" charset="-78"/>
              </a:rPr>
              <a:t> and Sami says </a:t>
            </a:r>
            <a:pPr algn="l" indent="0" marL="0">
              <a:buNone/>
            </a:pPr>
            <a:r>
              <a:rPr lang="ar-SA" altLang="en-US" sz="1350" dirty="0">
                <a:solidFill>
                  <a:srgbClr val="8A6D1E"/>
                </a:solidFill>
                <a:latin typeface="Amiri" pitchFamily="2" charset="-78"/>
                <a:ea typeface="Amiri" pitchFamily="2" charset="-78"/>
                <a:cs typeface="Amiri" pitchFamily="2" charset="-78"/>
              </a:rPr>
              <a:t>وَأَنَا أَيْضًا أَحْتَفِظُ بِهَا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mixes the two languages sometimes?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 only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Nūr only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Sami says </a:t>
            </a:r>
            <a:pPr algn="l" indent="0" marL="0">
              <a:buNone/>
            </a:pPr>
            <a:r>
              <a:rPr lang="ar-SA" altLang="en-US" sz="1350" dirty="0">
                <a:solidFill>
                  <a:srgbClr val="8A6D1E"/>
                </a:solidFill>
                <a:latin typeface="Amiri" pitchFamily="2" charset="-78"/>
                <a:ea typeface="Amiri" pitchFamily="2" charset="-78"/>
                <a:cs typeface="Amiri" pitchFamily="2" charset="-78"/>
              </a:rPr>
              <a:t>أَحْيَانًا أَخْلِطُ بَيْنَ اللُّغَتَيْنِ</a:t>
            </a:r>
            <a:pPr algn="l" indent="0" marL="0">
              <a:buNone/>
            </a:pPr>
            <a:r>
              <a:rPr lang="en-US" sz="1050" i="1" dirty="0">
                <a:solidFill>
                  <a:srgbClr val="8A6D1E"/>
                </a:solidFill>
                <a:latin typeface="Calibri" pitchFamily="34" charset="0"/>
                <a:cs typeface="Amiri" pitchFamily="2" charset="-78"/>
              </a:rPr>
              <a:t> and Nūr replies </a:t>
            </a:r>
            <a:pPr algn="l" indent="0" marL="0">
              <a:buNone/>
            </a:pPr>
            <a:r>
              <a:rPr lang="ar-SA" altLang="en-US" sz="1350" dirty="0">
                <a:solidFill>
                  <a:srgbClr val="8A6D1E"/>
                </a:solidFill>
                <a:latin typeface="Amiri" pitchFamily="2" charset="-78"/>
                <a:ea typeface="Amiri" pitchFamily="2" charset="-78"/>
                <a:cs typeface="Amiri" pitchFamily="2" charset="-78"/>
              </a:rPr>
              <a:t>أَنَا كَذٰلِكَ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feels nostalgia for the homeland?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Nūr</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سَامِي: أَحِنُّ إِلَى وَطَنِي أَحْيَانًا.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has never lived there?</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Nūr</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نُورُ: وَأَنَا لَمْ أَعِشْ هُنَاكَ.</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Arabic and the Arab world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Arabic's status.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one of the official UN languages.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only official world language.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 official status.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the number of states.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contains twelve states.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contains twenty-two states.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number is not given.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dialects and fuṣḥā.</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Dialects differ, while fuṣḥā unites them in writing.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dialects are identical.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Fuṣḥā is no longer used.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other languages.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is the only official language everywhere.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other languages exist.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Amazigh is official in Morocco and Algeria.</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loanwords.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Arabic words entered other languages.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Arabic words moved into other languages through trade and translation.</a:t>
            </a:r>
            <a:endParaRPr lang="en-US" sz="12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place names travelled.</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qualify the closing claim?</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has one uniform culture.</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not true that the region has a single culture.</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Diversity is a recent development.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Arabic and the Arab world: answers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Arabic's status.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one of the official UN languages.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only official world language.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 official status.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وَهِيَ إِحْدَى لُغَاتِ الأُمَمِ المُتَّحِدَةِ الرَّسْمِيَّةِ.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the number of states.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region contains twelve states.</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The region contains twenty-two states.</a:t>
            </a:r>
            <a:endParaRPr lang="en-US" sz="12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number is not given.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وَتَضُمُّ المِنْطَقَةُ اثْنَتَيْنِ وَعِشْرِينَ دَوْلَةً.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dialects and fuṣḥā.</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Dialects differ, while fuṣḥā unites them in writing.</a:t>
            </a:r>
            <a:endParaRPr lang="en-US" sz="11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dialects are identical.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Fuṣḥā is no longer used.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تَخْتَلِفُ لَهَجَاتُهَا، بَيْنَمَا تَجْمَعُهَا الفُصْحَى فِي الكِتَابَةِ وَالإِعْلَامِ.</a:t>
            </a:r>
            <a:endParaRPr lang="ar-SA" sz="120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other languages.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Arabic is the only official language everywhere.</a:t>
            </a:r>
            <a:endParaRPr lang="en-US" sz="11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other languages exist.</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Amazigh is official in Morocco and Algeria.</a:t>
            </a:r>
            <a:endParaRPr lang="en-US" sz="11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مِثْلُ الأَمَازِيغِيَّةِ فِي المَغْرِبِ وَالجَزَائِرِ.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statement: loanwords.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No Arabic words entered other languages.</a:t>
            </a:r>
            <a:endParaRPr lang="en-US" sz="11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Arabic words moved into other languages through trade and translation.</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place names travelled.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وَقَدِ انْتَقَلَتْ كَلِمَاتٌ عَرَبِيَّةٌ إِلَى لُغَاتٍ أُخْرَى عَبْرَ التِّجَارَةِ وَالتَّرْجَمَةِ.</a:t>
            </a:r>
            <a:endParaRPr lang="ar-SA" sz="11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qualify the closing claim?</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region has one uniform culture.</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not true that the region has a single culture.</a:t>
            </a:r>
            <a:endParaRPr lang="en-US" sz="11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Diversity is a recent development.</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وَلَيْسَ صَحِيحًا أَنَّهَا ذَاتُ ثَقَافَةٍ وَاحِدَةٍ.</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B1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festival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مَدِينَةُ المِهْرَجَانَاتِ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بَلَدِنَا تُقَامُ مِهْرَجَانَاتٌ ثَقَافِيَّةٌ كُلَّ صَيْفٍ فِي مَسَارِحَ أَثَرِيَّةٍ. وَقَدْ حَضَرْتُ العَامَ المَاضِي وَاحِدًا مِنْهَا مَعَ أُسْرَتِي، وَشَاهَدْنَا عُرُوضَ الرَّقْصِ الشَّعْبِيِّ وَالمُوسِيقَى التَّقْلِيدِيَّةِ. زُيِّنَتِ السَّاحَاتُ بِالأَضْوَاءِ، وَتُبُودِلَتِ الأَطْعِمَةُ بَيْنَ العَائِلَاتِ. وَتَحْتَفِلُ فِي المَدِينَةِ نَفْسِهَا طَوَائِفُ مُخْتَلِفَةٌ بِمُنَاسَبَاتِهَا؛ فَيُقَامُ القُدَّاسُ فِي الكَنِيسَةِ القَدِيمَةِ، وَتُزَيَّنُ البُيُوتُ فِي الأَعْيَادِ الأُخْرَى. وَمِنْ وِجْهَةِ نَظَرِي لَا يُمْكِنُ إِنْكَارُ أَنَّ هٰذَا التَّنَوُّعَ ثَرْوَةٌ حَقِيقِيَّةٌ. عَلَى الرَّغْمِ مِنْ ذٰلِكَ لَا يَذْكُرُ كَثِيرٌ مِنَ الزُّوَّارِ سِوَى الجَانِبِ السِّيَاحِيِّ. وَفِي المُسْتَقْبَلِ سَأَعُودُ إِلَى المِهْرَجَانِ، وَأَطْمَحُ إِلَى أَنْ أُشَارِكَ فِي تَنْظِيمِهِ.</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described in the text?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tournament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Cultural festivals held each summer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trip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 writer attend one?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year, with the family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month, alone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 years ago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watch?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film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debate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Folk dance and traditional music</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to the squares?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closed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decorated with lights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rebuilt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different communities in the city?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share one single festival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celebrate their own occasions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do not celebrate</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described in the text?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tournament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Cultural festivals held each summer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trip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تُقَامُ مِهْرَجَانَاتٌ ثَقَافِيَّةٌ كُلَّ صَيْفٍ فِي مَسَارِحَ أَثَرِيَّةٍ.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 writer attend one?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Last year, with the family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month, alone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 years ago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وَقَدْ حَضَرْتُ العَامَ المَاضِي وَاحِدًا مِنْهَا مَعَ أُسْرَتِي.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watch?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film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debate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Folk dance and traditional music</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شَاهَدْنَا عُرُوضَ الرَّقْصِ الشَّعْبِيِّ وَالمُوسِيقَى التَّقْلِيدِيَّةِ.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to the squares?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were closed</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were decorated with lights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were rebuilt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زُيِّنَتِ السَّاحَاتُ بِالأَضْوَاءِ.</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different communities in the city?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share one single festival</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celebrate their own occasions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do not celebrate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وَتَحْتَفِلُ فِي المَدِينَةِ نَفْسِهَا طَوَائِفُ مُخْتَلِفَةٌ بِمُنَاسَبَاتِهَا.</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Does the writer value the diversity described? How do you know?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 the writer calls this diversity a real richness.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they describe it as a problem.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text gives no indication either way.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reservation does the writer express?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festivals are too expensive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music is poor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Many visitors mention only the tourist side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tense of </a:t>
            </a:r>
            <a:pPr algn="l" indent="0" marL="0">
              <a:buNone/>
            </a:pPr>
            <a:r>
              <a:rPr lang="ar-SA" altLang="en-US" sz="1650" b="1" dirty="0">
                <a:solidFill>
                  <a:srgbClr val="1B3B6F"/>
                </a:solidFill>
                <a:latin typeface="Amiri" pitchFamily="2" charset="-78"/>
                <a:ea typeface="Amiri" pitchFamily="2" charset="-78"/>
                <a:cs typeface="Amiri" pitchFamily="2" charset="-78"/>
              </a:rPr>
              <a:t>زُيِّنَتْ</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general habit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completed action on that occasion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future plan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وَفِي المُسْتَقْبَلِ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المِهْرَجَانِ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عُدْتُ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سَأَعُودُ</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أَعُودُ</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aspire to?</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leave the city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stop attending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take part in organising the festival</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Does the writer value the diversity described? How do you know?</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Yes — the writer calls this diversity a real richness.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 they describe it as a problem.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The text gives no indication either way.</a:t>
            </a:r>
            <a:endParaRPr lang="en-US" sz="12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يُمْكِنُ إِنْكَارُ أَنَّ هٰذَا التَّنَوُّعَ ثَرْوَةٌ حَقِيقِيَّةٌ.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reservation does the writer express?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festivals are too expensive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music is poor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Many visitors mention only the tourist side</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يَذْكُرُ كَثِيرٌ مِنَ الزُّوَّارِ سِوَى الجَانِبِ السِّيَاحِيِّ.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tense of </a:t>
            </a:r>
            <a:pPr algn="l" indent="0" marL="0">
              <a:buNone/>
            </a:pPr>
            <a:r>
              <a:rPr lang="ar-SA" altLang="en-US" sz="1650" b="1" dirty="0">
                <a:solidFill>
                  <a:srgbClr val="1B3B6F"/>
                </a:solidFill>
                <a:latin typeface="Amiri" pitchFamily="2" charset="-78"/>
                <a:ea typeface="Amiri" pitchFamily="2" charset="-78"/>
                <a:cs typeface="Amiri" pitchFamily="2" charset="-78"/>
              </a:rPr>
              <a:t>زُيِّنَتْ</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general habit</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completed action on that occasion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future plan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passive presents it as completed at that festival.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وَفِي المُسْتَقْبَلِ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المِهْرَجَانِ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عُدْتُ</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سَأَعُودُ</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أَعُودُ</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المُسْتَقْبَلِ</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with a present verb.</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aspire to?</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leave the city</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stop attending</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take part in organising the festival</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وَأَطْمَحُ إِلَى أَنْ أُشَارِكَ فِي تَنْظِيمِهِ.</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1 · CULTURAL PROFILE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cultural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المِلَفُّ الثَّقَافِيُّ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382219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840480" y="2267712"/>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جِنْسِيَّتِي أَوْ إِرْثِي الثَّقَافِيُّ</a:t>
            </a:r>
            <a:endParaRPr lang="ar-SA" sz="2000" dirty="0"/>
          </a:p>
        </p:txBody>
      </p:sp>
      <p:sp>
        <p:nvSpPr>
          <p:cNvPr id="22" name="Text 19"/>
          <p:cNvSpPr txBox="1"/>
          <p:nvPr/>
        </p:nvSpPr>
        <p:spPr>
          <a:xfrm>
            <a:off x="566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Your nationality or cultural heritage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840480" y="3004718"/>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عَادَةٌ ثَقَافِيَّةٌ أَعْرِفُهَا</a:t>
            </a:r>
            <a:endParaRPr lang="ar-SA" sz="2000" dirty="0"/>
          </a:p>
        </p:txBody>
      </p:sp>
      <p:sp>
        <p:nvSpPr>
          <p:cNvPr id="28" name="Text 25"/>
          <p:cNvSpPr txBox="1"/>
          <p:nvPr/>
        </p:nvSpPr>
        <p:spPr>
          <a:xfrm>
            <a:off x="566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One cultural custom you know</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3840480" y="3741725"/>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مُنَاسَبَةٌ أَحْتَفِلُ بِهَا</a:t>
            </a:r>
            <a:endParaRPr lang="ar-SA" sz="2000" dirty="0"/>
          </a:p>
        </p:txBody>
      </p:sp>
      <p:sp>
        <p:nvSpPr>
          <p:cNvPr id="34" name="Text 31"/>
          <p:cNvSpPr txBox="1"/>
          <p:nvPr/>
        </p:nvSpPr>
        <p:spPr>
          <a:xfrm>
            <a:off x="566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One celebration you mark (with bi-)</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3840480" y="4478731"/>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لُغَةٌ أَتَحَدَّثُهَا</a:t>
            </a:r>
            <a:endParaRPr lang="ar-SA" sz="2000" dirty="0"/>
          </a:p>
        </p:txBody>
      </p:sp>
      <p:sp>
        <p:nvSpPr>
          <p:cNvPr id="40" name="Text 37"/>
          <p:cNvSpPr txBox="1"/>
          <p:nvPr/>
        </p:nvSpPr>
        <p:spPr>
          <a:xfrm>
            <a:off x="566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One language you speak</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3840480" y="5215738"/>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طُمُوحٌ ثَقَافِيٌّ لِلْمُسْتَقْبَلِ</a:t>
            </a:r>
            <a:endParaRPr lang="ar-SA" sz="2000" dirty="0"/>
          </a:p>
        </p:txBody>
      </p:sp>
      <p:sp>
        <p:nvSpPr>
          <p:cNvPr id="46" name="Text 43"/>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One cultural aspiration for the future</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Example: </a:t>
            </a:r>
            <a:pPr algn="l" indent="0" marL="0">
              <a:buNone/>
            </a:pPr>
            <a:r>
              <a:rPr lang="ar-SA" altLang="en-US" sz="1500" b="1" dirty="0">
                <a:solidFill>
                  <a:srgbClr val="1B3B6F"/>
                </a:solidFill>
                <a:latin typeface="Amiri" pitchFamily="2" charset="-78"/>
                <a:ea typeface="Amiri" pitchFamily="2" charset="-78"/>
                <a:cs typeface="Amiri" pitchFamily="2" charset="-78"/>
              </a:rPr>
              <a:t>إِرْثِي ثَقَافِيٌّ مِصْرِيٌّ</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تُتَبَادَلُ التَّهَانِي فِي العِيدِ</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نَحْتَفِلُ بِعِيدِ الفِطْرِ</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أَتَحَدَّثُ الأُرْدِيَّةَ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أَطْمَحُ إِلَى أَنْ أُتْقِنَ الفُصْحَى</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130–140 WORDS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culture and my identity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ثَقَافَتِي وَهُوِيَّتِي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mark scheme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Completion /5</a:t>
            </a:r>
            <a:endParaRPr lang="en-US" sz="1100" dirty="0"/>
          </a:p>
        </p:txBody>
      </p:sp>
      <p:sp>
        <p:nvSpPr>
          <p:cNvPr id="20" name="Text 17"/>
          <p:cNvSpPr txBox="1"/>
          <p:nvPr/>
        </p:nvSpPr>
        <p:spPr>
          <a:xfrm>
            <a:off x="566928" y="2267712"/>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Cultural background or identity described (1) · A past cultural experience narrated with at least three events (2) · A future aspiration stated (1) · An opinion given (1)</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a:t>
            </a:r>
            <a:endParaRPr lang="en-US" sz="1100" dirty="0"/>
          </a:p>
        </p:txBody>
      </p:sp>
      <p:sp>
        <p:nvSpPr>
          <p:cNvPr id="25" name="Text 22"/>
          <p:cNvSpPr txBox="1"/>
          <p:nvPr/>
        </p:nvSpPr>
        <p:spPr>
          <a:xfrm>
            <a:off x="566928" y="3054096"/>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or more past-tense verbs (2) · Future tense with sa- or sawfa (1) · A cultural verb with its correct preposition (1) · A passive, a comparison or a formal connector (1)</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a:t>
            </a:r>
            <a:endParaRPr lang="en-US" sz="1100" dirty="0"/>
          </a:p>
        </p:txBody>
      </p:sp>
      <p:sp>
        <p:nvSpPr>
          <p:cNvPr id="30" name="Text 27"/>
          <p:cNvSpPr txBox="1"/>
          <p:nvPr/>
        </p:nvSpPr>
        <p:spPr>
          <a:xfrm>
            <a:off x="566928" y="3840480"/>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Past-tense suffix accuracy across five or more verbs (3) · Cultural verb prepositions correct (1) · Adjective, pronoun and case agreement correct (1)</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Independent evidence: no translation software or AI. Plan past · present · opinion · future (D6-L09), then check every ending and preposition.</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ROLE PLAY · 4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Role play: meeting someone from another culture</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لِقَاءٌ ثَقَافِيٌّ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is assessed</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yourself and your cultural background.</a:t>
            </a:r>
            <a:endParaRPr lang="en-US" sz="1100" dirty="0"/>
          </a:p>
        </p:txBody>
      </p:sp>
      <p:sp>
        <p:nvSpPr>
          <p:cNvPr id="20" name="Text 17"/>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عَرِّفْ بِنَفْسِكَ وَبِخَلْفِيَّتِكَ الثَّقَافِيَّةِ.</a:t>
            </a:r>
            <a:endParaRPr lang="ar-SA" sz="20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custom from your background.</a:t>
            </a:r>
            <a:endParaRPr lang="en-US" sz="1100" dirty="0"/>
          </a:p>
        </p:txBody>
      </p:sp>
      <p:sp>
        <p:nvSpPr>
          <p:cNvPr id="25" name="Text 22"/>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عَادَةً ثَقَافِيَّةً مِنْ خَلْفِيَّتِكَ.</a:t>
            </a:r>
            <a:endParaRPr lang="ar-SA" sz="20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other person about their culture.</a:t>
            </a:r>
            <a:endParaRPr lang="en-US" sz="1100" dirty="0"/>
          </a:p>
        </p:txBody>
      </p:sp>
      <p:sp>
        <p:nvSpPr>
          <p:cNvPr id="30" name="Text 27"/>
          <p:cNvSpPr txBox="1"/>
          <p:nvPr/>
        </p:nvSpPr>
        <p:spPr>
          <a:xfrm>
            <a:off x="548640" y="3840480"/>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اِسْأَلِ الشَّخْصَ الآخَرَ عَنْ ثَقَافَتِهِ.</a:t>
            </a:r>
            <a:endParaRPr lang="ar-SA" sz="20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6601968" y="4626864"/>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one thing you have learned from another culture.</a:t>
            </a:r>
            <a:endParaRPr lang="en-US" sz="1100" dirty="0"/>
          </a:p>
        </p:txBody>
      </p:sp>
      <p:sp>
        <p:nvSpPr>
          <p:cNvPr id="35" name="Text 32"/>
          <p:cNvSpPr txBox="1"/>
          <p:nvPr/>
        </p:nvSpPr>
        <p:spPr>
          <a:xfrm>
            <a:off x="548640" y="4626864"/>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اُذْكُرْ شَيْئًا تَعَلَّمْتَهُ مِنْ ثَقَافَةٍ أُخْرَى.</a:t>
            </a:r>
            <a:endParaRPr lang="ar-SA" sz="2000" dirty="0"/>
          </a:p>
        </p:txBody>
      </p:sp>
      <p:sp>
        <p:nvSpPr>
          <p:cNvPr id="36" name="Shape 3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Text 3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2 · accuracy, including cultural verb prepositions 2.</a:t>
            </a:r>
            <a:endParaRPr lang="en-US" sz="11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TOPIC CONVERSATION · 6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Required</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and future; nationality vocabulary expected.</a:t>
            </a:r>
            <a:endParaRPr lang="en-US" sz="1100" dirty="0"/>
          </a:p>
        </p:txBody>
      </p:sp>
      <p:sp>
        <p:nvSpPr>
          <p:cNvPr id="20" name="Text 17"/>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بَلَدًا عَرَبِيًّا تُرِيدُ زِيَارَتَهُ وَلِمَاذَا.</a:t>
            </a:r>
            <a:endParaRPr lang="ar-SA" sz="20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tense required throughout.</a:t>
            </a:r>
            <a:endParaRPr lang="en-US" sz="1100" dirty="0"/>
          </a:p>
        </p:txBody>
      </p:sp>
      <p:sp>
        <p:nvSpPr>
          <p:cNvPr id="25" name="Text 22"/>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مُنَاسَبَةً ثَقَافِيَّةً أَوْ دِينِيَّةً مَرَرْتَ بِهَا.</a:t>
            </a:r>
            <a:endParaRPr lang="ar-SA" sz="20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structure plus future.</a:t>
            </a:r>
            <a:endParaRPr lang="en-US" sz="1100" dirty="0"/>
          </a:p>
        </p:txBody>
      </p:sp>
      <p:sp>
        <p:nvSpPr>
          <p:cNvPr id="30" name="Text 27"/>
          <p:cNvSpPr txBox="1"/>
          <p:nvPr/>
        </p:nvSpPr>
        <p:spPr>
          <a:xfrm>
            <a:off x="548640" y="3840480"/>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أَهَمِّيَّةُ اللُّغَةِ العَرَبِيَّةِ فِي حَيَاتِكَ؟</a:t>
            </a:r>
            <a:endParaRPr lang="ar-SA" sz="20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3 · quality of language 3 (cultural vocabulary range, tense accuracy, opinion structures).</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D6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D6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accurate, fair and varied cultural Arabic</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D6-L02, L07 and L09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My writing improvement target … · My speaking improvement target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talk about countries, nationalities and celebrations.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cultural verbs with the right preposition.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the cultural passive (</a:t>
            </a:r>
            <a:pPr algn="l" indent="0" marL="0">
              <a:buNone/>
            </a:pPr>
            <a:r>
              <a:rPr lang="ar-SA" altLang="en-US" sz="1700" dirty="0">
                <a:solidFill>
                  <a:srgbClr val="1F2A37"/>
                </a:solidFill>
                <a:latin typeface="Amiri" pitchFamily="2" charset="-78"/>
                <a:ea typeface="Amiri" pitchFamily="2" charset="-78"/>
                <a:cs typeface="Amiri" pitchFamily="2" charset="-78"/>
              </a:rPr>
              <a:t>تُزَيَّنُ</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تُتَبَادَلُ</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move between past, present and future accurately.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give a supported opinion and qualify cultural claims fairly.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D6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P1-L01 · Diet and Nutrition — Reviewing and Extending Food Vocabulary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بُرُوتِينٌ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protein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كَرْبُوهِيدْرَاتٌ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carbohydrates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أَلْيَافٌ</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fibre</a:t>
            </a:r>
            <a:pPr indent="0" marL="0">
              <a:buNone/>
            </a:pPr>
            <a:r>
              <a:rPr lang="ar-SA" sz="1000" i="1" dirty="0">
                <a:solidFill>
                  <a:srgbClr val="5A6472"/>
                </a:solidFill>
                <a:latin typeface="Calibri" pitchFamily="34" charset="0"/>
                <a:ea typeface="Amiri" pitchFamily="2" charset="-78"/>
                <a:cs typeface="Amiri" pitchFamily="2" charset="-78"/>
              </a:rPr>
              <a:t>  sing. لِيفٌ</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فِيتَامِينَاتٌ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vitamins</a:t>
            </a:r>
            <a:pPr indent="0" marL="0">
              <a:buNone/>
            </a:pPr>
            <a:r>
              <a:rPr lang="ar-SA" sz="1000" i="1" dirty="0">
                <a:solidFill>
                  <a:srgbClr val="5A6472"/>
                </a:solidFill>
                <a:latin typeface="Calibri" pitchFamily="34" charset="0"/>
                <a:ea typeface="Amiri" pitchFamily="2" charset="-78"/>
                <a:cs typeface="Amiri" pitchFamily="2" charset="-78"/>
              </a:rPr>
              <a:t>  sing. فِيتَامِينٌ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مَصْدَرُ طَاقَةٍ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energy source</a:t>
            </a:r>
            <a:pPr indent="0" marL="0">
              <a:buNone/>
            </a:pPr>
            <a:r>
              <a:rPr lang="ar-SA" sz="1000" i="1" dirty="0">
                <a:solidFill>
                  <a:srgbClr val="5A6472"/>
                </a:solidFill>
                <a:latin typeface="Calibri" pitchFamily="34" charset="0"/>
                <a:ea typeface="Amiri" pitchFamily="2" charset="-78"/>
                <a:cs typeface="Amiri" pitchFamily="2" charset="-78"/>
              </a:rPr>
              <a:t>  pl. مَصَادِرُ طَاقَةٍ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your favourite meal. Which nutrients does it give you?</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وَجْبَتِي المُفَضَّلَةُ … وَفِيهَا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D6-L12 section with your lowest score; learn the five P1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paragraph of your assessed article, then learn the five P1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about a healthy meal, using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P1-L01 · Diet and Nutrition — Reviewing and Extending Food Vocabulary</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الغِذَاءُ وَالتَّغْذِيَةُ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Development complete — well done! Carry the D6 checklist into Progression: tense + time · verb + preposition · passive -u · </a:t>
            </a:r>
            <a:pPr algn="l" indent="0" marL="0">
              <a:buNone/>
            </a:pPr>
            <a:r>
              <a:rPr lang="ar-SA" altLang="en-US" sz="1700" b="1" dirty="0">
                <a:solidFill>
                  <a:srgbClr val="FFFFFF"/>
                </a:solidFill>
                <a:latin typeface="Amiri" pitchFamily="2" charset="-78"/>
                <a:ea typeface="Amiri" pitchFamily="2" charset="-78"/>
                <a:cs typeface="Amiri" pitchFamily="2" charset="-78"/>
              </a:rPr>
              <a:t>أَنَّ</a:t>
            </a:r>
            <a:pPr algn="l" indent="0" marL="0">
              <a:buNone/>
            </a:pPr>
            <a:r>
              <a:rPr lang="en-US" sz="1300" b="1" dirty="0">
                <a:solidFill>
                  <a:srgbClr val="FFFFFF"/>
                </a:solidFill>
                <a:latin typeface="Calibri" pitchFamily="34" charset="0"/>
                <a:cs typeface="Amiri" pitchFamily="2" charset="-78"/>
              </a:rPr>
              <a:t> + -a · a fair claim.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D6-L12 · Review and Unit Assessment: Countries, Cultures and Celebrations</dc:title>
  <dc:subject>PptxGenJS Presentation</dc:subject>
  <dc:creator>Al Madina Online School · Arabic Department</dc:creator>
  <cp:lastModifiedBy>Al Madina Online School · Arabic Department</cp:lastModifiedBy>
  <cp:revision>1</cp:revision>
  <dcterms:created xsi:type="dcterms:W3CDTF">2026-10-11T06:41:13Z</dcterms:created>
  <dcterms:modified xsi:type="dcterms:W3CDTF">2026-10-11T06:41:13Z</dcterms:modified>
</cp:coreProperties>
</file>