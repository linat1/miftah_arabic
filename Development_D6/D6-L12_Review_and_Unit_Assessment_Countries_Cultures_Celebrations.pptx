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Map · 2–6 Grammar spine (not marked) · 6–7 Assessment map · 7–21 Listening (20) · 21–29 Reading (10) · 29–46 Writing (20) · 46–56 Speaking (10, one-to-one or trusted pairs) · 56–60 Profile and P1 target.
FLEX slides are optional. Use them if the class is moving quickly; otherwise the same activities are on the website for homework.
Content source: Miftah Arabic website, Pathways › Development › D6 Countries, Cultures and Celebrations › D6-L12. The website D6-L12 is a four-skill, 60-mark unit assessment: a twelve-question grammar spine (revision, not counted), Part A listening (three texts — one family’s celebration across three tenses 8 · Nūr and Sami: who said what 6 · Arabic and the Arab world 6 = 20), Part B1 reading (a festival city: 10), Part B2 writing (five-field cultural profile 5 + 130–140-word article 15, marked task / range / accuracy) and Part C speaking (role play: meeting someone from another culture 4 + topic conversation 6), then a P1 target.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Everyone sits the same 60 marks. Access arrangements: extra time, questions read aloud in English, one section on screen at a time; speaking one-to-one or in trusted pairs (it can move to the next lesson).
• If time is short: listening + reading in class; writing and speaking next lesson.
• Identity is personal: the profile, article and role play may be about a fictional family. The reading text describes several communities (including a church service) — read it as describing others respectfully (al-Ḥujurāt 49:13); no participation is implied.
• Accuracy focus today: tense matches its time phrase · cultural verb + preposition · passive subject in -u · أَنَّ + accusative · a fair, qualified claim.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Website sections: grammar spine · Part A listening · Part B1 reading · Part B2 writing · Part C speaking · mark scheme · reflection.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 1 tests one of the words prepared at home at the end of D6-L11. Questions 2–5 are from the website twelve-question grammar spine (used diagnostically; the items that differ only in vowel endings are reviewed on the next slide).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This warm-up does NOT count. Use it to choose ONE thing to check in your writing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REVIEW (website twelve-question grammar spine, correct answers): زُرْنَا · كَانَتْ تُعِدُّ · سَنُنَظِّمُ · لَنْ · بِـ · إِلَى · مَعَ · تُزَيَّنُ القَاعَةُ · الَّتِي · أَكْبَرُ مِنَ السَّابِقِ · لُبْنَانَ (diptote) · أَنَّ التَّنَوُّعَ. Close the vocabulary vault during each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ASSESSMENT MAP (website: sixty marks across listening, reading, writing and speaking).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TEXT 1 · QUESTIONS 1–4 (website Part A, 20 marks). Before listening: mark each question P / N / F and circle “who” and “all / some” questions (D6-L10). Each recording may be played twice; students answer after the second reading.
SCRIPT: فِي الطُّفُولَةِ كُنَّا نَحْتَفِلُ بِالعِيدِ فِي بَلَدِ أُسْرَتِي، وَكَانَتْ جَدَّتِي تُعِدُّ الحَلْوَى بِنَفْسِهَا. وَفِي العَامِ المَاضِي زُرْنَا الأَقَارِبَ هُنَاكَ بَعْدَ غِيَابٍ طَوِيلٍ، وَوَزَّعَ أَبِي العِيدِيَّةَ عَلَى الأَطْفَالِ. أَمَّا الآنَ فَنَحْتَفِلُ عَادَةً فِي المَرْكَزِ الثَّقَافِيِّ مَعَ الجَالِيَةِ، وَتُزَيَّنُ القَاعَةُ وَتُتَبَادَلُ التَّهَانِي. وَفِي بَعْضِ العَائِلَاتِ تُوَزَّعُ العِيدِيَّةُ، وَلٰكِنْ لَيْسَ دَائِمًا؛ فَالعَادَاتُ تَخْتَلِفُ. وَالعَامَ القَادِمَ سَنُنَظِّمُ حَفْلًا أَكْبَرَ، وَسَنَدْعُو الجِيرَانَ لِكَيْ يَتَعَرَّفُوا عَلَى تَقَالِيدِنَا. وَأَطْمَحُ إِلَى أَنْ أَزُورَ بَلَدَ أُسْرَتِي مَرَّةً أُخْرَى.
Private chat: 4 letters.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/4. Reveal the script only after the attempt; ask which verb, speaker or hedge proved each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TEXT 1 · QUESTIONS 5–8 (website Part A, 20 marks). Before listening: mark each question P / N / F and circle “who” and “all / some” questions (D6-L10). Each recording may be played twice; students answer after the second reading.
SCRIPT: فِي الطُّفُولَةِ كُنَّا نَحْتَفِلُ بِالعِيدِ فِي بَلَدِ أُسْرَتِي، وَكَانَتْ جَدَّتِي تُعِدُّ الحَلْوَى بِنَفْسِهَا. وَفِي العَامِ المَاضِي زُرْنَا الأَقَارِبَ هُنَاكَ بَعْدَ غِيَابٍ طَوِيلٍ، وَوَزَّعَ أَبِي العِيدِيَّةَ عَلَى الأَطْفَالِ. أَمَّا الآنَ فَنَحْتَفِلُ عَادَةً فِي المَرْكَزِ الثَّقَافِيِّ مَعَ الجَالِيَةِ، وَتُزَيَّنُ القَاعَةُ وَتُتَبَادَلُ التَّهَانِي. وَفِي بَعْضِ العَائِلَاتِ تُوَزَّعُ العِيدِيَّةُ، وَلٰكِنْ لَيْسَ دَائِمًا؛ فَالعَادَاتُ تَخْتَلِفُ. وَالعَامَ القَادِمَ سَنُنَظِّمُ حَفْلًا أَكْبَرَ، وَسَنَدْعُو الجِيرَانَ لِكَيْ يَتَعَرَّفُوا عَلَى تَقَالِيدِنَا. وَأَطْمَحُ إِلَى أَنْ أَزُورَ بَلَدَ أُسْرَتِي مَرَّةً أُخْرَى.
Private chat: 4 letters.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/4. Reveal the script only after the attempt; ask which verb, speaker or hedge proved each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TEXT 2 · 6 QUESTIONS (website Part A, 20 marks). Before listening: mark each question P / N / F and circle “who” and “all / some” questions (D6-L10). Each recording may be played twice; students answer after the second reading.
SCRIPT: نُورُ: أَنَا مِنَ الجِيلِ الثَّانِي، وَأَنْتَمِي إِلَى ثَقَافَتَيْنِ. أَتَحَدَّثُ العَرَبِيَّةَ فِي البَيْتِ. سَامِي: وَأَنَا وُلِدْتُ هُنَاكَ وَجِئْتُ صَغِيرًا، وَتَكَيَّفْتُ مَعَ الحَيَاةِ هُنَا بِسُرْعَةٍ. نُورُ: أَحْتَفِظُ بِعَادَاتِ أُسْرَتِي، وَخَاصَّةً فِي المُنَاسَبَاتِ. سَامِي: وَأَنَا أَيْضًا أَحْتَفِظُ بِهَا، وَلٰكِنَّنِي أَحْيَانًا أَخْلِطُ بَيْنَ اللُّغَتَيْنِ. نُورُ: أَنَا كَذٰلِكَ! وَهٰذَا طَبِيعِيٌّ وَلَيْسَ مُشْكِلَةً. سَامِي: أَحِنُّ إِلَى وَطَنِي أَحْيَانًا. نُورُ: وَأَنَا لَمْ أَعِشْ هُنَاكَ، وَلٰكِنِّي أَشْعُرُ بِالانْتِمَاءِ إِلَيْهِ.
Private chat: 6 letters.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/6. Reveal the script only after the attempt; ask which verb, speaker or hedge proved each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TEXT 3 · 6 QUESTIONS (website Part A, 20 marks). Before listening: mark each question P / N / F and circle “who” and “all / some” questions (D6-L10). Each recording may be played twice; students answer after the second reading.
SCRIPT: تُعَدُّ العَرَبِيَّةُ مِنْ أَوْسَعِ اللُّغَاتِ انْتِشَارًا، وَهِيَ إِحْدَى لُغَاتِ الأُمَمِ المُتَّحِدَةِ الرَّسْمِيَّةِ. وَتَضُمُّ المِنْطَقَةُ اثْنَتَيْنِ وَعِشْرِينَ دَوْلَةً تَخْتَلِفُ لَهَجَاتُهَا، بَيْنَمَا تَجْمَعُهَا الفُصْحَى فِي الكِتَابَةِ وَالإِعْلَامِ. وَإِلَى جَانِبِ العَرَبِيَّةِ تُوجَدُ لُغَاتٌ رَسْمِيَّةٌ أُخْرَى، مِثْلُ الأَمَازِيغِيَّةِ فِي المَغْرِبِ وَالجَزَائِرِ. وَقَدِ انْتَقَلَتْ كَلِمَاتٌ عَرَبِيَّةٌ إِلَى لُغَاتٍ أُخْرَى عَبْرَ التِّجَارَةِ وَالتَّرْجَمَةِ. وَيُشَارُ إِلَى أَنَّ التَّنَوُّعَ الثَّقَافِيَّ وَالدِّينِيَّ قَدِيمٌ فِي المِنْطَقَةِ، وَلَيْسَ صَحِيحًا أَنَّهَا ذَاتُ ثَقَافَةٍ وَاحِدَةٍ.
Private chat: 6 letters.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/6. Reveal the script only after the attempt; ask which verb, speaker or hedge proved each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TEXT (website Part B1). No English support on assessment texts. Strategy: adjectives → attitude · past = completed · what is left out (D6-L08). The text describes several communities, including a church service — describing others respectfully.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(website Part B1: R1 main idea · R2 detail · R3 attitude, omission and tense signal · R4 tense gap-fill and aspiration). Keep the text on the previous slide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/5. Ask one student to read the evidence phrase aloud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(website Part B1: R1 main idea · R2 detail · R3 attitude, omission and tense signal · R4 tense gap-fill and aspiration). Keep the text on the previous slide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/5. Ask one student to read the evidence phrase aloud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WRITING QUESTION 1 (website, 5 marks): one mark per field completed accurately in Arabic (a phrase is enough). Field 3 must use يَحْتَفِلُ بِـ with the preposition for the mark; field 5 rewards أَطْمَحُ إِلَى / أَتَمَنَّى أَنْ.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WRITING QUESTION 2 (website, 15 marks): write 130–140 words on ثَقَافَتِي وَهُوِيَّتِي — describe your background, narrate a past cultural experience (3+ events), give an opinion and state a future aspiration. Mark scheme exactly as on the website. The D6-L09 website model is a full-mark exemplar — show it ONLY after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ROLE PLAY (website, 4 marks). Teacher plays a visitor from another culture: مَرْحَبًا! أَنَا مِنْ اليَابَانِ، وَأَنْتَ؟ Answers to model: أَنَا مِنَ الجِيلِ الثَّانِي، وَأَنْتَمِي إِلَى ثَقَافَتَيْنِ … · فِي العِيدِ تُتَبَادَلُ التَّهَانِي … · وَأَنْتَ، كَيْفَ تَحْتَفِلُونَ فِي بَلَدِكَ؟ · تَعَلَّمْتُ مِنْ صَدِيقِي أَنَّ … Listen for the preposition on every cultural verb. To a girl: عَرِّفِي · صِفِي · اِسْأَلِي · اُذْكُرِي.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TOPIC CONVERSATION (website, 6 marks): mirror the tense of each question and qualify cultural claims (D6-L11). Allow time-buying and repair phrases (دَعْنِي أُفَكِّرُ · عَفْوًا، أَقْصِدُ). To a girl: تُرِيدِينَ · مَرَرْتِ · حَيَاتِكِ. ORGANISATION: one-to-one while others finish writing, or trusted pairs with the teacher as examiner.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PROFILE (website: complete the four components to generate targeted guidance). The bands are a teacher guide in line with the D1–D5 assessments. Development is now complete — celebrate it before setting the P1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(P1-L01 · Diet and Nutrition — Reviewing and Extending Food Vocabulary) will spend class time USING this language, so students prepare it tonight — short, simple, easy to access (school guidance: “Simple, Short, Interesting, Relevant, Easy to access”). Progression begins with healthy lifestyles (website P1-L01 “Diet and Nutrition — Reviewing and Extending Food Vocabulary”).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8  ·  DEVELOPMENT D6  ·  D6-L12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D6-L12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Review and Unit Assessment: Countries, Cultures and Celebrations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المُرَاجَعَةُ وَتَقْيِيمُ الوَحْدَةِ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Show what you can understand and produce about countries, culture, celebration and identity — every tense accurate, every cultural verb with its preposition, every claim fair — then choose one precise next step for Progression P1.</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D6-L12 · Development D6 · Countries, Cultures and Celebrations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Development · end of unit D6</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Development › D6 › D6-L12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D6-L12 · D6 Assessment</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D6-L12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28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D6-L12 · D6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assessment,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D6-L12</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Grammar spine (not marked).</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تَهْيِئَةٌ</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The D6 checklist and the 60-mark map.</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خُطَّةُ التَّقْيِيمِ</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Listening: three texts, 20 marks.</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الاِسْتِمَاعُ</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Reading: 10 marks.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القِرَاءَةُ</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27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Writing 20 + speaking 10.</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الكِتَابَةُ وَالتَّحَدُّثُ</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My profile and one P1 target.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الهَدَفُ</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for Progression P1: diet and nutrition.</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Start each section with the questions you find easiest. Leave a blank and come back. The grammar spine does not count.</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28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D6-L12 · D6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فَهْمُ المَسْمُوعِ</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reading comprehension</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listening comprehension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conversation</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“we” form of </a:t>
            </a:r>
            <a:pPr algn="l" indent="0" marL="0">
              <a:buNone/>
            </a:pPr>
            <a:r>
              <a:rPr lang="ar-SA" altLang="en-US" sz="1650" b="1" dirty="0">
                <a:solidFill>
                  <a:srgbClr val="1B3B6F"/>
                </a:solidFill>
                <a:latin typeface="Amiri" pitchFamily="2" charset="-78"/>
                <a:ea typeface="Amiri" pitchFamily="2" charset="-78"/>
                <a:cs typeface="Amiri" pitchFamily="2" charset="-78"/>
              </a:rPr>
              <a:t>زَارَ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زُرْنَا</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زَارْنَا</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زَارُوا</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___ </a:t>
            </a:r>
            <a:pPr algn="l" indent="0" marL="0">
              <a:buNone/>
            </a:pPr>
            <a:r>
              <a:rPr lang="ar-SA" altLang="en-US" sz="1650" b="1" dirty="0">
                <a:solidFill>
                  <a:srgbClr val="1B3B6F"/>
                </a:solidFill>
                <a:latin typeface="Amiri" pitchFamily="2" charset="-78"/>
                <a:ea typeface="Amiri" pitchFamily="2" charset="-78"/>
                <a:cs typeface="Amiri" pitchFamily="2" charset="-78"/>
              </a:rPr>
              <a:t>نَتَخَلَّى عَنْ لُغَتِنَا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لَمْ</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سَـ</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لَنْ</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يَتَكَيَّفُ</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الحَيَاةِ الجَدِيدَةِ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مَعَ</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المَدِينَةُ الَّتِي زُرْتُهَا جَمِيلَةٌ.</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المَدِينَةُ الَّذِي زُرْتُهَا جَمِيلَةٌ.</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المَدِينَةُ الَّذِينَ زُرْتُهَا جَمِيلَةٌ.</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28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D6-L12 · D6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فَهْمُ المَسْمُوعِ</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reading comprehension</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listening comprehension</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conversation</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(D6-L11).</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“we” form of </a:t>
            </a:r>
            <a:pPr algn="l" indent="0" marL="0">
              <a:buNone/>
            </a:pPr>
            <a:r>
              <a:rPr lang="ar-SA" altLang="en-US" sz="1650" b="1" dirty="0">
                <a:solidFill>
                  <a:srgbClr val="1B3B6F"/>
                </a:solidFill>
                <a:latin typeface="Amiri" pitchFamily="2" charset="-78"/>
                <a:ea typeface="Amiri" pitchFamily="2" charset="-78"/>
                <a:cs typeface="Amiri" pitchFamily="2" charset="-78"/>
              </a:rPr>
              <a:t>زَارَ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زُرْنَا</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زَارْنَا</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زَارُوا</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Website grammar spine 1.</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___ </a:t>
            </a:r>
            <a:pPr algn="l" indent="0" marL="0">
              <a:buNone/>
            </a:pPr>
            <a:r>
              <a:rPr lang="ar-SA" altLang="en-US" sz="1650" b="1" dirty="0">
                <a:solidFill>
                  <a:srgbClr val="1B3B6F"/>
                </a:solidFill>
                <a:latin typeface="Amiri" pitchFamily="2" charset="-78"/>
                <a:ea typeface="Amiri" pitchFamily="2" charset="-78"/>
                <a:cs typeface="Amiri" pitchFamily="2" charset="-78"/>
              </a:rPr>
              <a:t>نَتَخَلَّى عَنْ لُغَتِنَا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لَمْ</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سَـ</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لَنْ</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Website grammar spine 4.</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يَتَكَيَّفُ</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الحَيَاةِ الجَدِيدَةِ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إِلَى</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مَعَ</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Website grammar spine 7.</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المَدِينَةُ الَّتِي زُرْتُهَا جَمِيلَةٌ.</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المَدِينَةُ الَّذِي زُرْتُهَا جَمِيلَةٌ.</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المَدِينَةُ الَّذِينَ زُرْتُهَا جَمِيلَةٌ.</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Website grammar spine 9.</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This warm-up does NOT count. Use it to choose ONE thing to check in your writing today.</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الزَّمَنُ · حَرْفُ الجَرِّ · المَجْهُولُ · أَنَّ · التَّحَفُّظُ</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28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D6-L12 · D6 Assessment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REVIEW · THE D6 GRAMMAR SPINE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D6 accuracy checklist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مُرَاجَعَةُ القَوَاعِدِ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08592" y="1810512"/>
            <a:ext cx="2350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Lesson</a:t>
            </a:r>
            <a:endParaRPr lang="en-US" sz="1100" dirty="0"/>
          </a:p>
        </p:txBody>
      </p:sp>
      <p:sp>
        <p:nvSpPr>
          <p:cNvPr id="17" name="Text 14"/>
          <p:cNvSpPr txBox="1"/>
          <p:nvPr/>
        </p:nvSpPr>
        <p:spPr>
          <a:xfrm>
            <a:off x="32735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a:t>
            </a:r>
            <a:endParaRPr lang="en-US" sz="1100" dirty="0"/>
          </a:p>
        </p:txBody>
      </p:sp>
      <p:sp>
        <p:nvSpPr>
          <p:cNvPr id="18" name="Text 15"/>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Check</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345168" y="2267712"/>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D6-L07 · L10</a:t>
            </a:r>
            <a:endParaRPr lang="en-US" sz="1100" dirty="0"/>
          </a:p>
        </p:txBody>
      </p:sp>
      <p:sp>
        <p:nvSpPr>
          <p:cNvPr id="21" name="Text 18"/>
          <p:cNvSpPr txBox="1"/>
          <p:nvPr/>
        </p:nvSpPr>
        <p:spPr>
          <a:xfrm>
            <a:off x="3291840" y="2267712"/>
            <a:ext cx="58521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زُرْنَا · كَانَتْ تُعِدُّ · سَنُنَظِّمُ · لَنْ نَتَخَلَّى</a:t>
            </a:r>
            <a:endParaRPr lang="ar-SA" sz="2200" dirty="0"/>
          </a:p>
        </p:txBody>
      </p:sp>
      <p:sp>
        <p:nvSpPr>
          <p:cNvPr id="22" name="Text 19"/>
          <p:cNvSpPr txBox="1"/>
          <p:nvPr/>
        </p:nvSpPr>
        <p:spPr>
          <a:xfrm>
            <a:off x="566928" y="2267712"/>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tense + time</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9345168" y="300471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D6-L02 · L05</a:t>
            </a:r>
            <a:endParaRPr lang="en-US" sz="1100" dirty="0"/>
          </a:p>
        </p:txBody>
      </p:sp>
      <p:sp>
        <p:nvSpPr>
          <p:cNvPr id="27" name="Text 24"/>
          <p:cNvSpPr txBox="1"/>
          <p:nvPr/>
        </p:nvSpPr>
        <p:spPr>
          <a:xfrm>
            <a:off x="3291840" y="3004718"/>
            <a:ext cx="58521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نَحْتَفِلُ بِالعِيدِ · أَنْتَمِي إِلَى · يَتَكَيَّفُ مَعَ</a:t>
            </a:r>
            <a:endParaRPr lang="ar-SA" sz="2200" dirty="0"/>
          </a:p>
        </p:txBody>
      </p:sp>
      <p:sp>
        <p:nvSpPr>
          <p:cNvPr id="28" name="Text 25"/>
          <p:cNvSpPr txBox="1"/>
          <p:nvPr/>
        </p:nvSpPr>
        <p:spPr>
          <a:xfrm>
            <a:off x="566928" y="3004718"/>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verb + preposition</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9345168" y="3741725"/>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D6-L03</a:t>
            </a:r>
            <a:endParaRPr lang="en-US" sz="1100" dirty="0"/>
          </a:p>
        </p:txBody>
      </p:sp>
      <p:sp>
        <p:nvSpPr>
          <p:cNvPr id="33" name="Text 30"/>
          <p:cNvSpPr txBox="1"/>
          <p:nvPr/>
        </p:nvSpPr>
        <p:spPr>
          <a:xfrm>
            <a:off x="3291840" y="3741725"/>
            <a:ext cx="58521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تُزَيَّنُ القَاعَةُ بِالأَضْوَاءِ</a:t>
            </a:r>
            <a:endParaRPr lang="ar-SA" sz="2200" dirty="0"/>
          </a:p>
        </p:txBody>
      </p:sp>
      <p:sp>
        <p:nvSpPr>
          <p:cNvPr id="34" name="Text 31"/>
          <p:cNvSpPr txBox="1"/>
          <p:nvPr/>
        </p:nvSpPr>
        <p:spPr>
          <a:xfrm>
            <a:off x="566928" y="3741725"/>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passive</a:t>
            </a:r>
            <a:endParaRPr lang="en-US" sz="11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9345168" y="4478731"/>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D6-L05 · L07</a:t>
            </a:r>
            <a:endParaRPr lang="en-US" sz="1100" dirty="0"/>
          </a:p>
        </p:txBody>
      </p:sp>
      <p:sp>
        <p:nvSpPr>
          <p:cNvPr id="37" name="Text 34"/>
          <p:cNvSpPr txBox="1"/>
          <p:nvPr/>
        </p:nvSpPr>
        <p:spPr>
          <a:xfrm>
            <a:off x="3291840" y="4478731"/>
            <a:ext cx="58521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المَدِينَةُ الَّتِي زُرْتُهَا · أَكْبَرُ مِنَ السَّابِقِ</a:t>
            </a:r>
            <a:endParaRPr lang="ar-SA" sz="2200" dirty="0"/>
          </a:p>
        </p:txBody>
      </p:sp>
      <p:sp>
        <p:nvSpPr>
          <p:cNvPr id="38" name="Text 35"/>
          <p:cNvSpPr txBox="1"/>
          <p:nvPr/>
        </p:nvSpPr>
        <p:spPr>
          <a:xfrm>
            <a:off x="566928" y="4478731"/>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relative · comparative</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9345168" y="521573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D6-L01 · L09</a:t>
            </a:r>
            <a:endParaRPr lang="en-US" sz="1100" dirty="0"/>
          </a:p>
        </p:txBody>
      </p:sp>
      <p:sp>
        <p:nvSpPr>
          <p:cNvPr id="41" name="Text 38"/>
          <p:cNvSpPr txBox="1"/>
          <p:nvPr/>
        </p:nvSpPr>
        <p:spPr>
          <a:xfrm>
            <a:off x="3291840" y="5215738"/>
            <a:ext cx="58521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إِلَى لُبْنَانَ · أَنَّ التَّنَوُّعَ ثَرْوَةٌ</a:t>
            </a:r>
            <a:endParaRPr lang="ar-SA" sz="2200" dirty="0"/>
          </a:p>
        </p:txBody>
      </p:sp>
      <p:sp>
        <p:nvSpPr>
          <p:cNvPr id="42" name="Text 39"/>
          <p:cNvSpPr txBox="1"/>
          <p:nvPr/>
        </p:nvSpPr>
        <p:spPr>
          <a:xfrm>
            <a:off x="566928" y="5215738"/>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case after a word</a:t>
            </a:r>
            <a:endParaRPr lang="en-US" sz="1100" dirty="0"/>
          </a:p>
        </p:txBody>
      </p:sp>
      <p:sp>
        <p:nvSpPr>
          <p:cNvPr id="43" name="Shape 40"/>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5" name="Text 4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And one habit for every part today: a fair, qualified claim — </a:t>
            </a:r>
            <a:pPr algn="l" indent="0" marL="0">
              <a:buNone/>
            </a:pPr>
            <a:r>
              <a:rPr lang="ar-SA" altLang="en-US" sz="1500" b="1" dirty="0">
                <a:solidFill>
                  <a:srgbClr val="1B3B6F"/>
                </a:solidFill>
                <a:latin typeface="Amiri" pitchFamily="2" charset="-78"/>
                <a:ea typeface="Amiri" pitchFamily="2" charset="-78"/>
                <a:cs typeface="Amiri" pitchFamily="2" charset="-78"/>
              </a:rPr>
              <a:t>فِي بَعْضِ</a:t>
            </a:r>
            <a:pPr algn="l" indent="0" marL="0">
              <a:buNone/>
            </a:pPr>
            <a:r>
              <a:rPr lang="en-US" sz="1150" b="1" dirty="0">
                <a:solidFill>
                  <a:srgbClr val="1B3B6F"/>
                </a:solidFill>
                <a:latin typeface="Calibri" pitchFamily="34" charset="0"/>
                <a:cs typeface="Amiri" pitchFamily="2" charset="-78"/>
              </a:rPr>
              <a:t> … · </a:t>
            </a:r>
            <a:pPr algn="l" indent="0" marL="0">
              <a:buNone/>
            </a:pPr>
            <a:r>
              <a:rPr lang="ar-SA" altLang="en-US" sz="1500" b="1" dirty="0">
                <a:solidFill>
                  <a:srgbClr val="1B3B6F"/>
                </a:solidFill>
                <a:latin typeface="Amiri" pitchFamily="2" charset="-78"/>
                <a:ea typeface="Amiri" pitchFamily="2" charset="-78"/>
                <a:cs typeface="Amiri" pitchFamily="2" charset="-78"/>
              </a:rPr>
              <a:t>عَلَى حَدِّ عِلْمِي</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28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D6-L12 · D6 Assessment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ASSESSMENT MAP (WEBSITE) · 60 MARKS IN TOTAL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Four skills, sixty marks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خُطَّةُ التَّقْيِيمِ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9419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Section</a:t>
            </a:r>
            <a:endParaRPr lang="en-US" sz="1100" dirty="0"/>
          </a:p>
        </p:txBody>
      </p:sp>
      <p:sp>
        <p:nvSpPr>
          <p:cNvPr id="17" name="Text 14"/>
          <p:cNvSpPr txBox="1"/>
          <p:nvPr/>
        </p:nvSpPr>
        <p:spPr>
          <a:xfrm>
            <a:off x="1810512" y="1810512"/>
            <a:ext cx="6437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you do</a:t>
            </a:r>
            <a:endParaRPr lang="en-US" sz="1100" dirty="0"/>
          </a:p>
        </p:txBody>
      </p:sp>
      <p:sp>
        <p:nvSpPr>
          <p:cNvPr id="18" name="Text 15"/>
          <p:cNvSpPr txBox="1"/>
          <p:nvPr/>
        </p:nvSpPr>
        <p:spPr>
          <a:xfrm>
            <a:off x="53035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Marks</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430768" y="2267712"/>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 Listening</a:t>
            </a:r>
            <a:endParaRPr lang="en-US" sz="1100" dirty="0"/>
          </a:p>
        </p:txBody>
      </p:sp>
      <p:sp>
        <p:nvSpPr>
          <p:cNvPr id="21" name="Text 18"/>
          <p:cNvSpPr txBox="1"/>
          <p:nvPr/>
        </p:nvSpPr>
        <p:spPr>
          <a:xfrm>
            <a:off x="1847088" y="2267712"/>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Three texts (each heard twice): a celebration across three tenses (8) · Nūr and Sami (6) · Arabic and the Arab world (6)</a:t>
            </a:r>
            <a:endParaRPr lang="en-US" sz="1100" dirty="0"/>
          </a:p>
        </p:txBody>
      </p:sp>
      <p:sp>
        <p:nvSpPr>
          <p:cNvPr id="22" name="Text 19"/>
          <p:cNvSpPr txBox="1"/>
          <p:nvPr/>
        </p:nvSpPr>
        <p:spPr>
          <a:xfrm>
            <a:off x="566928" y="2267712"/>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20</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430768" y="3054096"/>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B1 · Reading</a:t>
            </a:r>
            <a:endParaRPr lang="en-US" sz="1100" dirty="0"/>
          </a:p>
        </p:txBody>
      </p:sp>
      <p:sp>
        <p:nvSpPr>
          <p:cNvPr id="27" name="Text 24"/>
          <p:cNvSpPr txBox="1"/>
          <p:nvPr/>
        </p:nvSpPr>
        <p:spPr>
          <a:xfrm>
            <a:off x="1847088" y="3054096"/>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festival city: main idea, detail, attitude, omission and a tense gap-fill</a:t>
            </a:r>
            <a:endParaRPr lang="en-US" sz="1100" dirty="0"/>
          </a:p>
        </p:txBody>
      </p:sp>
      <p:sp>
        <p:nvSpPr>
          <p:cNvPr id="28" name="Text 25"/>
          <p:cNvSpPr txBox="1"/>
          <p:nvPr/>
        </p:nvSpPr>
        <p:spPr>
          <a:xfrm>
            <a:off x="566928" y="3054096"/>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10</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430768" y="3840480"/>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B2 · Writing</a:t>
            </a:r>
            <a:endParaRPr lang="en-US" sz="1100" dirty="0"/>
          </a:p>
        </p:txBody>
      </p:sp>
      <p:sp>
        <p:nvSpPr>
          <p:cNvPr id="33" name="Text 30"/>
          <p:cNvSpPr txBox="1"/>
          <p:nvPr/>
        </p:nvSpPr>
        <p:spPr>
          <a:xfrm>
            <a:off x="1847088" y="3840480"/>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five-field cultural profile (5) + a 130–140-word article (15)</a:t>
            </a:r>
            <a:endParaRPr lang="en-US" sz="1100" dirty="0"/>
          </a:p>
        </p:txBody>
      </p:sp>
      <p:sp>
        <p:nvSpPr>
          <p:cNvPr id="34" name="Text 31"/>
          <p:cNvSpPr txBox="1"/>
          <p:nvPr/>
        </p:nvSpPr>
        <p:spPr>
          <a:xfrm>
            <a:off x="566928" y="3840480"/>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20</a:t>
            </a:r>
            <a:endParaRPr lang="en-US" sz="11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8430768" y="4626864"/>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 · Speaking</a:t>
            </a:r>
            <a:endParaRPr lang="en-US" sz="1100" dirty="0"/>
          </a:p>
        </p:txBody>
      </p:sp>
      <p:sp>
        <p:nvSpPr>
          <p:cNvPr id="39" name="Text 36"/>
          <p:cNvSpPr txBox="1"/>
          <p:nvPr/>
        </p:nvSpPr>
        <p:spPr>
          <a:xfrm>
            <a:off x="1847088" y="4626864"/>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role play: meeting someone from another culture (4) + a topic conversation (6)</a:t>
            </a:r>
            <a:endParaRPr lang="en-US" sz="1100" dirty="0"/>
          </a:p>
        </p:txBody>
      </p:sp>
      <p:sp>
        <p:nvSpPr>
          <p:cNvPr id="40" name="Text 37"/>
          <p:cNvSpPr txBox="1"/>
          <p:nvPr/>
        </p:nvSpPr>
        <p:spPr>
          <a:xfrm>
            <a:off x="566928" y="4626864"/>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10</a:t>
            </a:r>
            <a:endParaRPr lang="en-US" sz="1100" dirty="0"/>
          </a:p>
        </p:txBody>
      </p:sp>
      <p:sp>
        <p:nvSpPr>
          <p:cNvPr id="41" name="Shape 38"/>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28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D6-L12 · D6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TEXT 1 · QUESTIONS 1–4 · 1 MARK EACH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A celebration across three tenses (1)</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D6-L12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did the family celebrate in childhood?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family's home country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At the cultural centre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At school</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grandmother used to do?</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Travel with them</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Decorate the hall</a:t>
            </a:r>
            <a:endParaRPr lang="en-US" sz="12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Prepare the sweets herself</a:t>
            </a:r>
            <a:endParaRPr lang="en-US" sz="12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happened last year?</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cancelled the celebration</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moved abroad</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visited relatives after a long absence</a:t>
            </a:r>
            <a:endParaRPr lang="en-US" sz="12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 they usually celebrate now?</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At the cultural centre with the community</a:t>
            </a:r>
            <a:endParaRPr lang="en-US" sz="12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village</a:t>
            </a:r>
            <a:endParaRPr lang="en-US" sz="12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At a relative's house</a:t>
            </a:r>
            <a:endParaRPr lang="en-US" sz="12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28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D6-L12 · D6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TEXT 1 · QUESTIONS 1–4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50" b="1" dirty="0">
                <a:solidFill>
                  <a:srgbClr val="1B3B6F"/>
                </a:solidFill>
                <a:latin typeface="Cambria" pitchFamily="34" charset="0"/>
                <a:cs typeface="Amiri" pitchFamily="2" charset="-78"/>
              </a:rPr>
              <a:t>A celebration across three tenses (1): answers</a:t>
            </a:r>
            <a:endParaRPr lang="en-US" sz="19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D6-L12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did the family celebrate in childhood?</a:t>
            </a:r>
            <a:endParaRPr lang="en-US" sz="1250" dirty="0"/>
          </a:p>
        </p:txBody>
      </p:sp>
      <p:sp>
        <p:nvSpPr>
          <p:cNvPr id="19" name="Shape 16"/>
          <p:cNvSpPr/>
          <p:nvPr/>
        </p:nvSpPr>
        <p:spPr>
          <a:xfrm>
            <a:off x="548640" y="2453640"/>
            <a:ext cx="5362956"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In the family's home country</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At the cultural centre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At school</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كُنَّا نَحْتَفِلُ بِالعِيدِ فِي بَلَدِ أُسْرَتِي.</a:t>
            </a:r>
            <a:endParaRPr lang="ar-SA" sz="13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grandmother used to do?</a:t>
            </a:r>
            <a:endParaRPr lang="en-US" sz="1250" dirty="0"/>
          </a:p>
        </p:txBody>
      </p:sp>
      <p:sp>
        <p:nvSpPr>
          <p:cNvPr id="34" name="Shape 31"/>
          <p:cNvSpPr/>
          <p:nvPr/>
        </p:nvSpPr>
        <p:spPr>
          <a:xfrm>
            <a:off x="6368796"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Travel with them</a:t>
            </a:r>
            <a:endParaRPr lang="en-US" sz="1250" dirty="0"/>
          </a:p>
        </p:txBody>
      </p:sp>
      <p:sp>
        <p:nvSpPr>
          <p:cNvPr id="37" name="Shape 34"/>
          <p:cNvSpPr/>
          <p:nvPr/>
        </p:nvSpPr>
        <p:spPr>
          <a:xfrm>
            <a:off x="6368796"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Decorate the hall</a:t>
            </a:r>
            <a:endParaRPr lang="en-US" sz="1250" dirty="0"/>
          </a:p>
        </p:txBody>
      </p:sp>
      <p:sp>
        <p:nvSpPr>
          <p:cNvPr id="40" name="Shape 37"/>
          <p:cNvSpPr/>
          <p:nvPr/>
        </p:nvSpPr>
        <p:spPr>
          <a:xfrm>
            <a:off x="6277356" y="3197352"/>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Prepare the sweets herself</a:t>
            </a:r>
            <a:endParaRPr lang="en-US" sz="125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وَكَانَتْ جَدَّتِي تُعِدُّ الحَلْوَى بِنَفْسِهَا</a:t>
            </a:r>
            <a:pPr algn="l" indent="0" marL="0">
              <a:buNone/>
            </a:pPr>
            <a:r>
              <a:rPr lang="en-US" sz="1050" i="1" dirty="0">
                <a:solidFill>
                  <a:srgbClr val="8A6D1E"/>
                </a:solidFill>
                <a:latin typeface="Calibri" pitchFamily="34" charset="0"/>
                <a:cs typeface="Amiri" pitchFamily="2" charset="-78"/>
              </a:rPr>
              <a:t> — </a:t>
            </a:r>
            <a:pPr algn="l" indent="0" marL="0">
              <a:buNone/>
            </a:pPr>
            <a:r>
              <a:rPr lang="ar-SA" altLang="en-US" sz="1350" dirty="0">
                <a:solidFill>
                  <a:srgbClr val="8A6D1E"/>
                </a:solidFill>
                <a:latin typeface="Amiri" pitchFamily="2" charset="-78"/>
                <a:ea typeface="Amiri" pitchFamily="2" charset="-78"/>
                <a:cs typeface="Amiri" pitchFamily="2" charset="-78"/>
              </a:rPr>
              <a:t>كَانَ</a:t>
            </a:r>
            <a:pPr algn="l" indent="0" marL="0">
              <a:buNone/>
            </a:pPr>
            <a:r>
              <a:rPr lang="en-US" sz="1050" i="1" dirty="0">
                <a:solidFill>
                  <a:srgbClr val="8A6D1E"/>
                </a:solidFill>
                <a:latin typeface="Calibri" pitchFamily="34" charset="0"/>
                <a:cs typeface="Amiri" pitchFamily="2" charset="-78"/>
              </a:rPr>
              <a:t> plus a present verb.</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happened last year?</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cancelled the celebration</a:t>
            </a:r>
            <a:endParaRPr lang="en-US" sz="1250" dirty="0"/>
          </a:p>
        </p:txBody>
      </p:sp>
      <p:sp>
        <p:nvSpPr>
          <p:cNvPr id="52" name="Shape 49"/>
          <p:cNvSpPr/>
          <p:nvPr/>
        </p:nvSpPr>
        <p:spPr>
          <a:xfrm>
            <a:off x="640080" y="5202936"/>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moved abroad</a:t>
            </a:r>
            <a:endParaRPr lang="en-US" sz="1250" dirty="0"/>
          </a:p>
        </p:txBody>
      </p:sp>
      <p:sp>
        <p:nvSpPr>
          <p:cNvPr id="55" name="Shape 52"/>
          <p:cNvSpPr/>
          <p:nvPr/>
        </p:nvSpPr>
        <p:spPr>
          <a:xfrm>
            <a:off x="548640" y="5538216"/>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574792"/>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They visited relatives after a long absence</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وَفِي العَامِ المَاضِي زُرْنَا الأَقَارِبَ هُنَاكَ بَعْدَ غِيَابٍ طَوِيلٍ.</a:t>
            </a:r>
            <a:endParaRPr lang="ar-SA" sz="13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 they usually celebrate now?</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At the cultural centre with the community</a:t>
            </a:r>
            <a:endParaRPr lang="en-US" sz="125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the village</a:t>
            </a:r>
            <a:endParaRPr lang="en-US" sz="125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At a relative's house</a:t>
            </a:r>
            <a:endParaRPr lang="en-US" sz="125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أَمَّا الآنَ فَنَحْتَفِلُ عَادَةً فِي المَرْكَزِ الثَّقَافِيِّ.</a:t>
            </a:r>
            <a:endParaRPr lang="ar-SA" sz="13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28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D6-L12 · D6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TEXT 1 · QUESTIONS 5–8 · 1 MARK EACH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A celebration across three tenses (2)</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D6-L12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happens to the hall now?</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rebuilt each year</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stays closed</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decorated and greetings are exchanged</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will happen next year?</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 celebration at all</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move to another city</a:t>
            </a:r>
            <a:endParaRPr lang="en-US" sz="12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larger celebration, with neighbours invited</a:t>
            </a:r>
            <a:endParaRPr lang="en-US" sz="12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speaker's aspiration?</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visit the family's country again</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stop travelling</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change languages</a:t>
            </a:r>
            <a:endParaRPr lang="en-US" sz="12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العِيدِيَّة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special sweet</a:t>
            </a:r>
            <a:endParaRPr lang="en-US" sz="12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Money given to children at Eid</a:t>
            </a:r>
            <a:endParaRPr lang="en-US" sz="12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Eid prayer</a:t>
            </a:r>
            <a:endParaRPr lang="en-US" sz="12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28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D6-L12 · D6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TEXT 1 · QUESTIONS 5–8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50" b="1" dirty="0">
                <a:solidFill>
                  <a:srgbClr val="1B3B6F"/>
                </a:solidFill>
                <a:latin typeface="Cambria" pitchFamily="34" charset="0"/>
                <a:cs typeface="Amiri" pitchFamily="2" charset="-78"/>
              </a:rPr>
              <a:t>A celebration across three tenses (2): answers</a:t>
            </a:r>
            <a:endParaRPr lang="en-US" sz="19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D6-L12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happens to the hall now?</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rebuilt each year</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stays closed</a:t>
            </a:r>
            <a:endParaRPr lang="en-US" sz="125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is decorated and greetings are exchanged</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وَتُزَيَّنُ القَاعَةُ وَتُتَبَادَلُ التَّهَانِي.</a:t>
            </a:r>
            <a:endParaRPr lang="ar-SA" sz="13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will happen next year?</a:t>
            </a:r>
            <a:endParaRPr lang="en-US" sz="1250" dirty="0"/>
          </a:p>
        </p:txBody>
      </p:sp>
      <p:sp>
        <p:nvSpPr>
          <p:cNvPr id="34" name="Shape 31"/>
          <p:cNvSpPr/>
          <p:nvPr/>
        </p:nvSpPr>
        <p:spPr>
          <a:xfrm>
            <a:off x="6368796"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 celebration at all</a:t>
            </a:r>
            <a:endParaRPr lang="en-US" sz="1250" dirty="0"/>
          </a:p>
        </p:txBody>
      </p:sp>
      <p:sp>
        <p:nvSpPr>
          <p:cNvPr id="37" name="Shape 34"/>
          <p:cNvSpPr/>
          <p:nvPr/>
        </p:nvSpPr>
        <p:spPr>
          <a:xfrm>
            <a:off x="6368796"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move to another city</a:t>
            </a:r>
            <a:endParaRPr lang="en-US" sz="1250" dirty="0"/>
          </a:p>
        </p:txBody>
      </p:sp>
      <p:sp>
        <p:nvSpPr>
          <p:cNvPr id="40" name="Shape 37"/>
          <p:cNvSpPr/>
          <p:nvPr/>
        </p:nvSpPr>
        <p:spPr>
          <a:xfrm>
            <a:off x="6277356" y="3197352"/>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larger celebration, with neighbours invited</a:t>
            </a:r>
            <a:endParaRPr lang="en-US" sz="125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وَالعَامَ القَادِمَ سَنُنَظِّمُ حَفْلًا أَكْبَرَ، وَسَنَدْعُو الجِيرَانَ.</a:t>
            </a:r>
            <a:endParaRPr lang="ar-SA" sz="13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speaker's aspiration?</a:t>
            </a:r>
            <a:endParaRPr lang="en-US" sz="1250" dirty="0"/>
          </a:p>
        </p:txBody>
      </p:sp>
      <p:sp>
        <p:nvSpPr>
          <p:cNvPr id="49" name="Shape 46"/>
          <p:cNvSpPr/>
          <p:nvPr/>
        </p:nvSpPr>
        <p:spPr>
          <a:xfrm>
            <a:off x="548640" y="4794504"/>
            <a:ext cx="5362956"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640080" y="4831080"/>
            <a:ext cx="256032" cy="256032"/>
          </a:xfrm>
          <a:prstGeom prst="ellipse">
            <a:avLst/>
          </a:prstGeom>
          <a:solidFill>
            <a:srgbClr val="2E8B57"/>
          </a:solidFill>
          <a:ln w="12700">
            <a:solidFill>
              <a:srgbClr val="2E8B57"/>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To visit the family's country again</a:t>
            </a:r>
            <a:endParaRPr lang="en-US" sz="1250" dirty="0"/>
          </a:p>
        </p:txBody>
      </p:sp>
      <p:sp>
        <p:nvSpPr>
          <p:cNvPr id="53" name="Shape 50"/>
          <p:cNvSpPr/>
          <p:nvPr/>
        </p:nvSpPr>
        <p:spPr>
          <a:xfrm>
            <a:off x="640080" y="5202936"/>
            <a:ext cx="256032" cy="256032"/>
          </a:xfrm>
          <a:prstGeom prst="ellipse">
            <a:avLst/>
          </a:prstGeom>
          <a:solidFill>
            <a:srgbClr val="C9CED6"/>
          </a:solidFill>
          <a:ln w="12700">
            <a:solidFill>
              <a:srgbClr val="C9CED6"/>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stop travelling</a:t>
            </a:r>
            <a:endParaRPr lang="en-US" sz="125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change languages</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وَأَطْمَحُ إِلَى أَنْ أَزُورَ بَلَدَ أُسْرَتِي مَرَّةً أُخْرَى.</a:t>
            </a:r>
            <a:endParaRPr lang="ar-SA" sz="13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العِيدِيَّة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64" name="Shape 61"/>
          <p:cNvSpPr/>
          <p:nvPr/>
        </p:nvSpPr>
        <p:spPr>
          <a:xfrm>
            <a:off x="6368796"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special sweet</a:t>
            </a:r>
            <a:endParaRPr lang="en-US" sz="1250" dirty="0"/>
          </a:p>
        </p:txBody>
      </p:sp>
      <p:sp>
        <p:nvSpPr>
          <p:cNvPr id="67" name="Shape 64"/>
          <p:cNvSpPr/>
          <p:nvPr/>
        </p:nvSpPr>
        <p:spPr>
          <a:xfrm>
            <a:off x="6277356" y="5166360"/>
            <a:ext cx="5362956"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368796"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Money given to children at Eid</a:t>
            </a:r>
            <a:endParaRPr lang="en-US" sz="125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Eid prayer</a:t>
            </a:r>
            <a:endParaRPr lang="en-US" sz="125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العِيدِيَّة</a:t>
            </a:r>
            <a:pPr algn="l" indent="0" marL="0">
              <a:buNone/>
            </a:pPr>
            <a:r>
              <a:rPr lang="en-US" sz="1050" i="1" dirty="0">
                <a:solidFill>
                  <a:srgbClr val="8A6D1E"/>
                </a:solidFill>
                <a:latin typeface="Calibri" pitchFamily="34" charset="0"/>
                <a:cs typeface="Amiri" pitchFamily="2" charset="-78"/>
              </a:rPr>
              <a:t> is the gift of money given to children at Eid.</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28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D6-L12 · D6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TEXT 2 · 6 QUESTIONS · 1 MARK EACH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Nūr and Sami: who said what?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belongs to the second generation?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Sami</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Nūr</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was born in the family's country?</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Sami</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Nūr</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keeps the family customs?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Nūr only</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Sami only</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mixes the two languages sometimes?</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Sami only</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Nūr only</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feels nostalgia for the homeland?</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Nūr</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Sami</a:t>
            </a:r>
            <a:endParaRPr lang="en-US" sz="1250" dirty="0"/>
          </a:p>
        </p:txBody>
      </p:sp>
      <p:sp>
        <p:nvSpPr>
          <p:cNvPr id="80" name="Shape 77"/>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22350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3" name="Text 80"/>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has never lived there?</a:t>
            </a:r>
            <a:endParaRPr lang="en-US" sz="1250" dirty="0"/>
          </a:p>
        </p:txBody>
      </p:sp>
      <p:sp>
        <p:nvSpPr>
          <p:cNvPr id="84" name="Shape 81"/>
          <p:cNvSpPr/>
          <p:nvPr/>
        </p:nvSpPr>
        <p:spPr>
          <a:xfrm>
            <a:off x="827836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6" name="Text 83"/>
          <p:cNvSpPr txBox="1"/>
          <p:nvPr/>
        </p:nvSpPr>
        <p:spPr>
          <a:xfrm>
            <a:off x="8607552"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Sami</a:t>
            </a:r>
            <a:endParaRPr lang="en-US" sz="1250" dirty="0"/>
          </a:p>
        </p:txBody>
      </p:sp>
      <p:sp>
        <p:nvSpPr>
          <p:cNvPr id="87" name="Shape 84"/>
          <p:cNvSpPr/>
          <p:nvPr/>
        </p:nvSpPr>
        <p:spPr>
          <a:xfrm>
            <a:off x="827836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9" name="Text 86"/>
          <p:cNvSpPr txBox="1"/>
          <p:nvPr/>
        </p:nvSpPr>
        <p:spPr>
          <a:xfrm>
            <a:off x="8607552"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Nūr</a:t>
            </a:r>
            <a:endParaRPr lang="en-US" sz="1250" dirty="0"/>
          </a:p>
        </p:txBody>
      </p:sp>
      <p:sp>
        <p:nvSpPr>
          <p:cNvPr id="90" name="Shape 87"/>
          <p:cNvSpPr/>
          <p:nvPr/>
        </p:nvSpPr>
        <p:spPr>
          <a:xfrm>
            <a:off x="827836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2" name="Text 89"/>
          <p:cNvSpPr txBox="1"/>
          <p:nvPr/>
        </p:nvSpPr>
        <p:spPr>
          <a:xfrm>
            <a:off x="8607552"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28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D6-L12 · D6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TEXT 2 · 6 QUESTIONS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Nūr and Sami: who said what?: answers</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belongs to the second generation?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Sami</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Both</a:t>
            </a:r>
            <a:endParaRPr lang="en-US" sz="1250" dirty="0"/>
          </a:p>
        </p:txBody>
      </p:sp>
      <p:sp>
        <p:nvSpPr>
          <p:cNvPr id="25" name="Shape 22"/>
          <p:cNvSpPr/>
          <p:nvPr/>
        </p:nvSpPr>
        <p:spPr>
          <a:xfrm>
            <a:off x="548640" y="3197352"/>
            <a:ext cx="3453384"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Nūr</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نُورُ: أَنَا مِنَ الجِيلِ الثَّانِي.</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was born in the family's country?</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Sami</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Nūr</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Both</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سَامِي: وَأَنَا وُلِدْتُ هُنَاكَ.</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keeps the family customs?</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Nūr only</a:t>
            </a:r>
            <a:endParaRPr lang="en-US" sz="1250" dirty="0"/>
          </a:p>
        </p:txBody>
      </p:sp>
      <p:sp>
        <p:nvSpPr>
          <p:cNvPr id="52" name="Shape 49"/>
          <p:cNvSpPr/>
          <p:nvPr/>
        </p:nvSpPr>
        <p:spPr>
          <a:xfrm>
            <a:off x="8186928" y="2825496"/>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862072"/>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Both</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Sami only</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Nūr says </a:t>
            </a:r>
            <a:pPr algn="l" indent="0" marL="0">
              <a:buNone/>
            </a:pPr>
            <a:r>
              <a:rPr lang="ar-SA" altLang="en-US" sz="1350" dirty="0">
                <a:solidFill>
                  <a:srgbClr val="8A6D1E"/>
                </a:solidFill>
                <a:latin typeface="Amiri" pitchFamily="2" charset="-78"/>
                <a:ea typeface="Amiri" pitchFamily="2" charset="-78"/>
                <a:cs typeface="Amiri" pitchFamily="2" charset="-78"/>
              </a:rPr>
              <a:t>أَحْتَفِظُ بِعَادَاتِ أُسْرَتِي</a:t>
            </a:r>
            <a:pPr algn="l" indent="0" marL="0">
              <a:buNone/>
            </a:pPr>
            <a:r>
              <a:rPr lang="en-US" sz="1050" i="1" dirty="0">
                <a:solidFill>
                  <a:srgbClr val="8A6D1E"/>
                </a:solidFill>
                <a:latin typeface="Calibri" pitchFamily="34" charset="0"/>
                <a:cs typeface="Amiri" pitchFamily="2" charset="-78"/>
              </a:rPr>
              <a:t> and Sami says </a:t>
            </a:r>
            <a:pPr algn="l" indent="0" marL="0">
              <a:buNone/>
            </a:pPr>
            <a:r>
              <a:rPr lang="ar-SA" altLang="en-US" sz="1350" dirty="0">
                <a:solidFill>
                  <a:srgbClr val="8A6D1E"/>
                </a:solidFill>
                <a:latin typeface="Amiri" pitchFamily="2" charset="-78"/>
                <a:ea typeface="Amiri" pitchFamily="2" charset="-78"/>
                <a:cs typeface="Amiri" pitchFamily="2" charset="-78"/>
              </a:rPr>
              <a:t>وَأَنَا أَيْضًا أَحْتَفِظُ بِهَا</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mixes the two languages sometimes?</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Both</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Sami only</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Nūr only</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Sami says </a:t>
            </a:r>
            <a:pPr algn="l" indent="0" marL="0">
              <a:buNone/>
            </a:pPr>
            <a:r>
              <a:rPr lang="ar-SA" altLang="en-US" sz="1350" dirty="0">
                <a:solidFill>
                  <a:srgbClr val="8A6D1E"/>
                </a:solidFill>
                <a:latin typeface="Amiri" pitchFamily="2" charset="-78"/>
                <a:ea typeface="Amiri" pitchFamily="2" charset="-78"/>
                <a:cs typeface="Amiri" pitchFamily="2" charset="-78"/>
              </a:rPr>
              <a:t>أَحْيَانًا أَخْلِطُ بَيْنَ اللُّغَتَيْنِ</a:t>
            </a:r>
            <a:pPr algn="l" indent="0" marL="0">
              <a:buNone/>
            </a:pPr>
            <a:r>
              <a:rPr lang="en-US" sz="1050" i="1" dirty="0">
                <a:solidFill>
                  <a:srgbClr val="8A6D1E"/>
                </a:solidFill>
                <a:latin typeface="Calibri" pitchFamily="34" charset="0"/>
                <a:cs typeface="Amiri" pitchFamily="2" charset="-78"/>
              </a:rPr>
              <a:t> and Nūr replies </a:t>
            </a:r>
            <a:pPr algn="l" indent="0" marL="0">
              <a:buNone/>
            </a:pPr>
            <a:r>
              <a:rPr lang="ar-SA" altLang="en-US" sz="1350" dirty="0">
                <a:solidFill>
                  <a:srgbClr val="8A6D1E"/>
                </a:solidFill>
                <a:latin typeface="Amiri" pitchFamily="2" charset="-78"/>
                <a:ea typeface="Amiri" pitchFamily="2" charset="-78"/>
                <a:cs typeface="Amiri" pitchFamily="2" charset="-78"/>
              </a:rPr>
              <a:t>أَنَا كَذٰلِكَ</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feels nostalgia for the homeland?</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Nūr</a:t>
            </a:r>
            <a:endParaRPr lang="en-US" sz="1250" dirty="0"/>
          </a:p>
        </p:txBody>
      </p:sp>
      <p:sp>
        <p:nvSpPr>
          <p:cNvPr id="82" name="Shape 79"/>
          <p:cNvSpPr/>
          <p:nvPr/>
        </p:nvSpPr>
        <p:spPr>
          <a:xfrm>
            <a:off x="4459224" y="5202936"/>
            <a:ext cx="256032" cy="256032"/>
          </a:xfrm>
          <a:prstGeom prst="ellipse">
            <a:avLst/>
          </a:prstGeom>
          <a:solidFill>
            <a:srgbClr val="C9CED6"/>
          </a:solidFill>
          <a:ln w="12700">
            <a:solidFill>
              <a:srgbClr val="C9CED6"/>
            </a:solidFill>
            <a:prstDash val="solid"/>
          </a:ln>
        </p:spPr>
      </p:sp>
      <p:sp>
        <p:nvSpPr>
          <p:cNvPr id="83" name="Text 80"/>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4" name="Text 81"/>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Both</a:t>
            </a:r>
            <a:endParaRPr lang="en-US" sz="1250" dirty="0"/>
          </a:p>
        </p:txBody>
      </p:sp>
      <p:sp>
        <p:nvSpPr>
          <p:cNvPr id="85" name="Shape 82"/>
          <p:cNvSpPr/>
          <p:nvPr/>
        </p:nvSpPr>
        <p:spPr>
          <a:xfrm>
            <a:off x="4367784" y="5538216"/>
            <a:ext cx="3453384" cy="347472"/>
          </a:xfrm>
          <a:prstGeom prst="roundRect">
            <a:avLst>
              <a:gd name="adj" fmla="val 15789"/>
            </a:avLst>
          </a:prstGeom>
          <a:solidFill>
            <a:srgbClr val="E6F4EC"/>
          </a:solidFill>
          <a:ln w="9525">
            <a:solidFill>
              <a:srgbClr val="2E8B57"/>
            </a:solidFill>
            <a:prstDash val="solid"/>
          </a:ln>
        </p:spPr>
      </p:sp>
      <p:sp>
        <p:nvSpPr>
          <p:cNvPr id="86" name="Shape 83"/>
          <p:cNvSpPr/>
          <p:nvPr/>
        </p:nvSpPr>
        <p:spPr>
          <a:xfrm>
            <a:off x="4459224" y="5574792"/>
            <a:ext cx="256032" cy="256032"/>
          </a:xfrm>
          <a:prstGeom prst="ellipse">
            <a:avLst/>
          </a:prstGeom>
          <a:solidFill>
            <a:srgbClr val="2E8B57"/>
          </a:solidFill>
          <a:ln w="12700">
            <a:solidFill>
              <a:srgbClr val="2E8B57"/>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Sami</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سَامِي: أَحِنُّ إِلَى وَطَنِي أَحْيَانًا.</a:t>
            </a:r>
            <a:endParaRPr lang="ar-SA" sz="1350" dirty="0"/>
          </a:p>
        </p:txBody>
      </p:sp>
      <p:sp>
        <p:nvSpPr>
          <p:cNvPr id="90" name="Shape 87"/>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22350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3" name="Text 90"/>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has never lived there?</a:t>
            </a:r>
            <a:endParaRPr lang="en-US" sz="1250" dirty="0"/>
          </a:p>
        </p:txBody>
      </p:sp>
      <p:sp>
        <p:nvSpPr>
          <p:cNvPr id="94" name="Shape 91"/>
          <p:cNvSpPr/>
          <p:nvPr/>
        </p:nvSpPr>
        <p:spPr>
          <a:xfrm>
            <a:off x="8278368" y="4831080"/>
            <a:ext cx="256032" cy="256032"/>
          </a:xfrm>
          <a:prstGeom prst="ellipse">
            <a:avLst/>
          </a:prstGeom>
          <a:solidFill>
            <a:srgbClr val="C9CED6"/>
          </a:solidFill>
          <a:ln w="12700">
            <a:solidFill>
              <a:srgbClr val="C9CED6"/>
            </a:solidFill>
            <a:prstDash val="solid"/>
          </a:ln>
        </p:spPr>
      </p:sp>
      <p:sp>
        <p:nvSpPr>
          <p:cNvPr id="95" name="Text 92"/>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6" name="Text 93"/>
          <p:cNvSpPr txBox="1"/>
          <p:nvPr/>
        </p:nvSpPr>
        <p:spPr>
          <a:xfrm>
            <a:off x="8607552"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Sami</a:t>
            </a:r>
            <a:endParaRPr lang="en-US" sz="1250" dirty="0"/>
          </a:p>
        </p:txBody>
      </p:sp>
      <p:sp>
        <p:nvSpPr>
          <p:cNvPr id="97" name="Shape 94"/>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8" name="Shape 95"/>
          <p:cNvSpPr/>
          <p:nvPr/>
        </p:nvSpPr>
        <p:spPr>
          <a:xfrm>
            <a:off x="8278368" y="5202936"/>
            <a:ext cx="256032" cy="256032"/>
          </a:xfrm>
          <a:prstGeom prst="ellipse">
            <a:avLst/>
          </a:prstGeom>
          <a:solidFill>
            <a:srgbClr val="2E8B57"/>
          </a:solidFill>
          <a:ln w="12700">
            <a:solidFill>
              <a:srgbClr val="2E8B57"/>
            </a:solidFill>
            <a:prstDash val="solid"/>
          </a:ln>
        </p:spPr>
      </p:sp>
      <p:sp>
        <p:nvSpPr>
          <p:cNvPr id="99" name="Text 96"/>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0" name="Text 97"/>
          <p:cNvSpPr txBox="1"/>
          <p:nvPr/>
        </p:nvSpPr>
        <p:spPr>
          <a:xfrm>
            <a:off x="8607552"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Nūr</a:t>
            </a:r>
            <a:endParaRPr lang="en-US" sz="1250" dirty="0"/>
          </a:p>
        </p:txBody>
      </p:sp>
      <p:sp>
        <p:nvSpPr>
          <p:cNvPr id="101" name="Shape 98"/>
          <p:cNvSpPr/>
          <p:nvPr/>
        </p:nvSpPr>
        <p:spPr>
          <a:xfrm>
            <a:off x="827836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3" name="Text 100"/>
          <p:cNvSpPr txBox="1"/>
          <p:nvPr/>
        </p:nvSpPr>
        <p:spPr>
          <a:xfrm>
            <a:off x="8607552"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Both</a:t>
            </a:r>
            <a:endParaRPr lang="en-US" sz="1250" dirty="0"/>
          </a:p>
        </p:txBody>
      </p:sp>
      <p:sp>
        <p:nvSpPr>
          <p:cNvPr id="104" name="Text 101"/>
          <p:cNvSpPr txBox="1"/>
          <p:nvPr/>
        </p:nvSpPr>
        <p:spPr>
          <a:xfrm>
            <a:off x="8223504"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نُورُ: وَأَنَا لَمْ أَعِشْ هُنَاكَ.</a:t>
            </a:r>
            <a:endParaRPr lang="ar-SA" sz="1350" dirty="0"/>
          </a:p>
        </p:txBody>
      </p:sp>
      <p:sp>
        <p:nvSpPr>
          <p:cNvPr id="105" name="Text 10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28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D6-L12 · D6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TEXT 3 · 6 QUESTIONS · 1 MARK EACH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Arabic and the Arab world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Correct statement: Arabic's status.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one of the official UN languages.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the only official world language.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has no official status.</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Correct statement: the number of states.</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region contains twelve states.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region contains twenty-two states.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number is not given.</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Correct statement: dialects and fuṣḥā.</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Dialects differ, while fuṣḥā unites them in writing.</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All dialects are identical.</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Fuṣḥā is no longer used.</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Correct statement: other languages.</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Arabic is the only official language everywhere.</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 other languages exist.</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Amazigh is official in Morocco and Algeria.</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Correct statement: loanwords.</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 Arabic words entered other languages.</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Arabic words moved into other languages through trade and translation.</a:t>
            </a:r>
            <a:endParaRPr lang="en-US" sz="120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place names travelled.</a:t>
            </a:r>
            <a:endParaRPr lang="en-US" sz="1250" dirty="0"/>
          </a:p>
        </p:txBody>
      </p:sp>
      <p:sp>
        <p:nvSpPr>
          <p:cNvPr id="80" name="Shape 77"/>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22350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3" name="Text 80"/>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the speaker qualify the closing claim?</a:t>
            </a:r>
            <a:endParaRPr lang="en-US" sz="1250" dirty="0"/>
          </a:p>
        </p:txBody>
      </p:sp>
      <p:sp>
        <p:nvSpPr>
          <p:cNvPr id="84" name="Shape 81"/>
          <p:cNvSpPr/>
          <p:nvPr/>
        </p:nvSpPr>
        <p:spPr>
          <a:xfrm>
            <a:off x="827836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6" name="Text 83"/>
          <p:cNvSpPr txBox="1"/>
          <p:nvPr/>
        </p:nvSpPr>
        <p:spPr>
          <a:xfrm>
            <a:off x="8607552"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region has one uniform culture.</a:t>
            </a:r>
            <a:endParaRPr lang="en-US" sz="1250" dirty="0"/>
          </a:p>
        </p:txBody>
      </p:sp>
      <p:sp>
        <p:nvSpPr>
          <p:cNvPr id="87" name="Shape 84"/>
          <p:cNvSpPr/>
          <p:nvPr/>
        </p:nvSpPr>
        <p:spPr>
          <a:xfrm>
            <a:off x="827836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9" name="Text 86"/>
          <p:cNvSpPr txBox="1"/>
          <p:nvPr/>
        </p:nvSpPr>
        <p:spPr>
          <a:xfrm>
            <a:off x="8607552"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not true that the region has a single culture.</a:t>
            </a:r>
            <a:endParaRPr lang="en-US" sz="1250" dirty="0"/>
          </a:p>
        </p:txBody>
      </p:sp>
      <p:sp>
        <p:nvSpPr>
          <p:cNvPr id="90" name="Shape 87"/>
          <p:cNvSpPr/>
          <p:nvPr/>
        </p:nvSpPr>
        <p:spPr>
          <a:xfrm>
            <a:off x="827836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2" name="Text 89"/>
          <p:cNvSpPr txBox="1"/>
          <p:nvPr/>
        </p:nvSpPr>
        <p:spPr>
          <a:xfrm>
            <a:off x="8607552"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Diversity is a recent development.</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28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D6-L12 · D6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TEXT 3 · 6 QUESTIONS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Arabic and the Arab world: answers</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Correct statement: Arabic's status.</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is one of the official UN languages.</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the only official world language.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has no official status.</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وَهِيَ إِحْدَى لُغَاتِ الأُمَمِ المُتَّحِدَةِ الرَّسْمِيَّةِ.</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Correct statement: the number of states.</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region contains twelve states.</a:t>
            </a:r>
            <a:endParaRPr lang="en-US" sz="1250" dirty="0"/>
          </a:p>
        </p:txBody>
      </p:sp>
      <p:sp>
        <p:nvSpPr>
          <p:cNvPr id="37" name="Shape 34"/>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cs typeface="Amiri" pitchFamily="2" charset="-78"/>
              </a:rPr>
              <a:t>The region contains twenty-two states.</a:t>
            </a:r>
            <a:endParaRPr lang="en-US" sz="12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number is not given.</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وَتَضُمُّ المِنْطَقَةُ اثْنَتَيْنِ وَعِشْرِينَ دَوْلَةً.</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Correct statement: dialects and fuṣḥā.</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Dialects differ, while fuṣḥā unites them in writing.</a:t>
            </a:r>
            <a:endParaRPr lang="en-US" sz="11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All dialects are identical.</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Fuṣḥā is no longer used.</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200" dirty="0">
                <a:solidFill>
                  <a:srgbClr val="8A6D1E"/>
                </a:solidFill>
                <a:latin typeface="Amiri" pitchFamily="2" charset="-78"/>
                <a:ea typeface="Amiri" pitchFamily="2" charset="-78"/>
                <a:cs typeface="Amiri" pitchFamily="2" charset="-78"/>
              </a:rPr>
              <a:t>تَخْتَلِفُ لَهَجَاتُهَا، بَيْنَمَا تَجْمَعُهَا الفُصْحَى فِي الكِتَابَةِ وَالإِعْلَامِ.</a:t>
            </a:r>
            <a:endParaRPr lang="ar-SA" sz="120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Correct statement: other languages.</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cs typeface="Amiri" pitchFamily="2" charset="-78"/>
              </a:rPr>
              <a:t>Arabic is the only official language everywhere.</a:t>
            </a:r>
            <a:endParaRPr lang="en-US" sz="11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 other languages exist.</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Amazigh is official in Morocco and Algeria.</a:t>
            </a:r>
            <a:endParaRPr lang="en-US" sz="11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مِثْلُ الأَمَازِيغِيَّةِ فِي المَغْرِبِ وَالجَزَائِرِ.</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Correct statement: loanwords.</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cs typeface="Amiri" pitchFamily="2" charset="-78"/>
              </a:rPr>
              <a:t>No Arabic words entered other languages.</a:t>
            </a:r>
            <a:endParaRPr lang="en-US" sz="11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Arabic words moved into other languages through trade and translation.</a:t>
            </a:r>
            <a:endParaRPr lang="en-US" sz="11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place names travelled.</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150" dirty="0">
                <a:solidFill>
                  <a:srgbClr val="8A6D1E"/>
                </a:solidFill>
                <a:latin typeface="Amiri" pitchFamily="2" charset="-78"/>
                <a:ea typeface="Amiri" pitchFamily="2" charset="-78"/>
                <a:cs typeface="Amiri" pitchFamily="2" charset="-78"/>
              </a:rPr>
              <a:t>وَقَدِ انْتَقَلَتْ كَلِمَاتٌ عَرَبِيَّةٌ إِلَى لُغَاتٍ أُخْرَى عَبْرَ التِّجَارَةِ وَالتَّرْجَمَةِ.</a:t>
            </a:r>
            <a:endParaRPr lang="ar-SA" sz="1150" dirty="0"/>
          </a:p>
        </p:txBody>
      </p:sp>
      <p:sp>
        <p:nvSpPr>
          <p:cNvPr id="90" name="Shape 87"/>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22350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3" name="Text 90"/>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the speaker qualify the closing claim?</a:t>
            </a:r>
            <a:endParaRPr lang="en-US" sz="1250" dirty="0"/>
          </a:p>
        </p:txBody>
      </p:sp>
      <p:sp>
        <p:nvSpPr>
          <p:cNvPr id="94" name="Shape 91"/>
          <p:cNvSpPr/>
          <p:nvPr/>
        </p:nvSpPr>
        <p:spPr>
          <a:xfrm>
            <a:off x="8278368" y="4831080"/>
            <a:ext cx="256032" cy="256032"/>
          </a:xfrm>
          <a:prstGeom prst="ellipse">
            <a:avLst/>
          </a:prstGeom>
          <a:solidFill>
            <a:srgbClr val="C9CED6"/>
          </a:solidFill>
          <a:ln w="12700">
            <a:solidFill>
              <a:srgbClr val="C9CED6"/>
            </a:solidFill>
            <a:prstDash val="solid"/>
          </a:ln>
        </p:spPr>
      </p:sp>
      <p:sp>
        <p:nvSpPr>
          <p:cNvPr id="95" name="Text 92"/>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6" name="Text 93"/>
          <p:cNvSpPr txBox="1"/>
          <p:nvPr/>
        </p:nvSpPr>
        <p:spPr>
          <a:xfrm>
            <a:off x="8607552"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region has one uniform culture.</a:t>
            </a:r>
            <a:endParaRPr lang="en-US" sz="1250" dirty="0"/>
          </a:p>
        </p:txBody>
      </p:sp>
      <p:sp>
        <p:nvSpPr>
          <p:cNvPr id="97" name="Shape 94"/>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8" name="Shape 95"/>
          <p:cNvSpPr/>
          <p:nvPr/>
        </p:nvSpPr>
        <p:spPr>
          <a:xfrm>
            <a:off x="8278368" y="5202936"/>
            <a:ext cx="256032" cy="256032"/>
          </a:xfrm>
          <a:prstGeom prst="ellipse">
            <a:avLst/>
          </a:prstGeom>
          <a:solidFill>
            <a:srgbClr val="2E8B57"/>
          </a:solidFill>
          <a:ln w="12700">
            <a:solidFill>
              <a:srgbClr val="2E8B57"/>
            </a:solidFill>
            <a:prstDash val="solid"/>
          </a:ln>
        </p:spPr>
      </p:sp>
      <p:sp>
        <p:nvSpPr>
          <p:cNvPr id="99" name="Text 96"/>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0" name="Text 97"/>
          <p:cNvSpPr txBox="1"/>
          <p:nvPr/>
        </p:nvSpPr>
        <p:spPr>
          <a:xfrm>
            <a:off x="8607552"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It is not true that the region has a single culture.</a:t>
            </a:r>
            <a:endParaRPr lang="en-US" sz="1150" dirty="0"/>
          </a:p>
        </p:txBody>
      </p:sp>
      <p:sp>
        <p:nvSpPr>
          <p:cNvPr id="101" name="Shape 98"/>
          <p:cNvSpPr/>
          <p:nvPr/>
        </p:nvSpPr>
        <p:spPr>
          <a:xfrm>
            <a:off x="827836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3" name="Text 100"/>
          <p:cNvSpPr txBox="1"/>
          <p:nvPr/>
        </p:nvSpPr>
        <p:spPr>
          <a:xfrm>
            <a:off x="8607552"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Diversity is a recent development.</a:t>
            </a:r>
            <a:endParaRPr lang="en-US" sz="1250" dirty="0"/>
          </a:p>
        </p:txBody>
      </p:sp>
      <p:sp>
        <p:nvSpPr>
          <p:cNvPr id="104" name="Text 101"/>
          <p:cNvSpPr txBox="1"/>
          <p:nvPr/>
        </p:nvSpPr>
        <p:spPr>
          <a:xfrm>
            <a:off x="8223504"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وَلَيْسَ صَحِيحًا أَنَّهَا ذَاتُ ثَقَافَةٍ وَاحِدَةٍ.</a:t>
            </a:r>
            <a:endParaRPr lang="ar-SA" sz="1350" dirty="0"/>
          </a:p>
        </p:txBody>
      </p:sp>
      <p:sp>
        <p:nvSpPr>
          <p:cNvPr id="105" name="Text 10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28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D6-L12 · D6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READING · PART B1 · 10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festival city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مَدِينَةُ المِهْرَجَانَاتِ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D6-L12</a:t>
            </a:r>
            <a:endParaRPr lang="en-US" sz="850" dirty="0"/>
          </a:p>
        </p:txBody>
      </p:sp>
      <p:sp>
        <p:nvSpPr>
          <p:cNvPr id="15" name="Shape 12"/>
          <p:cNvSpPr/>
          <p:nvPr/>
        </p:nvSpPr>
        <p:spPr>
          <a:xfrm>
            <a:off x="457200" y="1810512"/>
            <a:ext cx="112745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108173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فِي بَلَدِنَا تُقَامُ مِهْرَجَانَاتٌ ثَقَافِيَّةٌ كُلَّ صَيْفٍ فِي مَسَارِحَ أَثَرِيَّةٍ. وَقَدْ حَضَرْتُ العَامَ المَاضِي وَاحِدًا مِنْهَا مَعَ أُسْرَتِي، وَشَاهَدْنَا عُرُوضَ الرَّقْصِ الشَّعْبِيِّ وَالمُوسِيقَى التَّقْلِيدِيَّةِ. زُيِّنَتِ السَّاحَاتُ بِالأَضْوَاءِ، وَتُبُودِلَتِ الأَطْعِمَةُ بَيْنَ العَائِلَاتِ. وَتَحْتَفِلُ فِي المَدِينَةِ نَفْسِهَا طَوَائِفُ مُخْتَلِفَةٌ بِمُنَاسَبَاتِهَا؛ فَيُقَامُ القُدَّاسُ فِي الكَنِيسَةِ القَدِيمَةِ، وَتُزَيَّنُ البُيُوتُ فِي الأَعْيَادِ الأُخْرَى. وَمِنْ وِجْهَةِ نَظَرِي لَا يُمْكِنُ إِنْكَارُ أَنَّ هٰذَا التَّنَوُّعَ ثَرْوَةٌ حَقِيقِيَّةٌ. عَلَى الرَّغْمِ مِنْ ذٰلِكَ لَا يَذْكُرُ كَثِيرٌ مِنَ الزُّوَّارِ سِوَى الجَانِبِ السِّيَاحِيِّ. وَفِي المُسْتَقْبَلِ سَأَعُودُ إِلَى المِهْرَجَانِ، وَأَطْمَحُ إِلَى أَنْ أُشَارِكَ فِي تَنْظِيمِهِ.</a:t>
            </a:r>
            <a:endParaRPr lang="ar-SA" sz="2600" dirty="0"/>
          </a:p>
        </p:txBody>
      </p:sp>
      <p:sp>
        <p:nvSpPr>
          <p:cNvPr id="17" name="Text 1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28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D6-L12 · D6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READING · QUESTIONS 1–5 · 1 MARK EACH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 1–5</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described in the text?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sports tournament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Cultural festivals held each summer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school trip</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did the writer attend one?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Last year, with the family</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This month, alone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Ten years ago</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they watch?</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film</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debate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Folk dance and traditional music</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happened to the squares?</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were closed</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were decorated with lights</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were rebuilt</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said about different communities in the city?</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share one single festival</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celebrate their own occasions</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do not celebrate</a:t>
            </a:r>
            <a:endParaRPr lang="en-US" sz="1250" dirty="0"/>
          </a:p>
        </p:txBody>
      </p:sp>
      <p:sp>
        <p:nvSpPr>
          <p:cNvPr id="80" name="Text 7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28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D6-L12 · D6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READING · ANSWERS · SHOW AFTER THE SECTION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Questions 1–5: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described in the text?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sports tournament</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Cultural festivals held each summer</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school trip</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تُقَامُ مِهْرَجَانَاتٌ ثَقَافِيَّةٌ كُلَّ صَيْفٍ فِي مَسَارِحَ أَثَرِيَّةٍ.</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did the writer attend one?</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Last year, with the family</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This month, alone</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Ten years ago</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وَقَدْ حَضَرْتُ العَامَ المَاضِي وَاحِدًا مِنْهَا مَعَ أُسْرَتِي.</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they watch?</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film</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debate</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Folk dance and traditional music</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شَاهَدْنَا عُرُوضَ الرَّقْصِ الشَّعْبِيِّ وَالمُوسِيقَى التَّقْلِيدِيَّةِ.</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happened to the squares?</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were closed</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They were decorated with lights</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were rebuilt</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زُيِّنَتِ السَّاحَاتُ بِالأَضْوَاءِ.</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said about different communities in the city?</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share one single festival</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They celebrate their own occasions</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do not celebrate</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وَتَحْتَفِلُ فِي المَدِينَةِ نَفْسِهَا طَوَائِفُ مُخْتَلِفَةٌ بِمُنَاسَبَاتِهَا.</a:t>
            </a:r>
            <a:endParaRPr lang="ar-SA" sz="1350" dirty="0"/>
          </a:p>
        </p:txBody>
      </p:sp>
      <p:sp>
        <p:nvSpPr>
          <p:cNvPr id="90" name="Text 8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28</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D6-L12 · D6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READING · QUESTIONS 6–10 · 1 MARK EACH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 6–10</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Does the writer value the diversity described? How do you know?</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Yes — the writer calls this diversity a real richness.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 — they describe it as a problem.</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text gives no indication either way.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reservation does the writer express?</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festivals are too expensive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music is poor</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Many visitors mention only the tourist side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tense of </a:t>
            </a:r>
            <a:pPr algn="l" indent="0" marL="0">
              <a:buNone/>
            </a:pPr>
            <a:r>
              <a:rPr lang="ar-SA" altLang="en-US" sz="1650" b="1" dirty="0">
                <a:solidFill>
                  <a:srgbClr val="1B3B6F"/>
                </a:solidFill>
                <a:latin typeface="Amiri" pitchFamily="2" charset="-78"/>
                <a:ea typeface="Amiri" pitchFamily="2" charset="-78"/>
                <a:cs typeface="Amiri" pitchFamily="2" charset="-78"/>
              </a:rPr>
              <a:t>زُيِّنَتْ</a:t>
            </a:r>
            <a:pPr algn="l" indent="0" marL="0">
              <a:buNone/>
            </a:pPr>
            <a:r>
              <a:rPr lang="en-US" sz="1250" b="1" dirty="0">
                <a:solidFill>
                  <a:srgbClr val="1B3B6F"/>
                </a:solidFill>
                <a:latin typeface="Calibri" pitchFamily="34" charset="0"/>
                <a:cs typeface="Amiri" pitchFamily="2" charset="-78"/>
              </a:rPr>
              <a:t> signal?</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general habit</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completed action on that occasion</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future plan</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Gap-fill: </a:t>
            </a:r>
            <a:pPr algn="l" indent="0" marL="0">
              <a:buNone/>
            </a:pPr>
            <a:r>
              <a:rPr lang="ar-SA" altLang="en-US" sz="1650" b="1" dirty="0">
                <a:solidFill>
                  <a:srgbClr val="1B3B6F"/>
                </a:solidFill>
                <a:latin typeface="Amiri" pitchFamily="2" charset="-78"/>
                <a:ea typeface="Amiri" pitchFamily="2" charset="-78"/>
                <a:cs typeface="Amiri" pitchFamily="2" charset="-78"/>
              </a:rPr>
              <a:t>وَفِي المُسْتَقْبَلِ</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إِلَى المِهْرَجَانِ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عُدْتُ</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سَأَعُودُ</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كُنْتُ أَعُودُ</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writer aspire to?</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leave the city</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stop attending</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take part in organising the festival</a:t>
            </a:r>
            <a:endParaRPr lang="en-US" sz="1250" dirty="0"/>
          </a:p>
        </p:txBody>
      </p:sp>
      <p:sp>
        <p:nvSpPr>
          <p:cNvPr id="80" name="Text 7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28</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D6-L12 · D6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READING · ANSWERS · SHOW AFTER THE SECTION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Questions 6–10: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Does the writer value the diversity described? How do you know?</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Yes — the writer calls this diversity a real richness.</a:t>
            </a:r>
            <a:endParaRPr lang="en-US" sz="11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 — they describe it as a problem.</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00" dirty="0">
                <a:solidFill>
                  <a:srgbClr val="9AA1AB"/>
                </a:solidFill>
                <a:latin typeface="Calibri" pitchFamily="34" charset="0"/>
                <a:cs typeface="Amiri" pitchFamily="2" charset="-78"/>
              </a:rPr>
              <a:t>The text gives no indication either way.</a:t>
            </a:r>
            <a:endParaRPr lang="en-US" sz="12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لَا يُمْكِنُ إِنْكَارُ أَنَّ هٰذَا التَّنَوُّعَ ثَرْوَةٌ حَقِيقِيَّةٌ.</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reservation does the writer express?</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festivals are too expensive</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music is poor</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Many visitors mention only the tourist side</a:t>
            </a:r>
            <a:endParaRPr lang="en-US" sz="11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لَا يَذْكُرُ كَثِيرٌ مِنَ الزُّوَّارِ سِوَى الجَانِبِ السِّيَاحِيِّ.</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tense of </a:t>
            </a:r>
            <a:pPr algn="l" indent="0" marL="0">
              <a:buNone/>
            </a:pPr>
            <a:r>
              <a:rPr lang="ar-SA" altLang="en-US" sz="1650" b="1" dirty="0">
                <a:solidFill>
                  <a:srgbClr val="1B3B6F"/>
                </a:solidFill>
                <a:latin typeface="Amiri" pitchFamily="2" charset="-78"/>
                <a:ea typeface="Amiri" pitchFamily="2" charset="-78"/>
                <a:cs typeface="Amiri" pitchFamily="2" charset="-78"/>
              </a:rPr>
              <a:t>زُيِّنَتْ</a:t>
            </a:r>
            <a:pPr algn="l" indent="0" marL="0">
              <a:buNone/>
            </a:pPr>
            <a:r>
              <a:rPr lang="en-US" sz="1250" b="1" dirty="0">
                <a:solidFill>
                  <a:srgbClr val="1B3B6F"/>
                </a:solidFill>
                <a:latin typeface="Calibri" pitchFamily="34" charset="0"/>
                <a:cs typeface="Amiri" pitchFamily="2" charset="-78"/>
              </a:rPr>
              <a:t> signal?</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general habit</a:t>
            </a:r>
            <a:endParaRPr lang="en-US" sz="1250" dirty="0"/>
          </a:p>
        </p:txBody>
      </p:sp>
      <p:sp>
        <p:nvSpPr>
          <p:cNvPr id="52" name="Shape 49"/>
          <p:cNvSpPr/>
          <p:nvPr/>
        </p:nvSpPr>
        <p:spPr>
          <a:xfrm>
            <a:off x="8186928" y="2825496"/>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862072"/>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completed action on that occasion</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future plan</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past passive presents it as completed at that festival.</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Gap-fill: </a:t>
            </a:r>
            <a:pPr algn="l" indent="0" marL="0">
              <a:buNone/>
            </a:pPr>
            <a:r>
              <a:rPr lang="ar-SA" altLang="en-US" sz="1650" b="1" dirty="0">
                <a:solidFill>
                  <a:srgbClr val="1B3B6F"/>
                </a:solidFill>
                <a:latin typeface="Amiri" pitchFamily="2" charset="-78"/>
                <a:ea typeface="Amiri" pitchFamily="2" charset="-78"/>
                <a:cs typeface="Amiri" pitchFamily="2" charset="-78"/>
              </a:rPr>
              <a:t>وَفِي المُسْتَقْبَلِ</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إِلَى المِهْرَجَانِ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عُدْتُ</a:t>
            </a:r>
            <a:endParaRPr lang="ar-SA" sz="170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سَأَعُودُ</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كُنْتُ أَعُودُ</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فِي المُسْتَقْبَلِ</a:t>
            </a:r>
            <a:pPr algn="l" indent="0" marL="0">
              <a:buNone/>
            </a:pPr>
            <a:r>
              <a:rPr lang="en-US" sz="1050" i="1" dirty="0">
                <a:solidFill>
                  <a:srgbClr val="8A6D1E"/>
                </a:solidFill>
                <a:latin typeface="Calibri" pitchFamily="34" charset="0"/>
                <a:cs typeface="Amiri" pitchFamily="2" charset="-78"/>
              </a:rPr>
              <a:t> requires </a:t>
            </a:r>
            <a:pPr algn="l" indent="0" marL="0">
              <a:buNone/>
            </a:pPr>
            <a:r>
              <a:rPr lang="ar-SA" altLang="en-US" sz="1350" dirty="0">
                <a:solidFill>
                  <a:srgbClr val="8A6D1E"/>
                </a:solidFill>
                <a:latin typeface="Amiri" pitchFamily="2" charset="-78"/>
                <a:ea typeface="Amiri" pitchFamily="2" charset="-78"/>
                <a:cs typeface="Amiri" pitchFamily="2" charset="-78"/>
              </a:rPr>
              <a:t>سَـ</a:t>
            </a:r>
            <a:pPr algn="l" indent="0" marL="0">
              <a:buNone/>
            </a:pPr>
            <a:r>
              <a:rPr lang="en-US" sz="1050" i="1" dirty="0">
                <a:solidFill>
                  <a:srgbClr val="8A6D1E"/>
                </a:solidFill>
                <a:latin typeface="Calibri" pitchFamily="34" charset="0"/>
                <a:cs typeface="Amiri" pitchFamily="2" charset="-78"/>
              </a:rPr>
              <a:t> with a present verb.</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writer aspire to?</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leave the city</a:t>
            </a:r>
            <a:endParaRPr lang="en-US" sz="1250" dirty="0"/>
          </a:p>
        </p:txBody>
      </p:sp>
      <p:sp>
        <p:nvSpPr>
          <p:cNvPr id="82" name="Shape 79"/>
          <p:cNvSpPr/>
          <p:nvPr/>
        </p:nvSpPr>
        <p:spPr>
          <a:xfrm>
            <a:off x="4459224" y="5202936"/>
            <a:ext cx="256032" cy="256032"/>
          </a:xfrm>
          <a:prstGeom prst="ellipse">
            <a:avLst/>
          </a:prstGeom>
          <a:solidFill>
            <a:srgbClr val="C9CED6"/>
          </a:solidFill>
          <a:ln w="12700">
            <a:solidFill>
              <a:srgbClr val="C9CED6"/>
            </a:solidFill>
            <a:prstDash val="solid"/>
          </a:ln>
        </p:spPr>
      </p:sp>
      <p:sp>
        <p:nvSpPr>
          <p:cNvPr id="83" name="Text 80"/>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4" name="Text 81"/>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stop attending</a:t>
            </a:r>
            <a:endParaRPr lang="en-US" sz="1250" dirty="0"/>
          </a:p>
        </p:txBody>
      </p:sp>
      <p:sp>
        <p:nvSpPr>
          <p:cNvPr id="85" name="Shape 82"/>
          <p:cNvSpPr/>
          <p:nvPr/>
        </p:nvSpPr>
        <p:spPr>
          <a:xfrm>
            <a:off x="4367784" y="5538216"/>
            <a:ext cx="3453384" cy="347472"/>
          </a:xfrm>
          <a:prstGeom prst="roundRect">
            <a:avLst>
              <a:gd name="adj" fmla="val 15789"/>
            </a:avLst>
          </a:prstGeom>
          <a:solidFill>
            <a:srgbClr val="E6F4EC"/>
          </a:solidFill>
          <a:ln w="9525">
            <a:solidFill>
              <a:srgbClr val="2E8B57"/>
            </a:solidFill>
            <a:prstDash val="solid"/>
          </a:ln>
        </p:spPr>
      </p:sp>
      <p:sp>
        <p:nvSpPr>
          <p:cNvPr id="86" name="Shape 83"/>
          <p:cNvSpPr/>
          <p:nvPr/>
        </p:nvSpPr>
        <p:spPr>
          <a:xfrm>
            <a:off x="4459224" y="5574792"/>
            <a:ext cx="256032" cy="256032"/>
          </a:xfrm>
          <a:prstGeom prst="ellipse">
            <a:avLst/>
          </a:prstGeom>
          <a:solidFill>
            <a:srgbClr val="2E8B57"/>
          </a:solidFill>
          <a:ln w="12700">
            <a:solidFill>
              <a:srgbClr val="2E8B57"/>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To take part in organising the festival</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وَأَطْمَحُ إِلَى أَنْ أُشَارِكَ فِي تَنْظِيمِهِ.</a:t>
            </a:r>
            <a:endParaRPr lang="ar-SA" sz="1350" dirty="0"/>
          </a:p>
        </p:txBody>
      </p:sp>
      <p:sp>
        <p:nvSpPr>
          <p:cNvPr id="90" name="Text 8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28</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D6-L12 · D6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WRITING · QUESTION 1 · CULTURAL PROFILE · 5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Complete the cultural profile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المِلَفُّ الثَّقَافِيُّ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479792" y="1810512"/>
            <a:ext cx="41788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 answer in Arabic</a:t>
            </a:r>
            <a:endParaRPr lang="en-US" sz="1100" dirty="0"/>
          </a:p>
        </p:txBody>
      </p:sp>
      <p:sp>
        <p:nvSpPr>
          <p:cNvPr id="17" name="Text 14"/>
          <p:cNvSpPr txBox="1"/>
          <p:nvPr/>
        </p:nvSpPr>
        <p:spPr>
          <a:xfrm>
            <a:off x="3822192"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Arabic label</a:t>
            </a:r>
            <a:endParaRPr lang="en-US" sz="1100" dirty="0"/>
          </a:p>
        </p:txBody>
      </p:sp>
      <p:sp>
        <p:nvSpPr>
          <p:cNvPr id="18" name="Text 15"/>
          <p:cNvSpPr txBox="1"/>
          <p:nvPr/>
        </p:nvSpPr>
        <p:spPr>
          <a:xfrm>
            <a:off x="53035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Field</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516368" y="2267712"/>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1" name="Text 18"/>
          <p:cNvSpPr txBox="1"/>
          <p:nvPr/>
        </p:nvSpPr>
        <p:spPr>
          <a:xfrm>
            <a:off x="3840480" y="2267712"/>
            <a:ext cx="347472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جِنْسِيَّتِي أَوْ إِرْثِي الثَّقَافِيُّ</a:t>
            </a:r>
            <a:endParaRPr lang="ar-SA" sz="2000" dirty="0"/>
          </a:p>
        </p:txBody>
      </p:sp>
      <p:sp>
        <p:nvSpPr>
          <p:cNvPr id="22" name="Text 19"/>
          <p:cNvSpPr txBox="1"/>
          <p:nvPr/>
        </p:nvSpPr>
        <p:spPr>
          <a:xfrm>
            <a:off x="566928" y="2267712"/>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 · Your nationality or cultural heritage</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7516368" y="3004718"/>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7" name="Text 24"/>
          <p:cNvSpPr txBox="1"/>
          <p:nvPr/>
        </p:nvSpPr>
        <p:spPr>
          <a:xfrm>
            <a:off x="3840480" y="3004718"/>
            <a:ext cx="347472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عَادَةٌ ثَقَافِيَّةٌ أَعْرِفُهَا</a:t>
            </a:r>
            <a:endParaRPr lang="ar-SA" sz="2000" dirty="0"/>
          </a:p>
        </p:txBody>
      </p:sp>
      <p:sp>
        <p:nvSpPr>
          <p:cNvPr id="28" name="Text 25"/>
          <p:cNvSpPr txBox="1"/>
          <p:nvPr/>
        </p:nvSpPr>
        <p:spPr>
          <a:xfrm>
            <a:off x="566928" y="300471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 · One cultural custom you know</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7516368" y="3741725"/>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3" name="Text 30"/>
          <p:cNvSpPr txBox="1"/>
          <p:nvPr/>
        </p:nvSpPr>
        <p:spPr>
          <a:xfrm>
            <a:off x="3840480" y="3741725"/>
            <a:ext cx="347472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مُنَاسَبَةٌ أَحْتَفِلُ بِهَا</a:t>
            </a:r>
            <a:endParaRPr lang="ar-SA" sz="2000" dirty="0"/>
          </a:p>
        </p:txBody>
      </p:sp>
      <p:sp>
        <p:nvSpPr>
          <p:cNvPr id="34" name="Text 31"/>
          <p:cNvSpPr txBox="1"/>
          <p:nvPr/>
        </p:nvSpPr>
        <p:spPr>
          <a:xfrm>
            <a:off x="566928" y="3741725"/>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 · One celebration you mark (with bi-)</a:t>
            </a:r>
            <a:endParaRPr lang="en-US" sz="1100" dirty="0"/>
          </a:p>
        </p:txBody>
      </p:sp>
      <p:sp>
        <p:nvSpPr>
          <p:cNvPr id="35" name="Shape 32"/>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8" name="Text 35"/>
          <p:cNvSpPr txBox="1"/>
          <p:nvPr/>
        </p:nvSpPr>
        <p:spPr>
          <a:xfrm>
            <a:off x="7516368" y="4478731"/>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9" name="Text 36"/>
          <p:cNvSpPr txBox="1"/>
          <p:nvPr/>
        </p:nvSpPr>
        <p:spPr>
          <a:xfrm>
            <a:off x="3840480" y="4478731"/>
            <a:ext cx="347472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لُغَةٌ أَتَحَدَّثُهَا</a:t>
            </a:r>
            <a:endParaRPr lang="ar-SA" sz="2000" dirty="0"/>
          </a:p>
        </p:txBody>
      </p:sp>
      <p:sp>
        <p:nvSpPr>
          <p:cNvPr id="40" name="Text 37"/>
          <p:cNvSpPr txBox="1"/>
          <p:nvPr/>
        </p:nvSpPr>
        <p:spPr>
          <a:xfrm>
            <a:off x="566928" y="4478731"/>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 · One language you speak</a:t>
            </a:r>
            <a:endParaRPr lang="en-US" sz="1100" dirty="0"/>
          </a:p>
        </p:txBody>
      </p:sp>
      <p:sp>
        <p:nvSpPr>
          <p:cNvPr id="41" name="Shape 38"/>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4" name="Text 41"/>
          <p:cNvSpPr txBox="1"/>
          <p:nvPr/>
        </p:nvSpPr>
        <p:spPr>
          <a:xfrm>
            <a:off x="7516368" y="5215738"/>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5" name="Text 42"/>
          <p:cNvSpPr txBox="1"/>
          <p:nvPr/>
        </p:nvSpPr>
        <p:spPr>
          <a:xfrm>
            <a:off x="3840480" y="5215738"/>
            <a:ext cx="347472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طُمُوحٌ ثَقَافِيٌّ لِلْمُسْتَقْبَلِ</a:t>
            </a:r>
            <a:endParaRPr lang="ar-SA" sz="2000" dirty="0"/>
          </a:p>
        </p:txBody>
      </p:sp>
      <p:sp>
        <p:nvSpPr>
          <p:cNvPr id="46" name="Text 43"/>
          <p:cNvSpPr txBox="1"/>
          <p:nvPr/>
        </p:nvSpPr>
        <p:spPr>
          <a:xfrm>
            <a:off x="566928" y="521573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 · One cultural aspiration for the future</a:t>
            </a:r>
            <a:endParaRPr lang="en-US" sz="1100" dirty="0"/>
          </a:p>
        </p:txBody>
      </p:sp>
      <p:sp>
        <p:nvSpPr>
          <p:cNvPr id="47" name="Shape 44"/>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Example: </a:t>
            </a:r>
            <a:pPr algn="l" indent="0" marL="0">
              <a:buNone/>
            </a:pPr>
            <a:r>
              <a:rPr lang="ar-SA" altLang="en-US" sz="1500" b="1" dirty="0">
                <a:solidFill>
                  <a:srgbClr val="1B3B6F"/>
                </a:solidFill>
                <a:latin typeface="Amiri" pitchFamily="2" charset="-78"/>
                <a:ea typeface="Amiri" pitchFamily="2" charset="-78"/>
                <a:cs typeface="Amiri" pitchFamily="2" charset="-78"/>
              </a:rPr>
              <a:t>إِرْثِي ثَقَافِيٌّ مِصْرِيٌّ</a:t>
            </a:r>
            <a:pPr algn="l" indent="0" marL="0">
              <a:buNone/>
            </a:pPr>
            <a:r>
              <a:rPr lang="en-US" sz="1150" b="1" dirty="0">
                <a:solidFill>
                  <a:srgbClr val="1B3B6F"/>
                </a:solidFill>
                <a:latin typeface="Calibri" pitchFamily="34" charset="0"/>
                <a:cs typeface="Amiri" pitchFamily="2" charset="-78"/>
              </a:rPr>
              <a:t> · </a:t>
            </a:r>
            <a:pPr algn="l" indent="0" marL="0">
              <a:buNone/>
            </a:pPr>
            <a:r>
              <a:rPr lang="ar-SA" altLang="en-US" sz="1500" b="1" dirty="0">
                <a:solidFill>
                  <a:srgbClr val="1B3B6F"/>
                </a:solidFill>
                <a:latin typeface="Amiri" pitchFamily="2" charset="-78"/>
                <a:ea typeface="Amiri" pitchFamily="2" charset="-78"/>
                <a:cs typeface="Amiri" pitchFamily="2" charset="-78"/>
              </a:rPr>
              <a:t>تُتَبَادَلُ التَّهَانِي فِي العِيدِ</a:t>
            </a:r>
            <a:pPr algn="l" indent="0" marL="0">
              <a:buNone/>
            </a:pPr>
            <a:r>
              <a:rPr lang="en-US" sz="1150" b="1" dirty="0">
                <a:solidFill>
                  <a:srgbClr val="1B3B6F"/>
                </a:solidFill>
                <a:latin typeface="Calibri" pitchFamily="34" charset="0"/>
                <a:cs typeface="Amiri" pitchFamily="2" charset="-78"/>
              </a:rPr>
              <a:t> · </a:t>
            </a:r>
            <a:pPr algn="l" indent="0" marL="0">
              <a:buNone/>
            </a:pPr>
            <a:r>
              <a:rPr lang="ar-SA" altLang="en-US" sz="1500" b="1" dirty="0">
                <a:solidFill>
                  <a:srgbClr val="1B3B6F"/>
                </a:solidFill>
                <a:latin typeface="Amiri" pitchFamily="2" charset="-78"/>
                <a:ea typeface="Amiri" pitchFamily="2" charset="-78"/>
                <a:cs typeface="Amiri" pitchFamily="2" charset="-78"/>
              </a:rPr>
              <a:t>نَحْتَفِلُ بِعِيدِ الفِطْرِ</a:t>
            </a:r>
            <a:pPr algn="l" indent="0" marL="0">
              <a:buNone/>
            </a:pPr>
            <a:r>
              <a:rPr lang="en-US" sz="1150" b="1" dirty="0">
                <a:solidFill>
                  <a:srgbClr val="1B3B6F"/>
                </a:solidFill>
                <a:latin typeface="Calibri" pitchFamily="34" charset="0"/>
                <a:cs typeface="Amiri" pitchFamily="2" charset="-78"/>
              </a:rPr>
              <a:t> · </a:t>
            </a:r>
            <a:pPr algn="l" indent="0" marL="0">
              <a:buNone/>
            </a:pPr>
            <a:r>
              <a:rPr lang="ar-SA" altLang="en-US" sz="1500" b="1" dirty="0">
                <a:solidFill>
                  <a:srgbClr val="1B3B6F"/>
                </a:solidFill>
                <a:latin typeface="Amiri" pitchFamily="2" charset="-78"/>
                <a:ea typeface="Amiri" pitchFamily="2" charset="-78"/>
                <a:cs typeface="Amiri" pitchFamily="2" charset="-78"/>
              </a:rPr>
              <a:t>أَتَحَدَّثُ الأُرْدِيَّةَ</a:t>
            </a:r>
            <a:pPr algn="l" indent="0" marL="0">
              <a:buNone/>
            </a:pPr>
            <a:r>
              <a:rPr lang="en-US" sz="1150" b="1" dirty="0">
                <a:solidFill>
                  <a:srgbClr val="1B3B6F"/>
                </a:solidFill>
                <a:latin typeface="Calibri" pitchFamily="34" charset="0"/>
                <a:cs typeface="Amiri" pitchFamily="2" charset="-78"/>
              </a:rPr>
              <a:t> · </a:t>
            </a:r>
            <a:pPr algn="l" indent="0" marL="0">
              <a:buNone/>
            </a:pPr>
            <a:r>
              <a:rPr lang="ar-SA" altLang="en-US" sz="1500" b="1" dirty="0">
                <a:solidFill>
                  <a:srgbClr val="1B3B6F"/>
                </a:solidFill>
                <a:latin typeface="Amiri" pitchFamily="2" charset="-78"/>
                <a:ea typeface="Amiri" pitchFamily="2" charset="-78"/>
                <a:cs typeface="Amiri" pitchFamily="2" charset="-78"/>
              </a:rPr>
              <a:t>أَطْمَحُ إِلَى أَنْ أُتْقِنَ الفُصْحَى</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28</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D6-L12 · D6 Assessment</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WRITING · QUESTION 2 · 130–140 WORDS · 15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My culture and my identity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ثَقَافَتِي وَهُوِيَّتِي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565392" y="1810512"/>
            <a:ext cx="50932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Marks</a:t>
            </a:r>
            <a:endParaRPr lang="en-US" sz="1100" dirty="0"/>
          </a:p>
        </p:txBody>
      </p:sp>
      <p:sp>
        <p:nvSpPr>
          <p:cNvPr id="17" name="Text 14"/>
          <p:cNvSpPr txBox="1"/>
          <p:nvPr/>
        </p:nvSpPr>
        <p:spPr>
          <a:xfrm>
            <a:off x="5303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Website mark scheme</a:t>
            </a:r>
            <a:endParaRPr lang="en-US" sz="1100" dirty="0"/>
          </a:p>
        </p:txBody>
      </p:sp>
      <p:sp>
        <p:nvSpPr>
          <p:cNvPr id="18" name="Shape 15"/>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19" name="Text 16"/>
          <p:cNvSpPr txBox="1"/>
          <p:nvPr/>
        </p:nvSpPr>
        <p:spPr>
          <a:xfrm>
            <a:off x="6601968" y="2267712"/>
            <a:ext cx="50566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Task Completion /5</a:t>
            </a:r>
            <a:endParaRPr lang="en-US" sz="1100" dirty="0"/>
          </a:p>
        </p:txBody>
      </p:sp>
      <p:sp>
        <p:nvSpPr>
          <p:cNvPr id="20" name="Text 17"/>
          <p:cNvSpPr txBox="1"/>
          <p:nvPr/>
        </p:nvSpPr>
        <p:spPr>
          <a:xfrm>
            <a:off x="566928" y="2267712"/>
            <a:ext cx="58521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Cultural background or identity described (1) · A past cultural experience narrated with at least three events (2) · A future aspiration stated (1) · An opinion given (1)</a:t>
            </a:r>
            <a:endParaRPr lang="en-US" sz="1100" dirty="0"/>
          </a:p>
        </p:txBody>
      </p:sp>
      <p:sp>
        <p:nvSpPr>
          <p:cNvPr id="21" name="Shape 18"/>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2" name="Text 19"/>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6601968" y="3054096"/>
            <a:ext cx="50566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Range /5</a:t>
            </a:r>
            <a:endParaRPr lang="en-US" sz="1100" dirty="0"/>
          </a:p>
        </p:txBody>
      </p:sp>
      <p:sp>
        <p:nvSpPr>
          <p:cNvPr id="25" name="Text 22"/>
          <p:cNvSpPr txBox="1"/>
          <p:nvPr/>
        </p:nvSpPr>
        <p:spPr>
          <a:xfrm>
            <a:off x="566928" y="3054096"/>
            <a:ext cx="58521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Five or more past-tense verbs (2) · Future tense with sa- or sawfa (1) · A cultural verb with its correct preposition (1) · A passive, a comparison or a formal connector (1)</a:t>
            </a:r>
            <a:endParaRPr lang="en-US" sz="1100" dirty="0"/>
          </a:p>
        </p:txBody>
      </p:sp>
      <p:sp>
        <p:nvSpPr>
          <p:cNvPr id="26" name="Shape 23"/>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8" name="Shape 25"/>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9" name="Text 26"/>
          <p:cNvSpPr txBox="1"/>
          <p:nvPr/>
        </p:nvSpPr>
        <p:spPr>
          <a:xfrm>
            <a:off x="6601968" y="3840480"/>
            <a:ext cx="50566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Accuracy /5</a:t>
            </a:r>
            <a:endParaRPr lang="en-US" sz="1100" dirty="0"/>
          </a:p>
        </p:txBody>
      </p:sp>
      <p:sp>
        <p:nvSpPr>
          <p:cNvPr id="30" name="Text 27"/>
          <p:cNvSpPr txBox="1"/>
          <p:nvPr/>
        </p:nvSpPr>
        <p:spPr>
          <a:xfrm>
            <a:off x="566928" y="3840480"/>
            <a:ext cx="58521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Past-tense suffix accuracy across five or more verbs (3) · Cultural verb prepositions correct (1) · Adjective, pronoun and case agreement correct (1)</a:t>
            </a:r>
            <a:endParaRPr lang="en-US" sz="1100" dirty="0"/>
          </a:p>
        </p:txBody>
      </p:sp>
      <p:sp>
        <p:nvSpPr>
          <p:cNvPr id="31" name="Shape 28"/>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3" name="Text 3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Independent evidence: no translation software or AI. Plan past · present · opinion · future (D6-L09), then check every ending and preposition.</a:t>
            </a:r>
            <a:endParaRPr lang="en-US" sz="11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28</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D6-L12 · D6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SPEAKING · PART C · ROLE PLAY · 4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00" b="1" dirty="0">
                <a:solidFill>
                  <a:srgbClr val="1B3B6F"/>
                </a:solidFill>
                <a:latin typeface="Cambria" pitchFamily="34" charset="0"/>
                <a:cs typeface="Amiri" pitchFamily="2" charset="-78"/>
              </a:rPr>
              <a:t>Role play: meeting someone from another culture</a:t>
            </a:r>
            <a:endParaRPr lang="en-US" sz="19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لِقَاءٌ ثَقَافِيٌّ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565392" y="1810512"/>
            <a:ext cx="50932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is assessed</a:t>
            </a:r>
            <a:endParaRPr lang="en-US" sz="1100" dirty="0"/>
          </a:p>
        </p:txBody>
      </p:sp>
      <p:sp>
        <p:nvSpPr>
          <p:cNvPr id="17" name="Text 14"/>
          <p:cNvSpPr txBox="1"/>
          <p:nvPr/>
        </p:nvSpPr>
        <p:spPr>
          <a:xfrm>
            <a:off x="5303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Prompt (website)</a:t>
            </a:r>
            <a:endParaRPr lang="en-US" sz="1100" dirty="0"/>
          </a:p>
        </p:txBody>
      </p:sp>
      <p:sp>
        <p:nvSpPr>
          <p:cNvPr id="18" name="Shape 15"/>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19" name="Text 16"/>
          <p:cNvSpPr txBox="1"/>
          <p:nvPr/>
        </p:nvSpPr>
        <p:spPr>
          <a:xfrm>
            <a:off x="6601968" y="2267712"/>
            <a:ext cx="50566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Introduce yourself and your cultural background.</a:t>
            </a:r>
            <a:endParaRPr lang="en-US" sz="1100" dirty="0"/>
          </a:p>
        </p:txBody>
      </p:sp>
      <p:sp>
        <p:nvSpPr>
          <p:cNvPr id="20" name="Text 17"/>
          <p:cNvSpPr txBox="1"/>
          <p:nvPr/>
        </p:nvSpPr>
        <p:spPr>
          <a:xfrm>
            <a:off x="548640" y="2267712"/>
            <a:ext cx="58521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عَرِّفْ بِنَفْسِكَ وَبِخَلْفِيَّتِكَ الثَّقَافِيَّةِ.</a:t>
            </a:r>
            <a:endParaRPr lang="ar-SA" sz="2000" dirty="0"/>
          </a:p>
        </p:txBody>
      </p:sp>
      <p:sp>
        <p:nvSpPr>
          <p:cNvPr id="21" name="Shape 18"/>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2" name="Text 19"/>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6601968" y="3054096"/>
            <a:ext cx="50566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Describe a custom from your background.</a:t>
            </a:r>
            <a:endParaRPr lang="en-US" sz="1100" dirty="0"/>
          </a:p>
        </p:txBody>
      </p:sp>
      <p:sp>
        <p:nvSpPr>
          <p:cNvPr id="25" name="Text 22"/>
          <p:cNvSpPr txBox="1"/>
          <p:nvPr/>
        </p:nvSpPr>
        <p:spPr>
          <a:xfrm>
            <a:off x="548640" y="3054096"/>
            <a:ext cx="58521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صِفْ عَادَةً ثَقَافِيَّةً مِنْ خَلْفِيَّتِكَ.</a:t>
            </a:r>
            <a:endParaRPr lang="ar-SA" sz="2000" dirty="0"/>
          </a:p>
        </p:txBody>
      </p:sp>
      <p:sp>
        <p:nvSpPr>
          <p:cNvPr id="26" name="Shape 23"/>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8" name="Shape 25"/>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9" name="Text 26"/>
          <p:cNvSpPr txBox="1"/>
          <p:nvPr/>
        </p:nvSpPr>
        <p:spPr>
          <a:xfrm>
            <a:off x="6601968" y="3840480"/>
            <a:ext cx="50566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Ask the other person about their culture.</a:t>
            </a:r>
            <a:endParaRPr lang="en-US" sz="1100" dirty="0"/>
          </a:p>
        </p:txBody>
      </p:sp>
      <p:sp>
        <p:nvSpPr>
          <p:cNvPr id="30" name="Text 27"/>
          <p:cNvSpPr txBox="1"/>
          <p:nvPr/>
        </p:nvSpPr>
        <p:spPr>
          <a:xfrm>
            <a:off x="548640" y="3840480"/>
            <a:ext cx="58521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اِسْأَلِ الشَّخْصَ الآخَرَ عَنْ ثَقَافَتِهِ.</a:t>
            </a:r>
            <a:endParaRPr lang="ar-SA" sz="2000" dirty="0"/>
          </a:p>
        </p:txBody>
      </p:sp>
      <p:sp>
        <p:nvSpPr>
          <p:cNvPr id="31" name="Shape 28"/>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3" name="Shape 30"/>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4" name="Text 31"/>
          <p:cNvSpPr txBox="1"/>
          <p:nvPr/>
        </p:nvSpPr>
        <p:spPr>
          <a:xfrm>
            <a:off x="6601968" y="4626864"/>
            <a:ext cx="50566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Say one thing you have learned from another culture.</a:t>
            </a:r>
            <a:endParaRPr lang="en-US" sz="1100" dirty="0"/>
          </a:p>
        </p:txBody>
      </p:sp>
      <p:sp>
        <p:nvSpPr>
          <p:cNvPr id="35" name="Text 32"/>
          <p:cNvSpPr txBox="1"/>
          <p:nvPr/>
        </p:nvSpPr>
        <p:spPr>
          <a:xfrm>
            <a:off x="548640" y="4626864"/>
            <a:ext cx="58521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اُذْكُرْ شَيْئًا تَعَلَّمْتَهُ مِنْ ثَقَافَةٍ أُخْرَى.</a:t>
            </a:r>
            <a:endParaRPr lang="ar-SA" sz="2000" dirty="0"/>
          </a:p>
        </p:txBody>
      </p:sp>
      <p:sp>
        <p:nvSpPr>
          <p:cNvPr id="36" name="Shape 33"/>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8" name="Text 35"/>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Marks (website): communication 2 · accuracy, including cultural verb prepositions 2.</a:t>
            </a:r>
            <a:endParaRPr lang="en-US" sz="11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28</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D6-L12 · D6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SPEAKING · PART C · TOPIC CONVERSATION · 6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Topic conversation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المُحَادَثَةُ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565392" y="1810512"/>
            <a:ext cx="50932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Required</a:t>
            </a:r>
            <a:endParaRPr lang="en-US" sz="1100" dirty="0"/>
          </a:p>
        </p:txBody>
      </p:sp>
      <p:sp>
        <p:nvSpPr>
          <p:cNvPr id="17" name="Text 14"/>
          <p:cNvSpPr txBox="1"/>
          <p:nvPr/>
        </p:nvSpPr>
        <p:spPr>
          <a:xfrm>
            <a:off x="5303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Question (website)</a:t>
            </a:r>
            <a:endParaRPr lang="en-US" sz="1100" dirty="0"/>
          </a:p>
        </p:txBody>
      </p:sp>
      <p:sp>
        <p:nvSpPr>
          <p:cNvPr id="18" name="Shape 15"/>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19" name="Text 16"/>
          <p:cNvSpPr txBox="1"/>
          <p:nvPr/>
        </p:nvSpPr>
        <p:spPr>
          <a:xfrm>
            <a:off x="6601968" y="2267712"/>
            <a:ext cx="50566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Present and future; nationality vocabulary expected.</a:t>
            </a:r>
            <a:endParaRPr lang="en-US" sz="1100" dirty="0"/>
          </a:p>
        </p:txBody>
      </p:sp>
      <p:sp>
        <p:nvSpPr>
          <p:cNvPr id="20" name="Text 17"/>
          <p:cNvSpPr txBox="1"/>
          <p:nvPr/>
        </p:nvSpPr>
        <p:spPr>
          <a:xfrm>
            <a:off x="548640" y="2267712"/>
            <a:ext cx="58521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صِفْ بَلَدًا عَرَبِيًّا تُرِيدُ زِيَارَتَهُ وَلِمَاذَا.</a:t>
            </a:r>
            <a:endParaRPr lang="ar-SA" sz="2000" dirty="0"/>
          </a:p>
        </p:txBody>
      </p:sp>
      <p:sp>
        <p:nvSpPr>
          <p:cNvPr id="21" name="Shape 18"/>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2" name="Text 19"/>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6601968" y="3054096"/>
            <a:ext cx="50566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Past tense required throughout.</a:t>
            </a:r>
            <a:endParaRPr lang="en-US" sz="1100" dirty="0"/>
          </a:p>
        </p:txBody>
      </p:sp>
      <p:sp>
        <p:nvSpPr>
          <p:cNvPr id="25" name="Text 22"/>
          <p:cNvSpPr txBox="1"/>
          <p:nvPr/>
        </p:nvSpPr>
        <p:spPr>
          <a:xfrm>
            <a:off x="548640" y="3054096"/>
            <a:ext cx="58521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صِفْ مُنَاسَبَةً ثَقَافِيَّةً أَوْ دِينِيَّةً مَرَرْتَ بِهَا.</a:t>
            </a:r>
            <a:endParaRPr lang="ar-SA" sz="2000" dirty="0"/>
          </a:p>
        </p:txBody>
      </p:sp>
      <p:sp>
        <p:nvSpPr>
          <p:cNvPr id="26" name="Shape 23"/>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8" name="Shape 25"/>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9" name="Text 26"/>
          <p:cNvSpPr txBox="1"/>
          <p:nvPr/>
        </p:nvSpPr>
        <p:spPr>
          <a:xfrm>
            <a:off x="6601968" y="3840480"/>
            <a:ext cx="50566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Opinion structure plus future.</a:t>
            </a:r>
            <a:endParaRPr lang="en-US" sz="1100" dirty="0"/>
          </a:p>
        </p:txBody>
      </p:sp>
      <p:sp>
        <p:nvSpPr>
          <p:cNvPr id="30" name="Text 27"/>
          <p:cNvSpPr txBox="1"/>
          <p:nvPr/>
        </p:nvSpPr>
        <p:spPr>
          <a:xfrm>
            <a:off x="548640" y="3840480"/>
            <a:ext cx="58521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مَا أَهَمِّيَّةُ اللُّغَةِ العَرَبِيَّةِ فِي حَيَاتِكَ؟</a:t>
            </a:r>
            <a:endParaRPr lang="ar-SA" sz="2000" dirty="0"/>
          </a:p>
        </p:txBody>
      </p:sp>
      <p:sp>
        <p:nvSpPr>
          <p:cNvPr id="31" name="Shape 28"/>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3" name="Text 3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Marks (website): communication 3 · quality of language 3 (cultural vocabulary range, tense accuracy, opinion structures).</a:t>
            </a:r>
            <a:endParaRPr lang="en-US" sz="11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28</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D6-L12 · D6 Assessment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RESULTS · YOUR D6 FOUR-SKILLS PROFILE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My D6 score profile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مِلَفُّ المَهَارَاتِ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695944"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Section</a:t>
            </a:r>
            <a:endParaRPr lang="en-US" sz="1100" dirty="0"/>
          </a:p>
        </p:txBody>
      </p:sp>
      <p:sp>
        <p:nvSpPr>
          <p:cNvPr id="17" name="Text 14"/>
          <p:cNvSpPr txBox="1"/>
          <p:nvPr/>
        </p:nvSpPr>
        <p:spPr>
          <a:xfrm>
            <a:off x="6867144"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My score</a:t>
            </a:r>
            <a:endParaRPr lang="en-US" sz="1100" dirty="0"/>
          </a:p>
        </p:txBody>
      </p:sp>
      <p:sp>
        <p:nvSpPr>
          <p:cNvPr id="18" name="Text 15"/>
          <p:cNvSpPr txBox="1"/>
          <p:nvPr/>
        </p:nvSpPr>
        <p:spPr>
          <a:xfrm>
            <a:off x="530352" y="1810512"/>
            <a:ext cx="6190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Teacher guide (total /60)</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732520" y="2267712"/>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 Listening</a:t>
            </a:r>
            <a:endParaRPr lang="en-US" sz="1100" dirty="0"/>
          </a:p>
        </p:txBody>
      </p:sp>
      <p:sp>
        <p:nvSpPr>
          <p:cNvPr id="21" name="Text 18"/>
          <p:cNvSpPr txBox="1"/>
          <p:nvPr/>
        </p:nvSpPr>
        <p:spPr>
          <a:xfrm>
            <a:off x="6903720" y="2267712"/>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/20</a:t>
            </a:r>
            <a:endParaRPr lang="en-US" sz="1100" dirty="0"/>
          </a:p>
        </p:txBody>
      </p:sp>
      <p:sp>
        <p:nvSpPr>
          <p:cNvPr id="22" name="Text 19"/>
          <p:cNvSpPr txBox="1"/>
          <p:nvPr/>
        </p:nvSpPr>
        <p:spPr>
          <a:xfrm>
            <a:off x="566928" y="2267712"/>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54–60 Excellent — accurate, fair and varied cultural Arabic</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732520" y="3054096"/>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B1 · Reading</a:t>
            </a:r>
            <a:endParaRPr lang="en-US" sz="1100" dirty="0"/>
          </a:p>
        </p:txBody>
      </p:sp>
      <p:sp>
        <p:nvSpPr>
          <p:cNvPr id="27" name="Text 24"/>
          <p:cNvSpPr txBox="1"/>
          <p:nvPr/>
        </p:nvSpPr>
        <p:spPr>
          <a:xfrm>
            <a:off x="6903720" y="3054096"/>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/10</a:t>
            </a:r>
            <a:endParaRPr lang="en-US" sz="1100" dirty="0"/>
          </a:p>
        </p:txBody>
      </p:sp>
      <p:sp>
        <p:nvSpPr>
          <p:cNvPr id="28" name="Text 25"/>
          <p:cNvSpPr txBox="1"/>
          <p:nvPr/>
        </p:nvSpPr>
        <p:spPr>
          <a:xfrm>
            <a:off x="566928" y="3054096"/>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42–53 Good — secure, with a few focused gaps</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732520" y="3840480"/>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B2 · Writing</a:t>
            </a:r>
            <a:endParaRPr lang="en-US" sz="1100" dirty="0"/>
          </a:p>
        </p:txBody>
      </p:sp>
      <p:sp>
        <p:nvSpPr>
          <p:cNvPr id="33" name="Text 30"/>
          <p:cNvSpPr txBox="1"/>
          <p:nvPr/>
        </p:nvSpPr>
        <p:spPr>
          <a:xfrm>
            <a:off x="6903720" y="3840480"/>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/20</a:t>
            </a:r>
            <a:endParaRPr lang="en-US" sz="1100" dirty="0"/>
          </a:p>
        </p:txBody>
      </p:sp>
      <p:sp>
        <p:nvSpPr>
          <p:cNvPr id="34" name="Text 31"/>
          <p:cNvSpPr txBox="1"/>
          <p:nvPr/>
        </p:nvSpPr>
        <p:spPr>
          <a:xfrm>
            <a:off x="566928" y="3840480"/>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30–41 Satisfactory — core communication in place</a:t>
            </a:r>
            <a:endParaRPr lang="en-US" sz="11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8732520" y="4626864"/>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 · Speaking</a:t>
            </a:r>
            <a:endParaRPr lang="en-US" sz="1100" dirty="0"/>
          </a:p>
        </p:txBody>
      </p:sp>
      <p:sp>
        <p:nvSpPr>
          <p:cNvPr id="39" name="Text 36"/>
          <p:cNvSpPr txBox="1"/>
          <p:nvPr/>
        </p:nvSpPr>
        <p:spPr>
          <a:xfrm>
            <a:off x="6903720" y="4626864"/>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/10</a:t>
            </a:r>
            <a:endParaRPr lang="en-US" sz="1100" dirty="0"/>
          </a:p>
        </p:txBody>
      </p:sp>
      <p:sp>
        <p:nvSpPr>
          <p:cNvPr id="40" name="Text 37"/>
          <p:cNvSpPr txBox="1"/>
          <p:nvPr/>
        </p:nvSpPr>
        <p:spPr>
          <a:xfrm>
            <a:off x="566928" y="4626864"/>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Below 30 — revisit D6-L02, L07 and L09 with guided practice</a:t>
            </a:r>
            <a:endParaRPr lang="en-US" sz="1100" dirty="0"/>
          </a:p>
        </p:txBody>
      </p:sp>
      <p:sp>
        <p:nvSpPr>
          <p:cNvPr id="41" name="Shape 38"/>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My writing improvement target … · My speaking improvement target …</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28</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D6-L12 · D6 Assessment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D6-L12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talk about countries, nationalities and celebrations.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use cultural verbs with the right preposition.</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use the cultural passive (</a:t>
            </a:r>
            <a:pPr algn="l" indent="0" marL="0">
              <a:buNone/>
            </a:pPr>
            <a:r>
              <a:rPr lang="ar-SA" altLang="en-US" sz="1700" dirty="0">
                <a:solidFill>
                  <a:srgbClr val="1F2A37"/>
                </a:solidFill>
                <a:latin typeface="Amiri" pitchFamily="2" charset="-78"/>
                <a:ea typeface="Amiri" pitchFamily="2" charset="-78"/>
                <a:cs typeface="Amiri" pitchFamily="2" charset="-78"/>
              </a:rPr>
              <a:t>تُزَيَّنُ</a:t>
            </a:r>
            <a:pPr algn="l" indent="0" marL="0">
              <a:buNone/>
            </a:pPr>
            <a:r>
              <a:rPr lang="en-US" sz="1300" dirty="0">
                <a:solidFill>
                  <a:srgbClr val="1F2A37"/>
                </a:solidFill>
                <a:latin typeface="Calibri" pitchFamily="34" charset="0"/>
                <a:cs typeface="Amiri" pitchFamily="2" charset="-78"/>
              </a:rPr>
              <a:t> · </a:t>
            </a:r>
            <a:pPr algn="l" indent="0" marL="0">
              <a:buNone/>
            </a:pPr>
            <a:r>
              <a:rPr lang="ar-SA" altLang="en-US" sz="1700" dirty="0">
                <a:solidFill>
                  <a:srgbClr val="1F2A37"/>
                </a:solidFill>
                <a:latin typeface="Amiri" pitchFamily="2" charset="-78"/>
                <a:ea typeface="Amiri" pitchFamily="2" charset="-78"/>
                <a:cs typeface="Amiri" pitchFamily="2" charset="-78"/>
              </a:rPr>
              <a:t>تُتَبَادَلُ</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move between past, present and future accurately.</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give a supported opinion and qualify cultural claims fairly.</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28</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D6-L12 · D6 Assessment</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P1-L01: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D6-L12</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P1-L01 · Diet and Nutrition — Reviewing and Extending Food Vocabulary</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بُرُوتِينٌ</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protein</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كَرْبُوهِيدْرَاتٌ</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carbohydrates</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أَلْيَافٌ</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fibre</a:t>
            </a:r>
            <a:pPr indent="0" marL="0">
              <a:buNone/>
            </a:pPr>
            <a:r>
              <a:rPr lang="ar-SA" sz="1000" i="1" dirty="0">
                <a:solidFill>
                  <a:srgbClr val="5A6472"/>
                </a:solidFill>
                <a:latin typeface="Calibri" pitchFamily="34" charset="0"/>
                <a:ea typeface="Amiri" pitchFamily="2" charset="-78"/>
                <a:cs typeface="Amiri" pitchFamily="2" charset="-78"/>
              </a:rPr>
              <a:t>  sing. لِيفٌ</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فِيتَامِينَاتٌ</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vitamins</a:t>
            </a:r>
            <a:pPr indent="0" marL="0">
              <a:buNone/>
            </a:pPr>
            <a:r>
              <a:rPr lang="ar-SA" sz="1000" i="1" dirty="0">
                <a:solidFill>
                  <a:srgbClr val="5A6472"/>
                </a:solidFill>
                <a:latin typeface="Calibri" pitchFamily="34" charset="0"/>
                <a:ea typeface="Amiri" pitchFamily="2" charset="-78"/>
                <a:cs typeface="Amiri" pitchFamily="2" charset="-78"/>
              </a:rPr>
              <a:t>  sing. فِيتَامِينٌ</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مَصْدَرُ طَاقَةٍ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an energy source</a:t>
            </a:r>
            <a:pPr indent="0" marL="0">
              <a:buNone/>
            </a:pPr>
            <a:r>
              <a:rPr lang="ar-SA" sz="1000" i="1" dirty="0">
                <a:solidFill>
                  <a:srgbClr val="5A6472"/>
                </a:solidFill>
                <a:latin typeface="Calibri" pitchFamily="34" charset="0"/>
                <a:ea typeface="Amiri" pitchFamily="2" charset="-78"/>
                <a:cs typeface="Amiri" pitchFamily="2" charset="-78"/>
              </a:rPr>
              <a:t>  pl. مَصَادِرُ طَاقَةٍ</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Think of your favourite meal. Which nutrients does it give you?</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وَجْبَتِي المُفَضَّلَةُ … وَفِيهَا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Redo the website D6-L12 section with your lowest score; learn the five P1 words.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Improve one paragraph of your assessed article, then learn the five P1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three sentences about a healthy meal, using the five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28</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D6-L12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P1-L01 · Diet and Nutrition — Reviewing and Extending Food Vocabulary</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الغِذَاءُ وَالتَّغْذِيَةُ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Development complete — well done! Carry the D6 checklist into Progression: tense + time · verb + preposition · passive -u · </a:t>
            </a:r>
            <a:pPr algn="l" indent="0" marL="0">
              <a:buNone/>
            </a:pPr>
            <a:r>
              <a:rPr lang="ar-SA" altLang="en-US" sz="1700" b="1" dirty="0">
                <a:solidFill>
                  <a:srgbClr val="FFFFFF"/>
                </a:solidFill>
                <a:latin typeface="Amiri" pitchFamily="2" charset="-78"/>
                <a:ea typeface="Amiri" pitchFamily="2" charset="-78"/>
                <a:cs typeface="Amiri" pitchFamily="2" charset="-78"/>
              </a:rPr>
              <a:t>أَنَّ</a:t>
            </a:r>
            <a:pPr algn="l" indent="0" marL="0">
              <a:buNone/>
            </a:pPr>
            <a:r>
              <a:rPr lang="en-US" sz="1300" b="1" dirty="0">
                <a:solidFill>
                  <a:srgbClr val="FFFFFF"/>
                </a:solidFill>
                <a:latin typeface="Calibri" pitchFamily="34" charset="0"/>
                <a:cs typeface="Amiri" pitchFamily="2" charset="-78"/>
              </a:rPr>
              <a:t> + -a · a fair claim.</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D6-L12 · Review and Unit Assessment: Countries, Cultures and Celebrations</dc:title>
  <dc:subject>PptxGenJS Presentation</dc:subject>
  <dc:creator>Al Madina Online School · Arabic Department</dc:creator>
  <cp:lastModifiedBy>Al Madina Online School · Arabic Department</cp:lastModifiedBy>
  <cp:revision>1</cp:revision>
  <dcterms:created xsi:type="dcterms:W3CDTF">2026-10-11T06:41:13Z</dcterms:created>
  <dcterms:modified xsi:type="dcterms:W3CDTF">2026-10-11T06:41:13Z</dcterms:modified>
</cp:coreProperties>
</file>