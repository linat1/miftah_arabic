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D6-L08. The website lesson “Reading — Countries, Culture and Celebration Texts”: vocabulary, grammar rules and quiz, patterns, common mistakes, sorter, listening, reading, speaking prompts and model, writing task and model, differentiation, final check and the lesson mission. Picture match: website visual game “Reading — Countries, Culture and Celebration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READING-SKILLS lesson: the website travel article is the main You Do task (5 questions, R1 → R3).
• Core: R1–R2 questions (where · what the tense signals) and one admiring phrase. Develop: name the tone and quote the evidence. Stretch: the website ~70-word analysis — tone, quote, tense, omission.
• Reading routine: (1) Circle the adjectives — positive or reserved? (2) Underline the verbs — past (finished) or present (now)? (3) Ask: what is NOT mentioned?
• Key exam habit (website mistake): an attitude question asks what the WRITER thinks — answering “the city is beautiful” is the reader’s opinion, not evidence. Always quote the writer’s Arabic.
• TEACHER-WRITTEN ITEMS: مُوَضُوعِيٌّ shown as مَوْضُوعِيٌّ, two English-description mistakes replaced with Arabic slips, and English added to the patterns and speaking model; the website visual game repeats D6-L02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D6-L07. Questions 4–5 retrieve D6-L07 (relative agreement · present = ongoing).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Same fact, different words — different attitude. Quote the word, and you have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دلیل، تفسیر، شخصی are shared — students know تفسیر from the Qur’an: it means explaining what the text means, exactly today’s skill. CAREFUL: Urdu موضوع = topic; Arabic مَوْضُوعِيٌّ = objective, factual. And the root of عجیب (strange) gives Arabic إِعْجَابٌ (admiration).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Perspective and tone (website vocabulary (1 of 2)). Hear → Say → See → Use. Transliteration is printed for Core students (cover it for Develop/Stretch).
Perspective and tone: the words for talking ABOUT a writer — attitude (مَوْقِفٌ), tone (نَبْرَةٌ), bias (تَحَيُّزٌ) and selectivity (انْتِقَائِيَّةٌ).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Perspective and tone (website vocabulary (2 of 2)). Hear → Say → See → Use. Transliteration is printed for Core students (cover it for Develop/Stretch).
Perspective and tone: the words for talking ABOUT a writer — attitude (مَوْقِفٌ), tone (نَبْرَةٌ), bias (تَحَيُّزٌ) and selectivity (انْتِقَائِيَّةٌ).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strategy (website vocabulary (1 of 2)). Hear → Say → See → Use. Transliteration is printed for Core students (cover it for Develop/Stretch).
Reading strategy: the verbs for explaining an answer. يُشِيرُ إِلَى and يُلَمِّحُ إِلَى both take إِلَى. مَا أُغْفِلَ = what was left out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strategy (website vocabulary (2 of 2)). Hear → Say → See → Use. Transliteration is printed for Core students (cover it for Develop/Stretch).
Reading strategy: the verbs for explaining an answer. يُشِيرُ إِلَى and يُلَمِّحُ إِلَى both take إِلَى. مَا أُغْفِلَ = what was left out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Judging the tone (website vocabulary (1 of 2)). Hear → Say → See → Use. Transliteration is printed for Core students (cover it for Develop/Stretch).
Judging the tone: adjectives agree with نَبْرَةٌ (feminine): نَبْرَةٌ احْتِفَالِيَّةٌ · نَقْدِيَّةٌ · مُحَايِدَةٌ.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Judging the tone (website vocabulary (2 of 2)). Hear → Say → See → Use. Transliteration is printed for Core students (cover it for Develop/Stretch).
Judging the tone: adjectives agree with نَبْرَةٌ (feminine): نَبْرَةٌ احْتِفَالِيَّةٌ · نَقْدِيَّةٌ · مُحَايِدَةٌ.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“Word choice signals attitude” (same fact + different adjective = different attitude; positive and negative colouring is carried by adjectives and the nouns a writer selects) and “Tense signals time and completion” (past = completed, presented as history · present = ongoing, a current reality).
Website teaching point: “Two writers can report the same festival. One writes مُزْدَحِمٌ, another writes نَابِضٌ بِالحَيَاةِ … Quote the adjective, and you have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“Naming the tone” (judge the tone from the accumulation of choices across the text, not from one word alone) and “Comparing two texts” (check each statement against each text separately before deciding: Text A / Text B / both — the Paper 2 Question 5 format).
Website teaching point: “What is left out is evidence too … Noticing an omission is a high-level reading skill, and it is exactly what an R3 question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sources of evidence: the words the writer chose, the tone across the whole text, and what the tense signals about time and completion.”
• Word choice signals attitude: Positive and negative colouring is carried by adjectives and by the nouns a writer selects.
• Tense signals time and completion: A cultural text that uses the past presents something as history; the present presents it as a current reality.
• Naming the tone: Judge the tone from the accumulation of choices across the text, not from one word alone.
• Comparing two texts: In a cross-text task, check each statement against each text separately before deciding.
Website common error: Answering an attitude question with your own opinion of the place. The question asks what the writer thinks, and the evidence must be the writer's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on the website reading text: circle adjectives → underline verbs → ask what is missing → name the tone. Model the language of the answer: وَالدَّلِيلُ قَوْلُهُ … · لِيَصِفَ … · لَمْ يَذْكُرْ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word that would move each phrase to a different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word that would move each phrase to a different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the adjective each speaker uses.
Listen 1: just listen. Listen 2: note answers. Then chat the letters.
Support: after the second listening, show the read-along slide (Arabic + English, line by line) for Core students.
SCRIPT (read aloud):
المُتَحَدِّثُ الأَوَّلُ: زُرْتُ المَدِينَةَ القَدِيمَةَ وَأَعْجَبَنِي سُوقُهَا النَّابِضُ بِالحَيَاةِ. كُلُّ زَاوِيَةٍ فِيهِ تَحْكِي قِصَّةً، وَقَدِ اسْتَقْبَلَنَا النَّاسُ بِكَرَمٍ كَبِيرٍ. المُتَحَدِّثُ الثَّانِي: أَنَا زُرْتُ السُّوقَ نَفْسَهُ، وَوَجَدْتُهُ مُزْدَحِمًا وَصَاخِبًا قَلِيلًا، وَلٰكِنَّ المَبَانِيَ التَّارِيخِيَّةَ كَانَتْ مُثِيرَةً لِلاهْتِمَامِ. لَمْ أَذْكُرِ المَطَاعِمَ لِأَنَّنِي لَمْ أُجَرِّبْهَا. يُشَارُ إِلَى أَنَّ النَّصَّيْنِ يَصِفَانِ المَكَانَ نَفْسَهُ، وَلٰكِنَّ نَبْرَةَ الأَوَّلِ احْتِفَالِيَّةٌ، بَيْنَمَا نَبْرَةُ الثَّانِي أَقْرَبُ إِلَى الحِيَادِ.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READING (main task): the website travel article. Before reading: circle every adjective and underline every verb.
Core: questions 1–3 (R1–R2). Develop: all 5 + one quoted phrase. Stretch: then the written analysis — tone, quote, tense,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هُنَاكَ مَا أُغْفِلَ؟ (And is anything left out?)
B: نَعَمْ، لَمْ يَذْكُرِ الأَحْيَاءَ الحَدِيثَةَ وَلَا المُشْكِلَاتِ، وَهٰذَا اخْتِيَارٌ لَهُ دَلَالَتُهُ. (Yes — he did not mention the modern districts or the problems, and that choice is significant.)
Website prompts and model: students explain the WRITER’S view, never their own. Core may answer with the quoted Arabic + English. To a girl: no change (the questions are about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the comprehension questions using evidence from the text. · Develop — Name the tone and quote the phrase that supports your judgement. · Stretch — Explain what the tense choices signal and identify one significant omission.
Website writing task (Stretch): Write about seventy words analysing a cultural text you have read. Name its tone, quote one phrase as evidence, say what the tense choices signal, and note one thing the text leaves out.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نَبْرَةُ الكَاتِبِ … احْتِفَالِيَّةٌ · وَالدَّلِيلُ مِنَ النَّصِّ قَوْلُهُ … · المَاضِيَ فِي ازْدَهَرَتْ قَدِيمًا لِيَصِفَ فَتْرَةً مُنْتَهِيَةً · المُضَارِعَ فِي تَزْدَهِرُ اليَوْمَ … وَاقِعًا مُسْتَمِرًّا · لَمْ يَذْكُرِ الأَحْيَاءَ الحَدِيثَةَ … · الإِغْفَالُ لَهُ دَلَالَتُهُ.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(D6-L09 · Writing — Countries, Culture and Identity (Paper 4)) will spend class time USING this language, so students prepare it tonight — short, simple, easy to access (school guidance: “Simple, Short, Interesting, Relevant, Easy to access”). The five words come from the website D6-L09 vocabulary (writing about identity and the mark scheme).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Reading — Countries, Culture and Celebration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القِرَاءَةُ — نُصُوصُ الدُّوَلِ وَالثَّقَافَةِ وَالاحْتِفَالَاتِ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cultural texts for what the writer IMPLIES: the attitude in the words chosen (</a:t>
            </a:r>
            <a:pPr algn="l" indent="0" marL="0">
              <a:buNone/>
            </a:pPr>
            <a:r>
              <a:rPr lang="ar-SA" altLang="en-US" sz="1800" dirty="0">
                <a:solidFill>
                  <a:srgbClr val="C6D2E6"/>
                </a:solidFill>
                <a:latin typeface="Amiri" pitchFamily="2" charset="-78"/>
                <a:cs typeface="Amiri" pitchFamily="2" charset="-78"/>
              </a:rPr>
              <a:t>نَابِضٌ بِالحَيَاةِ</a:t>
            </a:r>
            <a:pPr algn="l" indent="0" marL="0">
              <a:buNone/>
            </a:pPr>
            <a:r>
              <a:rPr lang="en-US" sz="1400" dirty="0">
                <a:solidFill>
                  <a:srgbClr val="C6D2E6"/>
                </a:solidFill>
                <a:latin typeface="Calibri" pitchFamily="34" charset="0"/>
                <a:cs typeface="Amiri" pitchFamily="2" charset="-78"/>
              </a:rPr>
              <a:t> vs </a:t>
            </a:r>
            <a:pPr algn="l" indent="0" marL="0">
              <a:buNone/>
            </a:pPr>
            <a:r>
              <a:rPr lang="ar-SA" altLang="en-US" sz="1800" dirty="0">
                <a:solidFill>
                  <a:srgbClr val="C6D2E6"/>
                </a:solidFill>
                <a:latin typeface="Amiri" pitchFamily="2" charset="-78"/>
                <a:cs typeface="Amiri" pitchFamily="2" charset="-78"/>
              </a:rPr>
              <a:t>مُزْدَحِمٌ وَصَاخِبٌ</a:t>
            </a:r>
            <a:pPr algn="l" indent="0" marL="0">
              <a:buNone/>
            </a:pPr>
            <a:r>
              <a:rPr lang="en-US" sz="1400" dirty="0">
                <a:solidFill>
                  <a:srgbClr val="C6D2E6"/>
                </a:solidFill>
                <a:latin typeface="Calibri" pitchFamily="34" charset="0"/>
                <a:cs typeface="Amiri" pitchFamily="2" charset="-78"/>
              </a:rPr>
              <a:t>), what the tense signals (</a:t>
            </a:r>
            <a:pPr algn="l" indent="0" marL="0">
              <a:buNone/>
            </a:pPr>
            <a:r>
              <a:rPr lang="ar-SA" altLang="en-US" sz="1800" dirty="0">
                <a:solidFill>
                  <a:srgbClr val="C6D2E6"/>
                </a:solidFill>
                <a:latin typeface="Amiri" pitchFamily="2" charset="-78"/>
                <a:cs typeface="Amiri" pitchFamily="2" charset="-78"/>
              </a:rPr>
              <a:t>ازْدَهَرَتْ قَدِيمًا</a:t>
            </a:r>
            <a:pPr algn="l" indent="0" marL="0">
              <a:buNone/>
            </a:pPr>
            <a:r>
              <a:rPr lang="en-US" sz="1400" dirty="0">
                <a:solidFill>
                  <a:srgbClr val="C6D2E6"/>
                </a:solidFill>
                <a:latin typeface="Calibri" pitchFamily="34" charset="0"/>
                <a:cs typeface="Amiri" pitchFamily="2" charset="-78"/>
              </a:rPr>
              <a:t> = finished history · </a:t>
            </a:r>
            <a:pPr algn="l" indent="0" marL="0">
              <a:buNone/>
            </a:pPr>
            <a:r>
              <a:rPr lang="ar-SA" altLang="en-US" sz="1800" dirty="0">
                <a:solidFill>
                  <a:srgbClr val="C6D2E6"/>
                </a:solidFill>
                <a:latin typeface="Amiri" pitchFamily="2" charset="-78"/>
                <a:cs typeface="Amiri" pitchFamily="2" charset="-78"/>
              </a:rPr>
              <a:t>تَزْدَهِرُ اليَوْمَ</a:t>
            </a:r>
            <a:pPr algn="l" indent="0" marL="0">
              <a:buNone/>
            </a:pPr>
            <a:r>
              <a:rPr lang="en-US" sz="1400" dirty="0">
                <a:solidFill>
                  <a:srgbClr val="C6D2E6"/>
                </a:solidFill>
                <a:latin typeface="Calibri" pitchFamily="34" charset="0"/>
                <a:cs typeface="Amiri" pitchFamily="2" charset="-78"/>
              </a:rPr>
              <a:t> = true now), the overall tone — and what the text leaves out.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D6-L08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Word choice → attitude; tense → time; tone; omission.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tone words, fix slips, then two travellers in one city.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نَبْرَةُ الكَاتِبِ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name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country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 مِنَ النَّصِّ</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 from the text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title for the text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summary of the text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تَحَيُّزٌ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neutrality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admiration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bias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الَّذِي زُرْتُهَا جَمِيلَةٌ.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مَدِينَةٌ الَّتِي زُرْتُهَا جَمِيلَةٌ.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الَّتِي زُرْتُهَا جَمِيلَةٌ.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describes something that is still true now?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تَزْدَهِرُ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ازْدَهَرَتْ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تَزْدَهِرُ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نَبْرَةُ الكَاتِبِ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name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country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 مِنَ النَّصِّ</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 from the text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title for the text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summary of the text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تَحَيُّزٌ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neutrality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admiration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bias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الَّذِي زُرْتُهَا جَمِيلَةٌ.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مَدِينَةٌ الَّتِي زُرْتُهَا جَمِيلَةٌ.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المَدِينَةُ الَّتِي زُرْتُهَا جَمِيلَةٌ.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D6-L07: the relative pronoun looks backwards.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describes something that is still true now?</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تَزْدَهِرُ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ازْدَهَرَتْ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تَزْدَهِرُ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D6-L07: present = now.</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Same fact, different words — different attitude. Quote the word, and you have your evidence.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سُوقٌ </a:t>
            </a:r>
            <a:pPr rtl="1" algn="ctr" indent="0" marL="0">
              <a:lnSpc>
                <a:spcPct val="120000"/>
              </a:lnSpc>
              <a:buNone/>
            </a:pPr>
            <a:r>
              <a:rPr lang="ar-SA" altLang="en-US" sz="1950" b="1" dirty="0">
                <a:solidFill>
                  <a:srgbClr val="0E7C86"/>
                </a:solidFill>
                <a:latin typeface="Amiri" pitchFamily="2" charset="-78"/>
                <a:cs typeface="Amiri" pitchFamily="2" charset="-78"/>
              </a:rPr>
              <a:t>نَابِضٌ بِالحَيَاةِ</a:t>
            </a:r>
            <a:pPr rtl="1" algn="ctr" indent="0" marL="0">
              <a:lnSpc>
                <a:spcPct val="120000"/>
              </a:lnSpc>
              <a:buNone/>
            </a:pPr>
            <a:r>
              <a:rPr lang="ar-SA" altLang="en-US" sz="1950" b="1" dirty="0">
                <a:solidFill>
                  <a:srgbClr val="1B3B6F"/>
                </a:solidFill>
                <a:latin typeface="Amiri" pitchFamily="2" charset="-78"/>
                <a:cs typeface="Amiri" pitchFamily="2" charset="-78"/>
              </a:rPr>
              <a:t> ‖ سُوقٌ </a:t>
            </a:r>
            <a:pPr rtl="1" algn="ctr" indent="0" marL="0">
              <a:lnSpc>
                <a:spcPct val="120000"/>
              </a:lnSpc>
              <a:buNone/>
            </a:pPr>
            <a:r>
              <a:rPr lang="ar-SA" altLang="en-US" sz="1950" b="1" dirty="0">
                <a:solidFill>
                  <a:srgbClr val="1D5FBF"/>
                </a:solidFill>
                <a:latin typeface="Amiri" pitchFamily="2" charset="-78"/>
                <a:cs typeface="Amiri" pitchFamily="2" charset="-78"/>
              </a:rPr>
              <a:t>مُزْدَحِمٌ وَصَاخِبٌ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a writer’s attitude from word choice and tone.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Separate a stated fact from an implied attitude.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what a tense choice signals in a cultural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Notice what a text leaves out and compare two texts.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an admiring or reserved word.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if a verb is past or present.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tone and quote the evidence.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separate a fact from an attitude.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what a tense choice signals.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identify a significant omission.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Perspective and tone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Reading strategy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Judging the tone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proof</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تَفْسِيرٌ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‎تفسیر‎ </a:t>
            </a:r>
            <a:pPr indent="0" marL="0">
              <a:buNone/>
            </a:pPr>
            <a:r>
              <a:rPr lang="en-US" sz="950" b="1" dirty="0">
                <a:solidFill>
                  <a:srgbClr val="2E8B57"/>
                </a:solidFill>
                <a:latin typeface="Calibri" pitchFamily="34" charset="0"/>
                <a:cs typeface="Amiri" pitchFamily="2" charset="-78"/>
              </a:rPr>
              <a:t> tafsīr · interpretation (Urdu: Qur’an commentary)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مَوْضُوعِيٌّ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‎موضوع‎ </a:t>
            </a:r>
            <a:pPr indent="0" marL="0">
              <a:buNone/>
            </a:pPr>
            <a:r>
              <a:rPr lang="en-US" sz="950" b="1" dirty="0">
                <a:solidFill>
                  <a:srgbClr val="2E8B57"/>
                </a:solidFill>
                <a:latin typeface="Calibri" pitchFamily="34" charset="0"/>
                <a:cs typeface="Amiri" pitchFamily="2" charset="-78"/>
              </a:rPr>
              <a:t> mauzū · Urdu موضوع = topic · Arabic مَوْضُوعِيٌّ = objective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إِعْجَابٌ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‎عجیب‎ </a:t>
            </a:r>
            <a:pPr indent="0" marL="0">
              <a:buNone/>
            </a:pPr>
            <a:r>
              <a:rPr lang="en-US" sz="950" b="1" dirty="0">
                <a:solidFill>
                  <a:srgbClr val="2E8B57"/>
                </a:solidFill>
                <a:latin typeface="Calibri" pitchFamily="34" charset="0"/>
                <a:cs typeface="Amiri" pitchFamily="2" charset="-78"/>
              </a:rPr>
              <a:t> ʿajīb · same root ʿ-j-b: Arabic = admiration · Urdu عجیب = strange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شَخْصِيٌّ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‎شخصی‎ </a:t>
            </a:r>
            <a:pPr indent="0" marL="0">
              <a:buNone/>
            </a:pPr>
            <a:r>
              <a:rPr lang="en-US" sz="950" b="1" dirty="0">
                <a:solidFill>
                  <a:srgbClr val="2E8B57"/>
                </a:solidFill>
                <a:latin typeface="Calibri" pitchFamily="34" charset="0"/>
                <a:cs typeface="Amiri" pitchFamily="2" charset="-78"/>
              </a:rPr>
              <a:t> shakhṣī · personal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Perspective and tone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مَنْظُورٌ ثَقَافِيٌّ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perspective</a:t>
            </a:r>
            <a:endParaRPr lang="en-US" sz="1350" dirty="0"/>
          </a:p>
          <a:p>
            <a:pPr indent="0" marL="0">
              <a:buNone/>
            </a:pPr>
            <a:r>
              <a:rPr lang="en-US" sz="1100" i="1" dirty="0">
                <a:solidFill>
                  <a:srgbClr val="5A6472"/>
                </a:solidFill>
                <a:latin typeface="Calibri" pitchFamily="34" charset="0"/>
                <a:cs typeface="Amiri" pitchFamily="2" charset="-78"/>
              </a:rPr>
              <a:t>man-ẓū-run tha-qā-fiy-yun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Not stated directly.</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مَوْقِفٌ ضِمْنِيٌّ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implicit attitude</a:t>
            </a:r>
            <a:endParaRPr lang="en-US" sz="1350" dirty="0"/>
          </a:p>
          <a:p>
            <a:pPr indent="0" marL="0">
              <a:buNone/>
            </a:pPr>
            <a:r>
              <a:rPr lang="en-US" sz="1100" i="1" dirty="0">
                <a:solidFill>
                  <a:srgbClr val="5A6472"/>
                </a:solidFill>
                <a:latin typeface="Calibri" pitchFamily="34" charset="0"/>
                <a:cs typeface="Amiri" pitchFamily="2" charset="-78"/>
              </a:rPr>
              <a:t>maw-qi-fun ḍim-niy-yun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نَبْرَةُ الكَاتِبِ</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tone</a:t>
            </a:r>
            <a:endParaRPr lang="en-US" sz="1350" dirty="0"/>
          </a:p>
          <a:p>
            <a:pPr indent="0" marL="0">
              <a:buNone/>
            </a:pPr>
            <a:r>
              <a:rPr lang="en-US" sz="1100" i="1" dirty="0">
                <a:solidFill>
                  <a:srgbClr val="5A6472"/>
                </a:solidFill>
                <a:latin typeface="Calibri" pitchFamily="34" charset="0"/>
                <a:cs typeface="Amiri" pitchFamily="2" charset="-78"/>
              </a:rPr>
              <a:t>nab-ra-tu al-kā-ti-bi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حِيَادٌ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neutrality</a:t>
            </a:r>
            <a:endParaRPr lang="en-US" sz="1350" dirty="0"/>
          </a:p>
          <a:p>
            <a:pPr indent="0" marL="0">
              <a:buNone/>
            </a:pPr>
            <a:r>
              <a:rPr lang="en-US" sz="1100" i="1" dirty="0">
                <a:solidFill>
                  <a:srgbClr val="5A6472"/>
                </a:solidFill>
                <a:latin typeface="Calibri" pitchFamily="34" charset="0"/>
                <a:cs typeface="Amiri" pitchFamily="2" charset="-78"/>
              </a:rPr>
              <a:t>ḥi-yā-dun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تَحَيُّزٌ</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bias</a:t>
            </a:r>
            <a:endParaRPr lang="en-US" sz="1350" dirty="0"/>
          </a:p>
          <a:p>
            <a:pPr indent="0" marL="0">
              <a:buNone/>
            </a:pPr>
            <a:r>
              <a:rPr lang="en-US" sz="1100" i="1" dirty="0">
                <a:solidFill>
                  <a:srgbClr val="5A6472"/>
                </a:solidFill>
                <a:latin typeface="Calibri" pitchFamily="34" charset="0"/>
                <a:cs typeface="Amiri" pitchFamily="2" charset="-78"/>
              </a:rPr>
              <a:t>ta-ḥay-yu-zun</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Perspective and tone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انْتِقَائِيَّةٌ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selectivity</a:t>
            </a:r>
            <a:endParaRPr lang="en-US" sz="1350" dirty="0"/>
          </a:p>
          <a:p>
            <a:pPr indent="0" marL="0">
              <a:buNone/>
            </a:pPr>
            <a:r>
              <a:rPr lang="en-US" sz="1100" i="1" dirty="0">
                <a:solidFill>
                  <a:srgbClr val="5A6472"/>
                </a:solidFill>
                <a:latin typeface="Calibri" pitchFamily="34" charset="0"/>
                <a:cs typeface="Amiri" pitchFamily="2" charset="-78"/>
              </a:rPr>
              <a:t>an-ti-qā-ʾiy-ya-tun</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Choosing what to include.</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دَلَالَةٌ</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significance, implication</a:t>
            </a:r>
            <a:endParaRPr lang="en-US" sz="1350" dirty="0"/>
          </a:p>
          <a:p>
            <a:pPr indent="0" marL="0">
              <a:buNone/>
            </a:pPr>
            <a:r>
              <a:rPr lang="en-US" sz="1100" i="1" dirty="0">
                <a:solidFill>
                  <a:srgbClr val="5A6472"/>
                </a:solidFill>
                <a:latin typeface="Calibri" pitchFamily="34" charset="0"/>
                <a:cs typeface="Amiri" pitchFamily="2" charset="-78"/>
              </a:rPr>
              <a:t>da-lā-la-tun</a:t>
            </a:r>
            <a:endParaRPr lang="en-US" sz="135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9" name="Shape 26"/>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0" name="Text 27"/>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تَفْسِيرٌ</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interpretation</a:t>
            </a:r>
            <a:endParaRPr lang="en-US" sz="1350" dirty="0"/>
          </a:p>
          <a:p>
            <a:pPr indent="0" marL="0">
              <a:buNone/>
            </a:pPr>
            <a:r>
              <a:rPr lang="en-US" sz="1100" i="1" dirty="0">
                <a:solidFill>
                  <a:srgbClr val="5A6472"/>
                </a:solidFill>
                <a:latin typeface="Calibri" pitchFamily="34" charset="0"/>
                <a:cs typeface="Amiri" pitchFamily="2" charset="-78"/>
              </a:rPr>
              <a:t>taf-sī-run</a:t>
            </a:r>
            <a:endParaRPr lang="en-US" sz="1350" dirty="0"/>
          </a:p>
        </p:txBody>
      </p:sp>
      <p:sp>
        <p:nvSpPr>
          <p:cNvPr id="33" name="Shape 3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11312" y="4261104"/>
            <a:ext cx="310896" cy="310896"/>
          </a:xfrm>
          <a:prstGeom prst="ellipse">
            <a:avLst/>
          </a:prstGeom>
          <a:solidFill>
            <a:srgbClr val="F4F1EA"/>
          </a:solidFill>
          <a:ln w="12700">
            <a:solidFill>
              <a:srgbClr val="F4F1EA"/>
            </a:solidFill>
            <a:prstDash val="solid"/>
          </a:ln>
        </p:spPr>
      </p:sp>
      <p:sp>
        <p:nvSpPr>
          <p:cNvPr id="35" name="Text 3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إِعْجَابٌ</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admiration</a:t>
            </a:r>
            <a:endParaRPr lang="en-US" sz="1350" dirty="0"/>
          </a:p>
          <a:p>
            <a:pPr indent="0" marL="0">
              <a:buNone/>
            </a:pPr>
            <a:r>
              <a:rPr lang="en-US" sz="1100" i="1" dirty="0">
                <a:solidFill>
                  <a:srgbClr val="5A6472"/>
                </a:solidFill>
                <a:latin typeface="Calibri" pitchFamily="34" charset="0"/>
                <a:cs typeface="Amiri" pitchFamily="2" charset="-78"/>
              </a:rPr>
              <a:t>iʿ-jā-bun</a:t>
            </a:r>
            <a:endParaRPr lang="en-US" sz="1350" dirty="0"/>
          </a:p>
        </p:txBody>
      </p:sp>
      <p:sp>
        <p:nvSpPr>
          <p:cNvPr id="40" name="Shape 3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389120"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Text 4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تَحَفُّظٌ</a:t>
            </a:r>
            <a:endParaRPr lang="ar-SA" sz="3000" dirty="0"/>
          </a:p>
        </p:txBody>
      </p:sp>
      <p:sp>
        <p:nvSpPr>
          <p:cNvPr id="44" name="Text 4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reservation</a:t>
            </a:r>
            <a:endParaRPr lang="en-US" sz="1350" dirty="0"/>
          </a:p>
          <a:p>
            <a:pPr indent="0" marL="0">
              <a:buNone/>
            </a:pPr>
            <a:r>
              <a:rPr lang="en-US" sz="1100" i="1" dirty="0">
                <a:solidFill>
                  <a:srgbClr val="5A6472"/>
                </a:solidFill>
                <a:latin typeface="Calibri" pitchFamily="34" charset="0"/>
                <a:cs typeface="Amiri" pitchFamily="2" charset="-78"/>
              </a:rPr>
              <a:t>ta-ḥaf-fu-ẓun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strategy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الفِكْرَةُ الرَّئِيسِيَّةُ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دَلِيلٌ مِنَ النَّصِّ</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 from the text</a:t>
            </a:r>
            <a:endParaRPr lang="en-US" sz="1350" dirty="0"/>
          </a:p>
          <a:p>
            <a:pPr indent="0" marL="0">
              <a:buNone/>
            </a:pPr>
            <a:r>
              <a:rPr lang="en-US" sz="1100" i="1" dirty="0">
                <a:solidFill>
                  <a:srgbClr val="5A6472"/>
                </a:solidFill>
                <a:latin typeface="Calibri" pitchFamily="34" charset="0"/>
                <a:cs typeface="Amiri" pitchFamily="2" charset="-78"/>
              </a:rPr>
              <a:t>da-lī-lun mi-na an-naṣ-ṣi</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أَدِلَّةٌ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7" name="Shape 34"/>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IV · past</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يُشِيرُ إِلَى</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43" name="Shape 40"/>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5" name="Text 42"/>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أَشَارَ</a:t>
            </a:r>
            <a:endParaRPr lang="ar-SA" sz="1350" dirty="0"/>
          </a:p>
        </p:txBody>
      </p:sp>
      <p:sp>
        <p:nvSpPr>
          <p:cNvPr id="46" name="Shape 43"/>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تُشِيرُ</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2" name="Shape 49"/>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X · past</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يَسْتَنْتِجُ</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56" name="Shape 5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8" name="Text 5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اِسْتَنْتَجَ</a:t>
            </a:r>
            <a:endParaRPr lang="ar-SA" sz="1350" dirty="0"/>
          </a:p>
        </p:txBody>
      </p:sp>
      <p:sp>
        <p:nvSpPr>
          <p:cNvPr id="59" name="Shape 5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1" name="Text 5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نَسْتَنْتِجُ</a:t>
            </a:r>
            <a:endParaRPr lang="ar-SA" sz="150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strategy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يُلَمِّحُ إِلَى</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hints at</a:t>
            </a:r>
            <a:endParaRPr lang="en-US" sz="1350" dirty="0"/>
          </a:p>
          <a:p>
            <a:pPr indent="0" marL="0">
              <a:buNone/>
            </a:pPr>
            <a:r>
              <a:rPr lang="en-US" sz="1100" i="1" dirty="0">
                <a:solidFill>
                  <a:srgbClr val="5A6472"/>
                </a:solidFill>
                <a:latin typeface="Calibri" pitchFamily="34" charset="0"/>
                <a:cs typeface="Amiri" pitchFamily="2" charset="-78"/>
              </a:rPr>
              <a:t>yu-lam-mi-ḥu i-lā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اخْتِيَارُ الكَلِمَاتِ</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 choice</a:t>
            </a:r>
            <a:endParaRPr lang="en-US" sz="1350" dirty="0"/>
          </a:p>
          <a:p>
            <a:pPr indent="0" marL="0">
              <a:buNone/>
            </a:pPr>
            <a:r>
              <a:rPr lang="en-US" sz="1100" i="1" dirty="0">
                <a:solidFill>
                  <a:srgbClr val="5A6472"/>
                </a:solidFill>
                <a:latin typeface="Calibri" pitchFamily="34" charset="0"/>
                <a:cs typeface="Amiri" pitchFamily="2" charset="-78"/>
              </a:rPr>
              <a:t>akh-ti-yā-ru al-ka-li-mā-ti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8" name="Shape 25"/>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passive form.</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 أُغْفِلَ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was omitted</a:t>
            </a:r>
            <a:endParaRPr lang="en-US" sz="1350" dirty="0"/>
          </a:p>
          <a:p>
            <a:pPr indent="0" marL="0">
              <a:buNone/>
            </a:pPr>
            <a:r>
              <a:rPr lang="en-US" sz="1100" i="1" dirty="0">
                <a:solidFill>
                  <a:srgbClr val="5A6472"/>
                </a:solidFill>
                <a:latin typeface="Calibri" pitchFamily="34" charset="0"/>
                <a:cs typeface="Amiri" pitchFamily="2" charset="-78"/>
              </a:rPr>
              <a:t>mā ugh-fi-la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مُقَارَنَةٌ بَيْنَ نَصَّيْنِ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 of two texts</a:t>
            </a:r>
            <a:endParaRPr lang="en-US" sz="1350" dirty="0"/>
          </a:p>
          <a:p>
            <a:pPr indent="0" marL="0">
              <a:buNone/>
            </a:pPr>
            <a:r>
              <a:rPr lang="en-US" sz="1100" i="1" dirty="0">
                <a:solidFill>
                  <a:srgbClr val="5A6472"/>
                </a:solidFill>
                <a:latin typeface="Calibri" pitchFamily="34" charset="0"/>
                <a:cs typeface="Amiri" pitchFamily="2" charset="-78"/>
              </a:rPr>
              <a:t>mu-qā-ra-na-tun bay-na naṣ-ṣay-ni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Judging the tone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نَبْرَةٌ احْتِفَالِيَّةٌ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celebratory tone</a:t>
            </a:r>
            <a:endParaRPr lang="en-US" sz="1350" dirty="0"/>
          </a:p>
          <a:p>
            <a:pPr indent="0" marL="0">
              <a:buNone/>
            </a:pPr>
            <a:r>
              <a:rPr lang="en-US" sz="1100" i="1" dirty="0">
                <a:solidFill>
                  <a:srgbClr val="5A6472"/>
                </a:solidFill>
                <a:latin typeface="Calibri" pitchFamily="34" charset="0"/>
                <a:cs typeface="Amiri" pitchFamily="2" charset="-78"/>
              </a:rPr>
              <a:t>nab-ra-tun aḥ-ti-fā-liy-ya-tun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نَبْرَةٌ نَقْدِيَّةٌ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critical tone</a:t>
            </a:r>
            <a:endParaRPr lang="en-US" sz="1350" dirty="0"/>
          </a:p>
          <a:p>
            <a:pPr indent="0" marL="0">
              <a:buNone/>
            </a:pPr>
            <a:r>
              <a:rPr lang="en-US" sz="1100" i="1" dirty="0">
                <a:solidFill>
                  <a:srgbClr val="5A6472"/>
                </a:solidFill>
                <a:latin typeface="Calibri" pitchFamily="34" charset="0"/>
                <a:cs typeface="Amiri" pitchFamily="2" charset="-78"/>
              </a:rPr>
              <a:t>nab-ra-tun naq-diy-ya-tun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نَبْرَةٌ مُحَايِدَةٌ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neutral tone</a:t>
            </a:r>
            <a:endParaRPr lang="en-US" sz="1350" dirty="0"/>
          </a:p>
          <a:p>
            <a:pPr indent="0" marL="0">
              <a:buNone/>
            </a:pPr>
            <a:r>
              <a:rPr lang="en-US" sz="1100" i="1" dirty="0">
                <a:solidFill>
                  <a:srgbClr val="5A6472"/>
                </a:solidFill>
                <a:latin typeface="Calibri" pitchFamily="34" charset="0"/>
                <a:cs typeface="Amiri" pitchFamily="2" charset="-78"/>
              </a:rPr>
              <a:t>nab-ra-tun mu-ḥā-yi-da-tun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7" name="Shape 3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مُتَحَمِّسٌ</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enthusiastic</a:t>
            </a:r>
            <a:endParaRPr lang="en-US" sz="1350" dirty="0"/>
          </a:p>
          <a:p>
            <a:pPr indent="0" marL="0">
              <a:buNone/>
            </a:pPr>
            <a:r>
              <a:rPr lang="en-US" sz="1100" i="1" dirty="0">
                <a:solidFill>
                  <a:srgbClr val="5A6472"/>
                </a:solidFill>
                <a:latin typeface="Calibri" pitchFamily="34" charset="0"/>
                <a:cs typeface="Amiri" pitchFamily="2" charset="-78"/>
              </a:rPr>
              <a:t>mu-ta-ḥam-mi-sun</a:t>
            </a:r>
            <a:endParaRPr lang="en-US" sz="1350" dirty="0"/>
          </a:p>
        </p:txBody>
      </p:sp>
      <p:sp>
        <p:nvSpPr>
          <p:cNvPr id="41" name="Shape 3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مُتَحَمِّسَةٌ</a:t>
            </a:r>
            <a:endParaRPr lang="ar-SA" sz="1500" dirty="0"/>
          </a:p>
        </p:txBody>
      </p:sp>
      <p:sp>
        <p:nvSpPr>
          <p:cNvPr id="44" name="Shape 4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مُتَحَمِّسُونَ</a:t>
            </a:r>
            <a:endParaRPr lang="ar-SA" sz="15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Judging the tone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مُتَحَفِّظٌ</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reserved</a:t>
            </a:r>
            <a:endParaRPr lang="en-US" sz="1350" dirty="0"/>
          </a:p>
          <a:p>
            <a:pPr indent="0" marL="0">
              <a:buNone/>
            </a:pPr>
            <a:r>
              <a:rPr lang="en-US" sz="1100" i="1" dirty="0">
                <a:solidFill>
                  <a:srgbClr val="5A6472"/>
                </a:solidFill>
                <a:latin typeface="Calibri" pitchFamily="34" charset="0"/>
                <a:cs typeface="Amiri" pitchFamily="2" charset="-78"/>
              </a:rPr>
              <a:t>mu-ta-ḥaf-fi-ẓun</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مُتَحَفِّظَةٌ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مُتَحَفِّظُونَ</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مَوْضُوعِيٌّ</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objective</a:t>
            </a:r>
            <a:endParaRPr lang="en-US" sz="1350" dirty="0"/>
          </a:p>
          <a:p>
            <a:pPr indent="0" marL="0">
              <a:buNone/>
            </a:pPr>
            <a:r>
              <a:rPr lang="en-US" sz="1100" i="1" dirty="0">
                <a:solidFill>
                  <a:srgbClr val="5A6472"/>
                </a:solidFill>
                <a:latin typeface="Calibri" pitchFamily="34" charset="0"/>
                <a:cs typeface="Amiri" pitchFamily="2" charset="-78"/>
              </a:rPr>
              <a:t>maw-ḍū-ʿiy-yun</a:t>
            </a:r>
            <a:endParaRPr lang="en-US" sz="1350" dirty="0"/>
          </a:p>
        </p:txBody>
      </p:sp>
      <p:sp>
        <p:nvSpPr>
          <p:cNvPr id="35" name="Shape 32"/>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7" name="Text 34"/>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مَوْضُوعِيَّةٌ</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1" name="Shape 3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شَخْصِيٌّ</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a:t>
            </a:r>
            <a:endParaRPr lang="en-US" sz="1350" dirty="0"/>
          </a:p>
          <a:p>
            <a:pPr indent="0" marL="0">
              <a:buNone/>
            </a:pPr>
            <a:r>
              <a:rPr lang="en-US" sz="1100" i="1" dirty="0">
                <a:solidFill>
                  <a:srgbClr val="5A6472"/>
                </a:solidFill>
                <a:latin typeface="Calibri" pitchFamily="34" charset="0"/>
                <a:cs typeface="Amiri" pitchFamily="2" charset="-78"/>
              </a:rPr>
              <a:t>shakh-ṣiy-yun</a:t>
            </a:r>
            <a:endParaRPr lang="en-US" sz="1350" dirty="0"/>
          </a:p>
        </p:txBody>
      </p:sp>
      <p:sp>
        <p:nvSpPr>
          <p:cNvPr id="45" name="Shape 42"/>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شَخْصِيَّةٌ</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يَمْدَحُ</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praises</a:t>
            </a:r>
            <a:endParaRPr lang="en-US" sz="1350" dirty="0"/>
          </a:p>
          <a:p>
            <a:pPr indent="0" marL="0">
              <a:buNone/>
            </a:pPr>
            <a:r>
              <a:rPr lang="en-US" sz="1100" i="1" dirty="0">
                <a:solidFill>
                  <a:srgbClr val="5A6472"/>
                </a:solidFill>
                <a:latin typeface="Calibri" pitchFamily="34" charset="0"/>
                <a:cs typeface="Amiri" pitchFamily="2" charset="-78"/>
              </a:rPr>
              <a:t>yam-da-ḥu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1 · WORD CHOICE AND TENSE AS EVIDENCE (WEBSITE RULES 1–2)</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place — different signals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اخْتِيَارُ الكَلِمَاتِ وَالزَّمَنُ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shows</a:t>
            </a:r>
            <a:endParaRPr lang="en-US" sz="1100" dirty="0"/>
          </a:p>
        </p:txBody>
      </p:sp>
      <p:sp>
        <p:nvSpPr>
          <p:cNvPr id="17" name="Text 14"/>
          <p:cNvSpPr txBox="1"/>
          <p:nvPr/>
        </p:nvSpPr>
        <p:spPr>
          <a:xfrm>
            <a:off x="309067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admiring</a:t>
            </a:r>
            <a:endParaRPr lang="en-US" sz="1100" dirty="0"/>
          </a:p>
        </p:txBody>
      </p:sp>
      <p:sp>
        <p:nvSpPr>
          <p:cNvPr id="21" name="Text 18"/>
          <p:cNvSpPr txBox="1"/>
          <p:nvPr/>
        </p:nvSpPr>
        <p:spPr>
          <a:xfrm>
            <a:off x="3108960" y="2286000"/>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سُوقٌ </a:t>
            </a:r>
            <a:pPr rtl="1" algn="ctr" indent="0" marL="0">
              <a:buNone/>
            </a:pPr>
            <a:r>
              <a:rPr lang="ar-SA" altLang="en-US" sz="1950" b="1" dirty="0">
                <a:solidFill>
                  <a:srgbClr val="0E7C86"/>
                </a:solidFill>
                <a:latin typeface="Amiri" pitchFamily="2" charset="-78"/>
                <a:cs typeface="Amiri" pitchFamily="2" charset="-78"/>
              </a:rPr>
              <a:t>نَابِضٌ بِالحَيَاةِ</a:t>
            </a:r>
            <a:endParaRPr lang="ar-SA" sz="1950" dirty="0"/>
          </a:p>
        </p:txBody>
      </p:sp>
      <p:sp>
        <p:nvSpPr>
          <p:cNvPr id="22" name="Text 19"/>
          <p:cNvSpPr txBox="1"/>
          <p:nvPr/>
        </p:nvSpPr>
        <p:spPr>
          <a:xfrm>
            <a:off x="3063240" y="2676997"/>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market full of life</a:t>
            </a:r>
            <a:endParaRPr lang="en-US" sz="950" dirty="0"/>
          </a:p>
        </p:txBody>
      </p:sp>
      <p:sp>
        <p:nvSpPr>
          <p:cNvPr id="23" name="Text 20"/>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نَابِضٌ بِالحَيَاةِ</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reserved</a:t>
            </a:r>
            <a:endParaRPr lang="en-US" sz="1100" dirty="0"/>
          </a:p>
        </p:txBody>
      </p:sp>
      <p:sp>
        <p:nvSpPr>
          <p:cNvPr id="28" name="Text 25"/>
          <p:cNvSpPr txBox="1"/>
          <p:nvPr/>
        </p:nvSpPr>
        <p:spPr>
          <a:xfrm>
            <a:off x="3108960" y="3023006"/>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سُوقٌ </a:t>
            </a:r>
            <a:pPr rtl="1" algn="ctr" indent="0" marL="0">
              <a:buNone/>
            </a:pPr>
            <a:r>
              <a:rPr lang="ar-SA" altLang="en-US" sz="1950" b="1" dirty="0">
                <a:solidFill>
                  <a:srgbClr val="1D5FBF"/>
                </a:solidFill>
                <a:latin typeface="Amiri" pitchFamily="2" charset="-78"/>
                <a:cs typeface="Amiri" pitchFamily="2" charset="-78"/>
              </a:rPr>
              <a:t>مُزْدَحِمٌ وَصَاخِبٌ</a:t>
            </a:r>
            <a:endParaRPr lang="ar-SA" sz="1950" dirty="0"/>
          </a:p>
        </p:txBody>
      </p:sp>
      <p:sp>
        <p:nvSpPr>
          <p:cNvPr id="29" name="Text 26"/>
          <p:cNvSpPr txBox="1"/>
          <p:nvPr/>
        </p:nvSpPr>
        <p:spPr>
          <a:xfrm>
            <a:off x="3063240" y="3414004"/>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crowded, noisy market</a:t>
            </a:r>
            <a:endParaRPr lang="en-US" sz="950" dirty="0"/>
          </a:p>
        </p:txBody>
      </p:sp>
      <p:sp>
        <p:nvSpPr>
          <p:cNvPr id="30" name="Text 27"/>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مُزْدَحِمٌ وَصَاخِبٌ</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finished history</a:t>
            </a:r>
            <a:endParaRPr lang="en-US" sz="1100" dirty="0"/>
          </a:p>
        </p:txBody>
      </p:sp>
      <p:sp>
        <p:nvSpPr>
          <p:cNvPr id="35" name="Text 32"/>
          <p:cNvSpPr txBox="1"/>
          <p:nvPr/>
        </p:nvSpPr>
        <p:spPr>
          <a:xfrm>
            <a:off x="3108960" y="3760013"/>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ازْدَهَرَتِ</a:t>
            </a:r>
            <a:pPr rtl="1" algn="ctr" indent="0" marL="0">
              <a:buNone/>
            </a:pPr>
            <a:r>
              <a:rPr lang="ar-SA" altLang="en-US" sz="1950" b="1" dirty="0">
                <a:solidFill>
                  <a:srgbClr val="1B3B6F"/>
                </a:solidFill>
                <a:latin typeface="Amiri" pitchFamily="2" charset="-78"/>
                <a:cs typeface="Amiri" pitchFamily="2" charset="-78"/>
              </a:rPr>
              <a:t> المَدِينَةُ قَدِيمًا</a:t>
            </a:r>
            <a:endParaRPr lang="ar-SA" sz="1950" dirty="0"/>
          </a:p>
        </p:txBody>
      </p:sp>
      <p:sp>
        <p:nvSpPr>
          <p:cNvPr id="36" name="Text 33"/>
          <p:cNvSpPr txBox="1"/>
          <p:nvPr/>
        </p:nvSpPr>
        <p:spPr>
          <a:xfrm>
            <a:off x="3063240" y="4151010"/>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city flourished in the old days</a:t>
            </a:r>
            <a:endParaRPr lang="en-US" sz="950" dirty="0"/>
          </a:p>
        </p:txBody>
      </p:sp>
      <p:sp>
        <p:nvSpPr>
          <p:cNvPr id="37" name="Text 34"/>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ازْدَهَرَتْ</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now</a:t>
            </a:r>
            <a:endParaRPr lang="en-US" sz="1100" dirty="0"/>
          </a:p>
        </p:txBody>
      </p:sp>
      <p:sp>
        <p:nvSpPr>
          <p:cNvPr id="42" name="Text 39"/>
          <p:cNvSpPr txBox="1"/>
          <p:nvPr/>
        </p:nvSpPr>
        <p:spPr>
          <a:xfrm>
            <a:off x="3108960" y="4497019"/>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تَزْدَهِرُ</a:t>
            </a:r>
            <a:pPr rtl="1" algn="ctr" indent="0" marL="0">
              <a:buNone/>
            </a:pPr>
            <a:r>
              <a:rPr lang="ar-SA" altLang="en-US" sz="1950" b="1" dirty="0">
                <a:solidFill>
                  <a:srgbClr val="1B3B6F"/>
                </a:solidFill>
                <a:latin typeface="Amiri" pitchFamily="2" charset="-78"/>
                <a:cs typeface="Amiri" pitchFamily="2" charset="-78"/>
              </a:rPr>
              <a:t> المَدِينَةُ اليَوْمَ</a:t>
            </a:r>
            <a:endParaRPr lang="ar-SA" sz="1950" dirty="0"/>
          </a:p>
        </p:txBody>
      </p:sp>
      <p:sp>
        <p:nvSpPr>
          <p:cNvPr id="43" name="Text 40"/>
          <p:cNvSpPr txBox="1"/>
          <p:nvPr/>
        </p:nvSpPr>
        <p:spPr>
          <a:xfrm>
            <a:off x="3063240" y="4888017"/>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city flourishes today</a:t>
            </a:r>
            <a:endParaRPr lang="en-US" sz="950" dirty="0"/>
          </a:p>
        </p:txBody>
      </p:sp>
      <p:sp>
        <p:nvSpPr>
          <p:cNvPr id="44" name="Text 41"/>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تَزْدَهِرُ</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stating a point</a:t>
            </a:r>
            <a:endParaRPr lang="en-US" sz="1100" dirty="0"/>
          </a:p>
        </p:txBody>
      </p:sp>
      <p:sp>
        <p:nvSpPr>
          <p:cNvPr id="47" name="Text 44"/>
          <p:cNvSpPr txBox="1"/>
          <p:nvPr/>
        </p:nvSpPr>
        <p:spPr>
          <a:xfrm>
            <a:off x="3108960" y="5234026"/>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يُشِيرُ</a:t>
            </a:r>
            <a:pPr rtl="1" algn="ctr" indent="0" marL="0">
              <a:buNone/>
            </a:pPr>
            <a:r>
              <a:rPr lang="ar-SA" altLang="en-US" sz="1950" b="1" dirty="0">
                <a:solidFill>
                  <a:srgbClr val="1B3B6F"/>
                </a:solidFill>
                <a:latin typeface="Amiri" pitchFamily="2" charset="-78"/>
                <a:cs typeface="Amiri" pitchFamily="2" charset="-78"/>
              </a:rPr>
              <a:t> الكَاتِبُ </a:t>
            </a:r>
            <a:pPr rtl="1" algn="ctr" indent="0" marL="0">
              <a:buNone/>
            </a:pPr>
            <a:r>
              <a:rPr lang="ar-SA" altLang="en-US" sz="1950" b="1" dirty="0">
                <a:solidFill>
                  <a:srgbClr val="0E7C86"/>
                </a:solidFill>
                <a:latin typeface="Amiri" pitchFamily="2" charset="-78"/>
                <a:cs typeface="Amiri" pitchFamily="2" charset="-78"/>
              </a:rPr>
              <a:t>إِلَى</a:t>
            </a:r>
            <a:pPr rtl="1" algn="ctr" indent="0" marL="0">
              <a:buNone/>
            </a:pPr>
            <a:r>
              <a:rPr lang="ar-SA" altLang="en-US" sz="1950" b="1" dirty="0">
                <a:solidFill>
                  <a:srgbClr val="1B3B6F"/>
                </a:solidFill>
                <a:latin typeface="Amiri" pitchFamily="2" charset="-78"/>
                <a:cs typeface="Amiri" pitchFamily="2" charset="-78"/>
              </a:rPr>
              <a:t> أَهَمِّيَّةِ التُّرَاثِ</a:t>
            </a:r>
            <a:endParaRPr lang="ar-SA" sz="1950" dirty="0"/>
          </a:p>
        </p:txBody>
      </p:sp>
      <p:sp>
        <p:nvSpPr>
          <p:cNvPr id="48" name="Text 45"/>
          <p:cNvSpPr txBox="1"/>
          <p:nvPr/>
        </p:nvSpPr>
        <p:spPr>
          <a:xfrm>
            <a:off x="3063240" y="5625023"/>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refers to the importance of heritage</a:t>
            </a:r>
            <a:endParaRPr lang="en-US" sz="950" dirty="0"/>
          </a:p>
        </p:txBody>
      </p:sp>
      <p:sp>
        <p:nvSpPr>
          <p:cNvPr id="49" name="Text 46"/>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يُشِيرُ إِلَى</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fact is the same; the attitude is in the adjective. Quote it.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TONE, OMISSION AND TWO TEXTS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whole text, and what is missing</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النَّبْرَةُ وَمَا أُغْفِلَ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TONE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نَبْرَةٌ احْتِفَالِيَّةٌ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cs typeface="Amiri" pitchFamily="2" charset="-78"/>
              </a:rPr>
              <a:t>نَبْرَةُ الكَاتِبِ احْتِفَالِيَّةٌ.</a:t>
            </a:r>
            <a:endParaRPr lang="ar-SA" sz="31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writer’s tone is celebratory.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Many choices, not one.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OMISSION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مَا أُغْفِلَ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لَا يَذْكُرُ النَّصُّ الأَحْيَاءَ الحَدِيثَةَ.</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text does not mention the modern districts.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is missing?</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TWO TEXTS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يَتَّفِقُ النَّصَّانِ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يَتَّفِقُ النَّصَّانِ عَلَى أَهَمِّيَّةِ التُّرَاثِ.</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two texts agree on the importance of heritage.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Check each text.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t>
            </a:r>
            <a:pPr algn="l" indent="0" marL="0">
              <a:buNone/>
            </a:pPr>
            <a:r>
              <a:rPr lang="ar-SA" altLang="en-US" sz="1500" dirty="0">
                <a:solidFill>
                  <a:srgbClr val="1F2A37"/>
                </a:solidFill>
                <a:latin typeface="Amiri" pitchFamily="2" charset="-78"/>
                <a:cs typeface="Amiri" pitchFamily="2" charset="-78"/>
              </a:rPr>
              <a:t>يُشِيرُ</a:t>
            </a:r>
            <a:pPr algn="l" indent="0" marL="0">
              <a:buNone/>
            </a:pPr>
            <a:r>
              <a:rPr lang="en-US" sz="1150" dirty="0">
                <a:solidFill>
                  <a:srgbClr val="1F2A37"/>
                </a:solidFill>
                <a:latin typeface="Calibri" pitchFamily="34" charset="0"/>
                <a:cs typeface="Amiri" pitchFamily="2" charset="-78"/>
              </a:rPr>
              <a:t> is fixed with </a:t>
            </a:r>
            <a:pPr algn="l" indent="0" marL="0">
              <a:buNone/>
            </a:pPr>
            <a:r>
              <a:rPr lang="ar-SA" altLang="en-US" sz="1500" dirty="0">
                <a:solidFill>
                  <a:srgbClr val="1F2A37"/>
                </a:solidFill>
                <a:latin typeface="Amiri" pitchFamily="2" charset="-78"/>
                <a:cs typeface="Amiri" pitchFamily="2" charset="-78"/>
              </a:rPr>
              <a:t>إِلَى</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يُشِيرُ الكَاتِبُ إِلَى أَهَمِّيَّةِ التُّرَاثِ</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يُشِيرُ الكَاتِبُ عَنْ أَهَمِّيَّةِ التُّرَاثِ</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for attitude and implication</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لِاسْتِخْرَاجِ المَوْقِفِ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Word choice signals attitude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same fact + different adjective = different attitude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سُوقٌ نَابِضٌ بِالحَيَاةِ   ·   سُوقٌ مُزْدَحِمٌ وَصَاخِبٌ</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Tense signals time and completion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 completed · present = ongoing</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ازْدَهَرَتِ المَدِينَةُ قَدِيمًا   ·   تَزْدَهِرُ المَدِينَةُ اليَوْمَ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Naming the tone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نَبْرَةٌ احْتِفَالِيَّةٌ / نَقْدِيَّةٌ / مُحَايِدَةٌ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نَبْرَةُ الكَاتِبِ احْتِفَالِيَّةٌ   ·   نَبْرَةُ الكَاتِبِ مُحَايِدَةٌ وَمَوْضُوعِيَّةٌ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Comparing two texts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Text A / Text B / both</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يَتَّفِقُ النَّصَّانِ عَلَى أَهَمِّيَّةِ التُّرَاثِ   ·   يَنْفَرِدُ النَّصُّ الأَوَّلُ بِذِكْرِ المَطَاعِمِ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market </a:t>
            </a:r>
            <a:pPr algn="l" indent="0" marL="0">
              <a:buNone/>
            </a:pPr>
            <a:r>
              <a:rPr lang="ar-SA" altLang="en-US" sz="1650" b="1" dirty="0">
                <a:solidFill>
                  <a:srgbClr val="1B3B6F"/>
                </a:solidFill>
                <a:latin typeface="Amiri" pitchFamily="2" charset="-78"/>
                <a:cs typeface="Amiri" pitchFamily="2" charset="-78"/>
              </a:rPr>
              <a:t>نَابِضٌ بِالحَيَاةِ</a:t>
            </a:r>
            <a:pPr algn="l" indent="0" marL="0">
              <a:buNone/>
            </a:pPr>
            <a:r>
              <a:rPr lang="en-US" sz="1250" b="1" dirty="0">
                <a:solidFill>
                  <a:srgbClr val="1B3B6F"/>
                </a:solidFill>
                <a:latin typeface="Calibri" pitchFamily="34" charset="0"/>
                <a:cs typeface="Amiri" pitchFamily="2" charset="-78"/>
              </a:rPr>
              <a:t>. What does this signal?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Criticism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Neutrality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Admiration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the same market </a:t>
            </a:r>
            <a:pPr algn="l" indent="0" marL="0">
              <a:buNone/>
            </a:pPr>
            <a:r>
              <a:rPr lang="ar-SA" altLang="en-US" sz="1650" b="1" dirty="0">
                <a:solidFill>
                  <a:srgbClr val="1B3B6F"/>
                </a:solidFill>
                <a:latin typeface="Amiri" pitchFamily="2" charset="-78"/>
                <a:cs typeface="Amiri" pitchFamily="2" charset="-78"/>
              </a:rPr>
              <a:t>مُزْدَحِمٌ وَصَاخِبٌ</a:t>
            </a:r>
            <a:pPr algn="l" indent="0" marL="0">
              <a:buNone/>
            </a:pPr>
            <a:r>
              <a:rPr lang="en-US" sz="1250" b="1" dirty="0">
                <a:solidFill>
                  <a:srgbClr val="1B3B6F"/>
                </a:solidFill>
                <a:latin typeface="Calibri" pitchFamily="34" charset="0"/>
                <a:cs typeface="Amiri" pitchFamily="2" charset="-78"/>
              </a:rPr>
              <a:t>. What does this signal?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reserved attitude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Enthusiasm</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Pure objectivity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ازْدَهَرَتِ المَدِينَةُ قَدِيمًا</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current situation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completed historical period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تَزْدَهِرُ المَدِينَةُ اليَوْمَ</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ongoing current reality</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finished period</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hope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market </a:t>
            </a:r>
            <a:pPr algn="l" indent="0" marL="0">
              <a:buNone/>
            </a:pPr>
            <a:r>
              <a:rPr lang="ar-SA" altLang="en-US" sz="1650" b="1" dirty="0">
                <a:solidFill>
                  <a:srgbClr val="1B3B6F"/>
                </a:solidFill>
                <a:latin typeface="Amiri" pitchFamily="2" charset="-78"/>
                <a:cs typeface="Amiri" pitchFamily="2" charset="-78"/>
              </a:rPr>
              <a:t>نَابِضٌ بِالحَيَاةِ</a:t>
            </a:r>
            <a:pPr algn="l" indent="0" marL="0">
              <a:buNone/>
            </a:pPr>
            <a:r>
              <a:rPr lang="en-US" sz="1250" b="1" dirty="0">
                <a:solidFill>
                  <a:srgbClr val="1B3B6F"/>
                </a:solidFill>
                <a:latin typeface="Calibri" pitchFamily="34" charset="0"/>
                <a:cs typeface="Amiri" pitchFamily="2" charset="-78"/>
              </a:rPr>
              <a:t>. What does this signal?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Criticism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Neutrality</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Admiration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carries clear positive colouring.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the same market </a:t>
            </a:r>
            <a:pPr algn="l" indent="0" marL="0">
              <a:buNone/>
            </a:pPr>
            <a:r>
              <a:rPr lang="ar-SA" altLang="en-US" sz="1650" b="1" dirty="0">
                <a:solidFill>
                  <a:srgbClr val="1B3B6F"/>
                </a:solidFill>
                <a:latin typeface="Amiri" pitchFamily="2" charset="-78"/>
                <a:cs typeface="Amiri" pitchFamily="2" charset="-78"/>
              </a:rPr>
              <a:t>مُزْدَحِمٌ وَصَاخِبٌ</a:t>
            </a:r>
            <a:pPr algn="l" indent="0" marL="0">
              <a:buNone/>
            </a:pPr>
            <a:r>
              <a:rPr lang="en-US" sz="1250" b="1" dirty="0">
                <a:solidFill>
                  <a:srgbClr val="1B3B6F"/>
                </a:solidFill>
                <a:latin typeface="Calibri" pitchFamily="34" charset="0"/>
                <a:cs typeface="Amiri" pitchFamily="2" charset="-78"/>
              </a:rPr>
              <a:t>. What does this signal?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reserved attitude</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Enthusiasm</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Pure objectivity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Crowded and noisy carry a more negative colouring.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ازْدَهَرَتِ المَدِينَةُ قَدِيمًا</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current situation</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completed historical period</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tense presents it as history.</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تَزْدَهِرُ المَدِينَةُ اليَوْمَ</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ongoing current reality</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finished period</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hope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tense presents it as true now.</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Watch me read a travel article for attitude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حِرَفٌ </a:t>
            </a:r>
            <a:pPr rtl="1" algn="ctr" indent="0" marL="0">
              <a:buNone/>
            </a:pPr>
            <a:r>
              <a:rPr lang="ar-SA" altLang="en-US" sz="2800" b="1" dirty="0">
                <a:solidFill>
                  <a:srgbClr val="0E7C86"/>
                </a:solidFill>
                <a:latin typeface="Amiri" pitchFamily="2" charset="-78"/>
                <a:cs typeface="Amiri" pitchFamily="2" charset="-78"/>
              </a:rPr>
              <a:t>نَابِضَةٌ بِالحَيَاةِ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Admiring.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Tense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D6336C"/>
                </a:solidFill>
                <a:latin typeface="Amiri" pitchFamily="2" charset="-78"/>
                <a:cs typeface="Amiri" pitchFamily="2" charset="-78"/>
              </a:rPr>
              <a:t>ازْدَهَرَتْ</a:t>
            </a:r>
            <a:pPr rtl="1" algn="ctr" indent="0" marL="0">
              <a:lnSpc>
                <a:spcPct val="120000"/>
              </a:lnSpc>
              <a:buNone/>
            </a:pPr>
            <a:r>
              <a:rPr lang="ar-SA" altLang="en-US" sz="1850" b="1" dirty="0">
                <a:solidFill>
                  <a:srgbClr val="1B3B6F"/>
                </a:solidFill>
                <a:latin typeface="Amiri" pitchFamily="2" charset="-78"/>
                <a:cs typeface="Amiri" pitchFamily="2" charset="-78"/>
              </a:rPr>
              <a:t> قَدِيمًا · </a:t>
            </a:r>
            <a:pPr rtl="1" algn="ctr" indent="0" marL="0">
              <a:lnSpc>
                <a:spcPct val="120000"/>
              </a:lnSpc>
              <a:buNone/>
            </a:pPr>
            <a:r>
              <a:rPr lang="ar-SA" altLang="en-US" sz="1850" b="1" dirty="0">
                <a:solidFill>
                  <a:srgbClr val="D6336C"/>
                </a:solidFill>
                <a:latin typeface="Amiri" pitchFamily="2" charset="-78"/>
                <a:cs typeface="Amiri" pitchFamily="2" charset="-78"/>
              </a:rPr>
              <a:t>تَزْدَهِرُ</a:t>
            </a:r>
            <a:pPr rtl="1" algn="ctr" indent="0" marL="0">
              <a:lnSpc>
                <a:spcPct val="120000"/>
              </a:lnSpc>
              <a:buNone/>
            </a:pPr>
            <a:r>
              <a:rPr lang="ar-SA" altLang="en-US" sz="1850" b="1" dirty="0">
                <a:solidFill>
                  <a:srgbClr val="1B3B6F"/>
                </a:solidFill>
                <a:latin typeface="Amiri" pitchFamily="2" charset="-78"/>
                <a:cs typeface="Amiri" pitchFamily="2" charset="-78"/>
              </a:rPr>
              <a:t> اليَوْمَ</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and now.</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Omission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لَا يَذْكُرُ</a:t>
            </a:r>
            <a:pPr rtl="1" algn="ctr" indent="0" marL="0">
              <a:buNone/>
            </a:pPr>
            <a:r>
              <a:rPr lang="ar-SA" altLang="en-US" sz="2100" b="1" dirty="0">
                <a:solidFill>
                  <a:srgbClr val="1B3B6F"/>
                </a:solidFill>
                <a:latin typeface="Amiri" pitchFamily="2" charset="-78"/>
                <a:cs typeface="Amiri" pitchFamily="2" charset="-78"/>
              </a:rPr>
              <a:t> الأَحْيَاءَ الحَدِيثَةَ</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choice.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نَبْرَتُهُ </a:t>
            </a:r>
            <a:pPr rtl="1" algn="ctr" indent="0" marL="0">
              <a:buNone/>
            </a:pPr>
            <a:r>
              <a:rPr lang="ar-SA" altLang="en-US" sz="2800" b="1" dirty="0">
                <a:solidFill>
                  <a:srgbClr val="0E7C86"/>
                </a:solidFill>
                <a:latin typeface="Amiri" pitchFamily="2" charset="-78"/>
                <a:cs typeface="Amiri" pitchFamily="2" charset="-78"/>
              </a:rPr>
              <a:t>احْتِفَالِيَّةٌ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Judge the whole.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ATTITUDE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OMISSION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نَبْرَةُ الكَاتِبِ </a:t>
            </a:r>
            <a:pPr rtl="1" algn="r" indent="0" marL="0">
              <a:lnSpc>
                <a:spcPct val="120000"/>
              </a:lnSpc>
              <a:buNone/>
            </a:pPr>
            <a:r>
              <a:rPr lang="ar-SA" altLang="en-US" sz="1400" b="1" dirty="0">
                <a:solidFill>
                  <a:srgbClr val="0E7C86"/>
                </a:solidFill>
                <a:latin typeface="Amiri" pitchFamily="2" charset="-78"/>
                <a:cs typeface="Amiri" pitchFamily="2" charset="-78"/>
              </a:rPr>
              <a:t>احْتِفَالِيَّةٌ</a:t>
            </a:r>
            <a:pPr rtl="1" algn="r" indent="0" marL="0">
              <a:lnSpc>
                <a:spcPct val="120000"/>
              </a:lnSpc>
              <a:buNone/>
            </a:pPr>
            <a:r>
              <a:rPr lang="ar-SA" altLang="en-US" sz="1400" b="1" dirty="0">
                <a:solidFill>
                  <a:srgbClr val="1B3B6F"/>
                </a:solidFill>
                <a:latin typeface="Amiri" pitchFamily="2" charset="-78"/>
                <a:cs typeface="Amiri" pitchFamily="2" charset="-78"/>
              </a:rPr>
              <a:t>، وَالدَّلِيلُ قَوْلُهُ: حِرَفٌ تَقْلِيدِيَّةٌ </a:t>
            </a:r>
            <a:pPr rtl="1" algn="r" indent="0" marL="0">
              <a:lnSpc>
                <a:spcPct val="120000"/>
              </a:lnSpc>
              <a:buNone/>
            </a:pPr>
            <a:r>
              <a:rPr lang="ar-SA" altLang="en-US" sz="1400" b="1" dirty="0">
                <a:solidFill>
                  <a:srgbClr val="0E7C86"/>
                </a:solidFill>
                <a:latin typeface="Amiri" pitchFamily="2" charset="-78"/>
                <a:cs typeface="Amiri" pitchFamily="2" charset="-78"/>
              </a:rPr>
              <a:t>نَابِضَةٌ بِالحَيَاةِ</a:t>
            </a:r>
            <a:pPr rtl="1" algn="r" indent="0" marL="0">
              <a:lnSpc>
                <a:spcPct val="120000"/>
              </a:lnSpc>
              <a:buNone/>
            </a:pPr>
            <a:r>
              <a:rPr lang="ar-SA" altLang="en-US" sz="1400" b="1" dirty="0">
                <a:solidFill>
                  <a:srgbClr val="1B3B6F"/>
                </a:solidFill>
                <a:latin typeface="Amiri" pitchFamily="2" charset="-78"/>
                <a:cs typeface="Amiri" pitchFamily="2" charset="-78"/>
              </a:rPr>
              <a:t>. وَاسْتَعْمَلَ المَاضِيَ فِي </a:t>
            </a:r>
            <a:pPr rtl="1" algn="r" indent="0" marL="0">
              <a:lnSpc>
                <a:spcPct val="120000"/>
              </a:lnSpc>
              <a:buNone/>
            </a:pPr>
            <a:r>
              <a:rPr lang="ar-SA" altLang="en-US" sz="1400" b="1" dirty="0">
                <a:solidFill>
                  <a:srgbClr val="D6336C"/>
                </a:solidFill>
                <a:latin typeface="Amiri" pitchFamily="2" charset="-78"/>
                <a:cs typeface="Amiri" pitchFamily="2" charset="-78"/>
              </a:rPr>
              <a:t>ازْدَهَرَتْ قَدِيمًا</a:t>
            </a:r>
            <a:pPr rtl="1" algn="r" indent="0" marL="0">
              <a:lnSpc>
                <a:spcPct val="120000"/>
              </a:lnSpc>
              <a:buNone/>
            </a:pPr>
            <a:r>
              <a:rPr lang="ar-SA" altLang="en-US" sz="1400" b="1" dirty="0">
                <a:solidFill>
                  <a:srgbClr val="1B3B6F"/>
                </a:solidFill>
                <a:latin typeface="Amiri" pitchFamily="2" charset="-78"/>
                <a:cs typeface="Amiri" pitchFamily="2" charset="-78"/>
              </a:rPr>
              <a:t> لِيَصِفَ فَتْرَةً مُنْتَهِيَةً. وَلٰكِنَّهُ </a:t>
            </a:r>
            <a:pPr rtl="1" algn="r" indent="0" marL="0">
              <a:lnSpc>
                <a:spcPct val="120000"/>
              </a:lnSpc>
              <a:buNone/>
            </a:pPr>
            <a:r>
              <a:rPr lang="ar-SA" altLang="en-US" sz="1400" b="1" dirty="0">
                <a:solidFill>
                  <a:srgbClr val="1D5FBF"/>
                </a:solidFill>
                <a:latin typeface="Amiri" pitchFamily="2" charset="-78"/>
                <a:cs typeface="Amiri" pitchFamily="2" charset="-78"/>
              </a:rPr>
              <a:t>لَمْ يَذْكُرِ</a:t>
            </a:r>
            <a:pPr rtl="1" algn="r" indent="0" marL="0">
              <a:lnSpc>
                <a:spcPct val="120000"/>
              </a:lnSpc>
              <a:buNone/>
            </a:pPr>
            <a:r>
              <a:rPr lang="ar-SA" altLang="en-US" sz="1400" b="1" dirty="0">
                <a:solidFill>
                  <a:srgbClr val="1B3B6F"/>
                </a:solidFill>
                <a:latin typeface="Amiri" pitchFamily="2" charset="-78"/>
                <a:cs typeface="Amiri" pitchFamily="2" charset="-78"/>
              </a:rPr>
              <a:t> الأَحْيَاءَ الحَدِيثَةَ، وَهٰذَا اخْتِيَارٌ لَهُ دَلَالَتُهُ.</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writer’s tone is celebratory, and the evidence is the phrase “traditional crafts full of life”. He used the past in “flourished in the old days” to describe a finished period. But he did not mention the modern districts, and that choice is significant.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سُوقٌ نَابِضٌ بِالحَيَاةِ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market full of life (admiring)</a:t>
            </a:r>
            <a:endParaRPr lang="en-US" sz="1250" dirty="0"/>
          </a:p>
          <a:p>
            <a:pPr indent="0" marL="0">
              <a:buNone/>
            </a:pPr>
            <a:r>
              <a:rPr lang="en-US" sz="1050" i="1" dirty="0">
                <a:solidFill>
                  <a:srgbClr val="8A6D1E"/>
                </a:solidFill>
                <a:latin typeface="Calibri" pitchFamily="34" charset="0"/>
                <a:cs typeface="Amiri" pitchFamily="2" charset="-78"/>
              </a:rPr>
              <a:t>Admiring word choice signals the attitude.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ازْدَهَرَتِ المَدِينَةُ قَدِيمًا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city flourished long ago (finished history)</a:t>
            </a:r>
            <a:endParaRPr lang="en-US" sz="1250" dirty="0"/>
          </a:p>
          <a:p>
            <a:pPr indent="0" marL="0">
              <a:buNone/>
            </a:pPr>
            <a:r>
              <a:rPr lang="en-US" sz="1050" i="1" dirty="0">
                <a:solidFill>
                  <a:srgbClr val="8A6D1E"/>
                </a:solidFill>
                <a:latin typeface="Calibri" pitchFamily="34" charset="0"/>
                <a:cs typeface="Amiri" pitchFamily="2" charset="-78"/>
              </a:rPr>
              <a:t>The past presents it as completed history.</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يُشِيرُ الكَاتِبُ إِلَى</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writer refers to …</a:t>
            </a:r>
            <a:endParaRPr lang="en-US" sz="1250" dirty="0"/>
          </a:p>
          <a:p>
            <a:pPr indent="0" marL="0">
              <a:buNone/>
            </a:pPr>
            <a:r>
              <a:rPr lang="en-US" sz="1050" i="1" dirty="0">
                <a:solidFill>
                  <a:srgbClr val="8A6D1E"/>
                </a:solidFill>
                <a:latin typeface="Calibri" pitchFamily="34" charset="0"/>
                <a:cs typeface="Amiri" pitchFamily="2" charset="-78"/>
              </a:rPr>
              <a:t>يُشِيرُ is fixed with إِلَى.</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نَابِضٌ بِالحَيَاةِ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يَمْدَحُ الكَاتِبُ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مُتَحَمِّسٌ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مُزْدَحِمٌ وَصَاخِبٌ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تَحَفُّظٌ</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مُتَحَفِّظٌ</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يَذْكُرُ الأَرْقَامَ فَقَطْ</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مَوْضُوعِيٌّ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حِيَادٌ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Celebratory tone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Reserved tone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Neutral tone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Celebratory tone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نَابِضٌ بِالحَيَاةِ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يَمْدَحُ الكَاتِبُ</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مُتَحَمِّسٌ</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Reserved tone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مُزْدَحِمٌ وَصَاخِبٌ</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تَحَفُّظٌ</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مُتَحَفِّظٌ</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Neutral tone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يَذْكُرُ الأَرْقَامَ فَقَطْ</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مَوْضُوعِيٌّ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حِيَادٌ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travel article describes only the old city and never the modern one. What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Proof the modern city does not exist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error of grammar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Selectivity worth noticing</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يُشِيرُ الكَاتِبُ ___ أَهَمِّيَّةِ التُّرَاثِ.</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the strongest evidence for a writer's attitude?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the text felt positive.</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Quoting the exact adjective the writer used.</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Describing your own opinion of the place.</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cross-text task, what should you check first?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longer text</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opening line of each</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statement against each text separately</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travel article describes only the old city and never the modern one. What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Proof the modern city does not exist</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error of grammar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Selectivity worth noticing</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What is omitted is part of the writer's perspective.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يُشِيرُ الكَاتِبُ ___ أَهَمِّيَّةِ التُّرَاثِ.</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the strongest evidence for a writer's attitude?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Saying the text felt positive.</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Quoting the exact adjective the writer used.</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Describing your own opinion of the place.</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Evidence must be the writer's own words.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cross-text task, what should you check first?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longer text</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opening line of each</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statement against each text separately</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Check both texts independently before deciding.</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يُشِيرُ الكَاتِبُ عَنْ أَهَمِّيَّةِ التُّرَاثِ.</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yushīru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نَبْرَةُ الكَاتِبِ احْتِفَالِيٌّ.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nabra is m. or 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يُلَمِّحُ الكَاتِبُ عَلَى المُشْكِلَاتِ.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yulammiḥu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يُشِيرُ الكَاتِبُ عَنْ أَهَمِّيَّةِ التُّرَاثِ.</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يُشِيرُ الكَاتِبُ إِلَى أَهَمِّيَّةِ التُّرَاثِ.</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yushīru requires ilā.</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نَبْرَةُ الكَاتِبِ احْتِفَالِيٌّ.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نَبْرَةُ الكَاتِبِ احْتِفَالِيَّةٌ.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nabra is feminine, so its adjective is too.</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يُلَمِّحُ الكَاتِبُ عَلَى المُشْكِلَاتِ.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يُلَمِّحُ الكَاتِبُ إِلَى المُشْكِلَاتِ.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yulammiḥu, like yushīru, takes ilā.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two travellers, one city</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first speaker describe the market?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Full of life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Crowded and noisy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second speaker describe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Full of life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Disappointing in every way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little crowded and noisy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second speaker find interesting?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restaurants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transport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historic buildings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second speaker omit the restaurants?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had not tried them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disliked them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ran out of time to speak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two tones described?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celebratory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celebratory, the second closer to neutral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critical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Two speakers — same market.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المُتَحَدِّثُ الأَوَّلُ: زُرْتُ المَدِينَةَ القَدِيمَةَ وَأَعْجَبَنِي سُوقُهَا النَّابِضُ بِالحَيَاةِ. كُلُّ زَاوِيَةٍ فِيهِ تَحْكِي قِصَّةً، وَقَدِ اسْتَقْبَلَنَا النَّاسُ بِكَرَمٍ كَبِيرٍ.</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speaker: I visited the old city, and I loved its market, full of life. Every corner tells a story, and the people welcomed us very generously.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المُتَحَدِّثُ الثَّانِي: أَنَا زُرْتُ السُّوقَ نَفْسَهُ، وَوَجَدْتُهُ مُزْدَحِمًا وَصَاخِبًا قَلِيلًا، وَلٰكِنَّ المَبَانِيَ التَّارِيخِيَّةَ كَانَتْ مُثِيرَةً لِلاهْتِمَامِ.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 speaker: I visited the same market and found it a little crowded and noisy, but the historic buildings were interesting.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لَمْ أَذْكُرِ المَطَاعِمَ لِأَنَّنِي لَمْ أُجَرِّبْهَا.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did not mention the restaurants because I did not try them.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يُشَارُ إِلَى أَنَّ النَّصَّيْنِ يَصِفَانِ المَكَانَ نَفْسَهُ،</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noted that the two texts describe the same place,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 نَبْرَةَ الأَوَّلِ احْتِفَالِيَّةٌ، بَيْنَمَا نَبْرَةُ الثَّانِي أَقْرَبُ إِلَى الحِيَادِ.</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the first one’s tone is celebratory, whereas the second one’s is closer to neutral.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first speaker describe the market?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Full of life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Crowded and noisy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Empty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سُوقُهَا النَّابِضُ بِالحَيَاةِ.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second speaker describe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Full of life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Disappointing in every way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little crowded and noisy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وَجَدْتُهُ مُزْدَحِمًا وَصَاخِبًا قَلِيلًا.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second speaker find interesting?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restaurants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transport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historic buildings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وَلٰكِنَّ المَبَانِيَ التَّارِيخِيَّةَ كَانَتْ مُثِيرَةً لِلاهْتِمَامِ.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second speaker omit the restaurants?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had not tried them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disliked them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ran out of time to speak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لَمْ أَذْكُرِ المَطَاعِمَ لِأَنَّنِي لَمْ أُجَرِّبْهَا.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two tones described?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celebratory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first celebratory, the second closer to neutral</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critical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نَبْرَةَ الأَوَّلِ احْتِفَالِيَّةٌ، بَيْنَمَا نَبْرَةُ الثَّانِي أَقْرَبُ إِلَى الحِيَادِ.</a:t>
            </a:r>
            <a:endParaRPr lang="ar-SA" sz="12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Two speakers — same market.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Reading: a travel article and what it implies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تَقَعُ هٰذِهِ المَدِينَةُ عَلَى السَّاحِلِ، وَقَدِ ازْدَهَرَتْ قَدِيمًا بِفَضْلِ التِّجَارَةِ. وَمَا زَالَتْ أَسْوَاقُهَا القَدِيمَةُ تَزْدَهِرُ اليَوْمَ، وَفِيهَا حِرَفٌ تَقْلِيدِيَّةٌ نَابِضَةٌ بِالحَيَاةِ. يَسْتَقْبِلُ أَهْلُهَا الزَّائِرِينَ بِكَرَمٍ، وَتُقَامُ فِيهَا مَهْرَجَانَاتٌ تُنَوِّعُ الحَيَاةَ الثَّقَافِيَّةَ. وَيُشِيرُ الكَاتِبُ إِلَى أَنَّ التُّرَاثَ هُنَا مَحْفُوظٌ بِعِنَايَةٍ. عَلَى الرَّغْمِ مِنْ ذٰلِكَ لَا يَذْكُرُ النَّصُّ الأَحْيَاءَ الحَدِيثَةَ وَلَا المُشْكِلَاتِ اليَوْمِيَّةَ، وَهٰذَا اخْتِيَارٌ لَهُ دَلَالَتُهُ. فَنَبْرَةُ الكَاتِبِ احْتِفَالِيَّةٌ أَكْثَرَ مِنْهَا مُحَايِدَةً، وَالقَارِئُ الجَيِّدُ يُلَاحِظُ مَا ذُكِرَ وَمَا أُغْفِلَ مَعًا.</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السَّاحِلِ</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coast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بِفَضْلِ التِّجَارَةِ</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thanks to trade</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 زَالَتْ</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still</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حِرَفٌ تَقْلِيدِيَّةٌ</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traditional crafts</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بِكَرَمٍ</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generously</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تُنَوِّعُ</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 variety to</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مَحْفُوظٌ بِعِنَايَةٍ</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carefully preserved</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الأَحْيَاءَ الحَدِيثَةَ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modern districts</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المُشْكِلَاتِ اليَوْمِيَّةَ</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everyday problems</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دَلَالَتُهُ</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significance</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Where is the city located?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mountains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coast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desert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What does the tense in </a:t>
            </a:r>
            <a:pPr algn="l" indent="0" marL="0">
              <a:buNone/>
            </a:pPr>
            <a:r>
              <a:rPr lang="ar-SA" altLang="en-US" sz="1650" b="1" dirty="0">
                <a:solidFill>
                  <a:srgbClr val="1B3B6F"/>
                </a:solidFill>
                <a:latin typeface="Amiri" pitchFamily="2" charset="-78"/>
                <a:cs typeface="Amiri" pitchFamily="2" charset="-78"/>
              </a:rPr>
              <a:t>ازْدَهَرَتْ قَدِيمًا</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current situation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hope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completed historical period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What does </a:t>
            </a:r>
            <a:pPr algn="l" indent="0" marL="0">
              <a:buNone/>
            </a:pPr>
            <a:r>
              <a:rPr lang="ar-SA" altLang="en-US" sz="1650" b="1" dirty="0">
                <a:solidFill>
                  <a:srgbClr val="1B3B6F"/>
                </a:solidFill>
                <a:latin typeface="Amiri" pitchFamily="2" charset="-78"/>
                <a:cs typeface="Amiri" pitchFamily="2" charset="-78"/>
              </a:rPr>
              <a:t>تَزْدَهِرُ اليَوْمَ</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ongoing present reality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Something finished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Something planned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What is the writer's tone?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Strongly critical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celebratory than neutral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Entirely objective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What does the text leave out?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districts and everyday problems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markets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festivals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Where is the city located?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mountains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coast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desert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تَقَعُ هٰذِهِ المَدِينَةُ عَلَى السَّاحِلِ.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What does the tense in </a:t>
            </a:r>
            <a:pPr algn="l" indent="0" marL="0">
              <a:buNone/>
            </a:pPr>
            <a:r>
              <a:rPr lang="ar-SA" altLang="en-US" sz="1650" b="1" dirty="0">
                <a:solidFill>
                  <a:srgbClr val="1B3B6F"/>
                </a:solidFill>
                <a:latin typeface="Amiri" pitchFamily="2" charset="-78"/>
                <a:cs typeface="Amiri" pitchFamily="2" charset="-78"/>
              </a:rPr>
              <a:t>ازْدَهَرَتْ قَدِيمًا</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current situation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hope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completed historical period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tense presents the prosperity as history.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What does </a:t>
            </a:r>
            <a:pPr algn="l" indent="0" marL="0">
              <a:buNone/>
            </a:pPr>
            <a:r>
              <a:rPr lang="ar-SA" altLang="en-US" sz="1650" b="1" dirty="0">
                <a:solidFill>
                  <a:srgbClr val="1B3B6F"/>
                </a:solidFill>
                <a:latin typeface="Amiri" pitchFamily="2" charset="-78"/>
                <a:cs typeface="Amiri" pitchFamily="2" charset="-78"/>
              </a:rPr>
              <a:t>تَزْدَهِرُ اليَوْمَ</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ongoing present reality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Something finished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Something planned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tense presents it as true now.</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What is the writer's tone?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Strongly critical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 celebratory than neutral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Entirely objective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فَنَبْرَةُ الكَاتِبِ احْتِفَالِيَّةٌ أَكْثَرَ مِنْهَا مُحَايِدَةً.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What does the text leave out?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Modern districts and everyday problems</a:t>
            </a:r>
            <a:endParaRPr lang="en-US"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old markets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festivals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لَا يَذْكُرُ النَّصُّ الأَحْيَاءَ الحَدِيثَةَ وَلَا المُشْكِلَاتِ اليَوْمِيَّةَ.</a:t>
            </a:r>
            <a:endParaRPr lang="ar-SA" sz="13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explain a writer's perspective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نَبْرَةُ الكَاتِبِ فِي هٰذَا النَّصِّ؟ وَمَا الدَّلِيلُ؟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ذَكَرَ النَّصُّ؟ وَمَاذَا أُغْفِلَ؟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تَدُلُّ عَلَيْهِ الأَزْمِنَةُ المُسْتَعْمَلَةُ فِي النَّصِّ؟</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cs typeface="Amiri" pitchFamily="2" charset="-78"/>
              </a:rPr>
              <a:t>نَبْرَةُ الكَاتِبِ ___ ، وَالدَّلِيلُ قَوْلُهُ: « ___ ».</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ذَكَرَ النَّصُّ ___ ، وَلٰكِنَّهُ لَمْ يَذْكُرْ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F2A37"/>
                </a:solidFill>
                <a:latin typeface="Amiri" pitchFamily="2" charset="-78"/>
                <a:cs typeface="Amiri" pitchFamily="2" charset="-78"/>
              </a:rPr>
              <a:t>اسْتَعْمَلَ الكَاتِبُ المَاضِيَ فِي « ___ » لِيَصِفَ ___ .</a:t>
            </a:r>
            <a:endParaRPr lang="ar-SA" sz="12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نَبْرَةُ الكَاتِبِ؟</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writer’s tone?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نَبْرَتُهُ احْتِفَالِيَّةٌ، وَالدَّلِيلُ قَوْلُهُ: حِرَفٌ نَابِضَةٌ بِالحَيَاةِ.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His tone is celebratory; the evidence is his phrase “crafts full of life”.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the comprehension questions using evidence from the text.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tone + one quoted phrase + one past and one present verb from the text.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the tone and quote the phrase that supports your judgement.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Tone with evidence, and what one tense choice signals.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what the tense choices signal and identify one significant omission.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tone · quote · tense · one significant omission.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اسْتَعْمَلَ المَاضِيَ لِيَصِفَ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used the past to describe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اسْتَعْمَلَ المُضَارِعَ لِيَصِفَ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used the present to describe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وَلٰكِنَّهُ لَمْ يَذْكُرْ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he did not mention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وَهٰذَا اخْتِيَارٌ لَهُ دَلَالَتُهُ.</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and that choice is significant.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نَبْرَةُ الكَاتِبِ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writer’s tone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وَالدَّلِيلُ قَوْلُهُ: «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is his phrase: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يُشِيرُ النَّصُّ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text refers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ازْدَهَرَتِ / تَزْدَهِرُ المَدِينَةُ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city flourished / flourishes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نَبْرَةٌ احْتِفَالِيَّةٌ  ·  نَبْرَةٌ نَقْدِيَّةٌ  ·  نَبْرَةٌ مُحَايِدَةٌ  ·  إِعْجَابٌ  ·  تَحَفُّظٌ  ·  نَابِضٌ بِالحَيَاةِ  ·  مُزْدَحِمٌ  ·  دَلِيلٌ مِنَ النَّصِّ  ·  يُشِيرُ إِلَى  ·  لِيَصِفَ  ·  فَتْرَةٌ مُنْتَهِيَةٌ  ·  وَاقِعٌ مُسْتَمِرٌّ</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seventy words analysing a cultural text you have read. Name its tone, quote one phrase as evidence, say what the tense choices signal, and note one thing the text leaves out.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tone named with </a:t>
            </a:r>
            <a:pPr algn="l" indent="0" marL="0">
              <a:buNone/>
            </a:pPr>
            <a:r>
              <a:rPr lang="ar-SA" altLang="en-US" sz="1550" dirty="0">
                <a:solidFill>
                  <a:srgbClr val="1F2A37"/>
                </a:solidFill>
                <a:latin typeface="Amiri" pitchFamily="2" charset="-78"/>
                <a:cs typeface="Amiri" pitchFamily="2" charset="-78"/>
              </a:rPr>
              <a:t>نَبْرَةٌ احْتِفَالِيَّةٌ، نَقْدِيَّةٌ</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مُحَايِدَةٌ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quoted Arabic phrase as evidence.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comment on what a tense choice signals.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observation about an omission.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أَكْثَرَ مِنْهَا مُحَايِدَةً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 than neutral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وَهٰذَا اخْتِيَارٌ فِيهِ إِعْجَابٌ وَاضِحٌ</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this is a choice showing clear admiration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لِيَصِفَ وَاقِعًا مُسْتَمِرًّا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describe an ongoing reality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وَهٰذَا الإِغْفَالُ لَهُ دَلَالَتُهُ</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this omission is significant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يُلَاحِظُ مَا ذُكِرَ وَمَا أُغْفِلَ مَعًا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notices what was said and what was left out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نَبْرَةُ الكَاتِبِ فِي هٰذَا النَّصِّ احْتِفَالِيَّةٌ أَكْثَرَ مِنْهَا مُحَايِدَةً. وَالدَّلِيلُ مِنَ النَّصِّ قَوْلُهُ: حِرَفٌ تَقْلِيدِيَّةٌ نَابِضَةٌ بِالحَيَاةِ، وَهٰذَا اخْتِيَارٌ فِيهِ إِعْجَابٌ وَاضِحٌ. وَقَدِ اسْتَعْمَلَ الكَاتِبُ المَاضِيَ فِي ازْدَهَرَتْ قَدِيمًا لِيَصِفَ فَتْرَةً مُنْتَهِيَةً، وَالمُضَارِعَ فِي تَزْدَهِرُ اليَوْمَ لِيَصِفَ وَاقِعًا مُسْتَمِرًّا. عَلَى الرَّغْمِ مِنْ ذٰلِكَ لَمْ يَذْكُرِ الأَحْيَاءَ الحَدِيثَةَ وَلَا المُشْكِلَاتِ اليَوْمِيَّةَ، وَهٰذَا الإِغْفَالُ لَهُ دَلَالَتُهُ. وَالقَارِئُ الجَيِّدُ يُلَاحِظُ مَا ذُكِرَ وَمَا أُغْفِلَ مَعًا.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writer’s tone in this text is more celebratory than neutral. The evidence from the text is his phrase “traditional crafts full of life”, a choice that shows clear admiration. He used the past in “flourished in the old days” to describe a finished period, and the present in “flourishes today” to describe an ongoing reality. However, he did not mention the modern districts or everyday problems, and this omission is significant. A good reader notices what is said and what is left out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tone named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quoted phrase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 finished · present = ongoing</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omission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tone with a feminine adjective (</a:t>
            </a:r>
            <a:pPr algn="l" indent="0" marL="0">
              <a:buNone/>
            </a:pPr>
            <a:r>
              <a:rPr lang="ar-SA" altLang="en-US" sz="1700" dirty="0">
                <a:solidFill>
                  <a:srgbClr val="1F2A37"/>
                </a:solidFill>
                <a:latin typeface="Amiri" pitchFamily="2" charset="-78"/>
                <a:cs typeface="Amiri" pitchFamily="2" charset="-78"/>
              </a:rPr>
              <a:t>نَبْرَةٌ … ـَةٌ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the writer’s own Arabic, not my opinion.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a past or present verb signals.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يُشِيرُ إِلَى</a:t>
            </a:r>
            <a:pPr algn="l" indent="0" marL="0">
              <a:buNone/>
            </a:pPr>
            <a:r>
              <a:rPr lang="en-US" sz="1300" dirty="0">
                <a:solidFill>
                  <a:srgbClr val="1F2A37"/>
                </a:solidFill>
                <a:latin typeface="Calibri" pitchFamily="34" charset="0"/>
                <a:cs typeface="Amiri" pitchFamily="2" charset="-78"/>
              </a:rPr>
              <a:t>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something the text leaves out.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admiration?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مُزْدَحِمٌ وَصَاخِبٌ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نَابِضٌ بِالحَيَاةِ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عَادِيٌّ جِدًّا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past-tense description signal in a cultural text?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completed period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ongoing reality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إِلَى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admiration?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مُزْدَحِمٌ وَصَاخِبٌ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نَابِضٌ بِالحَيَاةِ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عَادِيٌّ جِدًّا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carries clear positive colouring.</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past-tense description signal in a cultural text?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completed period</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ongoing reality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presents the situation as finished.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Perspective Mission — Evidence, Tone and Tense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Tone: which phrase is admiring?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مُزْدَحِمٌ وَصَاخِبٌ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نَابِضٌ بِالحَيَاةِ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 وَمُتْعِبٌ</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Tone: which phrase is reserved?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مُزْدَحِمٌ وَصَاخِبٌ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نَابِضٌ بِالحَيَاةِ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رَائِعٌ وَجَمِيلٌ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what does </a:t>
            </a:r>
            <a:pPr algn="l" indent="0" marL="0">
              <a:buNone/>
            </a:pPr>
            <a:r>
              <a:rPr lang="ar-SA" altLang="en-US" sz="1650" b="1" dirty="0">
                <a:solidFill>
                  <a:srgbClr val="1B3B6F"/>
                </a:solidFill>
                <a:latin typeface="Amiri" pitchFamily="2" charset="-78"/>
                <a:cs typeface="Amiri" pitchFamily="2" charset="-78"/>
              </a:rPr>
              <a:t>ازْدَهَرَتْ قَدِيمًا</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current reality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Completed history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what does </a:t>
            </a:r>
            <a:pPr algn="l" indent="0" marL="0">
              <a:buNone/>
            </a:pPr>
            <a:r>
              <a:rPr lang="ar-SA" altLang="en-US" sz="1650" b="1" dirty="0">
                <a:solidFill>
                  <a:srgbClr val="1B3B6F"/>
                </a:solidFill>
                <a:latin typeface="Amiri" pitchFamily="2" charset="-78"/>
                <a:cs typeface="Amiri" pitchFamily="2" charset="-78"/>
              </a:rPr>
              <a:t>تَزْدَهِرُ اليَوْمَ</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finished period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prediction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ongoing reality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“implicit attitude”?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مَنْظُورٌ ثَقَافِيٌّ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مَوْقِفٌ ضِمْنِيٌّ</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دَلِيلٌ مِنَ النَّصِّ</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Tone: which phrase is admiring?</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مُزْدَحِمٌ وَصَاخِبٌ</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نَابِضٌ بِالحَيَاةِ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بَعِيدٌ وَمُتْعِبٌ</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carries positive colouring.</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Tone: which phrase is reserved?</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مُزْدَحِمٌ وَصَاخِبٌ</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نَابِضٌ بِالحَيَاةِ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رَائِعٌ وَجَمِيلٌ</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Crowded and noisy signal reservation.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what does </a:t>
            </a:r>
            <a:pPr algn="l" indent="0" marL="0">
              <a:buNone/>
            </a:pPr>
            <a:r>
              <a:rPr lang="ar-SA" altLang="en-US" sz="1650" b="1" dirty="0">
                <a:solidFill>
                  <a:srgbClr val="1B3B6F"/>
                </a:solidFill>
                <a:latin typeface="Amiri" pitchFamily="2" charset="-78"/>
                <a:cs typeface="Amiri" pitchFamily="2" charset="-78"/>
              </a:rPr>
              <a:t>ازْدَهَرَتْ قَدِيمًا</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current reality</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Completed history</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presents it as finished.</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what does </a:t>
            </a:r>
            <a:pPr algn="l" indent="0" marL="0">
              <a:buNone/>
            </a:pPr>
            <a:r>
              <a:rPr lang="ar-SA" altLang="en-US" sz="1650" b="1" dirty="0">
                <a:solidFill>
                  <a:srgbClr val="1B3B6F"/>
                </a:solidFill>
                <a:latin typeface="Amiri" pitchFamily="2" charset="-78"/>
                <a:cs typeface="Amiri" pitchFamily="2" charset="-78"/>
              </a:rPr>
              <a:t>تَزْدَهِرُ اليَوْمَ</a:t>
            </a:r>
            <a:pPr algn="l" indent="0" marL="0">
              <a:buNone/>
            </a:pPr>
            <a:r>
              <a:rPr lang="en-US" sz="1250" b="1" dirty="0">
                <a:solidFill>
                  <a:srgbClr val="1B3B6F"/>
                </a:solidFill>
                <a:latin typeface="Calibri" pitchFamily="34" charset="0"/>
                <a:cs typeface="Amiri" pitchFamily="2" charset="-78"/>
              </a:rPr>
              <a:t> present?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finished period</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prediction</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ongoing reality</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presents it as true now.</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“implicit attitude”?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مَنْظُورٌ ثَقَافِيٌّ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مَوْقِفٌ ضِمْنِيٌّ</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دَلِيلٌ مِنَ النَّصِّ</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مَوْقِفٌ ضِمْنِيٌّ</a:t>
            </a:r>
            <a:pPr algn="l" indent="0" marL="0">
              <a:buNone/>
            </a:pPr>
            <a:r>
              <a:rPr lang="en-US" sz="1050" i="1" dirty="0">
                <a:solidFill>
                  <a:srgbClr val="8A6D1E"/>
                </a:solidFill>
                <a:latin typeface="Calibri" pitchFamily="34" charset="0"/>
                <a:cs typeface="Amiri" pitchFamily="2" charset="-78"/>
              </a:rPr>
              <a:t> is an attitude that is implied.</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D6-L09 · Writing — Countries, Culture and Identity (Paper 4)</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أَعْتَزُّ بِـ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take pride in</a:t>
            </a:r>
            <a:pPr indent="0" marL="0">
              <a:buNone/>
            </a:pPr>
            <a:r>
              <a:rPr lang="en-US" sz="1000" i="1" dirty="0">
                <a:solidFill>
                  <a:srgbClr val="5A6472"/>
                </a:solidFill>
                <a:latin typeface="Calibri" pitchFamily="34" charset="0"/>
                <a:cs typeface="Amiri" pitchFamily="2" charset="-78"/>
              </a:rPr>
              <a:t>  اِعْتَزَّ past</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يُمْكِنُ إِنْكَارُ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cannot be denied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وِجْهَةِ نَظَرِي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from my point of view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إِنْجَازُ المُهِمَّةِ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task completion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الدِّقَّةُ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accuracy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part of your culture or identity are you most proud of? Note two reasons.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أَعْتَزُّ بِـ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tone words; redo reading questions 1–3 with a quoted phrase.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50-word analysis: tone, evidence, one tense.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 70-word analysis of a cultural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D6-L09 · Writing — Countries, Culture and Identity (Paper 4)</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الكِتَابَةُ — الدُّوَلُ وَالثَّقَافَةُ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adjectives → attitude · past = finished, present = now · judge the whole tone · notice what is missing · quote the writer, not yourself.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D6-L08 · Reading — Countries, Culture and Celebration Texts</dc:title>
  <dc:subject>PptxGenJS Presentation</dc:subject>
  <dc:creator>Al Madina Online School · Arabic Department</dc:creator>
  <cp:lastModifiedBy>Al Madina Online School · Arabic Department</cp:lastModifiedBy>
  <cp:revision>1</cp:revision>
  <dcterms:created xsi:type="dcterms:W3CDTF">2026-10-11T06:41:10Z</dcterms:created>
  <dcterms:modified xsi:type="dcterms:W3CDTF">2026-10-11T06:41:10Z</dcterms:modified>
</cp:coreProperties>
</file>