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D6-L06 (Arabic Around the World — The Language’s Global Reach) — new practice tasks built on the lesson’s own word bank and grammar (status: tuʿaddu min akthari al-lughāti intishāran · iḥdā lughāti al-umami al-muttaḥida; numbers: yablughu ʿadadu al-mutaḥaddithīna … · malāyīn; words Arabic gave the world (al-jabr · sukkar · ṣifr · qahwa); what it does for me (taftaḥu lī abwāban · tarbuṭunī bi- …); a supported argument).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D6-L06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to a girl: لَكِ · أَعْرِفُهَا (same). tuʿaddu min akthari … + tamyīz in -an (intishāran); iḥdā + plural.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(59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D6  ·  D6-L06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D6-L06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Arabic Around the World — The Language’s Global Reach</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العَرَبِيَّةُ حَوْلَ العَالَمِ</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Students run their own speaking and writing practice arguing for Arabic: say the status and numbers phrases, act a dialogue about why learn Arabic, answer question cards, do a role-play card persuading a younger student to choose Arabic, give a one-minute persuasive talk, then build, fix and write a persuasive paragraph for an options evening.</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D6-L06 · Development D6 · Countries, Cultures and Celebrations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D6 › D6-L06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Status and numbers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لُغَةٌ رَسْمِيَّةٌ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official language</a:t>
            </a:r>
            <a:endParaRPr lang="en-US" sz="1350" dirty="0"/>
          </a:p>
          <a:p>
            <a:pPr indent="0" marL="0">
              <a:buNone/>
            </a:pPr>
            <a:r>
              <a:rPr lang="en-US" sz="1100" i="1" dirty="0">
                <a:solidFill>
                  <a:srgbClr val="5A6472"/>
                </a:solidFill>
                <a:latin typeface="Calibri" pitchFamily="34" charset="0"/>
                <a:cs typeface="Amiri" pitchFamily="2" charset="-78"/>
              </a:rPr>
              <a:t>lu-gha-tun ras-miy-ya-tun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لُغَةُ الأُمَمِ المُتَّحِدَةِ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United Nations language</a:t>
            </a:r>
            <a:endParaRPr lang="en-US" sz="1350" dirty="0"/>
          </a:p>
          <a:p>
            <a:pPr indent="0" marL="0">
              <a:buNone/>
            </a:pPr>
            <a:r>
              <a:rPr lang="en-US" sz="1100" i="1" dirty="0">
                <a:solidFill>
                  <a:srgbClr val="5A6472"/>
                </a:solidFill>
                <a:latin typeface="Calibri" pitchFamily="34" charset="0"/>
                <a:cs typeface="Amiri" pitchFamily="2" charset="-78"/>
              </a:rPr>
              <a:t>lu-gha-tu al-u-ma-mi al-mut-ta-ḥi-da-ti</a:t>
            </a:r>
            <a:endParaRPr lang="en-US" sz="1350" dirty="0"/>
          </a:p>
        </p:txBody>
      </p:sp>
      <p:sp>
        <p:nvSpPr>
          <p:cNvPr id="29" name="Text 26"/>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Arabic is one of the six.</a:t>
            </a:r>
            <a:endParaRPr lang="en-US" sz="1000" dirty="0"/>
          </a:p>
        </p:txBody>
      </p:sp>
      <p:sp>
        <p:nvSpPr>
          <p:cNvPr id="30" name="Shape 2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566928"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3" name="Shape 3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مُتَحَدِّثٌ / مُتَحَدِّثُونَ</a:t>
            </a:r>
            <a:endParaRPr lang="ar-SA" sz="3000" dirty="0"/>
          </a:p>
        </p:txBody>
      </p:sp>
      <p:sp>
        <p:nvSpPr>
          <p:cNvPr id="36" name="Text 3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speaker / speakers</a:t>
            </a:r>
            <a:endParaRPr lang="en-US" sz="1350" dirty="0"/>
          </a:p>
          <a:p>
            <a:pPr indent="0" marL="0">
              <a:buNone/>
            </a:pPr>
            <a:r>
              <a:rPr lang="en-US" sz="1100" i="1" dirty="0">
                <a:solidFill>
                  <a:srgbClr val="5A6472"/>
                </a:solidFill>
                <a:latin typeface="Calibri" pitchFamily="34" charset="0"/>
                <a:cs typeface="Amiri" pitchFamily="2" charset="-78"/>
              </a:rPr>
              <a:t>mu-ta-ḥad-di-thun / mu-ta-ḥad-di-thū-na</a:t>
            </a:r>
            <a:endParaRPr lang="en-US" sz="135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0" name="Shape 3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يُعَدُّ مِنْ</a:t>
            </a:r>
            <a:endParaRPr lang="ar-SA" sz="3000" dirty="0"/>
          </a:p>
        </p:txBody>
      </p:sp>
      <p:sp>
        <p:nvSpPr>
          <p:cNvPr id="43" name="Text 4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counted among</a:t>
            </a:r>
            <a:endParaRPr lang="en-US" sz="1350" dirty="0"/>
          </a:p>
          <a:p>
            <a:pPr indent="0" marL="0">
              <a:buNone/>
            </a:pPr>
            <a:r>
              <a:rPr lang="en-US" sz="1100" i="1" dirty="0">
                <a:solidFill>
                  <a:srgbClr val="5A6472"/>
                </a:solidFill>
                <a:latin typeface="Calibri" pitchFamily="34" charset="0"/>
                <a:cs typeface="Amiri" pitchFamily="2" charset="-78"/>
              </a:rPr>
              <a:t>yu-ʿad-du min</a:t>
            </a:r>
            <a:endParaRPr lang="en-US" sz="1350" dirty="0"/>
          </a:p>
        </p:txBody>
      </p:sp>
      <p:sp>
        <p:nvSpPr>
          <p:cNvPr id="44" name="Text 41"/>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Followed by a genitive plural.</a:t>
            </a:r>
            <a:endParaRPr lang="en-US" sz="1000" dirty="0"/>
          </a:p>
        </p:txBody>
      </p:sp>
      <p:sp>
        <p:nvSpPr>
          <p:cNvPr id="45" name="Shape 4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4389120"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8" name="Shape 4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يَبْلُغُ</a:t>
            </a:r>
            <a:endParaRPr lang="ar-SA" sz="3000" dirty="0"/>
          </a:p>
        </p:txBody>
      </p:sp>
      <p:sp>
        <p:nvSpPr>
          <p:cNvPr id="51" name="Text 4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reaches (a figure)</a:t>
            </a:r>
            <a:endParaRPr lang="en-US" sz="1350" dirty="0"/>
          </a:p>
          <a:p>
            <a:pPr indent="0" marL="0">
              <a:buNone/>
            </a:pPr>
            <a:r>
              <a:rPr lang="en-US" sz="1100" i="1" dirty="0">
                <a:solidFill>
                  <a:srgbClr val="5A6472"/>
                </a:solidFill>
                <a:latin typeface="Calibri" pitchFamily="34" charset="0"/>
                <a:cs typeface="Amiri" pitchFamily="2" charset="-78"/>
              </a:rPr>
              <a:t>yab-lu-ghu</a:t>
            </a:r>
            <a:endParaRPr lang="en-US" sz="1350" dirty="0"/>
          </a:p>
        </p:txBody>
      </p:sp>
      <p:sp>
        <p:nvSpPr>
          <p:cNvPr id="52" name="Shape 4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566928"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5" name="Shape 5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7" name="Text 5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يُمَثِّلُ</a:t>
            </a:r>
            <a:endParaRPr lang="ar-SA" sz="3000" dirty="0"/>
          </a:p>
        </p:txBody>
      </p:sp>
      <p:sp>
        <p:nvSpPr>
          <p:cNvPr id="58" name="Text 5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represents</a:t>
            </a:r>
            <a:endParaRPr lang="en-US" sz="1350" dirty="0"/>
          </a:p>
          <a:p>
            <a:pPr indent="0" marL="0">
              <a:buNone/>
            </a:pPr>
            <a:r>
              <a:rPr lang="en-US" sz="1100" i="1" dirty="0">
                <a:solidFill>
                  <a:srgbClr val="5A6472"/>
                </a:solidFill>
                <a:latin typeface="Calibri" pitchFamily="34" charset="0"/>
                <a:cs typeface="Amiri" pitchFamily="2" charset="-78"/>
              </a:rPr>
              <a:t>yu-math-thi-lu</a:t>
            </a:r>
            <a:endParaRPr lang="en-US" sz="1350" dirty="0"/>
          </a:p>
        </p:txBody>
      </p:sp>
      <p:sp>
        <p:nvSpPr>
          <p:cNvPr id="59" name="Text 56"/>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Form II with a direct object.</a:t>
            </a:r>
            <a:endParaRPr lang="en-US" sz="100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Arabic in the world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لُغَةُ القُرْآنِ الكَرِيمِ</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language of the Qur'an</a:t>
            </a:r>
            <a:endParaRPr lang="en-US" sz="1350" dirty="0"/>
          </a:p>
          <a:p>
            <a:pPr indent="0" marL="0">
              <a:buNone/>
            </a:pPr>
            <a:r>
              <a:rPr lang="en-US" sz="1100" i="1" dirty="0">
                <a:solidFill>
                  <a:srgbClr val="5A6472"/>
                </a:solidFill>
                <a:latin typeface="Calibri" pitchFamily="34" charset="0"/>
                <a:cs typeface="Amiri" pitchFamily="2" charset="-78"/>
              </a:rPr>
              <a:t>lu-gha-tu al-qur-ʾā-ni al-ka-rī-mi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الجَبْرُ</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algebra</a:t>
            </a:r>
            <a:endParaRPr lang="en-US" sz="1350" dirty="0"/>
          </a:p>
          <a:p>
            <a:pPr indent="0" marL="0">
              <a:buNone/>
            </a:pPr>
            <a:r>
              <a:rPr lang="en-US" sz="1100" i="1" dirty="0">
                <a:solidFill>
                  <a:srgbClr val="5A6472"/>
                </a:solidFill>
                <a:latin typeface="Calibri" pitchFamily="34" charset="0"/>
                <a:cs typeface="Amiri" pitchFamily="2" charset="-78"/>
              </a:rPr>
              <a:t>al-jab-ru</a:t>
            </a:r>
            <a:endParaRPr lang="en-US" sz="1350" dirty="0"/>
          </a:p>
        </p:txBody>
      </p:sp>
      <p:sp>
        <p:nvSpPr>
          <p:cNvPr id="29" name="Text 26"/>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900" i="1" dirty="0">
                <a:solidFill>
                  <a:srgbClr val="8A6D1E"/>
                </a:solidFill>
                <a:latin typeface="Calibri" pitchFamily="34" charset="0"/>
                <a:cs typeface="Amiri" pitchFamily="2" charset="-78"/>
              </a:rPr>
              <a:t>The mathematical term entered European languages from this word.</a:t>
            </a:r>
            <a:endParaRPr lang="en-US" sz="900" dirty="0"/>
          </a:p>
        </p:txBody>
      </p:sp>
      <p:sp>
        <p:nvSpPr>
          <p:cNvPr id="30" name="Shape 2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566928"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3" name="Shape 3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سُكَّرٌ</a:t>
            </a:r>
            <a:endParaRPr lang="ar-SA" sz="3000" dirty="0"/>
          </a:p>
        </p:txBody>
      </p:sp>
      <p:sp>
        <p:nvSpPr>
          <p:cNvPr id="36" name="Text 3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sugar</a:t>
            </a:r>
            <a:endParaRPr lang="en-US" sz="1350" dirty="0"/>
          </a:p>
          <a:p>
            <a:pPr indent="0" marL="0">
              <a:buNone/>
            </a:pPr>
            <a:r>
              <a:rPr lang="en-US" sz="1100" i="1" dirty="0">
                <a:solidFill>
                  <a:srgbClr val="5A6472"/>
                </a:solidFill>
                <a:latin typeface="Calibri" pitchFamily="34" charset="0"/>
                <a:cs typeface="Amiri" pitchFamily="2" charset="-78"/>
              </a:rPr>
              <a:t>suk-ka-run</a:t>
            </a:r>
            <a:endParaRPr lang="en-US" sz="135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0" name="Shape 3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صِفْرٌ</a:t>
            </a:r>
            <a:endParaRPr lang="ar-SA" sz="3000" dirty="0"/>
          </a:p>
        </p:txBody>
      </p:sp>
      <p:sp>
        <p:nvSpPr>
          <p:cNvPr id="43" name="Text 4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zero</a:t>
            </a:r>
            <a:endParaRPr lang="en-US" sz="1350" dirty="0"/>
          </a:p>
          <a:p>
            <a:pPr indent="0" marL="0">
              <a:buNone/>
            </a:pPr>
            <a:r>
              <a:rPr lang="en-US" sz="1100" i="1" dirty="0">
                <a:solidFill>
                  <a:srgbClr val="5A6472"/>
                </a:solidFill>
                <a:latin typeface="Calibri" pitchFamily="34" charset="0"/>
                <a:cs typeface="Amiri" pitchFamily="2" charset="-78"/>
              </a:rPr>
              <a:t>ṣif-run</a:t>
            </a:r>
            <a:endParaRPr lang="en-US" sz="1350" dirty="0"/>
          </a:p>
        </p:txBody>
      </p:sp>
      <p:sp>
        <p:nvSpPr>
          <p:cNvPr id="44" name="Text 41"/>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concept and the word spread together.</a:t>
            </a:r>
            <a:endParaRPr lang="en-US" sz="1000" dirty="0"/>
          </a:p>
        </p:txBody>
      </p:sp>
      <p:sp>
        <p:nvSpPr>
          <p:cNvPr id="45" name="Shape 4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4389120"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8" name="Shape 4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يُثْرِي</a:t>
            </a:r>
            <a:endParaRPr lang="ar-SA" sz="3000" dirty="0"/>
          </a:p>
        </p:txBody>
      </p:sp>
      <p:sp>
        <p:nvSpPr>
          <p:cNvPr id="51" name="Text 4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enriches</a:t>
            </a:r>
            <a:endParaRPr lang="en-US" sz="1350" dirty="0"/>
          </a:p>
          <a:p>
            <a:pPr indent="0" marL="0">
              <a:buNone/>
            </a:pPr>
            <a:r>
              <a:rPr lang="en-US" sz="1100" i="1" dirty="0">
                <a:solidFill>
                  <a:srgbClr val="5A6472"/>
                </a:solidFill>
                <a:latin typeface="Calibri" pitchFamily="34" charset="0"/>
                <a:cs typeface="Amiri" pitchFamily="2" charset="-78"/>
              </a:rPr>
              <a:t>yuth-rī</a:t>
            </a:r>
            <a:endParaRPr lang="en-US" sz="1350" dirty="0"/>
          </a:p>
        </p:txBody>
      </p:sp>
      <p:sp>
        <p:nvSpPr>
          <p:cNvPr id="52" name="Text 49"/>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Form IV; takes a direct object.</a:t>
            </a:r>
            <a:endParaRPr lang="en-US" sz="1000" dirty="0"/>
          </a:p>
        </p:txBody>
      </p:sp>
      <p:sp>
        <p:nvSpPr>
          <p:cNvPr id="53" name="Shape 5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566928"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6" name="Shape 53"/>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يُوَسِّعُ</a:t>
            </a:r>
            <a:endParaRPr lang="ar-SA" sz="3000" dirty="0"/>
          </a:p>
        </p:txBody>
      </p:sp>
      <p:sp>
        <p:nvSpPr>
          <p:cNvPr id="59" name="Text 56"/>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broadens</a:t>
            </a:r>
            <a:endParaRPr lang="en-US" sz="1350" dirty="0"/>
          </a:p>
          <a:p>
            <a:pPr indent="0" marL="0">
              <a:buNone/>
            </a:pPr>
            <a:r>
              <a:rPr lang="en-US" sz="1100" i="1" dirty="0">
                <a:solidFill>
                  <a:srgbClr val="5A6472"/>
                </a:solidFill>
                <a:latin typeface="Calibri" pitchFamily="34" charset="0"/>
                <a:cs typeface="Amiri" pitchFamily="2" charset="-78"/>
              </a:rPr>
              <a:t>yu-was-si-ʿu</a:t>
            </a:r>
            <a:endParaRPr lang="en-US" sz="1350" dirty="0"/>
          </a:p>
        </p:txBody>
      </p:sp>
      <p:sp>
        <p:nvSpPr>
          <p:cNvPr id="60" name="Text 57"/>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Form II; takes a direct object.</a:t>
            </a:r>
            <a:endParaRPr lang="en-US" sz="100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Why learn Arabic?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لِمَاذَا نَتَعَلَّمُ العَرَبِيَّةَ؟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do you study Arabic?</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لِمَاذَا تَدْرُسُ العَرَبِيَّةَ؟</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Because it is counted among the most widespread languages in the world.</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لِأَنَّهَا تُعَدُّ مِنْ أَكْثَرِ اللُّغَاتِ انْتِشَارًا فِي العَالَمِ.</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speakers does it have?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كَمْ عَدَدُ المُتَحَدِّثِينَ بِهَا؟</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There are more than four hundred million, and it is one of the UN languages.</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يَبْلُغُ عَدَدُهُمْ أَكْثَرَ مِنْ أَرْبَعِمِئَةِ مِلْيُونٍ، وَهِيَ إِحْدَى لُغَاتِ الأُمَمِ المُتَّحِدَةِ.</a:t>
            </a:r>
            <a:endParaRPr lang="ar-SA" sz="195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did English take words from it?</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وَهَلْ أَخَذَتِ الإِنْجِلِيزِيَّةُ كَلِمَاتٍ مِنْهَا؟</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“algebra”, “sugar” and “coffee” come from Arabic. And it connects me to my family and the language of the Qur’an.</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نَعَمْ! «الجَبْرُ» وَ«سُكَّرٌ» وَ«قَهْوَةٌ» كَلِمَاتٌ عَرَبِيَّةُ الأَصْلِ. وَهِيَ تَرْبِطُنِي بِعَائِلَتِي وَبِلُغَةِ القُرْآنِ.</a:t>
            </a:r>
            <a:endParaRPr lang="ar-SA" sz="15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give YOUR three reasons for learning Arabic.</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وَهِيَ إِحْدَى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لِأَنَّهَا تُعَدُّ مِنْ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is Arabic considered important?</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تُعَدُّ العَرَبِيَّةُ لُغَةً مُهِمَّةً؟</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56648" y="3004718"/>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هِيَ لُغَةٌ رَسْمِيَّةٌ فِي أَكْثَرَ مِنْ عِشْرِينَ بَلَدًا</a:t>
            </a:r>
            <a:endParaRPr lang="ar-SA" sz="145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how many countries is Arabic official?</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بَلَدًا تَكُونُ العَرَبِيَّةُ فِيهِ لُغَةً رَسْمِيَّةً؟</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وَهٰذَا يَدُلُّ عَلَى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«الجَبْرُ» وَ… وَ…</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three English words of Arabic origin.</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اذْكُرْ ثَلَاثَ كَلِمَاتٍ إِنْجِلِيزِيَّةٍ عَرَبِيَّةِ الأَصْلِ.</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تَفْتَحُ لِي أَبْوَابًا فِي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will Arabic help you in future?</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تُسَاعِدُكَ العَرَبِيَّةُ فِي المُسْتَقْبَلِ؟</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56648" y="5215738"/>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أَصْعَبُ شَيْءٍ … ، وَأَجْمَلُ شَيْءٍ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hardest and most beautiful things about Arabic?</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أَصْعَبُ شَيْءٍ فِي العَرَبِيَّةِ؟ وَمَا أَجْمَلُهُ؟</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Role-play card — persuading a younger student to choose Arabic</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أُقْنِعُ طَالِبًا بِالعَرَبِيَّةِ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الحُجَّةُ ← لِأَنَّهَا تُعَدُّ مِنْ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Status argument.</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أَخْتَارُ العَرَبِيَّةَ؟</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العَمَلُ ← تَفْتَحُ لَكَ أَبْوَابًا فِي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Career argument.</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وَهَلْ هِيَ مُفِيدَةٌ لِلْعَمَلِ؟</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Honest + encouraging.</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وَلٰكِنَّهَا صَعْبَةٌ، أَلَيْسَ كَذٰلِكَ؟</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Surprise them.</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هُنَاكَ كَلِمَاتٌ عَرَبِيَّةٌ أَعْرِفُهَا الآنَ؟</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a Year 11 student · Leader = a Year 9 student choosing options.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the case for Arabic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لِمَاذَا العَرَبِيَّةُ؟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Make a one-minute persuasive case for Arabic: its status, its numbers, words it gave the world, and what it means to you.</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Three reasons with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تُعَدُّ مِنْ</a:t>
            </a:r>
            <a:pPr algn="l" indent="0" marL="0">
              <a:buNone/>
            </a:pPr>
            <a:r>
              <a:rPr lang="en-US" sz="1150" dirty="0">
                <a:solidFill>
                  <a:srgbClr val="1F2A37"/>
                </a:solidFill>
                <a:latin typeface="Calibri" pitchFamily="34" charset="0"/>
                <a:cs typeface="Amiri" pitchFamily="2" charset="-78"/>
              </a:rPr>
              <a:t> … and a number with </a:t>
            </a:r>
            <a:pPr algn="l" indent="0" marL="0">
              <a:buNone/>
            </a:pPr>
            <a:r>
              <a:rPr lang="ar-SA" altLang="en-US" sz="1500" dirty="0">
                <a:solidFill>
                  <a:srgbClr val="1F2A37"/>
                </a:solidFill>
                <a:latin typeface="Amiri" pitchFamily="2" charset="-78"/>
                <a:ea typeface="Amiri" pitchFamily="2" charset="-78"/>
                <a:cs typeface="Amiri" pitchFamily="2" charset="-78"/>
              </a:rPr>
              <a:t>يَبْلُغُ</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borrowed words as evidence and a personal reason (</a:t>
            </a:r>
            <a:pPr algn="l" indent="0" marL="0">
              <a:buNone/>
            </a:pPr>
            <a:r>
              <a:rPr lang="ar-SA" altLang="en-US" sz="1500" dirty="0">
                <a:solidFill>
                  <a:srgbClr val="1F2A37"/>
                </a:solidFill>
                <a:latin typeface="Amiri" pitchFamily="2" charset="-78"/>
                <a:ea typeface="Amiri" pitchFamily="2" charset="-78"/>
                <a:cs typeface="Amiri" pitchFamily="2" charset="-78"/>
              </a:rPr>
              <a:t>تَرْبِطُنِي بِ</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Arabic is counted among the most widespread languages.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تُعَدُّ العَرَبِيَّةُ</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يُعَدُّ العَرَبِيَّةُ</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أَكْثَرِ اللُّغَاتِ</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أَكْثَرُ اللُّغَاتِ</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انْتِشَارًا.</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انْتِشَارٌ.</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number of speakers reaches 400 million.</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يَبْلُغُ</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تَبْلُغُ</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عَدَدُ المُتَحَدِّثِينَ</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عَدَدَ المُتَحَدِّثُونَ</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أَرْبَعَمِئَةِ مِلْيُونٍ.</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أَرْبَعُمِئَةِ مِلْيُونٍ.</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Arabic connects me to my family.</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تَرْبِطُنِي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يَرْبِطُنِي</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العَرَبِيَّةُ</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العَرَبِيَّةَ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بِعَائِلَتِي.</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مَعَ عَائِلَتِي.</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Arabic is counted among the most widespread languages.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 → </a:t>
            </a:r>
            <a:pPr algn="l" indent="0" marL="0">
              <a:buNone/>
            </a:pPr>
            <a:r>
              <a:rPr lang="ar-SA" altLang="en-US" sz="1350" dirty="0">
                <a:solidFill>
                  <a:srgbClr val="5A6472"/>
                </a:solidFill>
                <a:latin typeface="Amiri" pitchFamily="2" charset="-78"/>
                <a:ea typeface="Amiri" pitchFamily="2" charset="-78"/>
                <a:cs typeface="Amiri" pitchFamily="2" charset="-78"/>
              </a:rPr>
              <a:t>تُعَدُّ</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مِنْ</a:t>
            </a:r>
            <a:pPr algn="l" indent="0" marL="0">
              <a:buNone/>
            </a:pPr>
            <a:r>
              <a:rPr lang="en-US" sz="1050" i="1" dirty="0">
                <a:solidFill>
                  <a:srgbClr val="5A6472"/>
                </a:solidFill>
                <a:latin typeface="Calibri" pitchFamily="34" charset="0"/>
                <a:cs typeface="Amiri" pitchFamily="2" charset="-78"/>
              </a:rPr>
              <a:t> + genitive; tamyīz in -an.</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تُعَدُّ العَرَبِيَّةُ مِنْ أَكْثَرِ اللُّغَاتِ انْتِشَارًا.</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number of speakers reaches 400 million.</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عَدَدٌ</a:t>
            </a:r>
            <a:pPr algn="l" indent="0" marL="0">
              <a:buNone/>
            </a:pPr>
            <a:r>
              <a:rPr lang="en-US" sz="1050" i="1" dirty="0">
                <a:solidFill>
                  <a:srgbClr val="5A6472"/>
                </a:solidFill>
                <a:latin typeface="Calibri" pitchFamily="34" charset="0"/>
                <a:cs typeface="Amiri" pitchFamily="2" charset="-78"/>
              </a:rPr>
              <a:t> (m.) subject; object of </a:t>
            </a:r>
            <a:pPr algn="l" indent="0" marL="0">
              <a:buNone/>
            </a:pPr>
            <a:r>
              <a:rPr lang="ar-SA" altLang="en-US" sz="1350" dirty="0">
                <a:solidFill>
                  <a:srgbClr val="5A6472"/>
                </a:solidFill>
                <a:latin typeface="Amiri" pitchFamily="2" charset="-78"/>
                <a:ea typeface="Amiri" pitchFamily="2" charset="-78"/>
                <a:cs typeface="Amiri" pitchFamily="2" charset="-78"/>
              </a:rPr>
              <a:t>يَبْلُغُ</a:t>
            </a:r>
            <a:pPr algn="l" indent="0" marL="0">
              <a:buNone/>
            </a:pPr>
            <a:r>
              <a:rPr lang="en-US" sz="1050" i="1" dirty="0">
                <a:solidFill>
                  <a:srgbClr val="5A6472"/>
                </a:solidFill>
                <a:latin typeface="Calibri" pitchFamily="34" charset="0"/>
                <a:cs typeface="Amiri" pitchFamily="2" charset="-78"/>
              </a:rPr>
              <a:t> in -a.</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يَبْلُغُ عَدَدُ المُتَحَدِّثِينَ أَرْبَعَمِئَةِ مِلْيُونٍ.</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Arabic connects me to my family.</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تَرْبِطُ</a:t>
            </a:r>
            <a:pPr algn="l" indent="0" marL="0">
              <a:buNone/>
            </a:pPr>
            <a:r>
              <a:rPr lang="en-US" sz="1050" i="1" dirty="0">
                <a:solidFill>
                  <a:srgbClr val="5A6472"/>
                </a:solidFill>
                <a:latin typeface="Calibri" pitchFamily="34" charset="0"/>
                <a:cs typeface="Amiri" pitchFamily="2" charset="-78"/>
              </a:rPr>
              <a:t> X </a:t>
            </a:r>
            <a:pPr algn="l" indent="0" marL="0">
              <a:buNone/>
            </a:pPr>
            <a:r>
              <a:rPr lang="ar-SA" altLang="en-US" sz="1350" dirty="0">
                <a:solidFill>
                  <a:srgbClr val="5A6472"/>
                </a:solidFill>
                <a:latin typeface="Amiri" pitchFamily="2" charset="-78"/>
                <a:ea typeface="Amiri" pitchFamily="2" charset="-78"/>
                <a:cs typeface="Amiri" pitchFamily="2" charset="-78"/>
              </a:rPr>
              <a:t>بِ</a:t>
            </a:r>
            <a:pPr algn="l" indent="0" marL="0">
              <a:buNone/>
            </a:pPr>
            <a:r>
              <a:rPr lang="en-US" sz="1050" i="1" dirty="0">
                <a:solidFill>
                  <a:srgbClr val="5A6472"/>
                </a:solidFill>
                <a:latin typeface="Calibri" pitchFamily="34" charset="0"/>
                <a:cs typeface="Amiri" pitchFamily="2" charset="-78"/>
              </a:rPr>
              <a:t> Y.</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تَرْبِطُنِي العَرَبِيَّةُ بِعَائِلَتِي.</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العَرَبِيَّةُ أَحَدُ لُغَاتِ الأُمَمِ المُتَّحِدَةِ.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لُغَةٌ</a:t>
            </a:r>
            <a:pPr algn="l" indent="0" marL="0">
              <a:buNone/>
            </a:pPr>
            <a:r>
              <a:rPr lang="en-US" sz="1300" i="1" dirty="0">
                <a:solidFill>
                  <a:srgbClr val="5A6472"/>
                </a:solidFill>
                <a:latin typeface="Calibri" pitchFamily="34" charset="0"/>
                <a:cs typeface="Amiri" pitchFamily="2" charset="-78"/>
              </a:rPr>
              <a:t> is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تُعَدُّ مِنْ أَكْثَرِ اللُّغَاتِ انْتِشَارٌ.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Tamyīz ending.</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العَرَبِيَّةُ أَهَمُّ لُغَةٍ فِي العَالَمِ.</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Prove the claim.</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العَرَبِيَّةُ أَحَدُ لُغَاتِ الأُمَمِ المُتَّحِدَةِ.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العَرَبِيَّةُ إِحْدَى لُغَاتِ الأُمَمِ المُتَّحِدَةِ.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 </a:t>
            </a:r>
            <a:pPr algn="l" indent="0" marL="0">
              <a:buNone/>
            </a:pPr>
            <a:r>
              <a:rPr lang="ar-SA" altLang="en-US" sz="1500" b="1" dirty="0">
                <a:solidFill>
                  <a:srgbClr val="1B3B6F"/>
                </a:solidFill>
                <a:latin typeface="Amiri" pitchFamily="2" charset="-78"/>
                <a:ea typeface="Amiri" pitchFamily="2" charset="-78"/>
                <a:cs typeface="Amiri" pitchFamily="2" charset="-78"/>
              </a:rPr>
              <a:t>إِحْدَى</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تُعَدُّ مِنْ أَكْثَرِ اللُّغَاتِ انْتِشَارٌ.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تُعَدُّ مِنْ أَكْثَرِ اللُّغَاتِ انْتِشَارًا.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t>
            </a:r>
            <a:pPr algn="l" indent="0" marL="0">
              <a:buNone/>
            </a:pPr>
            <a:r>
              <a:rPr lang="ar-SA" altLang="en-US" sz="1500" b="1" dirty="0">
                <a:solidFill>
                  <a:srgbClr val="1B3B6F"/>
                </a:solidFill>
                <a:latin typeface="Amiri" pitchFamily="2" charset="-78"/>
                <a:ea typeface="Amiri" pitchFamily="2" charset="-78"/>
                <a:cs typeface="Amiri" pitchFamily="2" charset="-78"/>
              </a:rPr>
              <a:t>أَكْثَرُ</a:t>
            </a:r>
            <a:pPr algn="l" indent="0" marL="0">
              <a:buNone/>
            </a:pPr>
            <a:r>
              <a:rPr lang="en-US" sz="1150" b="1" dirty="0">
                <a:solidFill>
                  <a:srgbClr val="1B3B6F"/>
                </a:solidFill>
                <a:latin typeface="Calibri" pitchFamily="34" charset="0"/>
                <a:cs typeface="Amiri" pitchFamily="2" charset="-78"/>
              </a:rPr>
              <a:t> the noun is accusative: </a:t>
            </a:r>
            <a:pPr algn="l" indent="0" marL="0">
              <a:buNone/>
            </a:pPr>
            <a:r>
              <a:rPr lang="ar-SA" altLang="en-US" sz="1500" b="1" dirty="0">
                <a:solidFill>
                  <a:srgbClr val="1B3B6F"/>
                </a:solidFill>
                <a:latin typeface="Amiri" pitchFamily="2" charset="-78"/>
                <a:ea typeface="Amiri" pitchFamily="2" charset="-78"/>
                <a:cs typeface="Amiri" pitchFamily="2" charset="-78"/>
              </a:rPr>
              <a:t>انْتِشَارًا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العَرَبِيَّةُ أَهَمُّ لُغَةٍ فِي العَالَمِ.</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العَرَبِيَّةُ مُهِمَّةٌ؛ فَهِيَ لُغَةٌ رَسْمِيَّةٌ فِي أَكْثَرَ مِنْ عِشْرِينَ بَلَدًا.</a:t>
            </a:r>
            <a:endParaRPr lang="ar-SA" sz="21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supported argument uses evidence, not exaggeration.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ea typeface="Amiri" pitchFamily="2" charset="-78"/>
                <a:cs typeface="Amiri" pitchFamily="2" charset="-78"/>
              </a:rPr>
              <a:t>أَخَذَتِ الإِنْجِلِيزِيَّةُ مِنْهَا كَلِمَاتٍ مِثْلَ ______ وَ ______ .</a:t>
            </a:r>
            <a:endParaRPr lang="ar-SA" sz="13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English took words from it like … and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بِالنِّسْبَةِ لِي، تَرْبِطُنِي العَرَبِيَّةُ بِ______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For me, Arabic connects me to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تُعَدُّ العَرَبِيَّةُ مِنْ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Arabic is counted among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يَبْلُغُ عَدَدُ المُتَحَدِّثِينَ بِهَا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number of its speakers reaches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تَفْتَحُ لَكَ أَبْوَابًا فِي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opens doors for you in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اخْتَرِ العَرَبِيَّةَ، لِأَنَّ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Choose Arabic, because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لُغَةٌ رَسْمِيَّةٌ  ·  لُغَةُ الأُمَمِ المُتَّحِدَةِ  ·  مُتَحَدِّثٌ · مُتَحَدِّثُونَ  ·  يُعَدُّ مِنْ · تُعَدُّ مِنْ  ·  يَبْلُغُ  ·  إِحْدَى  ·  الجَبْرُ · سُكَّرٌ · صِفْرٌ  ·  تَفْتَحُ أَبْوَابًا</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A persuasive paragraph for options evening</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فِقْرَةٌ لِإِقْنَاعِ الطُّلَّابِ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persuasive paragraph (about 60–80 words) for the options-evening leaflet: “Choose Arabic!” Include: • its status (</a:t>
            </a:r>
            <a:pPr algn="l" indent="0" marL="0">
              <a:buNone/>
            </a:pPr>
            <a:r>
              <a:rPr lang="ar-SA" altLang="en-US" sz="1450" b="1" dirty="0">
                <a:solidFill>
                  <a:srgbClr val="1F2A37"/>
                </a:solidFill>
                <a:latin typeface="Amiri" pitchFamily="2" charset="-78"/>
                <a:ea typeface="Amiri" pitchFamily="2" charset="-78"/>
                <a:cs typeface="Amiri" pitchFamily="2" charset="-78"/>
              </a:rPr>
              <a:t>تُعَدُّ مِنْ … / إِحْدَى</a:t>
            </a:r>
            <a:pPr algn="l" indent="0" marL="0">
              <a:buNone/>
            </a:pPr>
            <a:r>
              <a:rPr lang="en-US" sz="1100" b="1" dirty="0">
                <a:solidFill>
                  <a:srgbClr val="1F2A37"/>
                </a:solidFill>
                <a:latin typeface="Calibri" pitchFamily="34" charset="0"/>
                <a:cs typeface="Amiri" pitchFamily="2" charset="-78"/>
              </a:rPr>
              <a:t> …) • one number (</a:t>
            </a:r>
            <a:pPr algn="l" indent="0" marL="0">
              <a:buNone/>
            </a:pPr>
            <a:r>
              <a:rPr lang="ar-SA" altLang="en-US" sz="1450" b="1" dirty="0">
                <a:solidFill>
                  <a:srgbClr val="1F2A37"/>
                </a:solidFill>
                <a:latin typeface="Amiri" pitchFamily="2" charset="-78"/>
                <a:ea typeface="Amiri" pitchFamily="2" charset="-78"/>
                <a:cs typeface="Amiri" pitchFamily="2" charset="-78"/>
              </a:rPr>
              <a:t>يَبْلُغُ</a:t>
            </a:r>
            <a:pPr algn="l" indent="0" marL="0">
              <a:buNone/>
            </a:pPr>
            <a:r>
              <a:rPr lang="en-US" sz="1100" b="1" dirty="0">
                <a:solidFill>
                  <a:srgbClr val="1F2A37"/>
                </a:solidFill>
                <a:latin typeface="Calibri" pitchFamily="34" charset="0"/>
                <a:cs typeface="Amiri" pitchFamily="2" charset="-78"/>
              </a:rPr>
              <a:t> …) • two words English took from Arabic as evidence • what it opens for the future • what it means to you • a final call to action.</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تُعَدُّ العَرَبِيَّةُ مِنْ أَكْثَرِ اللُّغَاتِ انْتِشَارًا</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Arabic is among the most widespread languages</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يَبْلُغُ عَدَدُ المُتَحَدِّثِينَ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number of speakers reaches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أَخَذَتِ الإِنْجِلِيزِيَّةُ كَلِمَاتٍ مِثْلَ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English took words like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تَفْتَحُ لَكَ أَبْوَابًا فِي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opens doors for you in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support the case with status and one number?</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تُعَدُّ مِنْ أَكْثَرِ</a:t>
            </a:r>
            <a:pPr algn="l" indent="0" marL="0">
              <a:buNone/>
            </a:pPr>
            <a:r>
              <a:rPr lang="en-US" sz="1100" dirty="0">
                <a:solidFill>
                  <a:srgbClr val="5A6472"/>
                </a:solidFill>
                <a:latin typeface="Calibri" pitchFamily="34" charset="0"/>
                <a:cs typeface="Amiri" pitchFamily="2" charset="-78"/>
              </a:rPr>
              <a:t> … + -an, </a:t>
            </a:r>
            <a:pPr algn="l" indent="0" marL="0">
              <a:buNone/>
            </a:pPr>
            <a:r>
              <a:rPr lang="ar-SA" altLang="en-US" sz="1450" dirty="0">
                <a:solidFill>
                  <a:srgbClr val="5A6472"/>
                </a:solidFill>
                <a:latin typeface="Amiri" pitchFamily="2" charset="-78"/>
                <a:ea typeface="Amiri" pitchFamily="2" charset="-78"/>
                <a:cs typeface="Amiri" pitchFamily="2" charset="-78"/>
              </a:rPr>
              <a:t>إِحْدَى</a:t>
            </a:r>
            <a:pPr algn="l" indent="0" marL="0">
              <a:buNone/>
            </a:pPr>
            <a:r>
              <a:rPr lang="en-US" sz="1100" dirty="0">
                <a:solidFill>
                  <a:srgbClr val="5A6472"/>
                </a:solidFill>
                <a:latin typeface="Calibri" pitchFamily="34" charset="0"/>
                <a:cs typeface="Amiri" pitchFamily="2" charset="-78"/>
              </a:rPr>
              <a:t> and evidence words?</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لِأَنَّهَا تُعَدُّ مِنْ أَكْثَرِ اللُّغَاتِ انْتِشَارًا، وَهِيَ إِحْدَى لُغَاتِ الأُمَمِ المُتَّحِدَةِ السِّتِّ.</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Because it is among the most widespread languages, and one of the six UN languages.</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أَخْتَارُ العَرَبِيَّةَ؟</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تَفْتَحُ لَكَ أَبْوَابًا فِي الصَّحَافَةِ وَالدِّبْلُومَاسِيَّةِ وَالأَعْمَالِ.</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it opens doors for you in journalism, diplomacy and business.</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وَهَلْ هِيَ مُفِيدَةٌ لِلْعَمَلِ؟</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البِدَايَةِ نَعَمْ، وَلٰكِنْ بَعْدَ سَنَةٍ قَرَأْتُ قِصَصًا كَامِلَةً بِنَفْسِي!</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At first, yes — but after a year I was reading whole stories by myself!</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وَلٰكِنَّهَا صَعْبَةٌ، أَلَيْسَ كَذٰلِكَ؟</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طَبْعًا! «سُكَّرٌ» وَ«قُطْنٌ» وَ«صِفْرٌ» — كُلُّهَا جَاءَتْ مِنَ العَرَبِيَّةِ.</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Of course! “sugar”, “cotton” and “zero” all came from Arabic.</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هُنَاكَ كَلِمَاتٌ عَرَبِيَّةٌ أَعْرِفُهَا الآنَ؟</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اخْتَرِ العَرَبِيَّةَ! تُعَدُّ العَرَبِيَّةُ مِنْ أَكْثَرِ اللُّغَاتِ انْتِشَارًا فِي العَالَمِ، وَهِيَ إِحْدَى اللُّغَاتِ الرَّسْمِيَّةِ السِّتِّ فِي الأُمَمِ المُتَّحِدَةِ. يَبْلُغُ عَدَدُ المُتَحَدِّثِينَ بِهَا أَكْثَرَ مِنْ أَرْبَعِمِئَةِ مِلْيُونِ شَخْصٍ. وَقَدْ أَخَذَتِ الإِنْجِلِيزِيَّةُ مِنْهَا كَلِمَاتٍ كَثِيرَةً، مِثْلَ «الجَبْرِ» وَ«الصِّفْرِ» وَ«القَهْوَةِ». تَفْتَحُ لَكَ هٰذِهِ اللُّغَةُ أَبْوَابًا فِي الصَّحَافَةِ وَالطِّبِّ وَالأَعْمَالِ. بِالنِّسْبَةِ لِي، تَرْبِطُنِي العَرَبِيَّةُ بِجَدَّتِي وَبِلُغَةِ القُرْآنِ الكَرِيمِ. اخْتَرْهَا، وَلَنْ تَنْدَمَ!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“Choose Arabic! Arabic is among the most widespread languages in the world, and one of the six official UN languages. More than four hundred million people speak it. English has taken many words from it, like “algebra”, “zero” and “coffee”. This language opens doors for you in journalism, medicine and business. For me, Arabic connects me to my grandmother and to the language of the Holy Qur’an. Choose it — you won’t regret it!”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تُعَدُّ العَرَبِيَّةُ مِنْ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إِحْدَى اللُّغَاتِ</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يَبْلُغُ عَدَدُ</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تَفْتَحُ لَكَ</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D6-L06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D6-L06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00" b="1" dirty="0">
                <a:solidFill>
                  <a:srgbClr val="FFFFFF"/>
                </a:solidFill>
                <a:latin typeface="Cambria" pitchFamily="34" charset="0"/>
                <a:cs typeface="Amiri" pitchFamily="2" charset="-78"/>
              </a:rPr>
              <a:t>D6-L07 · D6 Grammar Consolidation — All Tenses Together</a:t>
            </a:r>
            <a:endParaRPr lang="en-US" sz="1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تَرْسِيخُ قَوَاعِدِ الوَحْدَةِ — جَمِيعُ الأَزْمِنَةِ مَعًا</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D6-L06 · Practice Room — Arabic Around the World — The Language’s Global Reach</dc:title>
  <dc:subject>PptxGenJS Presentation</dc:subject>
  <dc:creator>Al Madina Online School · Arabic Department</dc:creator>
  <cp:lastModifiedBy>Al Madina Online School · Arabic Department</cp:lastModifiedBy>
  <cp:revision>1</cp:revision>
  <dcterms:created xsi:type="dcterms:W3CDTF">2026-10-25T18:50:31Z</dcterms:created>
  <dcterms:modified xsi:type="dcterms:W3CDTF">2026-10-25T18:50:31Z</dcterms:modified>
</cp:coreProperties>
</file>