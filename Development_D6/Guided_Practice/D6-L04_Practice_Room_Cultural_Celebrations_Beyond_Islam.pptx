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D6-L04 (Cultural Celebrations Beyond Islam in the Arab World) — new practice tasks built on the lesson’s own word bank and grammar (precise vocabulary for a multi-faith region (kanīsa · kanīs yahūdī · quddās · ṭāʾifa · aqalliyya); festivals (mihrajān · ʿurūḍ · zayy taqlīdī); a festival you attended (ḥaḍartu · shāhadtu); a balanced paragraph: min nāḥiyatin … wa-min nāḥiyatin ukhrā … · ʿalā al-raghmi min 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editor to a girl: حَضَرْتِ · شَاهَدْتِ · رَأْيُكِ. Precise, respectful vocabulary: kanīsa (church) · kanīs (synagogue) · quddās (mass) · ṭāʾifa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Cultural Celebrations Beyond Islam in the Arab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احْتِفَالَاتٌ مُتَنَوِّعَةٌ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the Arab world as a multi-faith, multi-cultural region: say the vocabulary precisely, act a dialogue about Christmas in Lebanon, answer question cards, do a role-play card reporting on a cultural festival, give a one-minute balanced talk, then build, fix and write a balanced paragraph on celebrating diversity.</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D6-L04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Faith communities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المِيلَادِ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Christmas</a:t>
            </a:r>
            <a:endParaRPr lang="en-US" sz="1350" dirty="0"/>
          </a:p>
          <a:p>
            <a:pPr indent="0" marL="0">
              <a:buNone/>
            </a:pPr>
            <a:r>
              <a:rPr lang="en-US" sz="1100" i="1" dirty="0">
                <a:solidFill>
                  <a:srgbClr val="5A6472"/>
                </a:solidFill>
                <a:latin typeface="Calibri" pitchFamily="34" charset="0"/>
                <a:cs typeface="Amiri" pitchFamily="2" charset="-78"/>
              </a:rPr>
              <a:t>ʿī-du al-mī-lā-di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Celebrated by Arab Christian communities.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كَنِيسَةٌ</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church</a:t>
            </a:r>
            <a:endParaRPr lang="en-US" sz="1350" dirty="0"/>
          </a:p>
          <a:p>
            <a:pPr indent="0" marL="0">
              <a:buNone/>
            </a:pPr>
            <a:r>
              <a:rPr lang="en-US" sz="1100" i="1" dirty="0">
                <a:solidFill>
                  <a:srgbClr val="5A6472"/>
                </a:solidFill>
                <a:latin typeface="Calibri" pitchFamily="34" charset="0"/>
                <a:cs typeface="Amiri" pitchFamily="2" charset="-78"/>
              </a:rPr>
              <a:t>ka-nī-sa-tun</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كَنَائِسُ</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كَنِيسٌ يَهُودِيٌّ</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synagogue</a:t>
            </a:r>
            <a:endParaRPr lang="en-US" sz="1350" dirty="0"/>
          </a:p>
          <a:p>
            <a:pPr indent="0" marL="0">
              <a:buNone/>
            </a:pPr>
            <a:r>
              <a:rPr lang="en-US" sz="1100" i="1" dirty="0">
                <a:solidFill>
                  <a:srgbClr val="5A6472"/>
                </a:solidFill>
                <a:latin typeface="Calibri" pitchFamily="34" charset="0"/>
                <a:cs typeface="Amiri" pitchFamily="2" charset="-78"/>
              </a:rPr>
              <a:t>ka-nī-sun ya-hū-diy-yun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قُدَّاسٌ</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mass, liturgy</a:t>
            </a:r>
            <a:endParaRPr lang="en-US" sz="1350" dirty="0"/>
          </a:p>
          <a:p>
            <a:pPr indent="0" marL="0">
              <a:buNone/>
            </a:pPr>
            <a:r>
              <a:rPr lang="en-US" sz="1100" i="1" dirty="0">
                <a:solidFill>
                  <a:srgbClr val="5A6472"/>
                </a:solidFill>
                <a:latin typeface="Calibri" pitchFamily="34" charset="0"/>
                <a:cs typeface="Amiri" pitchFamily="2" charset="-78"/>
              </a:rPr>
              <a:t>qud-dā-sun</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أَقَلِّيَّةٌ</a:t>
            </a:r>
            <a:endParaRPr lang="ar-SA" sz="3000" dirty="0"/>
          </a:p>
        </p:txBody>
      </p:sp>
      <p:sp>
        <p:nvSpPr>
          <p:cNvPr id="57" name="Text 5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minority</a:t>
            </a:r>
            <a:endParaRPr lang="en-US" sz="1350" dirty="0"/>
          </a:p>
          <a:p>
            <a:pPr indent="0" marL="0">
              <a:buNone/>
            </a:pPr>
            <a:r>
              <a:rPr lang="en-US" sz="1100" i="1" dirty="0">
                <a:solidFill>
                  <a:srgbClr val="5A6472"/>
                </a:solidFill>
                <a:latin typeface="Calibri" pitchFamily="34" charset="0"/>
                <a:cs typeface="Amiri" pitchFamily="2" charset="-78"/>
              </a:rPr>
              <a:t>a-qal-liy-ya-tun</a:t>
            </a:r>
            <a:endParaRPr lang="en-US" sz="1350" dirty="0"/>
          </a:p>
        </p:txBody>
      </p:sp>
      <p:sp>
        <p:nvSpPr>
          <p:cNvPr id="58" name="Shape 5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أَقَلِّيَّاتٌ</a:t>
            </a:r>
            <a:endParaRPr lang="ar-SA" sz="150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Shape 61"/>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6" name="Shape 6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طَائِفَةٌ</a:t>
            </a:r>
            <a:endParaRPr lang="ar-SA" sz="3000" dirty="0"/>
          </a:p>
        </p:txBody>
      </p:sp>
      <p:sp>
        <p:nvSpPr>
          <p:cNvPr id="69" name="Text 6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community, denomination</a:t>
            </a:r>
            <a:endParaRPr lang="en-US" sz="1350" dirty="0"/>
          </a:p>
          <a:p>
            <a:pPr indent="0" marL="0">
              <a:buNone/>
            </a:pPr>
            <a:r>
              <a:rPr lang="en-US" sz="1100" i="1" dirty="0">
                <a:solidFill>
                  <a:srgbClr val="5A6472"/>
                </a:solidFill>
                <a:latin typeface="Calibri" pitchFamily="34" charset="0"/>
                <a:cs typeface="Amiri" pitchFamily="2" charset="-78"/>
              </a:rPr>
              <a:t>ṭā-ʾi-fa-tun</a:t>
            </a:r>
            <a:endParaRPr lang="en-US" sz="1350" dirty="0"/>
          </a:p>
        </p:txBody>
      </p:sp>
      <p:sp>
        <p:nvSpPr>
          <p:cNvPr id="70" name="Shape 6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2" name="Text 6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طَوَائِفُ</a:t>
            </a:r>
            <a:endParaRPr lang="ar-SA" sz="15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Festivals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مِهْرَجَانٌ / مَهْرَجَانَاتٌ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festival / festivals</a:t>
            </a:r>
            <a:endParaRPr lang="en-US" sz="1350" dirty="0"/>
          </a:p>
          <a:p>
            <a:pPr indent="0" marL="0">
              <a:buNone/>
            </a:pPr>
            <a:r>
              <a:rPr lang="en-US" sz="1100" i="1" dirty="0">
                <a:solidFill>
                  <a:srgbClr val="5A6472"/>
                </a:solidFill>
                <a:latin typeface="Calibri" pitchFamily="34" charset="0"/>
                <a:cs typeface="Amiri" pitchFamily="2" charset="-78"/>
              </a:rPr>
              <a:t>mih-ra-jā-nun / mah-ra-jā-nā-tun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of عَرْضٌ.</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عُرُوضٌ</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performances</a:t>
            </a:r>
            <a:endParaRPr lang="en-US" sz="1350" dirty="0"/>
          </a:p>
          <a:p>
            <a:pPr indent="0" marL="0">
              <a:buNone/>
            </a:pPr>
            <a:r>
              <a:rPr lang="en-US" sz="1100" i="1" dirty="0">
                <a:solidFill>
                  <a:srgbClr val="5A6472"/>
                </a:solidFill>
                <a:latin typeface="Calibri" pitchFamily="34" charset="0"/>
                <a:cs typeface="Amiri" pitchFamily="2" charset="-78"/>
              </a:rPr>
              <a:t>ʿu-rū-ḍun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4" name="Shape 3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 تَقْلِيدِيٌّ</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 dress</a:t>
            </a:r>
            <a:endParaRPr lang="en-US" sz="1350" dirty="0"/>
          </a:p>
          <a:p>
            <a:pPr indent="0" marL="0">
              <a:buNone/>
            </a:pPr>
            <a:r>
              <a:rPr lang="en-US" sz="1100" i="1" dirty="0">
                <a:solidFill>
                  <a:srgbClr val="5A6472"/>
                </a:solidFill>
                <a:latin typeface="Calibri" pitchFamily="34" charset="0"/>
                <a:cs typeface="Amiri" pitchFamily="2" charset="-78"/>
              </a:rPr>
              <a:t>ziy-yun taq-lī-diy-yun</a:t>
            </a:r>
            <a:endParaRPr lang="en-US" sz="1350" dirty="0"/>
          </a:p>
        </p:txBody>
      </p:sp>
      <p:sp>
        <p:nvSpPr>
          <p:cNvPr id="40" name="Shape 37"/>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أَزْيَاءٌ تَقْلِيدِيَّةٌ</a:t>
            </a:r>
            <a:endParaRPr lang="ar-SA" sz="15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التَّنَوُّعُ الدِّينِيُّ</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religious diversity</a:t>
            </a:r>
            <a:endParaRPr lang="en-US" sz="1350" dirty="0"/>
          </a:p>
          <a:p>
            <a:pPr indent="0" marL="0">
              <a:buNone/>
            </a:pPr>
            <a:r>
              <a:rPr lang="en-US" sz="1100" i="1" dirty="0">
                <a:solidFill>
                  <a:srgbClr val="5A6472"/>
                </a:solidFill>
                <a:latin typeface="Calibri" pitchFamily="34" charset="0"/>
                <a:cs typeface="Amiri" pitchFamily="2" charset="-78"/>
              </a:rPr>
              <a:t>at-ta-naw-wu-ʿu ad-dī-niy-yu</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العَيْشُ المُشْتَرَكُ</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coexistence</a:t>
            </a:r>
            <a:endParaRPr lang="en-US" sz="1350" dirty="0"/>
          </a:p>
          <a:p>
            <a:pPr indent="0" marL="0">
              <a:buNone/>
            </a:pPr>
            <a:r>
              <a:rPr lang="en-US" sz="1100" i="1" dirty="0">
                <a:solidFill>
                  <a:srgbClr val="5A6472"/>
                </a:solidFill>
                <a:latin typeface="Calibri" pitchFamily="34" charset="0"/>
                <a:cs typeface="Amiri" pitchFamily="2" charset="-78"/>
              </a:rPr>
              <a:t>al-ʿay-shu al-mush-ta-ra-ku</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0" name="Shape 5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يَتَسَامَحُ مَعَ</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tolerant of</a:t>
            </a:r>
            <a:endParaRPr lang="en-US" sz="1350" dirty="0"/>
          </a:p>
          <a:p>
            <a:pPr indent="0" marL="0">
              <a:buNone/>
            </a:pPr>
            <a:r>
              <a:rPr lang="en-US" sz="1100" i="1" dirty="0">
                <a:solidFill>
                  <a:srgbClr val="5A6472"/>
                </a:solidFill>
                <a:latin typeface="Calibri" pitchFamily="34" charset="0"/>
                <a:cs typeface="Amiri" pitchFamily="2" charset="-78"/>
              </a:rPr>
              <a:t>ya-ta-sā-ma-ḥu ma-ʿa</a:t>
            </a:r>
            <a:endParaRPr lang="en-US" sz="1350" dirty="0"/>
          </a:p>
        </p:txBody>
      </p:sp>
      <p:sp>
        <p:nvSpPr>
          <p:cNvPr id="64" name="Text 6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 fixed with </a:t>
            </a:r>
            <a:pPr algn="l" indent="0" marL="0">
              <a:buNone/>
            </a:pPr>
            <a:r>
              <a:rPr lang="ar-SA" altLang="en-US" sz="1300" dirty="0">
                <a:solidFill>
                  <a:srgbClr val="8A6D1E"/>
                </a:solidFill>
                <a:latin typeface="Amiri" pitchFamily="2" charset="-78"/>
                <a:ea typeface="Amiri" pitchFamily="2" charset="-78"/>
                <a:cs typeface="Amiri" pitchFamily="2" charset="-78"/>
              </a:rPr>
              <a:t>مَعَ</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Christmas in Beirut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عِيدُ المِيلَادِ فِي بَيْرُوتَ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Christmas celebrated in Lebanon?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يُحْتَفَلُ بِعِيدِ المِيلَادِ فِي لُبْنَانَ؟</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Lebanon has many Christian communities, and people go to mass at church.</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نَعَمْ، فِي لُبْنَانَ طَوَائِفُ مَسِيحِيَّةٌ كَثِيرَةٌ، وَيَذْهَبُ النَّاسُ إِلَى القُدَّاسِ فِي الكَنِيسَةِ.</a:t>
            </a:r>
            <a:endParaRPr lang="ar-SA" sz="175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Muslims celebrate too?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يَحْتَفِلُ المُسْلِمُونَ أَيْضًا؟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 congratulate their Christian neighbours, and some streets are decorated.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بَعْضُهُمْ يُهَنِّئُونَ جِيرَانَهُمُ المَسِيحِيِّينَ، وَتُزَيَّنُ بَعْضُ الشَّوَارِعِ.</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there other cultural festivals?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هُنَاكَ مِهْرَجَانَاتٌ ثَقَافِيَّةٌ أُخْرَى؟</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like the Baalbek festival — I attended it with my family, and we watched wonderful performances.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مِثْلُ مِهْرَجَانِ بَعْلَبَكَّ؛ حَضَرْتُهُ مَعَ عَائِلَتِي، وَشَاهَدْنَا عُرُوضًا رَائِعَةً.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ANOTHER festival you know (a cultural or national one).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وَأَقَلِّيَّاتٌ أُخْرَى</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هُنَاكَ مُسْلِمُونَ وَمَسِيحِيُّونَ وَ…</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faith communities are in the Arab world?</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الطَّوَائِفُ الدِّينِيَّةُ فِي العَالَمِ العَرَبِيِّ؟</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وَاليَهُودُ فِي الكَنِيسِ</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يُصَلِّي المَسِيحِيُّونَ فِي الكَنِيسَةِ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Christians pray? And Jews?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يُصَلِّي المَسِيحِيُّونَ؟ وَاليَهُودُ؟</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وَشَاهَدْتُ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حَضَرْتُ … / لَا، وَلٰكِنْ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attended a cultural festival?</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حَضَرْتَ مِهْرَجَانًا ثَقَافِيًّا؟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وَتَجْمَعُ النَّاسَ</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are festivals important?</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تُعْتَبَرُ المِهْرَجَانَاتُ مُهِمَّةً؟</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56648" y="521573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نُهَنِّئُهُمْ … / نَتَعَرَّفُ عَلَى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we respect others’ celebrations?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نَحْتَرِمُ احْتِفَالَاتِ الآخَرِينَ؟</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reporting on a cultural festival</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عَنْ مِهْرَجَانٍ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المِهْرَجَانُ ← حَضَرْتُ مِهْرَجَانَ …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place.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مِهْرَجَانٍ حَضَرْتَ؟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شَاهَدْتُ ← شَاهَدْتُ … وَسَمِعْتُ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past details.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شَاهَدْتَ؟</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Diversity, precisely.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كَانَ هُنَاكَ؟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Balanced judgement.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المِهْرَجَانِ؟</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young reporter who attended · Leader = the editor of the school magazine.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 diverse region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مِنْطَقَةٌ مُتَنَوِّعَةٌ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diversity in the Arab world: faith communities, one celebration beyond Islam, one cultural festival, and a balanced view.</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Name two communities and one celebration accurately.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festival you attended or read about (past).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Christians in Egypt celebrate Christmas in January.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يَحْتَفِلُ المَسِيحِيُّونَ فِي مِصْرَ</a:t>
            </a:r>
            <a:endParaRPr lang="ar-SA" sz="175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يَحْتَفِلُونَ المَسِيحِيُّونَ فِي مِصْرَ</a:t>
            </a:r>
            <a:endParaRPr lang="ar-SA" sz="16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 المِيلَادِ</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عِيدَ المِيلَادِ</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شَهْرِ يَنَايِرَ.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شَهْرُ يَنَايِرَ.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attended a festival and watched performances.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حَضَرْتُ مِهْرَجَانًا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حَضَرْتُ مِهْرَجَانٌ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وَشَاهَدْتُ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وَأُشَاهِدُ</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عُرُوضًا رَائِعَةً.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عُرُوضٌ رَائِعَةٌ.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Although the communities are different, they live together.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الرَّغْمِ مِنْ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الرَّغْمِ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الطَّوَائِفَ مُخْتَلِفَةٌ،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الطَّوَائِفُ مُخْتَلِفَةٌ،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فَإِنَّهَا تَعِيشُ مَعًا.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فَإِنَّهُمْ تَعِيشُ مَعًا.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Christians in Egypt celebrate Christmas in January.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يَحْتَفِلُ بِ</a:t>
            </a:r>
            <a:pPr algn="l" indent="0" marL="0">
              <a:buNone/>
            </a:pPr>
            <a:r>
              <a:rPr lang="en-US" sz="1050" i="1" dirty="0">
                <a:solidFill>
                  <a:srgbClr val="5A6472"/>
                </a:solidFill>
                <a:latin typeface="Calibri" pitchFamily="34" charset="0"/>
                <a:cs typeface="Amiri" pitchFamily="2" charset="-78"/>
              </a:rPr>
              <a:t>…; verb first stays singular.</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يَحْتَفِلُ المَسِيحِيُّونَ فِي مِصْرَ بِعِيدِ المِيلَادِ فِي شَهْرِ يَنَايِرَ.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attended a festival and watched performances.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narration; objects in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حَضَرْتُ مِهْرَجَانًا وَشَاهَدْتُ عُرُوضًا رَائِعَةً.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Although the communities are different, they live together.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non-human plural → </a:t>
            </a:r>
            <a:pPr algn="l" indent="0" marL="0">
              <a:buNone/>
            </a:pPr>
            <a:r>
              <a:rPr lang="ar-SA" altLang="en-US" sz="1350" dirty="0">
                <a:solidFill>
                  <a:srgbClr val="5A6472"/>
                </a:solidFill>
                <a:latin typeface="Amiri" pitchFamily="2" charset="-78"/>
                <a:ea typeface="Amiri" pitchFamily="2" charset="-78"/>
                <a:cs typeface="Amiri" pitchFamily="2" charset="-78"/>
              </a:rPr>
              <a:t>هَا</a:t>
            </a:r>
            <a:pPr algn="l" indent="0" marL="0">
              <a:buNone/>
            </a:pPr>
            <a:r>
              <a:rPr lang="en-US" sz="1050" i="1" dirty="0">
                <a:solidFill>
                  <a:srgbClr val="5A6472"/>
                </a:solidFill>
                <a:latin typeface="Calibri" pitchFamily="34" charset="0"/>
                <a:cs typeface="Amiri" pitchFamily="2" charset="-78"/>
              </a:rPr>
              <a:t> + f. 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عَلَى الرَّغْمِ مِنْ أَنَّ الطَّوَائِفَ مُخْتَلِفَةٌ، فَإِنَّهَا تَعِيشُ مَعًا.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يُصَلِّي اليَهُودُ فِي الكَنِيسَةِ.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Precise vocabulary.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مُسْلِمُونَ.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Accurate?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حَضَرْتُ المِهْرَجَانَ وَأُشَاهِدُ العُرُوضَ.</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Keep one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يُصَلِّي اليَهُودُ فِي الكَنِيسَةِ.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يُصَلِّي اليَهُودُ فِي الكَنِيسِ.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كَنِيسٌ</a:t>
            </a:r>
            <a:pPr algn="l" indent="0" marL="0">
              <a:buNone/>
            </a:pPr>
            <a:r>
              <a:rPr lang="en-US" sz="1150" b="1" dirty="0">
                <a:solidFill>
                  <a:srgbClr val="1B3B6F"/>
                </a:solidFill>
                <a:latin typeface="Calibri" pitchFamily="34" charset="0"/>
                <a:cs typeface="Amiri" pitchFamily="2" charset="-78"/>
              </a:rPr>
              <a:t> = synagogue; </a:t>
            </a:r>
            <a:pPr algn="l" indent="0" marL="0">
              <a:buNone/>
            </a:pPr>
            <a:r>
              <a:rPr lang="ar-SA" altLang="en-US" sz="1500" b="1" dirty="0">
                <a:solidFill>
                  <a:srgbClr val="1B3B6F"/>
                </a:solidFill>
                <a:latin typeface="Amiri" pitchFamily="2" charset="-78"/>
                <a:ea typeface="Amiri" pitchFamily="2" charset="-78"/>
                <a:cs typeface="Amiri" pitchFamily="2" charset="-78"/>
              </a:rPr>
              <a:t>كَنِيسَةٌ</a:t>
            </a:r>
            <a:pPr algn="l" indent="0" marL="0">
              <a:buNone/>
            </a:pPr>
            <a:r>
              <a:rPr lang="en-US" sz="1150" b="1" dirty="0">
                <a:solidFill>
                  <a:srgbClr val="1B3B6F"/>
                </a:solidFill>
                <a:latin typeface="Calibri" pitchFamily="34" charset="0"/>
                <a:cs typeface="Amiri" pitchFamily="2" charset="-78"/>
              </a:rPr>
              <a:t> = church.</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مُسْلِمُونَ.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أَغْلَبُ العَرَبِ مُسْلِمُونَ، وَهُنَاكَ مَسِيحِيُّونَ وَأَقَلِّيَّاتٌ أُخْرَى.</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region is multi-faith.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حَضَرْتُ المِهْرَجَانَ وَأُشَاهِدُ العُرُوضَ.</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حَضَرْتُ المِهْرَجَانَ وَشَاهَدْتُ العُرُوضَ.</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story stays in the past.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العَالَمِ العَرَبِيِّ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Arab world there are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يَحْتَفِلُ ______ بِ______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celebrate …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حَضَرْتُ ______ ، وَشَاهَدْتُ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attended …, and watched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التَّنَوُّعُ مُهِمٌّ،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diversity matters,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عِيدُ المِيلَادِ  ·  كَنِيسَةٌ · قُدَّاسٌ  ·  كَنِيسٌ يَهُودِيٌّ  ·  طَائِفَةٌ · أَقَلِّيَّةٌ  ·  مِهْرَجَانٌ · عُرُوضٌ  ·  زِيٌّ تَقْلِيدِيٌّ  ·  مِنْ نَاحِيَةٍ أُخْرَى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Celebrating diversity — a balanced paragraph</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نَحْتَفِلُ بِالتَّنَوُّعِ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balanced paragraph (about 60–80 words) for the school’s Diversity Week. Include: • two faith communities in the Arab world, named precisely • one celebration beyond Islam • one festival you attended or read about (past) • </a:t>
            </a:r>
            <a:pPr algn="l" indent="0" marL="0">
              <a:buNone/>
            </a:pPr>
            <a:r>
              <a:rPr lang="ar-SA" altLang="en-US" sz="1450" b="1"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100" b="1" dirty="0">
                <a:solidFill>
                  <a:srgbClr val="1F2A37"/>
                </a:solidFill>
                <a:latin typeface="Calibri" pitchFamily="34" charset="0"/>
                <a:cs typeface="Amiri" pitchFamily="2" charset="-78"/>
              </a:rPr>
              <a:t> … • your view on why diversity matters.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العَالَمِ العَرَبِيِّ طَوَائِفُ مُخْتَلِفَةٌ، مِثْلُ …</a:t>
            </a:r>
            <a:endParaRPr lang="ar-SA" sz="17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different communities in the Arab world, like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يَحْتَفِلُ … بِ…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celebrate …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حَضَرْتُ / قَرَأْتُ عَنْ مِهْرَجَانِ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attended / read about the … festival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one hand … on the other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communities and places of worship precisely?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narrate a festival in the past and give a balanced view?</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مِهْرَجَانَ جَرَشَ لِلثَّقَافَةِ وَالفُنُونِ فِي الأُرْدُنِّ.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attended the Jerash Festival of Culture and Arts in Jordan.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مِهْرَجَانٍ حَضَرْتَ؟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شَاهَدْتُ عُرُوضًا رَاقِصَةً بِالزِّيِّ التَّقْلِيدِيِّ، وَسَمِعْتُ فِرْقَةً مِنْ تُونِسَ.</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watched dance performances in traditional dress, and heard a band from Tunisia.</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شَاهَدْتَ؟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هُنَاكَ أُرْدُنِيُّونَ مِنْ كُلِّ الطَّوَائِفِ، وَسُيَّاحٌ مِنْ بُلْدَانٍ كَثِيرَةٍ.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were Jordanians of every community, and tourists from many countries.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كَانَ هُنَاكَ؟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نَاحِيَةٍ كَانَ مُزْدَحِمًا، وَمِنْ نَاحِيَةٍ أُخْرَى كَانَ فُرْصَةً رَائِعَةً لِلتَّعَارُفِ.</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one hand it was crowded; on the other, it was a wonderful chance to meet people.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المِهْرَجَانِ؟</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العَالَمِ العَرَبِيِّ يَعِيشُ مُسْلِمُونَ وَمَسِيحِيُّونَ، وَهُنَاكَ أَيْضًا أَقَلِّيَّاتٌ صَغِيرَةٌ. يَحْتَفِلُ المَسِيحِيُّونَ فِي مِصْرَ بِعِيدِ المِيلَادِ فِي يَنَايِرَ، وَيَذْهَبُونَ إِلَى القُدَّاسِ فِي الكَنِيسَةِ. فِي الصَّيْفِ المَاضِي حَضَرْتُ مِهْرَجَانَ جَرَشَ فِي الأُرْدُنِّ، وَشَاهَدْتُ عُرُوضًا بِالزِّيِّ التَّقْلِيدِيِّ. مِنْ نَاحِيَةٍ، تَخْتَلِفُ الطَّوَائِفُ فِي عَادَاتِهَا، وَمِنْ نَاحِيَةٍ أُخْرَى، يُهَنِّئُ الجِيرَانُ بَعْضُهُمْ بَعْضًا فِي الأَعْيَادِ. فِي رَأْيِي التَّنَوُّعُ مُهِمٌّ، لِأَنَّهُ يُعَلِّمُنَا الاحْتِرَامَ وَيَجْعَلُ ثَقَافَتَنَا أَغْنَى.</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Arab world Muslims and Christians live together, and there are also small minorities. Christians in Egypt celebrate Christmas in January and go to mass at church. Last summer I attended the Jerash Festival in Jordan, and watched performances in traditional dress. On one hand, communities differ in their customs; on the other hand, neighbours congratulate each other at festivals. In my opinion diversity matters, because it teaches us respect and makes our culture richer.”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يَحْتَفِلُ المَسِيحِيُّونَ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حَضَرْتُ مِهْرَجَانَ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وَمِنْ نَاحِيَةٍ أُخْرَى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رَأْيِي التَّنَوُّعُ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D6-L05 · Comparing Countries — Global Connections and the Arab Diaspora</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مُقَارَنَةُ الدُّوَلِ — الرَّوَابِطُ العَالَمِيَّةُ وَالجَالِيَةُ العَرَبِيَّةُ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D6-L04 · Practice Room — Cultural Celebrations Beyond Islam in the Arab World</dc:title>
  <dc:subject>PptxGenJS Presentation</dc:subject>
  <dc:creator>Al Madina Online School · Arabic Department</dc:creator>
  <cp:lastModifiedBy>Al Madina Online School · Arabic Department</cp:lastModifiedBy>
  <cp:revision>1</cp:revision>
  <dcterms:created xsi:type="dcterms:W3CDTF">2026-10-25T18:50:29Z</dcterms:created>
  <dcterms:modified xsi:type="dcterms:W3CDTF">2026-10-25T18:50:29Z</dcterms:modified>
</cp:coreProperties>
</file>