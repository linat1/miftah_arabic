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D6-L03 (Islamic Celebrations — Eid, Ramadan and Religious Occasions) — new practice tasks built on the lesson’s own word bank and grammar (the general custom in the present (yaṣūmu al-muslimūna · yatanāwalūna al-suḥūra); what is done with the passive (tuzayyanu al-shawāriʿ · tuwazzaʿu al-ḥalwā · tutabādalu al-tahānī); your own memory in the past (ṣumtu li-awwali marratin · zurnā); a hedge for variety (fī baʿḍi al-buldān · tukhtalifu al-ʿādāt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D6-L03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if you are a girl: أَنَا صَائِمَةٌ; to a girl classmate: تَعَالَيْ · عَلَيْكِ. General custom → present; what is done → passive; your memory → past.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D6-L03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Islamic Celebrations — Eid, Ramadan and Religious Occasions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رَمَضَانُ وَالعِيدَانِ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Ramadan and Eid: say the celebration words, act an Eid-morning dialogue, answer question cards, do a role-play card explaining Ramadan to a non-Muslim classmate, give a one-minute talk about Eid in their family, then build, fix and write a piece about Ramadan and Eid in three tenses.</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D6-L03 · Development D6 · Countries, Cultures and Celebrations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Ramadan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رَمَضَانُ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Ramadan</a:t>
            </a:r>
            <a:endParaRPr lang="en-US" sz="1350" dirty="0"/>
          </a:p>
          <a:p>
            <a:pPr indent="0" marL="0">
              <a:buNone/>
            </a:pPr>
            <a:r>
              <a:rPr lang="en-US" sz="1100" i="1" dirty="0">
                <a:solidFill>
                  <a:srgbClr val="5A6472"/>
                </a:solidFill>
                <a:latin typeface="Calibri" pitchFamily="34" charset="0"/>
                <a:cs typeface="Amiri" pitchFamily="2" charset="-78"/>
              </a:rPr>
              <a:t>ra-ma-ḍā-nu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diptote: </a:t>
            </a:r>
            <a:pPr algn="l" indent="0" marL="0">
              <a:buNone/>
            </a:pPr>
            <a:r>
              <a:rPr lang="ar-SA" altLang="en-US" sz="1300" dirty="0">
                <a:solidFill>
                  <a:srgbClr val="8A6D1E"/>
                </a:solidFill>
                <a:latin typeface="Amiri" pitchFamily="2" charset="-78"/>
                <a:ea typeface="Amiri" pitchFamily="2" charset="-78"/>
                <a:cs typeface="Amiri" pitchFamily="2" charset="-78"/>
              </a:rPr>
              <a:t>فِي رَمَضَانَ</a:t>
            </a:r>
            <a:pPr algn="l" indent="0" marL="0">
              <a:buNone/>
            </a:pPr>
            <a:r>
              <a:rPr lang="en-US" sz="1000" i="1" dirty="0">
                <a:solidFill>
                  <a:srgbClr val="8A6D1E"/>
                </a:solidFill>
                <a:latin typeface="Calibri" pitchFamily="34" charset="0"/>
                <a:cs typeface="Amiri" pitchFamily="2" charset="-78"/>
              </a:rPr>
              <a:t>, never </a:t>
            </a:r>
            <a:pPr algn="l" indent="0" marL="0">
              <a:buNone/>
            </a:pPr>
            <a:r>
              <a:rPr lang="ar-SA" altLang="en-US" sz="1300" dirty="0">
                <a:solidFill>
                  <a:srgbClr val="8A6D1E"/>
                </a:solidFill>
                <a:latin typeface="Amiri" pitchFamily="2" charset="-78"/>
                <a:ea typeface="Amiri" pitchFamily="2" charset="-78"/>
                <a:cs typeface="Amiri" pitchFamily="2" charset="-78"/>
              </a:rPr>
              <a:t>رَمَضَانٍ</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704442"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70444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 forms are current.</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الصِّيَامُ / الصَّوْمُ</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fasting</a:t>
            </a:r>
            <a:endParaRPr lang="en-US" sz="1350" dirty="0"/>
          </a:p>
          <a:p>
            <a:pPr indent="0" marL="0">
              <a:buNone/>
            </a:pPr>
            <a:r>
              <a:rPr lang="en-US" sz="1100" i="1" dirty="0">
                <a:solidFill>
                  <a:srgbClr val="5A6472"/>
                </a:solidFill>
                <a:latin typeface="Calibri" pitchFamily="34" charset="0"/>
                <a:cs typeface="Amiri" pitchFamily="2" charset="-78"/>
              </a:rPr>
              <a:t>aṣ-ṣi-yā-mu / aṣ-ṣaw-mu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we · she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يَصُومُ / صَامَ</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fasts / fasted</a:t>
            </a:r>
            <a:endParaRPr lang="en-US" sz="1350" dirty="0"/>
          </a:p>
          <a:p>
            <a:pPr indent="0" marL="0">
              <a:buNone/>
            </a:pPr>
            <a:r>
              <a:rPr lang="en-US" sz="1100" i="1" dirty="0">
                <a:solidFill>
                  <a:srgbClr val="5A6472"/>
                </a:solidFill>
                <a:latin typeface="Calibri" pitchFamily="34" charset="0"/>
                <a:cs typeface="Amiri" pitchFamily="2" charset="-78"/>
              </a:rPr>
              <a:t>ya-ṣū-mu / ṣā-ma</a:t>
            </a:r>
            <a:endParaRPr lang="en-US" sz="1350" dirty="0"/>
          </a:p>
        </p:txBody>
      </p:sp>
      <p:sp>
        <p:nvSpPr>
          <p:cNvPr id="41" name="Shape 38"/>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صَامَتْ</a:t>
            </a:r>
            <a:endParaRPr lang="ar-SA" sz="1500" dirty="0"/>
          </a:p>
        </p:txBody>
      </p:sp>
      <p:sp>
        <p:nvSpPr>
          <p:cNvPr id="44" name="Shape 41"/>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6" name="Text 43"/>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صُمْنَا</a:t>
            </a:r>
            <a:endParaRPr lang="ar-SA" sz="1500" dirty="0"/>
          </a:p>
        </p:txBody>
      </p:sp>
      <p:sp>
        <p:nvSpPr>
          <p:cNvPr id="47" name="Shape 44"/>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9" name="Text 46"/>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صُمْتُ</a:t>
            </a:r>
            <a:endParaRPr lang="ar-SA" sz="1500" dirty="0"/>
          </a:p>
        </p:txBody>
      </p:sp>
      <p:sp>
        <p:nvSpPr>
          <p:cNvPr id="50" name="Shape 4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8211312"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3" name="Shape 5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الإِفْطَارُ</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iftar, the evening meal</a:t>
            </a:r>
            <a:endParaRPr lang="en-US" sz="1350" dirty="0"/>
          </a:p>
          <a:p>
            <a:pPr indent="0" marL="0">
              <a:buNone/>
            </a:pPr>
            <a:r>
              <a:rPr lang="en-US" sz="1100" i="1" dirty="0">
                <a:solidFill>
                  <a:srgbClr val="5A6472"/>
                </a:solidFill>
                <a:latin typeface="Calibri" pitchFamily="34" charset="0"/>
                <a:cs typeface="Amiri" pitchFamily="2" charset="-78"/>
              </a:rPr>
              <a:t>al-if-ṭā-ru</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0" name="Shape 5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السَّحُورُ</a:t>
            </a:r>
            <a:endParaRPr lang="ar-SA" sz="3000" dirty="0"/>
          </a:p>
        </p:txBody>
      </p:sp>
      <p:sp>
        <p:nvSpPr>
          <p:cNvPr id="63" name="Text 6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suhoor, the pre-dawn meal</a:t>
            </a:r>
            <a:endParaRPr lang="en-US" sz="1350" dirty="0"/>
          </a:p>
          <a:p>
            <a:pPr indent="0" marL="0">
              <a:buNone/>
            </a:pPr>
            <a:r>
              <a:rPr lang="en-US" sz="1100" i="1" dirty="0">
                <a:solidFill>
                  <a:srgbClr val="5A6472"/>
                </a:solidFill>
                <a:latin typeface="Calibri" pitchFamily="34" charset="0"/>
                <a:cs typeface="Amiri" pitchFamily="2" charset="-78"/>
              </a:rPr>
              <a:t>as-sa-ḥū-ru</a:t>
            </a:r>
            <a:endParaRPr lang="en-US" sz="1350" dirty="0"/>
          </a:p>
        </p:txBody>
      </p:sp>
      <p:sp>
        <p:nvSpPr>
          <p:cNvPr id="64" name="Shape 6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566928"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7" name="Shape 6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الهِلَالُ</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crescent moon</a:t>
            </a:r>
            <a:endParaRPr lang="en-US" sz="1350" dirty="0"/>
          </a:p>
          <a:p>
            <a:pPr indent="0" marL="0">
              <a:buNone/>
            </a:pPr>
            <a:r>
              <a:rPr lang="en-US" sz="1100" i="1" dirty="0">
                <a:solidFill>
                  <a:srgbClr val="5A6472"/>
                </a:solidFill>
                <a:latin typeface="Calibri" pitchFamily="34" charset="0"/>
                <a:cs typeface="Amiri" pitchFamily="2" charset="-78"/>
              </a:rPr>
              <a:t>al-hi-lā-lu</a:t>
            </a:r>
            <a:endParaRPr lang="en-US" sz="1350" dirty="0"/>
          </a:p>
        </p:txBody>
      </p:sp>
      <p:sp>
        <p:nvSpPr>
          <p:cNvPr id="71" name="Text 6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Its sighting marks the start of the month.</a:t>
            </a:r>
            <a:endParaRPr lang="en-US" sz="10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Eid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الفِطْرِ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al-Fitr</a:t>
            </a:r>
            <a:endParaRPr lang="en-US" sz="1350" dirty="0"/>
          </a:p>
          <a:p>
            <a:pPr indent="0" marL="0">
              <a:buNone/>
            </a:pPr>
            <a:r>
              <a:rPr lang="en-US" sz="1100" i="1" dirty="0">
                <a:solidFill>
                  <a:srgbClr val="5A6472"/>
                </a:solidFill>
                <a:latin typeface="Calibri" pitchFamily="34" charset="0"/>
                <a:cs typeface="Amiri" pitchFamily="2" charset="-78"/>
              </a:rPr>
              <a:t>ʿī-du al-fiṭ-ri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Marks the end of Ramadan.</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 الأَضْحَى</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al-Adha</a:t>
            </a:r>
            <a:endParaRPr lang="en-US" sz="1350" dirty="0"/>
          </a:p>
          <a:p>
            <a:pPr indent="0" marL="0">
              <a:buNone/>
            </a:pPr>
            <a:r>
              <a:rPr lang="en-US" sz="1100" i="1" dirty="0">
                <a:solidFill>
                  <a:srgbClr val="5A6472"/>
                </a:solidFill>
                <a:latin typeface="Calibri" pitchFamily="34" charset="0"/>
                <a:cs typeface="Amiri" pitchFamily="2" charset="-78"/>
              </a:rPr>
              <a:t>ʿī-du al-aḍ-ḥā</a:t>
            </a:r>
            <a:endParaRPr lang="en-US" sz="135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صَلَاةُ العِيدِ</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Eid prayer</a:t>
            </a:r>
            <a:endParaRPr lang="en-US" sz="1350" dirty="0"/>
          </a:p>
          <a:p>
            <a:pPr indent="0" marL="0">
              <a:buNone/>
            </a:pPr>
            <a:r>
              <a:rPr lang="en-US" sz="1100" i="1" dirty="0">
                <a:solidFill>
                  <a:srgbClr val="5A6472"/>
                </a:solidFill>
                <a:latin typeface="Calibri" pitchFamily="34" charset="0"/>
                <a:cs typeface="Amiri" pitchFamily="2" charset="-78"/>
              </a:rPr>
              <a:t>ṣa-lā-tu al-ʿī-di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زَكَاةُ الفِطْرِ</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zakat al-Fitr</a:t>
            </a:r>
            <a:endParaRPr lang="en-US" sz="1350" dirty="0"/>
          </a:p>
          <a:p>
            <a:pPr indent="0" marL="0">
              <a:buNone/>
            </a:pPr>
            <a:r>
              <a:rPr lang="en-US" sz="1100" i="1" dirty="0">
                <a:solidFill>
                  <a:srgbClr val="5A6472"/>
                </a:solidFill>
                <a:latin typeface="Calibri" pitchFamily="34" charset="0"/>
                <a:cs typeface="Amiri" pitchFamily="2" charset="-78"/>
              </a:rPr>
              <a:t>za-kā-tu al-fiṭ-ri</a:t>
            </a:r>
            <a:endParaRPr lang="en-US" sz="1350" dirty="0"/>
          </a:p>
        </p:txBody>
      </p:sp>
      <p:sp>
        <p:nvSpPr>
          <p:cNvPr id="44" name="Text 4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Charity given before the Eid prayer.</a:t>
            </a:r>
            <a:endParaRPr lang="en-US" sz="100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8" name="Shape 4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عِيدِيَّةٌ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Eid money given to children</a:t>
            </a:r>
            <a:endParaRPr lang="en-US" sz="1350" dirty="0"/>
          </a:p>
          <a:p>
            <a:pPr indent="0" marL="0">
              <a:buNone/>
            </a:pPr>
            <a:r>
              <a:rPr lang="en-US" sz="1100" i="1" dirty="0">
                <a:solidFill>
                  <a:srgbClr val="5A6472"/>
                </a:solidFill>
                <a:latin typeface="Calibri" pitchFamily="34" charset="0"/>
                <a:cs typeface="Amiri" pitchFamily="2" charset="-78"/>
              </a:rPr>
              <a:t>ʿī-diy-ya-tun</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7" name="Shape 5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active</a:t>
            </a:r>
            <a:endParaRPr lang="en-US" sz="800" dirty="0"/>
          </a:p>
        </p:txBody>
      </p:sp>
      <p:sp>
        <p:nvSpPr>
          <p:cNvPr id="59" name="Shape 56"/>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تُتَبَادَلُ</a:t>
            </a:r>
            <a:endParaRPr lang="ar-SA" sz="3000" dirty="0"/>
          </a:p>
        </p:txBody>
      </p:sp>
      <p:sp>
        <p:nvSpPr>
          <p:cNvPr id="62" name="Text 5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are exchanged</a:t>
            </a:r>
            <a:endParaRPr lang="en-US" sz="1350" dirty="0"/>
          </a:p>
          <a:p>
            <a:pPr indent="0" marL="0">
              <a:buNone/>
            </a:pPr>
            <a:r>
              <a:rPr lang="en-US" sz="1100" i="1" dirty="0">
                <a:solidFill>
                  <a:srgbClr val="5A6472"/>
                </a:solidFill>
                <a:latin typeface="Calibri" pitchFamily="34" charset="0"/>
                <a:cs typeface="Amiri" pitchFamily="2" charset="-78"/>
              </a:rPr>
              <a:t>tu-ta-bā-da-lu</a:t>
            </a:r>
            <a:endParaRPr lang="en-US" sz="1350" dirty="0"/>
          </a:p>
        </p:txBody>
      </p:sp>
      <p:sp>
        <p:nvSpPr>
          <p:cNvPr id="63" name="Shape 60"/>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active</a:t>
            </a:r>
            <a:endParaRPr lang="en-US" sz="700" dirty="0"/>
          </a:p>
        </p:txBody>
      </p:sp>
      <p:sp>
        <p:nvSpPr>
          <p:cNvPr id="65" name="Text 62"/>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يَتَبَادَلُ</a:t>
            </a:r>
            <a:endParaRPr lang="ar-SA"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Eid morning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صَبَاحُ 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Mubarak! How do you celebrate Eid?</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عِيدٌ مُبَارَكٌ! كَيْفَ تَحْتَفِلُونَ بِالعِيدِ؟</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go to the Eid prayer in the morning, then visit relatives.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نَذْهَبُ إِلَى صَلَاةِ العِيدِ صَبَاحًا، ثُمَّ نَزُورُ الأَقَارِبَ.</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happens at home?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يَحْدُثُ فِي البَيْتِ؟</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is decorated, and sweets and Eid money are handed out to the children.</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يُزَيَّنُ البَيْتُ، وَتُوَزَّعُ الحَلْوَى وَالعِيدِيَّةُ عَلَى الأَطْفَالِ.</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remember the first Ramadan you fasted?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تَتَذَكَّرُ أَوَّلَ رَمَضَانَ صُمْتَهُ؟</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fasted for the first time when I was nine, and the day was very long!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صُمْتُ لِأَوَّلِ مَرَّةٍ وَأَنَا فِي التَّاسِعَةِ، وَكَانَ اليَوْمُ طَوِيلًا جِدًّا!</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family’s Eid — present for habits, past for a memory.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وَيَتَنَاوَلُونَ السَّحُورَ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يَصُومُ المُسْلِمُونَ مِنَ الفَجْرِ إِلَى المَغْرِبِ …</a:t>
            </a:r>
            <a:endParaRPr lang="ar-SA" sz="14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Muslims do in Ramadan?</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يَفْعَلُ المُسْلِمُونَ فِي رَمَضَانَ؟</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نُفْطِرُ عَلَى التَّمْرِ وَ…</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iftar?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تَأْكُلُونَ عَلَى الإِفْطَارِ؟</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تُزَيَّنُ البُيُوتُ / الشَّوَارِعُ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decorated at Eid?</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يُزَيَّنُ فِي العِيدِ؟</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عِيدُ الفِطْرِ بَعْدَ رَمَضَانَ، بَيْنَمَا عِيدُ الأَضْحَى …</a:t>
            </a:r>
            <a:endParaRPr lang="ar-SA" sz="13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Difference between Eid al-Fitr and Eid al-Adha?</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الفَرْقُ بَيْنَ عِيدِ الفِطْرِ وَعِيدِ الأَضْحَى؟</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أَتَذَكَّرُ … عِنْدَمَا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Tell a Ramadan memory.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احْكِ عَنْ ذِكْرَى مِنْ رَمَضَانَ.</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explaining Ramadan to a classmate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أَشْرَحُ رَمَضَانَ لِزَمِيلٍ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الصِّيَامُ ← أَنَا صَائِمٌ لِأَنَّ … ؛ نَصُومُ مِنْ … إِلَى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fasting.</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لَا تَأْكُلُ فِي الغَدَاءِ؟</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الجَوَابُ ← أَحْيَانًا … وَلٰكِنَّهُ يُعَلِّمُنَا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Honest answer + benefit.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أَلَيْسَ ذٰلِكَ صَعْبًا؟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Eid with the passive.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يَحْدُثُ فِي آخِرِ الشَّهْرِ؟</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Invite warmly.</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أَسْتَطِيعُ أَنْ أُفْطِرَ مَعَكُمْ يَوْمًا؟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Muslim student · Leader = a curious non-Muslim classmate.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Eid in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العِيدُ فِي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Eid or Ramadan in your family: what usually happens, what is done (passive), a memory, and a fair note about variety.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present-tense habits.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two passives (</a:t>
            </a:r>
            <a:pPr algn="l" indent="0" marL="0">
              <a:buNone/>
            </a:pPr>
            <a:r>
              <a:rPr lang="ar-SA" altLang="en-US" sz="1500" dirty="0">
                <a:solidFill>
                  <a:srgbClr val="1F2A37"/>
                </a:solidFill>
                <a:latin typeface="Amiri" pitchFamily="2" charset="-78"/>
                <a:ea typeface="Amiri" pitchFamily="2" charset="-78"/>
                <a:cs typeface="Amiri" pitchFamily="2" charset="-78"/>
              </a:rPr>
              <a:t>تُزَيَّنُ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تُوَزَّعُ</a:t>
            </a:r>
            <a:pPr algn="l" indent="0" marL="0">
              <a:buNone/>
            </a:pPr>
            <a:r>
              <a:rPr lang="en-US" sz="1150" dirty="0">
                <a:solidFill>
                  <a:srgbClr val="1F2A37"/>
                </a:solidFill>
                <a:latin typeface="Calibri" pitchFamily="34" charset="0"/>
                <a:cs typeface="Amiri" pitchFamily="2" charset="-78"/>
              </a:rPr>
              <a:t>) and a past memory.</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hedge (</a:t>
            </a:r>
            <a:pPr algn="l" indent="0" marL="0">
              <a:buNone/>
            </a:pPr>
            <a:r>
              <a:rPr lang="ar-SA" altLang="en-US" sz="1500" dirty="0">
                <a:solidFill>
                  <a:srgbClr val="1F2A37"/>
                </a:solidFill>
                <a:latin typeface="Amiri" pitchFamily="2" charset="-78"/>
                <a:ea typeface="Amiri" pitchFamily="2" charset="-78"/>
                <a:cs typeface="Amiri" pitchFamily="2" charset="-78"/>
              </a:rPr>
              <a:t>تَخْتَلِفُ العَادَاتُ</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فِي بَعْضِ البُلْدَانِ</a:t>
            </a:r>
            <a:pPr algn="l" indent="0" marL="0">
              <a:buNone/>
            </a:pPr>
            <a:r>
              <a:rPr lang="en-US" sz="1150" dirty="0">
                <a:solidFill>
                  <a:srgbClr val="1F2A37"/>
                </a:solidFill>
                <a:latin typeface="Calibri" pitchFamily="34" charset="0"/>
                <a:cs typeface="Amiri" pitchFamily="2" charset="-78"/>
              </a:rPr>
              <a:t>) and what Eid means to you.</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Muslims fast from dawn to sunset.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يَصُومُ المُسْلِمُونَ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يَصُومُونَ المُسْلِمُونَ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الفَجْرِ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الفَجْرِ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المَغْرِبِ.</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المَغْرِبُ.</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streets are decorated with lights.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تُزَيَّنُ</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تُزَيِّنُ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الشَّوَارِعُ</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الشَّوَارِعَ</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بِالأَنْوَارِ.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بِالأَنْوَارُ.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fasted for the first time when I was ten.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صُمْتُ</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صَامْتُ</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لِأَوَّلِ مَرَّةٍ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لِأَوَّلُ مَرَّةٍ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وَأَنَا فِي العَاشِرَةِ.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وَأَنَا فِي عَشَرَةٍ.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Muslims fast from dawn to sunset.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Verb before a plural subject stays singular;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before al-.</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يَصُومُ المُسْلِمُونَ مِنَ الفَجْرِ إِلَى المَغْرِبِ.</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streets are decorated with lights.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a:t>
            </a:r>
            <a:pPr algn="l" indent="0" marL="0">
              <a:buNone/>
            </a:pPr>
            <a:r>
              <a:rPr lang="ar-SA" altLang="en-US" sz="1350" dirty="0">
                <a:solidFill>
                  <a:srgbClr val="5A6472"/>
                </a:solidFill>
                <a:latin typeface="Amiri" pitchFamily="2" charset="-78"/>
                <a:ea typeface="Amiri" pitchFamily="2" charset="-78"/>
                <a:cs typeface="Amiri" pitchFamily="2" charset="-78"/>
              </a:rPr>
              <a:t>تُزَيَّنُ</a:t>
            </a:r>
            <a:pPr algn="l" indent="0" marL="0">
              <a:buNone/>
            </a:pPr>
            <a:r>
              <a:rPr lang="en-US" sz="1050" i="1" dirty="0">
                <a:solidFill>
                  <a:srgbClr val="5A6472"/>
                </a:solidFill>
                <a:latin typeface="Calibri" pitchFamily="34" charset="0"/>
                <a:cs typeface="Amiri" pitchFamily="2" charset="-78"/>
              </a:rPr>
              <a:t> (-ya-) + subject in -u.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تُزَيَّنُ الشَّوَارِعُ بِالأَنْوَارِ.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fasted for the first time when I was ten.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صَامَ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صُمْتُ</a:t>
            </a:r>
            <a:pPr algn="l" indent="0" marL="0">
              <a:buNone/>
            </a:pPr>
            <a:r>
              <a:rPr lang="en-US" sz="1050" i="1" dirty="0">
                <a:solidFill>
                  <a:srgbClr val="5A6472"/>
                </a:solidFill>
                <a:latin typeface="Calibri" pitchFamily="34" charset="0"/>
                <a:cs typeface="Amiri" pitchFamily="2" charset="-78"/>
              </a:rPr>
              <a:t> (hollow 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صُمْتُ لِأَوَّلِ مَرَّةٍ وَأَنَا فِي العَاشِرَةِ.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تُوَزِّعُ الحَلْوَى عَلَى الأَطْفَالِ.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distributes? (passive)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صَامْتُ رَمَضَانَ كُلَّهُ.</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Hollow verb stem.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المُسْلِمِينَ يَأْكُلُونَ نَفْسَ الطَّعَامِ فِي العِيدِ.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Accurate?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تُوَزِّعُ الحَلْوَى عَلَى الأَطْفَالِ.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تُوَزَّعُ الحَلْوَى عَلَى الأَطْفَالِ.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Passive vowel: </a:t>
            </a:r>
            <a:pPr algn="l" indent="0" marL="0">
              <a:buNone/>
            </a:pPr>
            <a:r>
              <a:rPr lang="ar-SA" altLang="en-US" sz="1500" b="1" dirty="0">
                <a:solidFill>
                  <a:srgbClr val="1B3B6F"/>
                </a:solidFill>
                <a:latin typeface="Amiri" pitchFamily="2" charset="-78"/>
                <a:ea typeface="Amiri" pitchFamily="2" charset="-78"/>
                <a:cs typeface="Amiri" pitchFamily="2" charset="-78"/>
              </a:rPr>
              <a:t>تُوَزَّعُ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صَامْتُ رَمَضَانَ كُلَّهُ.</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صُمْتُ رَمَضَانَ كُلَّهُ.</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صَامَ → صُمْتُ.</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كُلُّ المُسْلِمِينَ يَأْكُلُونَ نَفْسَ الطَّعَامِ فِي العِيدِ.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يَخْتَلِفُ طَعَامُ العِيدِ مِنْ بَلَدٍ إِلَى آخَرَ.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Hedge: customs vary between countries and families.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تَخْتَلِفُ العَادَاتُ ______ ؛ فَفِي بَعْضِ البُلْدَانِ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Customs vary …; in some countries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يَعْنِي العِيدُ لِي ______ ،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Eid means … to me,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رَمَضَانَ يَصُومُ المُسْلِمُونَ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Ramadan Muslims fast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تُزَيَّنُ ______ ، وَتُوَزَّعُ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Eid … are decorated, and … handed out.</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أَتَذَكَّرُ ______ عِنْدَمَا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remember … when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سَوْفَ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Eid I will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الصِّيَامُ · يَصُومُ · صُمْتُ  ·  الإِفْطَارُ · السَّحُورُ  ·  الهِلَالُ  ·  عِيدُ الفِطْرِ · عِيدُ الأَضْحَى  ·  صَلَاةُ العِيدِ  ·  تُزَيَّنُ · تُوَزَّعُ  ·  تُتَبَادَلُ التَّهَانِي  ·  فِي بَعْضِ البُلْدَانِ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Ramadan and Eid — then, now and next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رَمَضَانُ وَالعِيدُ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Write a piece (about 60–80 words) for the school’s “Celebrations around us” display. Include: • what Muslims usually do in Ramadan (present) • two things that are done at Eid (passive) • one memory (past) • one plan for next Eid (future) • a hedge about variety.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يَصُومُ المُسْلِمُونَ … · يَتَنَاوَلُونَ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Muslims fast … · they have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تُزَيَّنُ … · تُوَزَّعُ … · تُتَبَادَلُ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decorated · handed out · exchanged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صُمْتُ لِأَوَّلِ مَرَّةٍ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fasted for the first time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العِيدِ القَادِمِ سَوْفَ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Eid I will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Ramadan and Eid in the present with two passives?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past memory, a future plan and a hedge about variety?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صَائِمٌ، لِأَنَّهُ رَمَضَانُ؛ نَصُومُ مِنَ الفَجْرِ إِلَى المَغْرِبِ.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fasting, because it is Ramadan — we fast from dawn to sunset.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لَا تَأْكُلُ فِي الغَدَاءِ؟</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وَلٰكِنَّهُ يُعَلِّمُنَا الصَّبْرَ وَيُذَكِّرُنَا بِالفُقَرَاءِ.</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but it teaches us patience and reminds us of the poor.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أَلَيْسَ ذٰلِكَ صَعْبًا؟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نَحْتَفِلُ بِعِيدِ الفِطْرِ؛ تُزَيَّنُ البُيُوتُ، وَتُتَبَادَلُ التَّهَانِي وَالهَدَايَا.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celebrate Eid al-Fitr — homes are decorated and greetings and gifts are exchanged.</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يَحْدُثُ فِي آخِرِ الشَّهْرِ؟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طَبْعًا! تَعَالَ يَوْمَ الجُمُعَةِ؛ أُمِّي سَتَطْبُخُ طَعَامًا لَذِيذًا، وَسَتُحِبُّ أَنْ تَتَعَرَّفَ عَلَيْكَ.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Of course! Come on Friday — my mum will cook something delicious, and she’ll love to meet you.</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أَسْتَطِيعُ أَنْ أُفْطِرَ مَعَكُمْ يَوْمًا؟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رَمَضَانَ يَصُومُ المُسْلِمُونَ مِنَ الفَجْرِ إِلَى المَغْرِبِ، وَيَتَنَاوَلُونَ السَّحُورَ قَبْلَ الفَجْرِ. فِي عِيدِ الفِطْرِ تُزَيَّنُ البُيُوتُ بِالأَنْوَارِ، وَتُوَزَّعُ الحَلْوَى عَلَى الأَطْفَالِ، وَتُتَبَادَلُ التَّهَانِي بَعْدَ صَلَاةِ العِيدِ. أَتَذَكَّرُ أَوَّلَ يَوْمٍ صُمْتُهُ كَامِلًا؛ كُنْتُ فِي التَّاسِعَةِ، وَأَعْطَانِي جَدِّي هَدِيَّةً. تَخْتَلِفُ العَادَاتُ مِنْ بَلَدٍ إِلَى آخَرَ؛ فَفِي بَعْضِ البُلْدَانِ يَأْكُلُونَ الكَعْكَ، وَفِي غَيْرِهَا البَقْلَاوَةَ. فِي العِيدِ القَادِمِ سَأُسَاعِدُ أُمِّي فِي تَحْضِيرِ الحَلْوَى لِلْجِيرَانِ.</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Ramadan Muslims fast from dawn to sunset, and have suhoor before dawn. At Eid al-Fitr homes are decorated with lights, sweets are handed out to children, and greetings are exchanged after the Eid prayer. I remember the first full day I fasted — I was nine, and my grandfather gave me a present. Customs vary from country to country: in some countries people eat kaʿk, and in others baklava. Next Eid I will help my mum prepare sweets for the neighbours.”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يَصُومُ المُسْلِمُونَ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تُزَيَّنُ البُيُوتُ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صُمْتُهُ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فَفِي بَعْضِ البُلْدَانِ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D6-L03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D6-L03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D6-L04 · Cultural Celebrations Beyond Islam in the Arab World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الاحْتِفَالَاتُ الثَّقَافِيَّةُ فِي العَالَمِ العَرَبِيِّ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D6-L03 · Practice Room — Islamic Celebrations — Eid, Ramadan and Religious Occasions</dc:title>
  <dc:subject>PptxGenJS Presentation</dc:subject>
  <dc:creator>Al Madina Online School · Arabic Department</dc:creator>
  <cp:lastModifiedBy>Al Madina Online School · Arabic Department</cp:lastModifiedBy>
  <cp:revision>1</cp:revision>
  <dcterms:created xsi:type="dcterms:W3CDTF">2026-10-25T18:48:07Z</dcterms:created>
  <dcterms:modified xsi:type="dcterms:W3CDTF">2026-10-25T18:48:07Z</dcterms:modified>
</cp:coreProperties>
</file>