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D6-L12 (Review and Unit Assessment: Countries, Cultures and Celebrations) — new practice tasks built on the lesson’s own word bank and grammar (D6 review: nisba nationalities (m. / f. / pl.) and diptote country names; cultural verbs + prepositions (naḥtafilu bi- · natamassaku bi- · antamī ilā · aʿtazzu bi- · aḥtafiẓu bi-); passives for customs (tuzayyanu · tuwazzaʿu); all tenses incl. kunnā + present and lan; tuʿaddu min akthari … + -an; hedges (fī baʿḍi … · ʿalā ḥaddi ʿilmī)).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أَنْتِ · جِنْسِيَّتُكِ · أَنَا يَمَنِيَّةٌ · ثَقَافَتِكِ · سَتَحْتَفِظِينَ. This card mixes every D6 structure; the Coach ticks each one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Practice Room — Review and Unit Assessment: Countries, Cultures and Celebrations</a:t>
            </a:r>
            <a:endParaRPr lang="en-US" sz="24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مُرَاجَعَةُ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review of the whole D6 unit: recall twelve key D6 expressions, act a mixed dialogue, answer mixed exam-style cards, do a full role-play card, give a one-minute talk, then build, fix and write an exam-style article — and set one target for Progression P1.</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D6-L12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D6</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D6 key language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لُبْنَانِيٌّ · لُبْنَانِيَّةٌ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Lebanese (m. · f.)</a:t>
            </a:r>
            <a:endParaRPr lang="en-US" sz="1350" dirty="0"/>
          </a:p>
          <a:p>
            <a:pPr indent="0" marL="0">
              <a:buNone/>
            </a:pPr>
            <a:r>
              <a:rPr lang="en-US" sz="1100" i="1" dirty="0">
                <a:solidFill>
                  <a:srgbClr val="5A6472"/>
                </a:solidFill>
                <a:latin typeface="Calibri" pitchFamily="34" charset="0"/>
                <a:cs typeface="Amiri" pitchFamily="2" charset="-78"/>
              </a:rPr>
              <a:t>lub-nā-niy-yun · lub-nā-niy-ya-tun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لُبْنَانَ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Lebanon</a:t>
            </a:r>
            <a:endParaRPr lang="en-US" sz="1350" dirty="0"/>
          </a:p>
          <a:p>
            <a:pPr indent="0" marL="0">
              <a:buNone/>
            </a:pPr>
            <a:r>
              <a:rPr lang="en-US" sz="1100" i="1" dirty="0">
                <a:solidFill>
                  <a:srgbClr val="5A6472"/>
                </a:solidFill>
                <a:latin typeface="Calibri" pitchFamily="34" charset="0"/>
                <a:cs typeface="Amiri" pitchFamily="2" charset="-78"/>
              </a:rPr>
              <a:t>min lub-nā-na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نَتَمَسَّكُ بِعَادَاتِنَا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hold on to our customs</a:t>
            </a:r>
            <a:endParaRPr lang="en-US" sz="1350" dirty="0"/>
          </a:p>
          <a:p>
            <a:pPr indent="0" marL="0">
              <a:buNone/>
            </a:pPr>
            <a:r>
              <a:rPr lang="en-US" sz="1100" i="1" dirty="0">
                <a:solidFill>
                  <a:srgbClr val="5A6472"/>
                </a:solidFill>
                <a:latin typeface="Calibri" pitchFamily="34" charset="0"/>
                <a:cs typeface="Amiri" pitchFamily="2" charset="-78"/>
              </a:rPr>
              <a:t>na-ta-mas-sa-ku bi-ʿā-dā-ti-nā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العَائِلَاتِ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families</a:t>
            </a:r>
            <a:endParaRPr lang="en-US" sz="1350" dirty="0"/>
          </a:p>
          <a:p>
            <a:pPr indent="0" marL="0">
              <a:buNone/>
            </a:pPr>
            <a:r>
              <a:rPr lang="en-US" sz="1100" i="1" dirty="0">
                <a:solidFill>
                  <a:srgbClr val="5A6472"/>
                </a:solidFill>
                <a:latin typeface="Calibri" pitchFamily="34" charset="0"/>
                <a:cs typeface="Amiri" pitchFamily="2" charset="-78"/>
              </a:rPr>
              <a:t>fī baʿ-ḍi al-ʿā-ʾi-lā-ti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تُزَيَّنُ البُيُوتُ</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homes are decorated</a:t>
            </a:r>
            <a:endParaRPr lang="en-US" sz="1350" dirty="0"/>
          </a:p>
          <a:p>
            <a:pPr indent="0" marL="0">
              <a:buNone/>
            </a:pPr>
            <a:r>
              <a:rPr lang="en-US" sz="1100" i="1" dirty="0">
                <a:solidFill>
                  <a:srgbClr val="5A6472"/>
                </a:solidFill>
                <a:latin typeface="Calibri" pitchFamily="34" charset="0"/>
                <a:cs typeface="Amiri" pitchFamily="2" charset="-78"/>
              </a:rPr>
              <a:t>tu-zay-ya-nu al-bu-yū-tu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صُمْتُ لِأَوَّلِ مَرَّةٍ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fasted for the first time</a:t>
            </a:r>
            <a:endParaRPr lang="en-US" sz="1350" dirty="0"/>
          </a:p>
          <a:p>
            <a:pPr indent="0" marL="0">
              <a:buNone/>
            </a:pPr>
            <a:r>
              <a:rPr lang="en-US" sz="1100" i="1" dirty="0">
                <a:solidFill>
                  <a:srgbClr val="5A6472"/>
                </a:solidFill>
                <a:latin typeface="Calibri" pitchFamily="34" charset="0"/>
                <a:cs typeface="Amiri" pitchFamily="2" charset="-78"/>
              </a:rPr>
              <a:t>ṣum-tu li-ʾaw-wa-li mar-ra-tin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D6 key language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كَنِيسَةٌ · كَنِيسٌ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church · synagogue</a:t>
            </a:r>
            <a:endParaRPr lang="en-US" sz="1350" dirty="0"/>
          </a:p>
          <a:p>
            <a:pPr indent="0" marL="0">
              <a:buNone/>
            </a:pPr>
            <a:r>
              <a:rPr lang="en-US" sz="1100" i="1" dirty="0">
                <a:solidFill>
                  <a:srgbClr val="5A6472"/>
                </a:solidFill>
                <a:latin typeface="Calibri" pitchFamily="34" charset="0"/>
                <a:cs typeface="Amiri" pitchFamily="2" charset="-78"/>
              </a:rPr>
              <a:t>ka-nī-sa-tun · ka-nī-sun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أَنْتَمِي إِلَى</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belong to</a:t>
            </a:r>
            <a:endParaRPr lang="en-US" sz="1350" dirty="0"/>
          </a:p>
          <a:p>
            <a:pPr indent="0" marL="0">
              <a:buNone/>
            </a:pPr>
            <a:r>
              <a:rPr lang="en-US" sz="1100" i="1" dirty="0">
                <a:solidFill>
                  <a:srgbClr val="5A6472"/>
                </a:solidFill>
                <a:latin typeface="Calibri" pitchFamily="34" charset="0"/>
                <a:cs typeface="Amiri" pitchFamily="2" charset="-78"/>
              </a:rPr>
              <a:t>an-ta-mī i-lā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أَعْتَزُّ 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proud of</a:t>
            </a:r>
            <a:endParaRPr lang="en-US" sz="1350" dirty="0"/>
          </a:p>
          <a:p>
            <a:pPr indent="0" marL="0">
              <a:buNone/>
            </a:pPr>
            <a:r>
              <a:rPr lang="en-US" sz="1100" i="1" dirty="0">
                <a:solidFill>
                  <a:srgbClr val="5A6472"/>
                </a:solidFill>
                <a:latin typeface="Calibri" pitchFamily="34" charset="0"/>
                <a:cs typeface="Amiri" pitchFamily="2" charset="-78"/>
              </a:rPr>
              <a:t>aʿ-taz-zu bi…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تُعَدُّ مِنْ أَكْثَرِ اللُّغَاتِ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among the most … languages</a:t>
            </a:r>
            <a:endParaRPr lang="en-US" sz="1350" dirty="0"/>
          </a:p>
          <a:p>
            <a:pPr indent="0" marL="0">
              <a:buNone/>
            </a:pPr>
            <a:r>
              <a:rPr lang="en-US" sz="1100" i="1" dirty="0">
                <a:solidFill>
                  <a:srgbClr val="5A6472"/>
                </a:solidFill>
                <a:latin typeface="Calibri" pitchFamily="34" charset="0"/>
                <a:cs typeface="Amiri" pitchFamily="2" charset="-78"/>
              </a:rPr>
              <a:t>tu-ʿad-du min ak-tha-ri all-lu-ghā-ti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كُنَّا نَحْتَفِلُ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used to celebrate</a:t>
            </a:r>
            <a:endParaRPr lang="en-US" sz="1350" dirty="0"/>
          </a:p>
          <a:p>
            <a:pPr indent="0" marL="0">
              <a:buNone/>
            </a:pPr>
            <a:r>
              <a:rPr lang="en-US" sz="1100" i="1" dirty="0">
                <a:solidFill>
                  <a:srgbClr val="5A6472"/>
                </a:solidFill>
                <a:latin typeface="Calibri" pitchFamily="34" charset="0"/>
                <a:cs typeface="Amiri" pitchFamily="2" charset="-78"/>
              </a:rPr>
              <a:t>kun-nā naḥ-ta-fi-lu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حَدِّ عِلْمِي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far as I know</a:t>
            </a:r>
            <a:endParaRPr lang="en-US" sz="1350" dirty="0"/>
          </a:p>
          <a:p>
            <a:pPr indent="0" marL="0">
              <a:buNone/>
            </a:pPr>
            <a:r>
              <a:rPr lang="en-US" sz="1100" i="1" dirty="0">
                <a:solidFill>
                  <a:srgbClr val="5A6472"/>
                </a:solidFill>
                <a:latin typeface="Calibri" pitchFamily="34" charset="0"/>
                <a:cs typeface="Amiri" pitchFamily="2" charset="-78"/>
              </a:rPr>
              <a:t>ʿa-lā ḥad-di ʿil-mī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Everything from D6 in one conversation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 الوَحْدَةِ فِي حِوَارٍ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family from?</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أَيْنَ عَائِلَتُكِ؟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father is Iraqi, my mother Lebanese, and I belong to both cultures — and to Britain too.</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أَبِي عِرَاقِيٌّ، وَأُمِّي لُبْنَانِيَّةٌ، وَأَنَا أَنْتَمِي إِلَى الثَّقَافَتَيْنِ وَإِلَى بِرِيطَانْيَا أَيْضًا.</a:t>
            </a:r>
            <a:endParaRPr lang="ar-SA" sz="175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celebrate Eid?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تَحْتَفِلُونَ بِالعِيدِ؟</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used to celebrate in Baghdad; now our flat here is decorated and we invite the neighbours.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كُنَّا نَحْتَفِلُ فِي بَغْدَادَ، أَمَّا الآنَ فَتُزَيَّنُ شُقَّتُنَا هُنَا وَنَدْعُو الجِيرَانَ.</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 you always speak Arabic?</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تَتَكَلَّمِينَ العَرَبِيَّةَ دَائِمًا؟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home, usually. I’m proud of it, because it’s among the most widespread languages, and I will never give it up.</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البَيْتِ غَالِبًا. أَعْتَزُّ بِهَا، لِأَنَّهَا تُعَدُّ مِنْ أَكْثَرِ اللُّغَاتِ انْتِشَارًا، وَلَنْ أَتَخَلَّى عَنْهَا.</a:t>
            </a:r>
            <a:endParaRPr lang="ar-SA" sz="16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Round 2: swap letters. Round 3: answer with YOUR life — then ask your partner the same three questions.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Mixed exam cards — one from each part of D6</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وَنَحْنُ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أَبِي مِصْرِيٌّ وَأُمِّي سُورِيَّةٌ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family from? Their nationalities?</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عَائِلَتُكَ؟ وَمَا جِنْسِيَّاتُهُمْ؟</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بَعْضِ العَائِلَاتِ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نَتَمَسَّكُ بِ… وَ…</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customs does your family keep?</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العَادَاتُ الَّتِي تَتَمَسَّكُ بِهَا عَائِلَتُكَ؟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وَأَتَذَكَّرُ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تُزَيَّنُ … وَتُوَزَّعُ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Eid at your home.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العِيدَ فِي بَيْتِكُمْ.</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أُوَازِنُ بَيْنَ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أَنْتَمِي إِلَى … لِأَنَّ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belong? Why?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إِلَى أَيِّ مَكَانٍ تَنْتَمِي؟ وَلِمَاذَا؟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وَتَرْبِطُنِي بِ…</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لِأَنَّهَا تُعَدُّ مِنْ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learn Arabic?</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تَتَعَلَّمُ العَرَبِيَّةَ؟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Role-play card — the Culture Day interview</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الثَّقَافَاتِ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أَنَا مِنْ … ؛ أَنَا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Origin + nationality.</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أَنْتَ؟ وَمَا جِنْسِيَّتُكَ؟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العَادَةُ ← نَتَمَسَّكُ بِ… ، وَفِي بَعْضِ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Custom + hedge.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أَهَمُّ عَادَةٍ فِي ثَقَافَتِكَ؟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to + now.</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كُنْتُمْ تَحْتَفِلُونَ فِي اليَمَنِ؟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 </a:t>
            </a:r>
            <a:pPr algn="l" indent="0" marL="0">
              <a:buNone/>
            </a:pPr>
            <a:r>
              <a:rPr lang="ar-SA" altLang="en-US" sz="1450" dirty="0">
                <a:solidFill>
                  <a:srgbClr val="5A6472"/>
                </a:solidFill>
                <a:latin typeface="Amiri" pitchFamily="2" charset="-78"/>
                <a:ea typeface="Amiri" pitchFamily="2" charset="-78"/>
                <a:cs typeface="Amiri" pitchFamily="2" charset="-78"/>
              </a:rPr>
              <a:t>لَنْ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سَتَحْتَفِظُ بِهٰذِهِ العَادَاتِ؟</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presenting your culture · Leader = a visiting journalist.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D6 showcase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أَعْرِضُ مَا تَعَلَّمْتُ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your culture and identity. The Coach ticks: nationality · diptote country · custom verb + preposition · passive · </a:t>
            </a:r>
            <a:pPr algn="l" indent="0" marL="0">
              <a:buNone/>
            </a:pPr>
            <a:r>
              <a:rPr lang="ar-SA" altLang="en-US" sz="1750" dirty="0">
                <a:solidFill>
                  <a:srgbClr val="1F2A37"/>
                </a:solidFill>
                <a:latin typeface="Amiri" pitchFamily="2" charset="-78"/>
                <a:ea typeface="Amiri" pitchFamily="2" charset="-78"/>
                <a:cs typeface="Amiri" pitchFamily="2" charset="-78"/>
              </a:rPr>
              <a:t>كُنَّا</a:t>
            </a:r>
            <a:pPr algn="l" indent="0" marL="0">
              <a:buNone/>
            </a:pPr>
            <a:r>
              <a:rPr lang="en-US" sz="1350" dirty="0">
                <a:solidFill>
                  <a:srgbClr val="1F2A37"/>
                </a:solidFill>
                <a:latin typeface="Calibri" pitchFamily="34" charset="0"/>
                <a:cs typeface="Amiri" pitchFamily="2" charset="-78"/>
              </a:rPr>
              <a:t> + present · future / </a:t>
            </a:r>
            <a:pPr algn="l" indent="0" marL="0">
              <a:buNone/>
            </a:pPr>
            <a:r>
              <a:rPr lang="ar-SA" altLang="en-US" sz="1750" dirty="0">
                <a:solidFill>
                  <a:srgbClr val="1F2A37"/>
                </a:solidFill>
                <a:latin typeface="Amiri" pitchFamily="2" charset="-78"/>
                <a:ea typeface="Amiri" pitchFamily="2" charset="-78"/>
                <a:cs typeface="Amiri" pitchFamily="2" charset="-78"/>
              </a:rPr>
              <a:t>لَنْ</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أَنْتَمِي إِلَى / أَعْتَزُّ بِ</a:t>
            </a:r>
            <a:pPr algn="l" indent="0" marL="0">
              <a:buNone/>
            </a:pPr>
            <a:r>
              <a:rPr lang="en-US" sz="1350" dirty="0">
                <a:solidFill>
                  <a:srgbClr val="1F2A37"/>
                </a:solidFill>
                <a:latin typeface="Calibri" pitchFamily="34" charset="0"/>
                <a:cs typeface="Amiri" pitchFamily="2" charset="-78"/>
              </a:rPr>
              <a:t>… · hedge.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structures from the list.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Six structures, all prepositions correct.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eight, with a supported opinion.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mother is Syrian, from Aleppo.</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أُمِّي سُورِيَّةٌ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أُمِّي سُورِيٌّ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حَلَبَ.</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حَلَبٍ.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some families, sweets are handed out after the prayer.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بَعْضِ العَائِلَاتِ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كُلِّ العَرَبِ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تُوَزَّعُ الحَلْوَى</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تُوَزِّعُ الحَلْوَى</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الصَّلَاةِ.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الصَّلَاةُ.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proud of my identity and will never give it up.</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أَعْتَزُّ بِهُوِيَّتِي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أَعْتَزُّ هُوِيَّتِي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أَتَخَلَّى عَنْهَا أَبَدًا.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أَتَخَلَّى عَنْهُ أَبَدًا.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mother is Syrian, from Aleppo.</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 nisba; </a:t>
            </a:r>
            <a:pPr algn="l" indent="0" marL="0">
              <a:buNone/>
            </a:pPr>
            <a:r>
              <a:rPr lang="ar-SA" altLang="en-US" sz="1350" dirty="0">
                <a:solidFill>
                  <a:srgbClr val="5A6472"/>
                </a:solidFill>
                <a:latin typeface="Amiri" pitchFamily="2" charset="-78"/>
                <a:ea typeface="Amiri" pitchFamily="2" charset="-78"/>
                <a:cs typeface="Amiri" pitchFamily="2" charset="-78"/>
              </a:rPr>
              <a:t>حَلَبُ</a:t>
            </a:r>
            <a:pPr algn="l" indent="0" marL="0">
              <a:buNone/>
            </a:pPr>
            <a:r>
              <a:rPr lang="en-US" sz="1050" i="1" dirty="0">
                <a:solidFill>
                  <a:srgbClr val="5A6472"/>
                </a:solidFill>
                <a:latin typeface="Calibri" pitchFamily="34" charset="0"/>
                <a:cs typeface="Amiri" pitchFamily="2" charset="-78"/>
              </a:rPr>
              <a:t> is diptote → </a:t>
            </a:r>
            <a:pPr algn="l" indent="0" marL="0">
              <a:buNone/>
            </a:pPr>
            <a:r>
              <a:rPr lang="ar-SA" altLang="en-US" sz="1350" dirty="0">
                <a:solidFill>
                  <a:srgbClr val="5A6472"/>
                </a:solidFill>
                <a:latin typeface="Amiri" pitchFamily="2" charset="-78"/>
                <a:ea typeface="Amiri" pitchFamily="2" charset="-78"/>
                <a:cs typeface="Amiri" pitchFamily="2" charset="-78"/>
              </a:rPr>
              <a:t>حَلَبَ</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أُمِّي سُورِيَّةٌ مِنْ حَلَبَ.</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some families, sweets are handed out after the prayer.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Hedge + passive </a:t>
            </a:r>
            <a:pPr algn="l" indent="0" marL="0">
              <a:buNone/>
            </a:pPr>
            <a:r>
              <a:rPr lang="ar-SA" altLang="en-US" sz="1350" dirty="0">
                <a:solidFill>
                  <a:srgbClr val="5A6472"/>
                </a:solidFill>
                <a:latin typeface="Amiri" pitchFamily="2" charset="-78"/>
                <a:ea typeface="Amiri" pitchFamily="2" charset="-78"/>
                <a:cs typeface="Amiri" pitchFamily="2" charset="-78"/>
              </a:rPr>
              <a:t>تُوَزَّعُ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بَعْضِ العَائِلَاتِ تُوَزَّعُ الحَلْوَى بَعْدَ الصَّلَاةِ.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proud of my identity and will never give it up.</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أَعْتَزُّ بِ</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لَنْ</a:t>
            </a:r>
            <a:pPr algn="l" indent="0" marL="0">
              <a:buNone/>
            </a:pPr>
            <a:r>
              <a:rPr lang="en-US" sz="1050" i="1" dirty="0">
                <a:solidFill>
                  <a:srgbClr val="5A6472"/>
                </a:solidFill>
                <a:latin typeface="Calibri" pitchFamily="34" charset="0"/>
                <a:cs typeface="Amiri" pitchFamily="2" charset="-78"/>
              </a:rPr>
              <a:t> (future); </a:t>
            </a:r>
            <a:pPr algn="l" indent="0" marL="0">
              <a:buNone/>
            </a:pPr>
            <a:r>
              <a:rPr lang="ar-SA" altLang="en-US" sz="1350" dirty="0">
                <a:solidFill>
                  <a:srgbClr val="5A6472"/>
                </a:solidFill>
                <a:latin typeface="Amiri" pitchFamily="2" charset="-78"/>
                <a:ea typeface="Amiri" pitchFamily="2" charset="-78"/>
                <a:cs typeface="Amiri" pitchFamily="2" charset="-78"/>
              </a:rPr>
              <a:t>هُوِيَّةٌ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عَنْهَا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أَعْتَزُّ بِهُوِيَّتِي وَلَنْ أَتَخَلَّى عَنْهَا أَبَدًا.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مَغْرِبِيٌّ، وَهِيَ مِنْ مَرَّاكُشٍ.</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نَحْتَفِلُ العِيدَ وَنَتَمَسَّكُ عَلَى عَادَاتِنَا.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prepositions.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يَحْتَفِلُونَ بِنَفْسِ الطَّرِيقَةِ.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Fair?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مَغْرِبِيٌّ، وَهِيَ مِنْ مَرَّاكُشٍ.</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مَغْرِبِيَّةٌ، وَهِيَ مِنْ مَرَّاكُشَ.</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 nisba; diptote city → </a:t>
            </a:r>
            <a:pPr algn="l" indent="0" marL="0">
              <a:buNone/>
            </a:pPr>
            <a:r>
              <a:rPr lang="ar-SA" altLang="en-US" sz="1500" b="1" dirty="0">
                <a:solidFill>
                  <a:srgbClr val="1B3B6F"/>
                </a:solidFill>
                <a:latin typeface="Amiri" pitchFamily="2" charset="-78"/>
                <a:ea typeface="Amiri" pitchFamily="2" charset="-78"/>
                <a:cs typeface="Amiri" pitchFamily="2" charset="-78"/>
              </a:rPr>
              <a:t>مَرَّاكُشَ</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نَحْتَفِلُ العِيدَ وَنَتَمَسَّكُ عَلَى عَادَاتِنَا.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نَحْتَفِلُ بِالعِيدِ وَنَتَمَسَّكُ بِعَادَاتِنَا.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يَحْتَفِلُ بِ… · يَتَمَسَّكُ بِ…</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يَحْتَفِلُونَ بِنَفْسِ الطَّرِيقَةِ.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تَخْتَلِفُ طُرُقُ الاحْتِفَالِ مِنْ بَلَدٍ إِلَى آخَرَ.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claim fair and hedged.</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فِي بَعْضِ العَائِلَاتِ ______ ، وَلٰكِنْ لَيْسَ دَائِمًا.</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families …, but not always.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تُعَدُّ العَرَبِيَّةُ مِنْ ______ ، وَتَرْبِطُنِي بِ______ .</a:t>
            </a:r>
            <a:endParaRPr lang="ar-SA" sz="16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Arabic is among …, and connects me to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أَبِي ______ وَأُمِّي ______ ، وَأَنَا ______ .</a:t>
            </a:r>
            <a:endParaRPr lang="ar-SA" sz="17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is …, my mother …, and I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كُنَّا نَحْتَفِلُ بِ______ فِي ______ ، أَمَّا الآنَ فَ______ .</a:t>
            </a:r>
            <a:endParaRPr lang="ar-SA" sz="13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used to celebrate … in …; now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نَتَمَسَّكُ بِ______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hold on to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أَعْتَزُّ بِ______ ، وَلَنْ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proud of …, and I will never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عِرَاقِيٌّ · لُبْنَانِيَّةٌ  ·  مِنْ لُبْنَانَ · مِنْ حَلَبَ  ·  نَحْتَفِلُ بِ… · نَتَمَسَّكُ بِ…  ·  تُزَيَّنُ · تُوَزَّعُ  ·  كُنَّا نَحْتَفِلُ  ·  أَنْتَمِي إِلَى · أَعْتَزُّ بِ…  ·  لَنْ أَتَخَلَّى عَنْ  ·  فِي بَعْضِ العَائِلَاتِ</a:t>
            </a:r>
            <a:endParaRPr lang="ar-SA"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Exam-style article: culture and identity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50" b="1" dirty="0">
                <a:solidFill>
                  <a:srgbClr val="8A6D1E"/>
                </a:solidFill>
                <a:latin typeface="Amiri" pitchFamily="2" charset="-78"/>
                <a:ea typeface="Amiri" pitchFamily="2" charset="-78"/>
                <a:cs typeface="Amiri" pitchFamily="2" charset="-78"/>
              </a:rPr>
              <a:t>مَقَالٌ بِأُسْلُوبِ الامْتِحَانِ: الثَّقَافَةُ وَالهُوِيَّةُ</a:t>
            </a:r>
            <a:endParaRPr lang="ar-SA" sz="22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article (about 70–90 words) for an online youth magazine. Answer ALL four bullets: • where your family is from (nationalities) • a celebration — how it used to be and how it is now • a custom you hold on to, described fairly • what Arabic and your culture mean to you, and your plans to keep them.</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مِصْرِيٌّ وَأُمِّي سُورِيَّةٌ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father is Egyptian, my mother Syrian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نَحْتَفِلُ … أَمَّا الآنَ فَ…</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used to celebrate …; as for now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نَتَمَسَّكُ بِ… · فِي بَعْضِ العَائِلَاتِ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hold on to … · in some families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أَعْتَزُّ بِ… · لَنْ أَتَخَلَّى عَنْ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proud of … · I will never give up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with correct nationalities and tenses?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verb + preposition units, a passive and a fair hedge?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 اليَمَنِ؛ أَنَا يَمَنِيٌّ، وَوُلِدْتُ فِي شِيفِيلْدَ.</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I’m from Yemen — I’m Yemeni, and I was born in Sheffield.</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أَنْتَ؟ وَمَا جِنْسِيَّتُكَ؟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نَتَمَسَّكُ بِالضِّيَافَةِ؛ فِي كَثِيرٍ مِنَ العَائِلَاتِ تُقَدَّمُ القَهْوَةُ وَالتَّمْرُ لِلضَّيْفِ.</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hold on to hospitality — in many families coffee and dates are served to guests.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أَهَمُّ عَادَةٍ فِي ثَقَافَتِكَ؟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كُنَّا نَحْتَفِلُ مَعَ كُلِّ القَرْيَةِ، أَمَّا الآنَ فَنَحْتَفِلُ مَعَ الجَالِيَةِ هُنَا.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used to celebrate with the whole village; now we celebrate with the community here.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كُنْتُمْ تَحْتَفِلُونَ فِي اليَمَنِ؟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طَبْعًا؛ سَأَحْتَفِظُ بِهَا، وَلَنْ أَتَخَلَّى عَنْ لُغَتِي أَبَدًا.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Of course — I will keep them, and I will never give up my language.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سَتَحْتَفِظُ بِهٰذِهِ العَادَاتِ؟</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أَبِي فِلَسْطِينِيٌّ وَأُمِّي أُرْدُنِيَّةٌ، وَأَنَا وُلِدْتُ فِي مَانْشِسْتَرَ. كُنَّا نَحْتَفِلُ بِالعِيدِ فِي بَيْتِ جَدِّي فِي عَمَّانَ، أَمَّا الآنَ فَتُزَيَّنُ شُقَّتُنَا هُنَا، وَتُوَزَّعُ الحَلْوَى عَلَى الجِيرَانِ. نَتَمَسَّكُ بِصِلَةِ الرَّحِمِ؛ نَتَّصِلُ بِأَقَارِبِنَا كُلَّ أُسْبُوعٍ. فِي بَعْضِ العَائِلَاتِ يَجْتَمِعُ الجَمِيعُ كُلَّ جُمُعَةٍ، وَلٰكِنْ لَيْسَ دَائِمًا. تُعَدُّ العَرَبِيَّةُ مِنْ أَكْثَرِ اللُّغَاتِ انْتِشَارًا، وَتَرْبِطُنِي بِجَدَّتِي وَبِدِينِي. أَعْتَزُّ بِهُوِيَّتِي، وَلَنْ أَتَخَلَّى عَنْ لُغَتِي أَبَدًا؛ سَأُعَلِّمُهَا لِأَطْفَالِي.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father is Palestinian and my mother Jordanian, and I was born in Manchester. We used to celebrate Eid at my grandfather’s house in Amman; now our flat here is decorated, and sweets are handed out to the neighbours. We hold on to family ties — we call our relatives every week. In some families everyone gathers every Friday, but not always. Arabic is among the most widespread languages, and it connects me to my grandmother and my faith. I am proud of my identity, and I will never give up my language — I will teach it to my children.”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كُنَّا نَحْتَفِلُ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فَتُزَيَّنُ شُقَّتُنَا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نَتَمَسَّكُ بِصِلَةِ الرَّحِمِ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وَلَنْ أَتَخَلَّى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D6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Before you leave: write ONE target for Progression P1 in your book, e.g. “I will say verb + preposition as one unit.”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D6-L12 · Practice Room — Review and Unit Assessment: Countries, Cultures and Celebrations</dc:title>
  <dc:subject>PptxGenJS Presentation</dc:subject>
  <dc:creator>Al Madina Online School · Arabic Department</dc:creator>
  <cp:lastModifiedBy>Al Madina Online School · Arabic Department</cp:lastModifiedBy>
  <cp:revision>1</cp:revision>
  <dcterms:created xsi:type="dcterms:W3CDTF">2026-10-25T18:56:20Z</dcterms:created>
  <dcterms:modified xsi:type="dcterms:W3CDTF">2026-10-25T18:56:20Z</dcterms:modified>
</cp:coreProperties>
</file>