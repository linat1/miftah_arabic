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D6-L08 (Reading — Countries, Culture and Celebration Texts) — new practice tasks built on the lesson’s own word bank and grammar (reading for implication: attitude in word choice (nābiḍun bi-l-ḥayāt vs muzdaḥimun wa-ṣākhib); what the tense signals (izdaharat qadīman = finished history · tazdaharu al-yawm = still true); tone (iʿjāb · ḥiyād · taḥayyuz); what the text leaves out; evidence (al-dalīlu kalimatu …)).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D6-L08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to a girl friend: اقْرَئِي · تَبْحَثِي بِنَفْسِكِ. Attitude = word choice; tense = time meaning; gaps = what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(54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D6  ·  D6-L08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D6-L08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Reading — Countries, Culture and Celebration Texts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مَا يَقْصِدُهُ الكَاتِبُ</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reading-and-speaking practice: read short cultural texts aloud, decide the writer’s attitude from word choice, read the tense for meaning, name the tone and spot what is missing — always with evidence. They do a role-play card comparing two travel reviews, give a one-minute tone analysis, then build, fix and write two versions of the same place in different tones.</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D6-L08 · Development D6 · Countries, Cultures and Celebrations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D6 › D6-L08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Tone and attitude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مَنْظُورٌ ثَقَافِيٌّ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cultural perspective</a:t>
            </a:r>
            <a:endParaRPr lang="en-US" sz="1350" dirty="0"/>
          </a:p>
          <a:p>
            <a:pPr indent="0" marL="0">
              <a:buNone/>
            </a:pPr>
            <a:r>
              <a:rPr lang="en-US" sz="1100" i="1" dirty="0">
                <a:solidFill>
                  <a:srgbClr val="5A6472"/>
                </a:solidFill>
                <a:latin typeface="Calibri" pitchFamily="34" charset="0"/>
                <a:cs typeface="Amiri" pitchFamily="2" charset="-78"/>
              </a:rPr>
              <a:t>man-ẓū-run tha-qā-fiy-yun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4782312" y="1938528"/>
            <a:ext cx="151790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151790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Not stated directly.</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مَوْقِفٌ ضِمْنِيٌّ</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implicit attitude</a:t>
            </a:r>
            <a:endParaRPr lang="en-US" sz="1350" dirty="0"/>
          </a:p>
          <a:p>
            <a:pPr indent="0" marL="0">
              <a:buNone/>
            </a:pPr>
            <a:r>
              <a:rPr lang="en-US" sz="1100" i="1" dirty="0">
                <a:solidFill>
                  <a:srgbClr val="5A6472"/>
                </a:solidFill>
                <a:latin typeface="Calibri" pitchFamily="34" charset="0"/>
                <a:cs typeface="Amiri" pitchFamily="2" charset="-78"/>
              </a:rPr>
              <a:t>maw-qi-fun ḍim-niy-yun</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نَبْرَةُ الكَاتِبِ</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writer's tone</a:t>
            </a:r>
            <a:endParaRPr lang="en-US" sz="1350" dirty="0"/>
          </a:p>
          <a:p>
            <a:pPr indent="0" marL="0">
              <a:buNone/>
            </a:pPr>
            <a:r>
              <a:rPr lang="en-US" sz="1100" i="1" dirty="0">
                <a:solidFill>
                  <a:srgbClr val="5A6472"/>
                </a:solidFill>
                <a:latin typeface="Calibri" pitchFamily="34" charset="0"/>
                <a:cs typeface="Amiri" pitchFamily="2" charset="-78"/>
              </a:rPr>
              <a:t>nab-ra-tu al-kā-ti-bi</a:t>
            </a:r>
            <a:endParaRPr lang="en-US" sz="1350" dirty="0"/>
          </a:p>
        </p:txBody>
      </p:sp>
      <p:sp>
        <p:nvSpPr>
          <p:cNvPr id="38" name="Shape 3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11312" y="4261104"/>
            <a:ext cx="310896" cy="310896"/>
          </a:xfrm>
          <a:prstGeom prst="ellipse">
            <a:avLst/>
          </a:prstGeom>
          <a:solidFill>
            <a:srgbClr val="F4F1EA"/>
          </a:solidFill>
          <a:ln w="12700">
            <a:solidFill>
              <a:srgbClr val="F4F1EA"/>
            </a:solidFill>
            <a:prstDash val="solid"/>
          </a:ln>
        </p:spPr>
      </p:sp>
      <p:sp>
        <p:nvSpPr>
          <p:cNvPr id="40" name="Text 3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1" name="Shape 3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حِيَادٌ</a:t>
            </a:r>
            <a:endParaRPr lang="ar-SA" sz="3000" dirty="0"/>
          </a:p>
        </p:txBody>
      </p:sp>
      <p:sp>
        <p:nvSpPr>
          <p:cNvPr id="44" name="Text 4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neutrality</a:t>
            </a:r>
            <a:endParaRPr lang="en-US" sz="1350" dirty="0"/>
          </a:p>
          <a:p>
            <a:pPr indent="0" marL="0">
              <a:buNone/>
            </a:pPr>
            <a:r>
              <a:rPr lang="en-US" sz="1100" i="1" dirty="0">
                <a:solidFill>
                  <a:srgbClr val="5A6472"/>
                </a:solidFill>
                <a:latin typeface="Calibri" pitchFamily="34" charset="0"/>
                <a:cs typeface="Amiri" pitchFamily="2" charset="-78"/>
              </a:rPr>
              <a:t>ḥi-yā-dun</a:t>
            </a:r>
            <a:endParaRPr lang="en-US" sz="1350" dirty="0"/>
          </a:p>
        </p:txBody>
      </p:sp>
      <p:sp>
        <p:nvSpPr>
          <p:cNvPr id="45" name="Shape 4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4389120"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8" name="Shape 4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تَحَيُّزٌ</a:t>
            </a:r>
            <a:endParaRPr lang="ar-SA" sz="3000" dirty="0"/>
          </a:p>
        </p:txBody>
      </p:sp>
      <p:sp>
        <p:nvSpPr>
          <p:cNvPr id="51" name="Text 4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bias</a:t>
            </a:r>
            <a:endParaRPr lang="en-US" sz="1350" dirty="0"/>
          </a:p>
          <a:p>
            <a:pPr indent="0" marL="0">
              <a:buNone/>
            </a:pPr>
            <a:r>
              <a:rPr lang="en-US" sz="1100" i="1" dirty="0">
                <a:solidFill>
                  <a:srgbClr val="5A6472"/>
                </a:solidFill>
                <a:latin typeface="Calibri" pitchFamily="34" charset="0"/>
                <a:cs typeface="Amiri" pitchFamily="2" charset="-78"/>
              </a:rPr>
              <a:t>ta-ḥay-yu-zun</a:t>
            </a:r>
            <a:endParaRPr lang="en-US" sz="1350" dirty="0"/>
          </a:p>
        </p:txBody>
      </p:sp>
      <p:sp>
        <p:nvSpPr>
          <p:cNvPr id="52" name="Shape 4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566928"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5" name="Shape 5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7" name="Text 5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إِعْجَابٌ</a:t>
            </a:r>
            <a:endParaRPr lang="ar-SA" sz="3000" dirty="0"/>
          </a:p>
        </p:txBody>
      </p:sp>
      <p:sp>
        <p:nvSpPr>
          <p:cNvPr id="58" name="Text 5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admiration</a:t>
            </a:r>
            <a:endParaRPr lang="en-US" sz="1350" dirty="0"/>
          </a:p>
          <a:p>
            <a:pPr indent="0" marL="0">
              <a:buNone/>
            </a:pPr>
            <a:r>
              <a:rPr lang="en-US" sz="1100" i="1" dirty="0">
                <a:solidFill>
                  <a:srgbClr val="5A6472"/>
                </a:solidFill>
                <a:latin typeface="Calibri" pitchFamily="34" charset="0"/>
                <a:cs typeface="Amiri" pitchFamily="2" charset="-78"/>
              </a:rPr>
              <a:t>iʿ-jā-bun</a:t>
            </a:r>
            <a:endParaRPr lang="en-US" sz="13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Evidence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الفِكْرَةُ الرَّئِيسِيَّةُ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main idea</a:t>
            </a:r>
            <a:endParaRPr lang="en-US" sz="1350" dirty="0"/>
          </a:p>
          <a:p>
            <a:pPr indent="0" marL="0">
              <a:buNone/>
            </a:pPr>
            <a:r>
              <a:rPr lang="en-US" sz="1100" i="1" dirty="0">
                <a:solidFill>
                  <a:srgbClr val="5A6472"/>
                </a:solidFill>
                <a:latin typeface="Calibri" pitchFamily="34" charset="0"/>
                <a:cs typeface="Amiri" pitchFamily="2" charset="-78"/>
              </a:rPr>
              <a:t>al-fik-ra-tu ar-ra-ʾī-siy-ya-tu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دَلِيلٌ مِنَ النَّصِّ</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evidence from the text</a:t>
            </a:r>
            <a:endParaRPr lang="en-US" sz="1350" dirty="0"/>
          </a:p>
          <a:p>
            <a:pPr indent="0" marL="0">
              <a:buNone/>
            </a:pPr>
            <a:r>
              <a:rPr lang="en-US" sz="1100" i="1" dirty="0">
                <a:solidFill>
                  <a:srgbClr val="5A6472"/>
                </a:solidFill>
                <a:latin typeface="Calibri" pitchFamily="34" charset="0"/>
                <a:cs typeface="Amiri" pitchFamily="2" charset="-78"/>
              </a:rPr>
              <a:t>da-lī-lun mi-na an-naṣ-ṣi</a:t>
            </a:r>
            <a:endParaRPr lang="en-US" sz="1350" dirty="0"/>
          </a:p>
        </p:txBody>
      </p:sp>
      <p:sp>
        <p:nvSpPr>
          <p:cNvPr id="31" name="Shape 28"/>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3" name="Text 30"/>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أَدِلَّةٌ</a:t>
            </a:r>
            <a:endParaRPr lang="ar-SA" sz="15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7" name="Shape 34"/>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IV · past</a:t>
            </a:r>
            <a:endParaRPr lang="en-US" sz="800" dirty="0"/>
          </a:p>
        </p:txBody>
      </p:sp>
      <p:sp>
        <p:nvSpPr>
          <p:cNvPr id="39" name="Shape 36"/>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يُشِيرُ إِلَى</a:t>
            </a:r>
            <a:endParaRPr lang="ar-SA" sz="3000" dirty="0"/>
          </a:p>
        </p:txBody>
      </p:sp>
      <p:sp>
        <p:nvSpPr>
          <p:cNvPr id="42" name="Text 39"/>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refers to</a:t>
            </a:r>
            <a:endParaRPr lang="en-US" sz="1350" dirty="0"/>
          </a:p>
          <a:p>
            <a:pPr indent="0" marL="0">
              <a:buNone/>
            </a:pPr>
            <a:r>
              <a:rPr lang="en-US" sz="1100" i="1" dirty="0">
                <a:solidFill>
                  <a:srgbClr val="5A6472"/>
                </a:solidFill>
                <a:latin typeface="Calibri" pitchFamily="34" charset="0"/>
                <a:cs typeface="Amiri" pitchFamily="2" charset="-78"/>
              </a:rPr>
              <a:t>yu-shī-ru i-lā</a:t>
            </a:r>
            <a:endParaRPr lang="en-US" sz="1350" dirty="0"/>
          </a:p>
        </p:txBody>
      </p:sp>
      <p:sp>
        <p:nvSpPr>
          <p:cNvPr id="43" name="Shape 40"/>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45" name="Text 42"/>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أَشَارَ</a:t>
            </a:r>
            <a:endParaRPr lang="ar-SA" sz="1350" dirty="0"/>
          </a:p>
        </p:txBody>
      </p:sp>
      <p:sp>
        <p:nvSpPr>
          <p:cNvPr id="46" name="Shape 43"/>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8" name="Text 45"/>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تُشِيرُ</a:t>
            </a:r>
            <a:endParaRPr lang="ar-SA" sz="1500" dirty="0"/>
          </a:p>
        </p:txBody>
      </p:sp>
      <p:sp>
        <p:nvSpPr>
          <p:cNvPr id="49" name="Shape 4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8211312"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2" name="Shape 49"/>
          <p:cNvSpPr/>
          <p:nvPr/>
        </p:nvSpPr>
        <p:spPr>
          <a:xfrm>
            <a:off x="8604504" y="4279392"/>
            <a:ext cx="1207008"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8604504" y="4279392"/>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 passive form.</a:t>
            </a:r>
            <a:endParaRPr lang="en-US" sz="800" dirty="0"/>
          </a:p>
        </p:txBody>
      </p:sp>
      <p:sp>
        <p:nvSpPr>
          <p:cNvPr id="54" name="Shape 5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 أُغْفِلَ</a:t>
            </a:r>
            <a:endParaRPr lang="ar-SA" sz="3000" dirty="0"/>
          </a:p>
        </p:txBody>
      </p:sp>
      <p:sp>
        <p:nvSpPr>
          <p:cNvPr id="57" name="Text 5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 was omitted</a:t>
            </a:r>
            <a:endParaRPr lang="en-US" sz="1350" dirty="0"/>
          </a:p>
          <a:p>
            <a:pPr indent="0" marL="0">
              <a:buNone/>
            </a:pPr>
            <a:r>
              <a:rPr lang="en-US" sz="1100" i="1" dirty="0">
                <a:solidFill>
                  <a:srgbClr val="5A6472"/>
                </a:solidFill>
                <a:latin typeface="Calibri" pitchFamily="34" charset="0"/>
                <a:cs typeface="Amiri" pitchFamily="2" charset="-78"/>
              </a:rPr>
              <a:t>mā ugh-fi-la</a:t>
            </a:r>
            <a:endParaRPr lang="en-US" sz="1350" dirty="0"/>
          </a:p>
        </p:txBody>
      </p:sp>
      <p:sp>
        <p:nvSpPr>
          <p:cNvPr id="58" name="Shape 5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4389120"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1" name="Shape 5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نَبْرَةٌ احْتِفَالِيَّةٌ</a:t>
            </a:r>
            <a:endParaRPr lang="ar-SA" sz="3000" dirty="0"/>
          </a:p>
        </p:txBody>
      </p:sp>
      <p:sp>
        <p:nvSpPr>
          <p:cNvPr id="64" name="Text 6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celebratory tone</a:t>
            </a:r>
            <a:endParaRPr lang="en-US" sz="1350" dirty="0"/>
          </a:p>
          <a:p>
            <a:pPr indent="0" marL="0">
              <a:buNone/>
            </a:pPr>
            <a:r>
              <a:rPr lang="en-US" sz="1100" i="1" dirty="0">
                <a:solidFill>
                  <a:srgbClr val="5A6472"/>
                </a:solidFill>
                <a:latin typeface="Calibri" pitchFamily="34" charset="0"/>
                <a:cs typeface="Amiri" pitchFamily="2" charset="-78"/>
              </a:rPr>
              <a:t>nab-ra-tun aḥ-ti-fā-liy-ya-tun</a:t>
            </a:r>
            <a:endParaRPr lang="en-US" sz="1350" dirty="0"/>
          </a:p>
        </p:txBody>
      </p:sp>
      <p:sp>
        <p:nvSpPr>
          <p:cNvPr id="65" name="Shape 6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566928"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8" name="Shape 6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نَبْرَةٌ مُحَايِدَةٌ</a:t>
            </a:r>
            <a:endParaRPr lang="ar-SA" sz="3000" dirty="0"/>
          </a:p>
        </p:txBody>
      </p:sp>
      <p:sp>
        <p:nvSpPr>
          <p:cNvPr id="71" name="Text 6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neutral tone</a:t>
            </a:r>
            <a:endParaRPr lang="en-US" sz="1350" dirty="0"/>
          </a:p>
          <a:p>
            <a:pPr indent="0" marL="0">
              <a:buNone/>
            </a:pPr>
            <a:r>
              <a:rPr lang="en-US" sz="1100" i="1" dirty="0">
                <a:solidFill>
                  <a:srgbClr val="5A6472"/>
                </a:solidFill>
                <a:latin typeface="Calibri" pitchFamily="34" charset="0"/>
                <a:cs typeface="Amiri" pitchFamily="2" charset="-78"/>
              </a:rPr>
              <a:t>nab-ra-tun mu-ḥā-yi-da-tun</a:t>
            </a:r>
            <a:endParaRPr lang="en-US" sz="13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Same city, two writers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مَدِينَةٌ وَاحِدَةٌ وَكَاتِبَانِ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Writer 1 says: “The city market is bursting with life.”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الكَاتِبُ الأَوَّلُ يَقُولُ: «سُوقُ المَدِينَةِ نَابِضٌ بِالحَيَاةِ».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“Bursting with life” = admiration. His attitude is positive.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«نَابِضٌ بِالحَيَاةِ» = إِعْجَابٌ. مَوْقِفُهُ إِيجَابِيٌّ.</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Writer 2 says: “The market is crowded and noisy.”</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وَالثَّانِي يَقُولُ: «السُّوقُ مُزْدَحِمٌ وَصَاخِبٌ».</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Same place, but the words are negative — there is bias.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نَفْسُ المَكَانِ، وَلٰكِنَّ الكَلِمَاتِ سَلْبِيَّةٌ؛ هُنَاكَ تَحَيُّزٌ.</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“Trade flourished here in the past.” — Is it flourishing now?</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«ازْدَهَرَتِ التِّجَارَةُ هُنَا قَدِيمًا.» — هَلْ هِيَ مُزْدَهِرَةٌ الآنَ؟</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don’t know! The verb is past and “in the past” signals finished history. The text doesn’t mention today.</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لَا نَعْرِفُ! الفِعْلُ مَاضٍ وَ«قَدِيمًا» تَدُلُّ عَلَى تَارِيخٍ انْتَهَى. النَّصُّ لَا يَذْكُرُ اليَوْمَ.</a:t>
            </a:r>
            <a:endParaRPr lang="ar-SA" sz="175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A describes a place positively; B rewrites it negatively — same facts.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Read between the lines — attitude, tense, tone, gaps</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«آمِنٌ» وَ«يُنَاسِبُ»</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مَوْقِفُهُ إِيجَابِيٌّ؛ الدَّلِيلُ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calm, safe district, good for families.” — Attitude?</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lnSpc>
                <a:spcPct val="120000"/>
              </a:lnSpc>
              <a:buNone/>
            </a:pPr>
            <a:r>
              <a:rPr lang="ar-SA" altLang="en-US" sz="1350" b="1" dirty="0">
                <a:solidFill>
                  <a:srgbClr val="1B3B6F"/>
                </a:solidFill>
                <a:latin typeface="Amiri" pitchFamily="2" charset="-78"/>
                <a:ea typeface="Amiri" pitchFamily="2" charset="-78"/>
                <a:cs typeface="Amiri" pitchFamily="2" charset="-78"/>
              </a:rPr>
              <a:t>«حَيٌّ هَادِئٌ وَآمِنٌ، يُنَاسِبُ العَائِلَاتِ.» — مَا مَوْقِفُ الكَاتِبِ؟</a:t>
            </a:r>
            <a:endParaRPr lang="ar-SA" sz="135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«كَانَتْ» = المَاضِي</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نَعْرِفُ، لِأَنَّ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village was famous for pottery.” — Still famous?</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«كَانَتِ القَرْيَةُ مَشْهُورَةً بِالفَخَّارِ.» — هَلْ مَا زَالَتْ مَشْهُورَةً؟</a:t>
            </a:r>
            <a:endParaRPr lang="ar-SA" sz="13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وَ«كُلَّ عَامٍ»</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لِأَنَّ الفِعْلَ مُضَارِعٌ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“Residents celebrate the festival every year.” — True today?</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«يَحْتَفِلُ السُّكَّانُ بِالمِهْرَجَانِ كُلَّ عَامٍ.» — هَلْ هٰذَا صَحِيحٌ اليَوْمَ؟</a:t>
            </a:r>
            <a:endParaRPr lang="ar-SA" sz="13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 الأَسْعَارِ أَوِ الزِّحَامِ</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يَذْكُرُ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text mentions only beaches. — What does it leave out?</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نَصٌّ يَذْكُرُ الشَّوَاطِئَ فَقَطْ. — مَا الَّذِي لَا يَذْكُرُهُ؟</a:t>
            </a:r>
            <a:endParaRPr lang="ar-SA" sz="165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56648" y="521573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الحِيَادُ … بَيْنَمَا التَّحَيُّزُ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Difference between neutrality and bias?</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الفَرْقُ بَيْنَ الحِيَادِ وَالتَّحَيُّزِ؟</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Role-play card — comparing two travel reviews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مُقَارَنَةُ مُرَاجَعَتَيْنِ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النَّبْرَةُ ← الأُولَى … ؛ الدَّلِيلُ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Identify tone 1.</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قَرَأْتُ مُرَاجَعَتَيْنِ عَنْ مَرَّاكُشَ. أَيُّهُمَا أُصَدِّقُ؟</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النَّبْرَةُ ← الثَّانِيَةُ … ؛ الدَّلِيلُ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Identify tone 2.</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وَالثَّانِيَةُ؟</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balanced reading.</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إِذَنْ مَاذَا أَفْعَلُ؟</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Spot the gap.</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وَهَلْ تَذْكُرُ المُرَاجَعَتَانِ الطَّقْسَ؟</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reader · Leader = a friend planning a trip.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analyse the tone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أُحَلِّلُ النَّبْرَةَ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reads two short descriptions of the same place (one positive, one negative — invent them). Analyse them for one minute: attitude, evidence words, tense, and what is missing.</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Name each attitude with one evidence word.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tense comment (</a:t>
            </a:r>
            <a:pPr algn="l" indent="0" marL="0">
              <a:buNone/>
            </a:pPr>
            <a:r>
              <a:rPr lang="ar-SA" altLang="en-US" sz="1500" dirty="0">
                <a:solidFill>
                  <a:srgbClr val="1F2A37"/>
                </a:solidFill>
                <a:latin typeface="Amiri" pitchFamily="2" charset="-78"/>
                <a:ea typeface="Amiri" pitchFamily="2" charset="-78"/>
                <a:cs typeface="Amiri" pitchFamily="2" charset="-78"/>
              </a:rPr>
              <a:t>كَانَ</a:t>
            </a:r>
            <a:pPr algn="l" indent="0" marL="0">
              <a:buNone/>
            </a:pPr>
            <a:r>
              <a:rPr lang="en-US" sz="1150" dirty="0">
                <a:solidFill>
                  <a:srgbClr val="1F2A37"/>
                </a:solidFill>
                <a:latin typeface="Calibri" pitchFamily="34" charset="0"/>
                <a:cs typeface="Amiri" pitchFamily="2" charset="-78"/>
              </a:rPr>
              <a:t> … = </a:t>
            </a:r>
            <a:pPr algn="l" indent="0" marL="0">
              <a:buNone/>
            </a:pPr>
            <a:r>
              <a:rPr lang="ar-SA" altLang="en-US" sz="1500" dirty="0">
                <a:solidFill>
                  <a:srgbClr val="1F2A37"/>
                </a:solidFill>
                <a:latin typeface="Amiri" pitchFamily="2" charset="-78"/>
                <a:ea typeface="Amiri" pitchFamily="2" charset="-78"/>
                <a:cs typeface="Amiri" pitchFamily="2" charset="-78"/>
              </a:rPr>
              <a:t>المَاضِي</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what both texts leave out and your neutral version.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writer’s tone is admiring.</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نَبْرَةُ الكَاتِبِ</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نَبْرَةَ الكَاتِبُ</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فِيهَا</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فِيهِ</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إِعْجَابٌ.</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إِعْجَابًا.</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evidence is the word “noisy”.</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الدَّلِيلُ</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الدَّلِيلَ</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كَلِمَةُ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كَلِمَةَ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«صَاخِبٌ».</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«صَاخِبًا».</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text does not mention prices.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لَا يَذْكُرُ</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لَمْ يَذْكُرُ</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النَّصُّ</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النَّصَّ</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الأَسْعَارَ.</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الأَسْعَارُ.</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writer’s tone is admiring.</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نَبْرَةٌ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فِيهَا</a:t>
            </a:r>
            <a:pPr algn="l" indent="0" marL="0">
              <a:buNone/>
            </a:pPr>
            <a:r>
              <a:rPr lang="en-US" sz="1050" i="1" dirty="0">
                <a:solidFill>
                  <a:srgbClr val="5A6472"/>
                </a:solidFill>
                <a:latin typeface="Calibri" pitchFamily="34" charset="0"/>
                <a:cs typeface="Amiri" pitchFamily="2" charset="-78"/>
              </a:rPr>
              <a:t>; subject </a:t>
            </a:r>
            <a:pPr algn="l" indent="0" marL="0">
              <a:buNone/>
            </a:pPr>
            <a:r>
              <a:rPr lang="ar-SA" altLang="en-US" sz="1350" dirty="0">
                <a:solidFill>
                  <a:srgbClr val="5A6472"/>
                </a:solidFill>
                <a:latin typeface="Amiri" pitchFamily="2" charset="-78"/>
                <a:ea typeface="Amiri" pitchFamily="2" charset="-78"/>
                <a:cs typeface="Amiri" pitchFamily="2" charset="-78"/>
              </a:rPr>
              <a:t>إِعْجَابٌ</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نَبْرَةُ الكَاتِبِ فِيهَا إِعْجَابٌ.</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evidence is the word “noisy”.</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Nominal sentence: both -u.</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الدَّلِيلُ كَلِمَةُ «صَاخِبٌ».</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text does not mention prices.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لَا</a:t>
            </a:r>
            <a:pPr algn="l" indent="0" marL="0">
              <a:buNone/>
            </a:pPr>
            <a:r>
              <a:rPr lang="en-US" sz="1050" i="1" dirty="0">
                <a:solidFill>
                  <a:srgbClr val="5A6472"/>
                </a:solidFill>
                <a:latin typeface="Calibri" pitchFamily="34" charset="0"/>
                <a:cs typeface="Amiri" pitchFamily="2" charset="-78"/>
              </a:rPr>
              <a:t> + present; object in -a.</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لَا يَذْكُرُ النَّصُّ الأَسْعَارَ.</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2950" b="1" dirty="0">
                <a:solidFill>
                  <a:srgbClr val="B83227"/>
                </a:solidFill>
                <a:latin typeface="Amiri" pitchFamily="2" charset="-78"/>
                <a:ea typeface="Amiri" pitchFamily="2" charset="-78"/>
                <a:cs typeface="Amiri" pitchFamily="2" charset="-78"/>
              </a:rPr>
              <a:t>«ازْدَهَرَتِ الصِّنَاعَةُ قَدِيمًا» ← الصِّنَاعَةُ مُزْدَهِرَةٌ اليَوْمَ.</a:t>
            </a:r>
            <a:endParaRPr lang="ar-SA" sz="295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at the tense.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الكَاتِبُ يُحِبُّ المَدِينَةَ.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Prove it!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النَّصُّ مُحَايِدٌ لِأَنَّهُ يَقُولُ «أَجْمَلُ مَدِينَةٍ فِي العَالَمِ».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that neutral?</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«ازْدَهَرَتِ الصِّنَاعَةُ قَدِيمًا» ← الصِّنَاعَةُ مُزْدَهِرَةٌ اليَوْمَ.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كَانَتْ مُزْدَهِرَةً فِي المَاضِي؛ النَّصُّ لَا يَذْكُرُ اليَوْمَ.</a:t>
            </a:r>
            <a:endParaRPr lang="ar-SA" sz="21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Past verb + </a:t>
            </a:r>
            <a:pPr algn="l" indent="0" marL="0">
              <a:buNone/>
            </a:pPr>
            <a:r>
              <a:rPr lang="ar-SA" altLang="en-US" sz="1500" b="1" dirty="0">
                <a:solidFill>
                  <a:srgbClr val="1B3B6F"/>
                </a:solidFill>
                <a:latin typeface="Amiri" pitchFamily="2" charset="-78"/>
                <a:ea typeface="Amiri" pitchFamily="2" charset="-78"/>
                <a:cs typeface="Amiri" pitchFamily="2" charset="-78"/>
              </a:rPr>
              <a:t>قَدِيمًا</a:t>
            </a:r>
            <a:pPr algn="l" indent="0" marL="0">
              <a:buNone/>
            </a:pPr>
            <a:r>
              <a:rPr lang="en-US" sz="1150" b="1" dirty="0">
                <a:solidFill>
                  <a:srgbClr val="1B3B6F"/>
                </a:solidFill>
                <a:latin typeface="Calibri" pitchFamily="34" charset="0"/>
                <a:cs typeface="Amiri" pitchFamily="2" charset="-78"/>
              </a:rPr>
              <a:t> = finished history.</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الكَاتِبُ يُحِبُّ المَدِينَةَ.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الكَاتِبُ يُحِبُّ المَدِينَةَ؛ الدَّلِيلُ أَنَّهُ يَصِفُهَا بِأَنَّهَا «سَاحِرَةٌ».</a:t>
            </a:r>
            <a:endParaRPr lang="ar-SA" sz="21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Every attitude claim needs an evidence word.</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النَّصُّ مُحَايِدٌ لِأَنَّهُ يَقُولُ «أَجْمَلُ مَدِينَةٍ فِي العَالَمِ».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النَّصُّ مُتَحَيِّزٌ؛ «أَجْمَلُ مَدِينَةٍ فِي العَالَمِ» مُبَالَغَةٌ.</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Superlatives and strong adjectives show bias, not neutrality.</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______ قَدِيمًا، وَاليَوْمَ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used to be … in the past, and today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النَّصُّ الأَوَّلُ فِيهِ إِعْجَابٌ، بَيْنَمَا الثَّانِي فِيهِ تَحَيُّزٌ ضِدَّ ______ .</a:t>
            </a:r>
            <a:endParaRPr lang="ar-SA" sz="12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Text 1 shows admiration, whereas text 2 is biased against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١) ______ نَابِضٌ بِالحَيَاةِ، وَ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is bursting with life, and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٢) ______ مُزْدَحِمٌ وَصَاخِبٌ، وَ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is crowded and noisy, and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الدَّلِيلُ فِي النَّصِّ الأَوَّلِ كَلِمَةُ «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evidence in text 1 is the word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يَذْكُرُ النَّصَّانِ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Neither text mentions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مَنْظُورٌ ثَقَافِيٌّ  ·  مَوْقِفٌ ضِمْنِيٌّ  ·  نَبْرَةُ الكَاتِبِ  ·  حِيَادٌ · تَحَيُّزٌ  ·  إِعْجَابٌ  ·  نَابِضٌ بِالحَيَاةِ  ·  مُزْدَحِمٌ وَصَاخِبٌ  ·  دَلِيلٌ مِنَ النَّصِّ</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place, two tones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مَكَانٌ وَاحِدٌ بِنَبْرَتَيْنِ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Write two short descriptions (about 55–80 words in total) of the same place (a market, a festival, a city). Version 1: admiring. Version 2: critical. Keep the same facts — change only the words. Then add one sentence that names the evidence words and one thing both versions leave out.</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نَابِضٌ بِالحَيَاةِ · سَاحِرٌ · لَا يُنْسَى</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bursting with life · magical · unforgettable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مُزْدَحِمٌ · صَاخِبٌ · مُرْهِقٌ</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crowded · noisy · exhausting</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الدَّلِيلُ كَلِمَةُ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evidence is the word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يَذْكُرُ النَّصَّانِ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neither text mentions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each writer’s attitude with an evidence word?</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the tense for meaning and spot what the text leaves out?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الأُولَى فِيهَا إِعْجَابٌ كَبِيرٌ؛ الدَّلِيلُ كَلِمَاتٌ مِثْلُ «سَاحِرَةٌ» وَ«لَا تُنْسَى».</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first is full of admiration — evidence: words like “magical” and “unforgettable”.</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قَرَأْتُ مُرَاجَعَتَيْنِ عَنْ مَرَّاكُشَ. أَيُّهُمَا أُصَدِّقُ؟</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الثَّانِيَةُ سَلْبِيَّةٌ؛ تَقُولُ «مُرْهِقَةٌ» وَ«غَالِيَةٌ».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second is negative — it says “exhausting” and “expensive”.</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وَالثَّانِيَةُ؟</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اقْرَأْ مُرَاجَعَةً مُحَايِدَةً أَيْضًا، لِأَنَّ الكَاتِبَيْنِ مُتَحَيِّزَانِ قَلِيلًا.</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Read a neutral review too, because both writers are a bit biased.</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إِذَنْ مَاذَا أَفْعَلُ؟</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لَا تَذْكُرَانِهِ أَبَدًا؛ يَجِبُ أَنْ تَبْحَثَ عَنْهُ بِنَفْسِكَ.</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 they never mention it — you must look it up yourself.</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وَهَلْ تَذْكُرُ المُرَاجَعَتَانِ الطَّقْسَ؟</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١) سُوقُ الحَمِيدِيَّةِ فِي دِمَشْقَ نَابِضٌ بِالحَيَاةِ؛ تَمْتَلِئُ مَمَرَّاتُهُ القَدِيمَةُ بِرَوَائِحِ التَّوَابِلِ وَأَصْوَاتِ البَاعَةِ الكُرَمَاءِ. زِيَارَتُهُ تَجْرِبَةٌ لَا تُنْسَى.</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٢) سُوقُ الحَمِيدِيَّةِ مُزْدَحِمٌ وَصَاخِبٌ؛ تَمْتَلِئُ مَمَرَّاتُهُ الضَّيِّقَةُ بِالرَّوَائِحِ القَوِيَّةِ وَصُرَاخِ البَاعَةِ. زِيَارَتُهُ مُرْهِقَةٌ.</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التَّحْلِيلُ: الحَقَائِقُ نَفْسُهَا، وَلٰكِنَّ الكَلِمَاتِ تُغَيِّرُ المَوْقِفَ: «نَابِضٌ» وَ«الكُرَمَاءِ» إِعْجَابٌ، بَيْنَمَا «صَاخِبٌ» وَ«مُرْهِقَةٌ» نَقْدٌ. لَا يَذْكُرُ النَّصَّانِ تَارِيخَ السُّوقِ.</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“1) Al-Hamidiyya market in Damascus is bursting with life; its old alleys are full of the smell of spices and the voices of generous traders. A visit is unforgettable. 2) Al-Hamidiyya market is crowded and noisy; its narrow alleys are full of strong smells and the shouting of traders. A visit is exhausting. Analysis: the facts are the same, but the words change the attitude — “bursting” and “generous” show admiration, whereas “noisy” and “exhausting” are criticism. Neither text mentions the market’s history.”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نَابِضٌ بِالحَيَاةِ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مُزْدَحِمٌ وَصَاخِبٌ</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بَيْنَمَا «صَاخِبٌ»</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لَا يَذْكُرُ النَّصَّانِ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D6-L08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D6-L08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D6-L09 · Writing — Countries, Culture and Identity (Paper 4)</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الكِتَابَةُ — الدُّوَلُ وَالثَّقَافَةُ وَالهُوِيَّةُ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D6-L08 · Practice Room — Reading — Countries, Culture and Celebration Texts</dc:title>
  <dc:subject>PptxGenJS Presentation</dc:subject>
  <dc:creator>Al Madina Online School · Arabic Department</dc:creator>
  <cp:lastModifiedBy>Al Madina Online School · Arabic Department</cp:lastModifiedBy>
  <cp:revision>1</cp:revision>
  <dcterms:created xsi:type="dcterms:W3CDTF">2026-10-25T18:52:42Z</dcterms:created>
  <dcterms:modified xsi:type="dcterms:W3CDTF">2026-10-25T18:52:42Z</dcterms:modified>
</cp:coreProperties>
</file>