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D6-L09 (Writing — Countries, Culture and Identity (Paper 4)) — new practice tasks built on the lesson’s own word bank and grammar (the full D6 range in one text: a past celebration (iḥtafalnā bi-l-ʿīd) · the present with a passive (tuzayyanu al-buyūt) · a supported opinion (lā yumkinu inkāru anna … · min wijhati naẓarī) · a future aspiration (aṭmaḥu ilā an …); identity verbs (aʿtazzu bi- · antamī ilā); self-marking against the bullets).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D6-L09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writer: أَجَبْتِ · عِنْدَكِ · أَضِيفِي · نَصُّكِ · أَضَفْتِ. Self-marking = bullets · tense range · supported opinion ·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D6-L09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Writing — Countries, Culture and Identity (Paper 4)</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ثَقَافَتِي وَهُوِيَّتِي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writing workshop, with speaking first: say the identity toolkit, act a planning dialogue, plan each part aloud with cards, do a role-play card as an examiner self-marking a draft, rehearse the text aloud for one minute, then build, fix and write an extended exam-style text on culture and identity.</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D6-L09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Identity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الهُوِيَّةُ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identity</a:t>
            </a:r>
            <a:endParaRPr lang="en-US" sz="1350" dirty="0"/>
          </a:p>
          <a:p>
            <a:pPr indent="0" marL="0">
              <a:buNone/>
            </a:pPr>
            <a:r>
              <a:rPr lang="en-US" sz="1100" i="1" dirty="0">
                <a:solidFill>
                  <a:srgbClr val="5A6472"/>
                </a:solidFill>
                <a:latin typeface="Calibri" pitchFamily="34" charset="0"/>
                <a:cs typeface="Amiri" pitchFamily="2" charset="-78"/>
              </a:rPr>
              <a:t>al-hu-wiy-ya-tu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تَجْرِبَةٌ شَخْصِيَّةٌ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personal experience</a:t>
            </a:r>
            <a:endParaRPr lang="en-US" sz="1350" dirty="0"/>
          </a:p>
          <a:p>
            <a:pPr indent="0" marL="0">
              <a:buNone/>
            </a:pPr>
            <a:r>
              <a:rPr lang="en-US" sz="1100" i="1" dirty="0">
                <a:solidFill>
                  <a:srgbClr val="5A6472"/>
                </a:solidFill>
                <a:latin typeface="Calibri" pitchFamily="34" charset="0"/>
                <a:cs typeface="Amiri" pitchFamily="2" charset="-78"/>
              </a:rPr>
              <a:t>taj-ri-ba-tun shakh-ṣiy-ya-tun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تَجَارِبُ شَخْصِيَّةٌ</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VIII · past</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أَعْتَزُّ بِـ</a:t>
            </a:r>
            <a:endParaRPr lang="ar-SA" sz="3000" dirty="0"/>
          </a:p>
        </p:txBody>
      </p:sp>
      <p:sp>
        <p:nvSpPr>
          <p:cNvPr id="42" name="Text 3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take pride in</a:t>
            </a:r>
            <a:endParaRPr lang="en-US" sz="1350" dirty="0"/>
          </a:p>
          <a:p>
            <a:pPr indent="0" marL="0">
              <a:buNone/>
            </a:pPr>
            <a:r>
              <a:rPr lang="en-US" sz="1100" i="1" dirty="0">
                <a:solidFill>
                  <a:srgbClr val="5A6472"/>
                </a:solidFill>
                <a:latin typeface="Calibri" pitchFamily="34" charset="0"/>
                <a:cs typeface="Amiri" pitchFamily="2" charset="-78"/>
              </a:rPr>
              <a:t>aʿ-taz-zu bi</a:t>
            </a:r>
            <a:endParaRPr lang="en-US" sz="1350" dirty="0"/>
          </a:p>
        </p:txBody>
      </p:sp>
      <p:sp>
        <p:nvSpPr>
          <p:cNvPr id="43" name="Shape 40"/>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5" name="Text 42"/>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اِعْتَزَّ</a:t>
            </a:r>
            <a:endParaRPr lang="ar-SA" sz="1350" dirty="0"/>
          </a:p>
        </p:txBody>
      </p:sp>
      <p:sp>
        <p:nvSpPr>
          <p:cNvPr id="46" name="Shape 43"/>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8" name="Text 45"/>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يَعْتَزُّ</a:t>
            </a:r>
            <a:endParaRPr lang="ar-SA" sz="150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2" name="Shape 49"/>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VIII · past</a:t>
            </a:r>
            <a:endParaRPr lang="en-US" sz="8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أَنْتَمِي إِلَى</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belong to</a:t>
            </a:r>
            <a:endParaRPr lang="en-US" sz="1350" dirty="0"/>
          </a:p>
          <a:p>
            <a:pPr indent="0" marL="0">
              <a:buNone/>
            </a:pPr>
            <a:r>
              <a:rPr lang="en-US" sz="1100" i="1" dirty="0">
                <a:solidFill>
                  <a:srgbClr val="5A6472"/>
                </a:solidFill>
                <a:latin typeface="Calibri" pitchFamily="34" charset="0"/>
                <a:cs typeface="Amiri" pitchFamily="2" charset="-78"/>
              </a:rPr>
              <a:t>an-ta-mī i-lā</a:t>
            </a:r>
            <a:endParaRPr lang="en-US" sz="1350" dirty="0"/>
          </a:p>
        </p:txBody>
      </p:sp>
      <p:sp>
        <p:nvSpPr>
          <p:cNvPr id="58" name="Shape 55"/>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60" name="Text 57"/>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اِنْتَمَى</a:t>
            </a:r>
            <a:endParaRPr lang="ar-SA" sz="1350" dirty="0"/>
          </a:p>
        </p:txBody>
      </p:sp>
      <p:sp>
        <p:nvSpPr>
          <p:cNvPr id="61" name="Shape 58"/>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3" name="Text 60"/>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يَنْتَمِي</a:t>
            </a:r>
            <a:endParaRPr lang="ar-SA" sz="1500" dirty="0"/>
          </a:p>
        </p:txBody>
      </p:sp>
      <p:sp>
        <p:nvSpPr>
          <p:cNvPr id="64" name="Shape 6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389120"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7" name="Shape 6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8" name="Text 6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9" name="Text 6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يُمْكِنُ إِنْكَارُ أَنَّ</a:t>
            </a:r>
            <a:endParaRPr lang="ar-SA" sz="3000" dirty="0"/>
          </a:p>
        </p:txBody>
      </p:sp>
      <p:sp>
        <p:nvSpPr>
          <p:cNvPr id="70" name="Text 6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cannot be denied that</a:t>
            </a:r>
            <a:endParaRPr lang="en-US" sz="1350" dirty="0"/>
          </a:p>
          <a:p>
            <a:pPr indent="0" marL="0">
              <a:buNone/>
            </a:pPr>
            <a:r>
              <a:rPr lang="en-US" sz="1100" i="1" dirty="0">
                <a:solidFill>
                  <a:srgbClr val="5A6472"/>
                </a:solidFill>
                <a:latin typeface="Calibri" pitchFamily="34" charset="0"/>
                <a:cs typeface="Amiri" pitchFamily="2" charset="-78"/>
              </a:rPr>
              <a:t>lā yum-ki-nu in-kā-ru an-na</a:t>
            </a:r>
            <a:endParaRPr lang="en-US" sz="1350" dirty="0"/>
          </a:p>
        </p:txBody>
      </p:sp>
      <p:sp>
        <p:nvSpPr>
          <p:cNvPr id="71" name="Text 68"/>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أَنَّ</a:t>
            </a:r>
            <a:pPr algn="l" indent="0" marL="0">
              <a:buNone/>
            </a:pPr>
            <a:r>
              <a:rPr lang="en-US" sz="1000" i="1" dirty="0">
                <a:solidFill>
                  <a:srgbClr val="8A6D1E"/>
                </a:solidFill>
                <a:latin typeface="Calibri" pitchFamily="34" charset="0"/>
                <a:cs typeface="Amiri" pitchFamily="2" charset="-78"/>
              </a:rPr>
              <a:t> takes an accusative noun.</a:t>
            </a:r>
            <a:endParaRPr lang="en-US" sz="100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Shape 7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وِجْهَةِ نَظَرِي</a:t>
            </a:r>
            <a:endParaRPr lang="ar-SA" sz="3000" dirty="0"/>
          </a:p>
        </p:txBody>
      </p:sp>
      <p:sp>
        <p:nvSpPr>
          <p:cNvPr id="78" name="Text 7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my point of view</a:t>
            </a:r>
            <a:endParaRPr lang="en-US" sz="1350" dirty="0"/>
          </a:p>
          <a:p>
            <a:pPr indent="0" marL="0">
              <a:buNone/>
            </a:pPr>
            <a:r>
              <a:rPr lang="en-US" sz="1100" i="1" dirty="0">
                <a:solidFill>
                  <a:srgbClr val="5A6472"/>
                </a:solidFill>
                <a:latin typeface="Calibri" pitchFamily="34" charset="0"/>
                <a:cs typeface="Amiri" pitchFamily="2" charset="-78"/>
              </a:rPr>
              <a:t>min wij-ha-ti na-ẓa-rī</a:t>
            </a:r>
            <a:endParaRPr lang="en-US" sz="13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Opinion and range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VIII · past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أَعْتَقِدُ أَنَّ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believe that</a:t>
            </a:r>
            <a:endParaRPr lang="en-US" sz="1350" dirty="0"/>
          </a:p>
          <a:p>
            <a:pPr indent="0" marL="0">
              <a:buNone/>
            </a:pPr>
            <a:r>
              <a:rPr lang="en-US" sz="1100" i="1" dirty="0">
                <a:solidFill>
                  <a:srgbClr val="5A6472"/>
                </a:solidFill>
                <a:latin typeface="Calibri" pitchFamily="34" charset="0"/>
                <a:cs typeface="Amiri" pitchFamily="2" charset="-78"/>
              </a:rPr>
              <a:t>aʿ-ta-qi-du an-na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اِعْتَقَدَ</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يَعْتَقِدُ</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الخِتَامِ</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conclusion</a:t>
            </a:r>
            <a:endParaRPr lang="en-US" sz="1350" dirty="0"/>
          </a:p>
          <a:p>
            <a:pPr indent="0" marL="0">
              <a:buNone/>
            </a:pPr>
            <a:r>
              <a:rPr lang="en-US" sz="1100" i="1" dirty="0">
                <a:solidFill>
                  <a:srgbClr val="5A6472"/>
                </a:solidFill>
                <a:latin typeface="Calibri" pitchFamily="34" charset="0"/>
                <a:cs typeface="Amiri" pitchFamily="2" charset="-78"/>
              </a:rPr>
              <a:t>fī al-khi-tā-mi</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0" name="Shape 37"/>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past</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أَطْمَحُ إِلَى</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aspire to</a:t>
            </a:r>
            <a:endParaRPr lang="en-US" sz="1350" dirty="0"/>
          </a:p>
          <a:p>
            <a:pPr indent="0" marL="0">
              <a:buNone/>
            </a:pPr>
            <a:r>
              <a:rPr lang="en-US" sz="1100" i="1" dirty="0">
                <a:solidFill>
                  <a:srgbClr val="5A6472"/>
                </a:solidFill>
                <a:latin typeface="Calibri" pitchFamily="34" charset="0"/>
                <a:cs typeface="Amiri" pitchFamily="2" charset="-78"/>
              </a:rPr>
              <a:t>aṭ-ma-ḥu i-lā</a:t>
            </a:r>
            <a:endParaRPr lang="en-US" sz="1350" dirty="0"/>
          </a:p>
        </p:txBody>
      </p:sp>
      <p:sp>
        <p:nvSpPr>
          <p:cNvPr id="46" name="Shape 4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8" name="Text 45"/>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طَمَحَ</a:t>
            </a:r>
            <a:endParaRPr lang="ar-SA" sz="1350" dirty="0"/>
          </a:p>
        </p:txBody>
      </p:sp>
      <p:sp>
        <p:nvSpPr>
          <p:cNvPr id="49" name="Shape 4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1" name="Text 4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يَطْمَحُ</a:t>
            </a:r>
            <a:endParaRPr lang="ar-SA" sz="150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5" name="Shape 5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إِنْجَازُ المُهِمَّةِ</a:t>
            </a:r>
            <a:endParaRPr lang="ar-SA" sz="3000" dirty="0"/>
          </a:p>
        </p:txBody>
      </p:sp>
      <p:sp>
        <p:nvSpPr>
          <p:cNvPr id="58" name="Text 5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Task Completion</a:t>
            </a:r>
            <a:endParaRPr lang="en-US" sz="1350" dirty="0"/>
          </a:p>
          <a:p>
            <a:pPr indent="0" marL="0">
              <a:buNone/>
            </a:pPr>
            <a:r>
              <a:rPr lang="en-US" sz="1100" i="1" dirty="0">
                <a:solidFill>
                  <a:srgbClr val="5A6472"/>
                </a:solidFill>
                <a:latin typeface="Calibri" pitchFamily="34" charset="0"/>
                <a:cs typeface="Amiri" pitchFamily="2" charset="-78"/>
              </a:rPr>
              <a:t>in-jā-zu al-mu-him-ma-ti</a:t>
            </a:r>
            <a:endParaRPr lang="en-US"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2" name="Shape 5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التَّنَوُّعُ اللُّغَوِيُّ</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Range</a:t>
            </a:r>
            <a:endParaRPr lang="en-US" sz="1350" dirty="0"/>
          </a:p>
          <a:p>
            <a:pPr indent="0" marL="0">
              <a:buNone/>
            </a:pPr>
            <a:r>
              <a:rPr lang="en-US" sz="1100" i="1" dirty="0">
                <a:solidFill>
                  <a:srgbClr val="5A6472"/>
                </a:solidFill>
                <a:latin typeface="Calibri" pitchFamily="34" charset="0"/>
                <a:cs typeface="Amiri" pitchFamily="2" charset="-78"/>
              </a:rPr>
              <a:t>at-ta-naw-wu-ʿu all-lu-gha-wiy-yu</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9" name="Shape 6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Planning “My culture and identity”</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نُخَطِّطُ: ثَقَافَتِي وَهُوِيَّتِي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will you start?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بِمَاذَا سَتَبْدَأُ؟</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a personal experience: we celebrated Eid at my grandfather’s house in Tunisia.</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بِتَجْرِبَةٍ شَخْصِيَّةٍ: احْتَفَلْنَا بِالعِيدِ فِي بَيْتِ جَدِّي فِي تُونِسَ.</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present?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وَالحَاضِرُ؟</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Here in Britain our homes are decorated, and we hold on to our customs.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هُنَا فِي بِرِيطَانْيَا تُزَيَّنُ بُيُوتُنَا، وَنَتَمَسَّكُ بِعَادَاتِنَا.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opinion?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وَرَأْيُكَ؟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cannot be denied that language is part of identity. And at the end: I aspire to teach my children Arabic.</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لَا يُمْكِنُ إِنْكَارُ أَنَّ اللُّغَةَ جُزْءٌ مِنَ الهُوِيَّةِ. وَفِي النِّهَايَةِ أَطْمَحُ إِلَى أَنْ أُعَلِّمَ أَطْفَالِي العَرَبِيَّةَ.</a:t>
            </a:r>
            <a:endParaRPr lang="ar-SA" sz="14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plan YOUR four parts aloud the same way.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Plan aloud — one card per part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وَكَانَ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احْتَفَلْنَا بِ… فِي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Tell about a past celebration.</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¶١ احْكِ عَنِ احْتِفَالٍ مَاضٍ.</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الآنَ نَتَمَسَّكُ بِ… وَتُزَيَّنُ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How do you live your culture now?</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¶٢ كَيْفَ تَعِيشُ ثَقَافَتَكَ الآنَ؟</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مِنْ وِجْهَةِ نَظَرِي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يُمْكِنُ إِنْكَارُ أَنَّ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Your opinion on language and identity?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¶٣ مَا رَأْيُكَ فِي اللُّغَةِ وَالهُوِيَّةِ؟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لِكَيْ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أَطْمَحُ إِلَى أَنْ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Your future aspiration?</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¶٤ مَا طُمُوحُكَ لِلْمُسْتَقْبَلِ؟</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أَعْتَزُّ بِ…</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you proud of?</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تَعْتَزُّ؟</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self-marking with an examiner’s eye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أُصَحِّحُ مِثْلَ المُمْتَحِنِ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النِّقَاطُ ← أَجَبْتَ عَنْ … وَلٰكِنْ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Check the bullets.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أَجَبْتُ عَنْ كُلِّ النِّقَاطِ؟</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الدَّعْمُ ← أَضِفْ سَبَبًا وَمِثَالًا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Suggest support.</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أَدْعَمُ رَأْيِي؟</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Check range.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وَهَلْ عِنْدِي مَبْنِيٌّ لِلْمَجْهُولِ؟</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Encourage + one target.</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الدَّرَجَةُ الَّتِي سَأَحْصُلُ عَلَيْهَا؟</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examiner · Leader = a writer with a draft.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One minute: say your identity text</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أَقُولُ نَصِّي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Speak your four parts aloud for one minute from your plan: past celebration → present → supported opinion → future aspiration.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sentence per part, each in the right tense.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passive in the present and a reason for your opinion.</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لَا يُمْكِنُ إِنْكَارُ أَنَّ</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أَعْتَزُّ بِ</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أَطْمَحُ إِلَى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cannot be denied that language is part of identity.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يُمْكِنُ إِنْكَارُ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يُمْكِنُ إِنْكَارَ</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اللُّغَةَ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اللُّغَةُ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جُزْءٌ مِنَ الهُوِيَّةِ.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جُزْءًا مِنَ الهُوِيَّةِ.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take pride in my roots.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أَعْتَزُّ</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أَعْتَزَّ</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جُذُورِي.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جُذُورُي.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Traditional dishes are prepared at Eid.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تُحَضَّرُ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تُحَضِّرُ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الأَطْبَاقُ التَّقْلِيدِيَّةُ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الأَطْبَاقَ التَّقْلِيدِيَّةَ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العِيدِ.</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العِيدُ.</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cannot be denied that language is part of identity.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إِنْكَارُ</a:t>
            </a:r>
            <a:pPr algn="l" indent="0" marL="0">
              <a:buNone/>
            </a:pPr>
            <a:r>
              <a:rPr lang="en-US" sz="1050" i="1" dirty="0">
                <a:solidFill>
                  <a:srgbClr val="5A6472"/>
                </a:solidFill>
                <a:latin typeface="Calibri" pitchFamily="34" charset="0"/>
                <a:cs typeface="Amiri" pitchFamily="2" charset="-78"/>
              </a:rPr>
              <a:t> is the subject (-u);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predicate -un.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لَا يُمْكِنُ إِنْكَارُ أَنَّ اللُّغَةَ جُزْءٌ مِنَ الهُوِيَّةِ.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take pride in my roots.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أَعْتَزُّ بِ</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أَعْتَزُّ بِ جُذُورِي.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Traditional dishes are prepared at Eid.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 subject (-u).</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تُحَضَّرُ الأَطْبَاقُ التَّقْلِيدِيَّةُ فِي العِيدِ.</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أَعْتَزُّ ثَقَافَتِي.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أَطْمَحُ أَنْ أُعَلِّمُ أَطْفَالِي.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things to fix.</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رَأْيِي اللُّغَةُ مُهِمَّةٌ.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opinion alone isn’t enough — support it!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أَعْتَزُّ ثَقَافَتِي.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أَعْتَزُّ بِثَقَافَتِي.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أَعْتَزُّ بِ…</a:t>
            </a:r>
            <a:endParaRPr lang="ar-SA" sz="14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أَطْمَحُ أَنْ أُعَلِّمُ أَطْفَالِي.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أَطْمَحُ إِلَى أَنْ أُعَلِّمَ أَطْفَالِي.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أَطْمَحُ إِلَى أَنْ</a:t>
            </a:r>
            <a:pPr algn="l" indent="0" marL="0">
              <a:buNone/>
            </a:pPr>
            <a:r>
              <a:rPr lang="en-US" sz="1150" b="1" dirty="0">
                <a:solidFill>
                  <a:srgbClr val="1B3B6F"/>
                </a:solidFill>
                <a:latin typeface="Calibri" pitchFamily="34" charset="0"/>
                <a:cs typeface="Amiri" pitchFamily="2" charset="-78"/>
              </a:rPr>
              <a:t> +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رَأْيِي اللُّغَةُ مُهِمَّةٌ.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فِي رَأْيِي اللُّغَةُ مُهِمَّةٌ، لِأَنَّهَا تَرْبِطُنِي بِجَدَّتِي؛ مَثَلًا، نَتَحَدَّثُ كُلَّ يَوْمٍ.</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supported opinion = reason + example.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مِنْ وِجْهَةِ نَظَرِي ______ ، لِأَنَّ ______ ؛ مَثَلًا ______ .</a:t>
            </a:r>
            <a:endParaRPr lang="ar-SA" sz="13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my point of view …, because …; for example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أَعْتَزُّ بِ______ ، وَأَنْتَمِي إِلَى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proud of …, and I belong to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¶١ فِي ______ احْتَفَلْنَا بِ______ فِي ______ .</a:t>
            </a:r>
            <a:endParaRPr lang="ar-SA" sz="16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In … we celebrated … in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¶٢ الآنَ نَتَمَسَّكُ بِ______ ، وَتُزَيَّنُ ______ .</a:t>
            </a:r>
            <a:endParaRPr lang="ar-SA" sz="17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Now we hold on to …, and … is decorated.</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¶٣ لَا يُمْكِنُ إِنْكَارُ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It cannot be denied that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¶٤ أَطْمَحُ إِلَى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I aspire to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الهُوِيَّةُ  ·  تَجْرِبَةٌ شَخْصِيَّةٌ  ·  أَعْتَزُّ بِ…  ·  أَنْتَمِي إِلَى  ·  لَا يُمْكِنُ إِنْكَارُ أَنَّ  ·  مِنْ وِجْهَةِ نَظَرِي  ·  تُزَيَّنُ · تُحَضَّرُ  ·  أَطْمَحُ إِلَى 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culture and identity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ثَقَافَتِي وَهُوِيَّتِي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exam-style text (about 80–100 words) on «</a:t>
            </a:r>
            <a:pPr algn="l" indent="0" marL="0">
              <a:buNone/>
            </a:pPr>
            <a:r>
              <a:rPr lang="ar-SA" altLang="en-US" sz="1450" b="1" dirty="0">
                <a:solidFill>
                  <a:srgbClr val="1F2A37"/>
                </a:solidFill>
                <a:latin typeface="Amiri" pitchFamily="2" charset="-78"/>
                <a:ea typeface="Amiri" pitchFamily="2" charset="-78"/>
                <a:cs typeface="Amiri" pitchFamily="2" charset="-78"/>
              </a:rPr>
              <a:t>ثَقَافَتِي وَهُوِيَّتِي</a:t>
            </a:r>
            <a:pPr algn="l" indent="0" marL="0">
              <a:buNone/>
            </a:pPr>
            <a:r>
              <a:rPr lang="en-US" sz="1100" b="1" dirty="0">
                <a:solidFill>
                  <a:srgbClr val="1F2A37"/>
                </a:solidFill>
                <a:latin typeface="Calibri" pitchFamily="34" charset="0"/>
                <a:cs typeface="Amiri" pitchFamily="2" charset="-78"/>
              </a:rPr>
              <a:t>». ¶1 a past celebration. ¶2 how you live your culture now (with a passive). ¶3 a supported opinion (</a:t>
            </a:r>
            <a:pPr algn="l" indent="0" marL="0">
              <a:buNone/>
            </a:pPr>
            <a:r>
              <a:rPr lang="ar-SA" altLang="en-US" sz="1450" b="1" dirty="0">
                <a:solidFill>
                  <a:srgbClr val="1F2A37"/>
                </a:solidFill>
                <a:latin typeface="Amiri" pitchFamily="2" charset="-78"/>
                <a:ea typeface="Amiri" pitchFamily="2" charset="-78"/>
                <a:cs typeface="Amiri" pitchFamily="2" charset="-78"/>
              </a:rPr>
              <a:t>لَا يُمْكِنُ إِنْكَارُ أَنَّ … / مِنْ وِجْهَةِ نَظَرِي</a:t>
            </a:r>
            <a:pPr algn="l" indent="0" marL="0">
              <a:buNone/>
            </a:pPr>
            <a:r>
              <a:rPr lang="en-US" sz="1100" b="1" dirty="0">
                <a:solidFill>
                  <a:srgbClr val="1F2A37"/>
                </a:solidFill>
                <a:latin typeface="Calibri" pitchFamily="34" charset="0"/>
                <a:cs typeface="Amiri" pitchFamily="2" charset="-78"/>
              </a:rPr>
              <a:t> …). ¶4 a future aspiration (</a:t>
            </a:r>
            <a:pPr algn="l" indent="0" marL="0">
              <a:buNone/>
            </a:pPr>
            <a:r>
              <a:rPr lang="ar-SA" altLang="en-US" sz="1450" b="1" dirty="0">
                <a:solidFill>
                  <a:srgbClr val="1F2A37"/>
                </a:solidFill>
                <a:latin typeface="Amiri" pitchFamily="2" charset="-78"/>
                <a:ea typeface="Amiri" pitchFamily="2" charset="-78"/>
                <a:cs typeface="Amiri" pitchFamily="2" charset="-78"/>
              </a:rPr>
              <a:t>أَطْمَحُ إِلَى أَنْ</a:t>
            </a:r>
            <a:pPr algn="l" indent="0" marL="0">
              <a:buNone/>
            </a:pPr>
            <a:r>
              <a:rPr lang="en-US" sz="1100" b="1" dirty="0">
                <a:solidFill>
                  <a:srgbClr val="1F2A37"/>
                </a:solidFill>
                <a:latin typeface="Calibri" pitchFamily="34" charset="0"/>
                <a:cs typeface="Amiri" pitchFamily="2" charset="-78"/>
              </a:rPr>
              <a:t> …). Then self-mark it against the four parts.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احْتَفَلْنَا بِ…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celebrated …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نَتَمَسَّكُ بِ… · تُزَيَّنُ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hold on to … · … is decorated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يُمْكِنُ إِنْكَارُ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cannot be denied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أَعْتَزُّ بِ… · أَطْمَحُ إِلَى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proud of … · I aspire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cover all four parts, each in the right tense?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include a passive and a supported opinion with a reason and an example?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أَجَبْتَ عَنِ المَاضِي وَالحَاضِرِ، وَلٰكِنْ لَيْسَ عِنْدَكَ رَأْيٌ مَدْعُومٌ.</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 answered past and present, but you have no supported opinion.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أَجَبْتُ عَنْ كُلِّ النِّقَاطِ؟</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أَضِفْ سَبَبًا وَمِثَالًا؛ مَثَلًا: «لِأَنَّنِي أَفْهَمُ جَدَّتِي بِالعَرَبِيَّةِ فَقَطْ».</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Add a reason and an example; e.g. “because I can only understand my grandmother in Arabic”.</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أَدْعَمُ رَأْيِي؟</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أَضِفْ مَثَلًا: «تُحَضَّرُ الأَطْبَاقُ التَّقْلِيدِيَّةُ فِي العِيدِ».</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 add, for example: “Traditional dishes are prepared at Eid.”</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وَهَلْ عِنْدِي مَبْنِيٌّ لِلْمَجْهُولِ؟</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نَصُّكَ جَيِّدٌ جِدًّا؛ إِذَا أَضَفْتَ الرَّأْيَ المَدْعُومَ، فَسَيُصْبِحُ مُمْتَازًا.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Your text is very good; if you add the supported opinion, it will become excellent.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الدَّرَجَةُ الَّتِي سَأَحْصُلُ عَلَيْهَا؟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فِي الصَّيْفِ المَاضِي احْتَفَلْنَا بِعِيدِ الأَضْحَى فِي قَرْيَةِ جَدِّي فِي تُونِسَ، وَكَانَتِ العَائِلَةُ كُلُّهَا مَعًا لِأَوَّلِ مَرَّةٍ.</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أَمَّا هُنَا فِي لِيدْزَ فَنَتَمَسَّكُ بِعَادَاتِنَا؛ تُزَيَّنُ بُيُوتُنَا فِي العِيدِ، وَتُحَضَّرُ الأَطْبَاقُ التُّونِسِيَّةُ.</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لَا يُمْكِنُ إِنْكَارُ أَنَّ اللُّغَةَ جُزْءٌ مِنَ الهُوِيَّةِ. مِنْ وِجْهَةِ نَظَرِي، العَرَبِيَّةُ تَرْبِطُنِي بِجَدَّتِي؛ مَثَلًا، نَتَحَدَّثُ بِالفِيدْيُو كُلَّ أُسْبُوعٍ. لِذٰلِكَ أَعْتَزُّ بِهُوِيَّتِي المُزْدَوَجَةِ.</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فِي المُسْتَقْبَلِ أَطْمَحُ إِلَى أَنْ أُعَلِّمَ أَطْفَالِي العَرَبِيَّةَ، لِكَيْ يَبْقَوْا قَرِيبِينَ مِنْ جُذُورِهِمْ.</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summer we celebrated Eid al-Adha in my grandfather’s village in Tunisia, and the whole family was together for the first time. Here in Leeds we hold on to our customs: our homes are decorated at Eid, and Tunisian dishes are prepared. It cannot be denied that language is part of identity. From my point of view, Arabic connects me to my grandmother — for example, we video-call every week. So I am proud of my dual identity. In the future I aspire to teach my children Arabic, so they stay close to their roots.”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احْتَفَلْنَا بِعِيدِ الأَضْحَى</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تُزَيَّنُ بُيُوتُنَا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يُمْكِنُ إِنْكَارُ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أَطْمَحُ إِلَى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D6-L09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D6-L10 · Listening — Culture, Celebration and Identity Texts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 نُصُوصُ الثَّقَافَةِ وَالاحْتِفَالِ وَالهُوِيَّةِ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D6-L09 · Practice Room — Writing — Countries, Culture and Identity (Paper 4)</dc:title>
  <dc:subject>PptxGenJS Presentation</dc:subject>
  <dc:creator>Al Madina Online School · Arabic Department</dc:creator>
  <cp:lastModifiedBy>Al Madina Online School · Arabic Department</cp:lastModifiedBy>
  <cp:revision>1</cp:revision>
  <dcterms:created xsi:type="dcterms:W3CDTF">2026-10-25T18:53:34Z</dcterms:created>
  <dcterms:modified xsi:type="dcterms:W3CDTF">2026-10-25T18:53:34Z</dcterms:modified>
</cp:coreProperties>
</file>