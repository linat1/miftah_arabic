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D6-L11 (D6 Consolidation — Complete Review and Speaking Preparation) — new practice tasks built on the lesson’s own word bank and grammar (a fluent topic conversation under pressure: mirror the tense of the question (ḥaḍarta? → ḥaḍartu …); say verb + preposition as one unit (naḥtafilu bi- · antamī ilā · aʿtazzu bi-); add a reason (li-anna …); qualify as you speak (fī baʿḍi al-buldān · ʿalā ḥaddi ʿilmī); buy time and repair (daʿnī ufakkiru · ʿafwan, aqṣidu)).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examiner to a girl: حَضَرْتِهَا · تَعْتَزِّينَ · هُوِيَّتِكِ · سَتُحَافِظِينَ · ثَقَافَتِكِ. Mirror the tense · verb + preposition as one unit · reason · hedge · one repair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550" b="1" dirty="0">
                <a:solidFill>
                  <a:srgbClr val="FFFFFF"/>
                </a:solidFill>
                <a:latin typeface="Cambria" pitchFamily="34" charset="0"/>
                <a:cs typeface="Amiri" pitchFamily="2" charset="-78"/>
              </a:rPr>
              <a:t>Practice Room — D6 Consolidation — Complete Review and Speaking Preparation</a:t>
            </a:r>
            <a:endParaRPr lang="en-US" sz="25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الاسْتِعْدَادُ لِلْمُحَادَثَةِ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final preparation for the D6 speaking: say the fluency and qualifying phrases, act a full topic conversation, answer examiner cards that switch tense, do a role-play card as examiner and candidate, give a one-minute answer under pressure, then build, fix and write the script of their best topic-conversation answers with a self-assessment.</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D6-L11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Review and self-assessment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نِهَائِيَّةٌ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final review</a:t>
            </a:r>
            <a:endParaRPr lang="en-US" sz="1350" dirty="0"/>
          </a:p>
          <a:p>
            <a:pPr indent="0" marL="0">
              <a:buNone/>
            </a:pPr>
            <a:r>
              <a:rPr lang="en-US" sz="1100" i="1" dirty="0">
                <a:solidFill>
                  <a:srgbClr val="5A6472"/>
                </a:solidFill>
                <a:latin typeface="Calibri" pitchFamily="34" charset="0"/>
                <a:cs typeface="Amiri" pitchFamily="2" charset="-78"/>
              </a:rPr>
              <a:t>mu-rā-ja-ʿa-tun ni-hā-ʾiy-ya-tun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تَقْيِيمٌ ذَاتِيٌّ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self-assessment</a:t>
            </a:r>
            <a:endParaRPr lang="en-US" sz="1350" dirty="0"/>
          </a:p>
          <a:p>
            <a:pPr indent="0" marL="0">
              <a:buNone/>
            </a:pPr>
            <a:r>
              <a:rPr lang="en-US" sz="1100" i="1" dirty="0">
                <a:solidFill>
                  <a:srgbClr val="5A6472"/>
                </a:solidFill>
                <a:latin typeface="Calibri" pitchFamily="34" charset="0"/>
                <a:cs typeface="Amiri" pitchFamily="2" charset="-78"/>
              </a:rPr>
              <a:t>taq-yī-mun dhā-tiy-yun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تَقْيِيمَاتٌ ذَاتِيَّةٌ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8604504" y="4279392"/>
            <a:ext cx="151790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Buys time in Arabic.</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دَعْنِي أُفَكِّرُ</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a:t>
            </a:r>
            <a:endParaRPr lang="en-US" sz="1350" dirty="0"/>
          </a:p>
          <a:p>
            <a:pPr indent="0" marL="0">
              <a:buNone/>
            </a:pPr>
            <a:r>
              <a:rPr lang="en-US" sz="1100" i="1" dirty="0">
                <a:solidFill>
                  <a:srgbClr val="5A6472"/>
                </a:solidFill>
                <a:latin typeface="Calibri" pitchFamily="34" charset="0"/>
                <a:cs typeface="Amiri" pitchFamily="2" charset="-78"/>
              </a:rPr>
              <a:t>daʿ-nī u-fak-ki-ru</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Shape 57"/>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repair phrase.</a:t>
            </a:r>
            <a:endParaRPr lang="en-US" sz="800" dirty="0"/>
          </a:p>
        </p:txBody>
      </p:sp>
      <p:sp>
        <p:nvSpPr>
          <p:cNvPr id="62" name="Shape 5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عَفْوًا، أَقْصِدُ</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sorry, I mean</a:t>
            </a:r>
            <a:endParaRPr lang="en-US" sz="1350" dirty="0"/>
          </a:p>
          <a:p>
            <a:pPr indent="0" marL="0">
              <a:buNone/>
            </a:pPr>
            <a:r>
              <a:rPr lang="en-US" sz="1100" i="1" dirty="0">
                <a:solidFill>
                  <a:srgbClr val="5A6472"/>
                </a:solidFill>
                <a:latin typeface="Calibri" pitchFamily="34" charset="0"/>
                <a:cs typeface="Amiri" pitchFamily="2" charset="-78"/>
              </a:rPr>
              <a:t>ʿaf-wan, aq-ṣi-du</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Fluency and qualifying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البُلْدَانِ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بَلَدٌ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 دَائِمًا</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حَدِّ عِلْمِي</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far as I know</a:t>
            </a:r>
            <a:endParaRPr lang="en-US" sz="1350" dirty="0"/>
          </a:p>
          <a:p>
            <a:pPr indent="0" marL="0">
              <a:buNone/>
            </a:pPr>
            <a:r>
              <a:rPr lang="en-US" sz="1100" i="1" dirty="0">
                <a:solidFill>
                  <a:srgbClr val="5A6472"/>
                </a:solidFill>
                <a:latin typeface="Calibri" pitchFamily="34" charset="0"/>
                <a:cs typeface="Amiri" pitchFamily="2" charset="-78"/>
              </a:rPr>
              <a:t>ʿa-lā ḥad-di ʿil-mī</a:t>
            </a:r>
            <a:endParaRPr lang="en-US" sz="135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يَخْتَلِفُ الأَمْرُ</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varies</a:t>
            </a:r>
            <a:endParaRPr lang="en-US" sz="1350" dirty="0"/>
          </a:p>
          <a:p>
            <a:pPr indent="0" marL="0">
              <a:buNone/>
            </a:pPr>
            <a:r>
              <a:rPr lang="en-US" sz="1100" i="1" dirty="0">
                <a:solidFill>
                  <a:srgbClr val="5A6472"/>
                </a:solidFill>
                <a:latin typeface="Calibri" pitchFamily="34" charset="0"/>
                <a:cs typeface="Amiri" pitchFamily="2" charset="-78"/>
              </a:rPr>
              <a:t>yakh-ta-li-fu al-am-ru</a:t>
            </a:r>
            <a:endParaRPr lang="en-US" sz="135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8" name="Shape 55"/>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II · I · he</a:t>
            </a:r>
            <a:endParaRPr lang="en-US" sz="8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أُعَمِّمُ</a:t>
            </a:r>
            <a:endParaRPr lang="ar-SA" sz="3000" dirty="0"/>
          </a:p>
        </p:txBody>
      </p:sp>
      <p:sp>
        <p:nvSpPr>
          <p:cNvPr id="63" name="Text 6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generalise</a:t>
            </a:r>
            <a:endParaRPr lang="en-US" sz="1350" dirty="0"/>
          </a:p>
          <a:p>
            <a:pPr indent="0" marL="0">
              <a:buNone/>
            </a:pPr>
            <a:r>
              <a:rPr lang="en-US" sz="1100" i="1" dirty="0">
                <a:solidFill>
                  <a:srgbClr val="5A6472"/>
                </a:solidFill>
                <a:latin typeface="Calibri" pitchFamily="34" charset="0"/>
                <a:cs typeface="Amiri" pitchFamily="2" charset="-78"/>
              </a:rPr>
              <a:t>lā u-ʿam-mi-mu</a:t>
            </a:r>
            <a:endParaRPr lang="en-US" sz="1350" dirty="0"/>
          </a:p>
        </p:txBody>
      </p:sp>
      <p:sp>
        <p:nvSpPr>
          <p:cNvPr id="64" name="Shape 61"/>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6" name="Text 63"/>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 يُعَمِّمُ</a:t>
            </a:r>
            <a:endParaRPr lang="ar-SA" sz="1500" dirty="0"/>
          </a:p>
        </p:txBody>
      </p:sp>
      <p:sp>
        <p:nvSpPr>
          <p:cNvPr id="67" name="Shape 64"/>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9" name="Text 66"/>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 تُعَمِّمُ</a:t>
            </a:r>
            <a:endParaRPr lang="ar-SA" sz="15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full 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مُحَادَثَةٌ مَوْضُوعِيَّةٌ 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attended a cultural celebration recently?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حَضَرْتَ احْتِفَالًا ثَقَافِيًّا مُؤَخَّرًا؟</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attended my cousin’s wedding, and we celebrated with music and dabke.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حَضَرْتُ عُرْسَ ابْنِ عَمِّي، وَاحْتَفَلْنَا بِالمُوسِيقَى وَالدَّبْكَةِ.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that a custom for all Arabs?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هٰذِهِ عَادَةٌ عِنْدَ كُلِّ العَرَبِ؟</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as far as I know dabke is popular in the Levant especially, and in some other countries.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عَلَى حَدِّ عِلْمِي الدَّبْكَةُ مَشْهُورَةٌ فِي بِلَادِ الشَّامِ خُصُوصًا، وَفِي بَعْضِ البُلْدَانِ الأُخْرَى.</a:t>
            </a:r>
            <a:endParaRPr lang="ar-SA" sz="16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are you proud of in your culture?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الَّذِي تَعْتَزُّ بِهِ فِي ثَقَافَتِكَ؟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Let me think… I am proud of generosity, because our home is always open to guests.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دَعْنِي أُفَكِّرُ… أَعْتَزُّ بِالكَرَمِ، لِأَنَّ بَيْتَنَا مَفْتُوحٌ دَائِمًا لِلضُّيُوفِ.</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hold YOUR conversation — mirror every tense and add one hedge.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Examiner cards — mirror the tense, add a reason, qualify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زُرْتُ … وَرَأَيْتُ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visited an Arab country? What did you see?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زُرْتَ بَلَدًا عَرَبِيًّا؟ مَاذَا رَأَيْتَ؟</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بَعْضِ السَّنَوَاتِ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نَحْتَفِلُ بِ… عَادَةً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your family celebrate occasions?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تَحْتَفِلُ عَائِلَتُكَ بِالمُنَاسَبَاتِ؟</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وَأَعْتَزُّ بِ…</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أَنْتَمِي إِلَى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culture do you belong to?</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إِلَى أَيِّ ثَقَافَةٍ تَنْتَمِي؟</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سَبِيلِ المِثَالِ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لِأَنَّهَا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Arabic important to you? Why?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العَرَبِيَّةُ مُهِمَّةٌ لَكَ؟ لِمَاذَا؟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سَأَحْتَفِظُ بِ… / سَأُعَلِّمُ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will you keep your culture in future?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سَتَحْتَفِظُ بِثَقَافَتِكَ فِي المُسْتَقْبَلِ؟</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the D6 speaking test (practice)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المَاضِي ← حَضَرْتُ …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(mirror the tense).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مُنَاسَبَةً ثَقَافِيَّةً حَضَرْتَهَا.</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التَّحَفُّظُ ← لَا، فِي بَعْضِ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Qualify the claim.</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يَحْتَفِلُ كُلُّ النَّاسِ بِهٰذِهِ المُنَاسَبَةِ؟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preposition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تَعْتَزُّ بِهِ فِي هُوِيَّتِكَ؟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repair if needed.</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وَكَيْفَ سَتُحَافِظُ عَلَى ثَقَافَتِكَ بَعْدَ عَشْرِ سَنَوَاتٍ؟</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candidate · Leader = the examiner.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under pressure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دَقِيقَةٌ تَحْتَ الضَّغْطِ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asks any card question with no warning. Answer for one minute: mirror the tense, give a reason and an example, and qualify one claim. The Coach completes a self-assessment strip: tense · preposition · reason · hedge · fluency.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Right tense + one reason.</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verb + preposition and an example.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hedge, a second tense and a smooth repair.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As far as I know, this custom is popular in the Gulf.</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حَدِّ عِلْمِي،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حَدُّ عِلْمِي،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العَادَةُ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العَادَةُ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مَشْهُورَةٌ فِي الخَلِيجِ.</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مَشْهُورٌ فِي الخَلِيجِ.</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Did you attend? — Yes, I attended.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حَضَرْتَ؟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تَحْضُرُ؟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 نَعَمْ،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 لَا،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حَضَرْتُ.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أَحْضُرُ.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celebrate Eid with our neighbours.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نَحْتَفِلُ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نَحْتَفِلَ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بِالعِيدِ</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العِيدَ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جِيرَانِنَا.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جِيرَانُنَا.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As far as I know, this custom is popular in the Gulf.</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عَادَةٌ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مَشْهُورَةٌ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عَلَى حَدِّ عِلْمِي، هٰذِهِ العَادَةُ مَشْهُورَةٌ فِي الخَلِيجِ.</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Did you attend? — Yes, I attended.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Mirror the tense: </a:t>
            </a:r>
            <a:pPr algn="l" indent="0" marL="0">
              <a:buNone/>
            </a:pPr>
            <a:r>
              <a:rPr lang="ar-SA" altLang="en-US" sz="1350" dirty="0">
                <a:solidFill>
                  <a:srgbClr val="5A6472"/>
                </a:solidFill>
                <a:latin typeface="Amiri" pitchFamily="2" charset="-78"/>
                <a:ea typeface="Amiri" pitchFamily="2" charset="-78"/>
                <a:cs typeface="Amiri" pitchFamily="2" charset="-78"/>
              </a:rPr>
              <a:t>حَضَرْتَ</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حَضَرْتُ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حَضَرْتَ؟ — نَعَمْ، حَضَرْتُ.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celebrate Eid with our neighbours.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نَحْتَفِلُ بِ</a:t>
            </a:r>
            <a:pPr algn="l" indent="0" marL="0">
              <a:buNone/>
            </a:pPr>
            <a:r>
              <a:rPr lang="en-US" sz="1050" i="1" dirty="0">
                <a:solidFill>
                  <a:srgbClr val="5A6472"/>
                </a:solidFill>
                <a:latin typeface="Calibri" pitchFamily="34" charset="0"/>
                <a:cs typeface="Amiri" pitchFamily="2" charset="-78"/>
              </a:rPr>
              <a:t>… as one unit.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نَحْتَفِلُ بِالعِيدِ مَعَ جِيرَانِنَا.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زُرْتَ مِصْرَ؟ — نَعَمْ، أَزُورُ مِصْرَ.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Mirror the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أَعْتَزُّ لُغَتِي.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Verb +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يَرْقُصُونَ الدَّبْكَةَ.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Qualify!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زُرْتَ مِصْرَ؟ — نَعَمْ، أَزُورُ مِصْرَ.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نَعَمْ، زُرْتُ مِصْرَ.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question → past answer.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أَعْتَزُّ لُغَتِي.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أَعْتَزُّ بِلُغَتِي.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أَعْتَزُّ بِ…</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يَرْقُصُونَ الدَّبْكَةَ.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فِي بَعْضِ البُلْدَانِ يَرْقُصُ النَّاسُ الدَّبْكَةَ فِي الأَعْرَاسِ.</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Hedge the claim.</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حَدِّ عِلْمِي ______ ، وَلٰكِنْ لَيْسَ دَائِمًا.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far as I know …, but not always.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دَعْنِي أُفَكِّرُ…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Let me think…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س١: ______ ؟ ج: ______ ، لِأَنَّ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Q1: …? A: …, because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س٢: ______ ؟ ج: نَحْتَفِلُ بِ______ ، وَ ______ .</a:t>
            </a:r>
            <a:endParaRPr lang="ar-SA" sz="15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Q2: …? A: We celebrate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س٣: ______ ؟ ج: سَوْفَ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Q3: …? A: I will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تَقْيِيمٌ ذَاتِيٌّ: نُقْطَةُ قُوَّتِي ______ ، وَهَدَفِي ______ .</a:t>
            </a:r>
            <a:endParaRPr lang="ar-SA" sz="14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Self-assessment: my strength is …, and my target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مُرَاجَعَةٌ نِهَائِيَّةٌ  ·  تَقْيِيمٌ ذَاتِيٌّ  ·  الطَّلَاقَةُ  ·  دَعْنِي أُفَكِّرُ  ·  عَفْوًا، أَقْصِدُ  ·  عَلَى سَبِيلِ المِثَالِ  ·  فِي بَعْضِ البُلْدَانِ  ·  عَلَى حَدِّ عِلْمِي</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My best conversation — script and self-assessment</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أَفْضَلُ 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the script (about 60–85 words) of your answers to three examiner questions from today (one past, one present, one future). Each answer must mirror the tense, include a verb + preposition, and give a reason; include at least one hedge. Then add a one-line self-assessment: one strength and one target.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حَضَرْتُ … · زُرْتُ … · احْتَفَلْنَا بِ…</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attended … · I visited … · we celebrated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نَحْتَفِلُ بِ… · أَنْتَمِي إِلَى … · أَعْتَزُّ 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celebrate … · I belong to … · I am proud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حَدِّ عِلْمِي … · فِي بَعْضِ البُلْدَانِ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far as I know … · in some countries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نُقْطَةُ قُوَّتِي … · هَدَفِي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strength … · my target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mirror the tense of every question and give a reason?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verb + preposition units and qualify at least one claim?</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حَضَرْتُ مِهْرَجَانَ الثَّقَافَةِ العَرَبِيَّةِ فِي لَنْدَنَ، وَشَاهَدْتُ عُرُوضًا لِلْخَطِّ.</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attended the Arab culture festival in London, and watched calligraphy demonstrations.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مُنَاسَبَةً ثَقَافِيَّةً حَضَرْتَهَا.</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كُلُّهُمْ؛ يَحْضُرُهُ غَالِبًا أَفْرَادُ الجَالِيَةِ وَبَعْضُ الطُّلَّابِ.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Not everyone — it’s mostly attended by the community and some students.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يَحْتَفِلُ كُلُّ النَّاسِ بِهٰذِهِ المُنَاسَبَةِ؟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أَعْتَزُّ بِلُغَتِي، لِأَنَّهَا تَرْبِطُنِي بِتَارِيخٍ طَوِيلٍ وَبِعَائِلَتِي.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proud of my language, because it connects me to a long history and to my family.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الَّذِي تَعْتَزُّ بِهِ فِي هُوِيَّتِكَ؟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دَعْنِي أُفَكِّرُ… سَأَتَكَلَّمُ العَرَبِيَّةَ مَعَ أَطْفَالِي، وَسَنَحْتَفِلُ بِكُلِّ الأَعْيَادِ مَعًا.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Let me think… I will speak Arabic with my children, and we will celebrate all the festivals together.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وَكَيْفَ سَتُحَافِظُ عَلَى ثَقَافَتِكَ بَعْدَ عَشْرِ سَنَوَاتٍ؟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س١: هَلْ زُرْتَ بَلَدًا عَرَبِيًّا؟ ج: نَعَمْ، زُرْتُ المَغْرِبَ العَامَ المَاضِيَ، وَاسْتَمْتَعْتُ بِالأَسْوَاقِ، لِأَنَّهَا مَلِيئَةٌ بِالأَلْوَانِ.</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س٢: كَيْفَ تَحْتَفِلُونَ بِالعِيدِ؟ ج: نَحْتَفِلُ بِالعِيدِ مَعَ جِيرَانِنَا، وَعَلَى حَدِّ عِلْمِي تَفْعَلُ ذٰلِكَ عَائِلَاتٌ كَثِيرَةٌ هُنَا، وَلٰكِنْ لَيْسَ كُلُّهَا.</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س٣: كَيْفَ سَتُحَافِظُ عَلَى ثَقَافَتِكَ؟ ج: سَأَتَكَلَّمُ العَرَبِيَّةَ مَعَ أَطْفَالِي، لِأَنَّنِي أَعْتَزُّ بِلُغَتِي.</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تَقْيِيمٌ ذَاتِيٌّ: نُقْطَةُ قُوَّتِي الأَزْمِنَةُ، وَهَدَفِي أَنْ أَتَكَلَّمَ بِطَلَاقَةٍ أَكْثَرَ.</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“Q1: Have you visited an Arab country? A: Yes, I visited Morocco last year, and enjoyed the markets, because they are full of colour. Q2: How do you celebrate Eid? A: We celebrate Eid with our neighbours, and as far as I know many families here do that, but not all. Q3: How will you keep your culture? A: I will speak Arabic with my children, because I am proud of my language. Self-assessment: my strength is tenses, and my target is to speak more fluently.”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زُرْتُ المَغْرِبَ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نَحْتَفِلُ بِالعِيدِ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حَدِّ عِلْمِي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أَعْتَزُّ بِلُغَتِي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D6-L12 · Review and Unit Assessment: Countries, Cultures and Celebrations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D6-L11 · Practice Room — D6 Consolidation — Complete Review and Speaking Preparation</dc:title>
  <dc:subject>PptxGenJS Presentation</dc:subject>
  <dc:creator>Al Madina Online School · Arabic Department</dc:creator>
  <cp:lastModifiedBy>Al Madina Online School · Arabic Department</cp:lastModifiedBy>
  <cp:revision>1</cp:revision>
  <dcterms:created xsi:type="dcterms:W3CDTF">2026-10-25T18:56:20Z</dcterms:created>
  <dcterms:modified xsi:type="dcterms:W3CDTF">2026-10-25T18:56:20Z</dcterms:modified>
</cp:coreProperties>
</file>