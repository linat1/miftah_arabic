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D6-L10 (Listening — Culture, Celebration and Identity Texts) — new practice tasks built on the lesson’s own word bank and grammar (catch three things at speed: the TENSE in the verb shape (iḥtafalnā · naḥtafilu · sa-naḥtafilu · kunnā naḥtafilu); the HEDGE that narrows a claim (fī baʿḍi al-ʿāʾilāt · laysa dāʾiman · ghāliban · ʿalā ḥaddi ʿilmī); WHO said it in a dialogue (anā / hiya / hum)).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D6-L10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guest to a female host: وَأَنْتِ · عَائِلَتُكِ. The host mirrors the tense and the hedge back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(62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D6-L10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Listening — Culture, Celebration and Identity Texts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أَسْتَمِعُ إِلَى الثَّقَافَةِ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listening-and-speaking practice in pairs: one reads short cultural monologues and dialogues aloud, the other catches the tense of each celebration, the hedge that narrows a claim, and who said what. Then they do a role-play card as a podcast host, give a one-minute talk with hedges and tense changes, and build, fix and write a dialogue with traps.</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D6-L10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Culture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المُعْتَقَدَاتُ</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beliefs</a:t>
            </a:r>
            <a:endParaRPr lang="en-US" sz="1350" dirty="0"/>
          </a:p>
          <a:p>
            <a:pPr indent="0" marL="0">
              <a:buNone/>
            </a:pPr>
            <a:r>
              <a:rPr lang="en-US" sz="1100" i="1" dirty="0">
                <a:solidFill>
                  <a:srgbClr val="5A6472"/>
                </a:solidFill>
                <a:latin typeface="Calibri" pitchFamily="34" charset="0"/>
                <a:cs typeface="Amiri" pitchFamily="2" charset="-78"/>
              </a:rPr>
              <a:t>al-muʿ-ta-qa-dā-tu</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مُعْتَقَدٌ</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القِيَمُ</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values</a:t>
            </a:r>
            <a:endParaRPr lang="en-US" sz="1350" dirty="0"/>
          </a:p>
          <a:p>
            <a:pPr indent="0" marL="0">
              <a:buNone/>
            </a:pPr>
            <a:r>
              <a:rPr lang="en-US" sz="1100" i="1" dirty="0">
                <a:solidFill>
                  <a:srgbClr val="5A6472"/>
                </a:solidFill>
                <a:latin typeface="Calibri" pitchFamily="34" charset="0"/>
                <a:cs typeface="Amiri" pitchFamily="2" charset="-78"/>
              </a:rPr>
              <a:t>al-qi-ya-mu</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قِيمَةٌ</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التَّقَالِيدُ</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traditions</a:t>
            </a:r>
            <a:endParaRPr lang="en-US" sz="1350" dirty="0"/>
          </a:p>
          <a:p>
            <a:pPr indent="0" marL="0">
              <a:buNone/>
            </a:pPr>
            <a:r>
              <a:rPr lang="en-US" sz="1100" i="1" dirty="0">
                <a:solidFill>
                  <a:srgbClr val="5A6472"/>
                </a:solidFill>
                <a:latin typeface="Calibri" pitchFamily="34" charset="0"/>
                <a:cs typeface="Amiri" pitchFamily="2" charset="-78"/>
              </a:rPr>
              <a:t>at-ta-qā-lī-du</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المُنَاسَبَةُ</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occasion</a:t>
            </a:r>
            <a:endParaRPr lang="en-US" sz="1350" dirty="0"/>
          </a:p>
          <a:p>
            <a:pPr indent="0" marL="0">
              <a:buNone/>
            </a:pPr>
            <a:r>
              <a:rPr lang="en-US" sz="1100" i="1" dirty="0">
                <a:solidFill>
                  <a:srgbClr val="5A6472"/>
                </a:solidFill>
                <a:latin typeface="Calibri" pitchFamily="34" charset="0"/>
                <a:cs typeface="Amiri" pitchFamily="2" charset="-78"/>
              </a:rPr>
              <a:t>al-mu-nā-sa-ba-tu</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المُنَاسَبَاتُ</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8" name="Text 6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الاِنْتِمَاءُ</a:t>
            </a:r>
            <a:endParaRPr lang="ar-SA" sz="3000" dirty="0"/>
          </a:p>
        </p:txBody>
      </p:sp>
      <p:sp>
        <p:nvSpPr>
          <p:cNvPr id="69" name="Text 6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belonging</a:t>
            </a:r>
            <a:endParaRPr lang="en-US" sz="1350" dirty="0"/>
          </a:p>
          <a:p>
            <a:pPr indent="0" marL="0">
              <a:buNone/>
            </a:pPr>
            <a:r>
              <a:rPr lang="en-US" sz="1100" i="1" dirty="0">
                <a:solidFill>
                  <a:srgbClr val="5A6472"/>
                </a:solidFill>
                <a:latin typeface="Calibri" pitchFamily="34" charset="0"/>
                <a:cs typeface="Amiri" pitchFamily="2" charset="-78"/>
              </a:rPr>
              <a:t>aln-ti-mā-ʾu</a:t>
            </a:r>
            <a:endParaRPr lang="en-US" sz="1350" dirty="0"/>
          </a:p>
        </p:txBody>
      </p:sp>
      <p:sp>
        <p:nvSpPr>
          <p:cNvPr id="70" name="Shape 6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566928"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3" name="Shape 70"/>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75" name="Shape 7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الجَالِيَةُ</a:t>
            </a:r>
            <a:endParaRPr lang="ar-SA" sz="3000" dirty="0"/>
          </a:p>
        </p:txBody>
      </p:sp>
      <p:sp>
        <p:nvSpPr>
          <p:cNvPr id="78" name="Text 7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community abroad</a:t>
            </a:r>
            <a:endParaRPr lang="en-US" sz="1350" dirty="0"/>
          </a:p>
          <a:p>
            <a:pPr indent="0" marL="0">
              <a:buNone/>
            </a:pPr>
            <a:r>
              <a:rPr lang="en-US" sz="1100" i="1" dirty="0">
                <a:solidFill>
                  <a:srgbClr val="5A6472"/>
                </a:solidFill>
                <a:latin typeface="Calibri" pitchFamily="34" charset="0"/>
                <a:cs typeface="Amiri" pitchFamily="2" charset="-78"/>
              </a:rPr>
              <a:t>al-jā-li-ya-tu</a:t>
            </a:r>
            <a:endParaRPr lang="en-US" sz="1350" dirty="0"/>
          </a:p>
        </p:txBody>
      </p:sp>
      <p:sp>
        <p:nvSpPr>
          <p:cNvPr id="79" name="Shape 76"/>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1" name="Text 78"/>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الجَالِيَاتُ</a:t>
            </a:r>
            <a:endParaRPr lang="ar-SA" sz="1500" dirty="0"/>
          </a:p>
        </p:txBody>
      </p:sp>
      <p:sp>
        <p:nvSpPr>
          <p:cNvPr id="82" name="Text 7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Tense and hedge signals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past.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الطُّفُولَةِ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childhood</a:t>
            </a:r>
            <a:endParaRPr lang="en-US" sz="1350" dirty="0"/>
          </a:p>
          <a:p>
            <a:pPr indent="0" marL="0">
              <a:buNone/>
            </a:pPr>
            <a:r>
              <a:rPr lang="en-US" sz="1100" i="1" dirty="0">
                <a:solidFill>
                  <a:srgbClr val="5A6472"/>
                </a:solidFill>
                <a:latin typeface="Calibri" pitchFamily="34" charset="0"/>
                <a:cs typeface="Amiri" pitchFamily="2" charset="-78"/>
              </a:rPr>
              <a:t>fī aṭ-ṭu-fū-la-ti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7" name="Shape 24"/>
          <p:cNvSpPr/>
          <p:nvPr/>
        </p:nvSpPr>
        <p:spPr>
          <a:xfrm>
            <a:off x="4782312" y="1938528"/>
            <a:ext cx="1766621"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76662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a present habit.</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عَادَةً</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usually</a:t>
            </a:r>
            <a:endParaRPr lang="en-US" sz="1350" dirty="0"/>
          </a:p>
          <a:p>
            <a:pPr indent="0" marL="0">
              <a:buNone/>
            </a:pPr>
            <a:r>
              <a:rPr lang="en-US" sz="1100" i="1" dirty="0">
                <a:solidFill>
                  <a:srgbClr val="5A6472"/>
                </a:solidFill>
                <a:latin typeface="Calibri" pitchFamily="34" charset="0"/>
                <a:cs typeface="Amiri" pitchFamily="2" charset="-78"/>
              </a:rPr>
              <a:t>ʿā-da-tan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6" name="Shape 33"/>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future.</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العَامَ القَادِمَ</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next year</a:t>
            </a:r>
            <a:endParaRPr lang="en-US" sz="1350" dirty="0"/>
          </a:p>
          <a:p>
            <a:pPr indent="0" marL="0">
              <a:buNone/>
            </a:pPr>
            <a:r>
              <a:rPr lang="en-US" sz="1100" i="1" dirty="0">
                <a:solidFill>
                  <a:srgbClr val="5A6472"/>
                </a:solidFill>
                <a:latin typeface="Calibri" pitchFamily="34" charset="0"/>
                <a:cs typeface="Amiri" pitchFamily="2" charset="-78"/>
              </a:rPr>
              <a:t>al-ʿā-ma al-qā-di-ma</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5" name="Shape 42"/>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Not always.</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أَحْيَانًا</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لَيْسَ دَائِمًا</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not always</a:t>
            </a:r>
            <a:endParaRPr lang="en-US" sz="1350" dirty="0"/>
          </a:p>
          <a:p>
            <a:pPr indent="0" marL="0">
              <a:buNone/>
            </a:pPr>
            <a:r>
              <a:rPr lang="en-US" sz="1100" i="1" dirty="0">
                <a:solidFill>
                  <a:srgbClr val="5A6472"/>
                </a:solidFill>
                <a:latin typeface="Calibri" pitchFamily="34" charset="0"/>
                <a:cs typeface="Amiri" pitchFamily="2" charset="-78"/>
              </a:rPr>
              <a:t>lay-sa dā-ʾi-man</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1" name="Shape 5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بَعْضِ العَائِلَاتِ</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families</a:t>
            </a:r>
            <a:endParaRPr lang="en-US" sz="1350" dirty="0"/>
          </a:p>
          <a:p>
            <a:pPr indent="0" marL="0">
              <a:buNone/>
            </a:pPr>
            <a:r>
              <a:rPr lang="en-US" sz="1100" i="1" dirty="0">
                <a:solidFill>
                  <a:srgbClr val="5A6472"/>
                </a:solidFill>
                <a:latin typeface="Calibri" pitchFamily="34" charset="0"/>
                <a:cs typeface="Amiri" pitchFamily="2" charset="-78"/>
              </a:rPr>
              <a:t>fī baʿ-ḍi al-ʿā-ʾi-lā-ti</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Catch the tense and the hedge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الزَّمَنُ وَالتَّحَفُّظُ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used to celebrate Eid in the village, and now we celebrate in the city.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كُنَّا نَحْتَفِلُ بِالعِيدِ فِي القَرْيَةِ، وَالآنَ نَحْتَفِلُ فِي المَدِينَةِ.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“kunnā naḥtafilu” = old habit; “naḥtafilu now” = present. Today’s answer: the city.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«كُنَّا نَحْتَفِلُ» = عَادَةٌ قَدِيمَةٌ؛ «نَحْتَفِلُ الآنَ» = الحَاضِرُ. الجَوَابُ لِلْيَوْمِ: المَدِينَةُ.</a:t>
            </a:r>
            <a:endParaRPr lang="ar-SA" sz="17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some families children wear new clothes.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بَعْضِ العَائِلَاتِ يَلْبَسُ الأَطْفَالُ مَلَابِسَ جَدِيدَةً.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some families” — not all families! That’s a hedge.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بَعْضِ العَائِلَاتِ» — لَيْسَ كُلَّ العَائِلَاتِ! هٰذَا تَحَفُّظٌ.</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sister said she will decorate the house, and my dad said he will cook.</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قَالَتْ أُخْتِي إِنَّهَا سَتُزَيِّنُ البَيْتَ، وَقَالَ أَبِي إِنَّهُ سَيَطْبُخُ.</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will decorate? The sister. Who will cook? The dad — both in the future.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سَيُزَيِّنُ؟ الأُخْتُ. وَمَنْ سَيَطْبُخُ؟ الأَبُ — وَكِلَاهُمَا فِي المُسْتَقْبَلِ.</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invents a sentence with a hedge; B says what the hedge changes.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Catch it — the Leader reads, the Speaker answers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الدَّلِيلُ: «سَنَحْتَفِلُ»</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البَيْتِ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“We celebrated the Islamic New Year at the mosque; this year we’ll celebrate at home.” — Where next?</a:t>
            </a:r>
            <a:endParaRPr lang="en-US" sz="105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احْتَفَلْنَا بِرَأْسِ السَّنَةِ الهِجْرِيَّةِ فِي المَسْجِدِ، وَسَنَحْتَفِلُ هٰذِهِ السَّنَةَ فِي البَيْتِ. — أَيْنَ الاحْتِفَالُ القَادِمُ؟</a:t>
            </a:r>
            <a:endParaRPr lang="ar-SA" sz="13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لَيْسَ بِالضَّرُورَةِ؛ «غَالِبًا» تَعْنِي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“People often visit relatives at Eid.” — Does everyone?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غَالِبًا مَا يَزُورُ النَّاسُ أَقَارِبَهُمْ فِي العِيدِ. — هَلْ يَزُورُ كُلُّ النَّاسِ أَقَارِبَهُمْ؟</a:t>
            </a:r>
            <a:endParaRPr lang="ar-SA" sz="13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Trap: </a:t>
            </a:r>
            <a:pPr algn="l" indent="0" marL="0">
              <a:buNone/>
            </a:pPr>
            <a:r>
              <a:rPr lang="ar-SA" altLang="en-US" sz="1450" dirty="0">
                <a:solidFill>
                  <a:srgbClr val="5A6472"/>
                </a:solidFill>
                <a:latin typeface="Amiri" pitchFamily="2" charset="-78"/>
                <a:ea typeface="Amiri" pitchFamily="2" charset="-78"/>
                <a:cs typeface="Amiri" pitchFamily="2" charset="-78"/>
              </a:rPr>
              <a:t>الأَخُ يَصُومُ</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الأُخْتُ الصَّغِيرَةُ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Do you fast? — Yes, and my brother too; my little sister doesn’t.” — Who doesn’t?</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 هَلْ تَصُومِينَ؟ — نَعَمْ، وَأَخِي يَصُومُ أَيْضًا، أَمَّا أُخْتِي الصَّغِيرَةُ فَلَا. — مَنْ لَا يَصُومُ؟</a:t>
            </a:r>
            <a:endParaRPr lang="ar-SA" sz="13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«عَلَى حَدِّ عِلْمِي» تَعْنِي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 far as I know, this festival is celebrated only in the south.” — Is the speaker sure?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عَلَى حَدِّ عِلْمِي، يُحْتَفَلُ بِهٰذَا المِهْرَجَانِ فِي الجَنُوبِ فَقَطْ. — هَلِ المُتَكَلِّمُ مُتَأَكِّدٌ؟</a:t>
            </a:r>
            <a:endParaRPr lang="ar-SA" sz="13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56648" y="521573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Trap: «</a:t>
            </a:r>
            <a:pPr algn="l" indent="0" marL="0">
              <a:buNone/>
            </a:pPr>
            <a:r>
              <a:rPr lang="ar-SA" altLang="en-US" sz="1450" dirty="0">
                <a:solidFill>
                  <a:srgbClr val="5A6472"/>
                </a:solidFill>
                <a:latin typeface="Amiri" pitchFamily="2" charset="-78"/>
                <a:ea typeface="Amiri" pitchFamily="2" charset="-78"/>
                <a:cs typeface="Amiri" pitchFamily="2" charset="-78"/>
              </a:rPr>
              <a:t>دَائِمًا</a:t>
            </a:r>
            <a:pPr algn="l" indent="0" marL="0">
              <a:buNone/>
            </a:pPr>
            <a:r>
              <a:rPr lang="en-US" sz="1100" dirty="0">
                <a:solidFill>
                  <a:srgbClr val="5A6472"/>
                </a:solidFill>
                <a:latin typeface="Calibri" pitchFamily="34" charset="0"/>
                <a:cs typeface="Amiri" pitchFamily="2" charset="-78"/>
              </a:rPr>
              <a:t>» </a:t>
            </a:r>
            <a:pPr algn="l" indent="0" marL="0">
              <a:buNone/>
            </a:pPr>
            <a:r>
              <a:rPr lang="ar-SA" altLang="en-US" sz="1450" dirty="0">
                <a:solidFill>
                  <a:srgbClr val="5A6472"/>
                </a:solidFill>
                <a:latin typeface="Amiri" pitchFamily="2" charset="-78"/>
                <a:ea typeface="Amiri" pitchFamily="2" charset="-78"/>
                <a:cs typeface="Amiri" pitchFamily="2" charset="-78"/>
              </a:rPr>
              <a:t>لِلْجَدِّ</a:t>
            </a:r>
            <a:endParaRPr lang="en-US" sz="11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الأَعْيَادِ فَقَطْ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“Grandpa always wore traditional dress; Dad wears it only at festivals.” — When does Dad?</a:t>
            </a:r>
            <a:endParaRPr lang="en-US" sz="105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كَانَ جَدِّي يَلْبَسُ الزِّيَّ التَّقْلِيدِيَّ دَائِمًا، أَمَّا أَبِي فَيَلْبَسُهُ فِي الأَعْيَادِ فَقَطْ. — مَتَى يَلْبَسُهُ الأَبُ؟</a:t>
            </a:r>
            <a:endParaRPr lang="ar-SA" sz="13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Role-play card — hosting a culture podcast</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بُودْكَاسْتُ الثَّقَافَةِ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سُؤَالٌ ← وَكَيْفَ تَحْتَفِلُونَ الآنَ؟</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now (tense switch).</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كُنَّا نَحْتَفِلُ بِالمَوْلِدِ النَّبَوِيِّ فِي مِصْرَ بِحَلْوَى خَاصَّةٍ.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التَّحَفُّظُ ← إِذَنْ فِي بَعْضِ العَائِلَاتِ فَقَطْ؟</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Reflect the hedge.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نَعَمْ، وَلٰكِنْ لَيْسَ كُلُّ العَائِلَاتِ.</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Check who and when.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صَحِيحٌ. وَقَالَتْ أُمِّي إِنَّهَا سَتُعَلِّمُنِي الوَصْفَةَ.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with a hedge.</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وَأَنْتَ، كَيْفَ تَحْتَفِلُ عَائِلَتُكَ؟</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podcast host · Leader = a guest talking about their culture.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tenses and hedges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أَزْمِنَةٌ وَتَحَفُّظَاتٌ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550" b="1" dirty="0">
                <a:solidFill>
                  <a:srgbClr val="1B3B6F"/>
                </a:solidFill>
                <a:latin typeface="Calibri" pitchFamily="34" charset="0"/>
                <a:cs typeface="Amiri" pitchFamily="2" charset="-78"/>
              </a:rPr>
              <a:t>⏱  Speak for one minute — your partner tracks tense and hedges</a:t>
            </a:r>
            <a:endParaRPr lang="en-US" sz="155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a celebration in your culture: how it used to be, how it is now, what will happen next time — with two hedges. Your partner writes the tense of each verb and circles the hedges.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past, one present and one future sentence.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كُنَّا</a:t>
            </a:r>
            <a:pPr algn="l" indent="0" marL="0">
              <a:buNone/>
            </a:pPr>
            <a:r>
              <a:rPr lang="en-US" sz="1150" dirty="0">
                <a:solidFill>
                  <a:srgbClr val="1F2A37"/>
                </a:solidFill>
                <a:latin typeface="Calibri" pitchFamily="34" charset="0"/>
                <a:cs typeface="Amiri" pitchFamily="2" charset="-78"/>
              </a:rPr>
              <a:t> + present and one hedge.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reported line (</a:t>
            </a:r>
            <a:pPr algn="l" indent="0" marL="0">
              <a:buNone/>
            </a:pPr>
            <a:r>
              <a:rPr lang="ar-SA" altLang="en-US" sz="1500" dirty="0">
                <a:solidFill>
                  <a:srgbClr val="1F2A37"/>
                </a:solidFill>
                <a:latin typeface="Amiri" pitchFamily="2" charset="-78"/>
                <a:ea typeface="Amiri" pitchFamily="2" charset="-78"/>
                <a:cs typeface="Amiri" pitchFamily="2" charset="-78"/>
              </a:rPr>
              <a:t>قَالَتْ / قَالَ إِنَّ</a:t>
            </a:r>
            <a:pPr algn="l" indent="0" marL="0">
              <a:buNone/>
            </a:pPr>
            <a:r>
              <a:rPr lang="en-US" sz="1150" dirty="0">
                <a:solidFill>
                  <a:srgbClr val="1F2A37"/>
                </a:solidFill>
                <a:latin typeface="Calibri" pitchFamily="34" charset="0"/>
                <a:cs typeface="Amiri" pitchFamily="2" charset="-78"/>
              </a:rPr>
              <a:t> …) and two hedges.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used to celebrate in the village.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كُنَّا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كُنْتُمْ</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نَحْتَفِلُ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احْتَفَلْنَا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القَرْيَةِ.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القَرْيَةُ.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In some families, gifts are exchanged.</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بَعْضِ العَائِلَاتِ</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كُلِّ العَالَمِ</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تُتَبَادَلُ</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يَتَبَادَلُ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الهَدَايَا.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بِالهَدَايَا.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said that she will decorate the house.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قَالَتْ أُخْتِي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قَالَ أُخْتِي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إِنَّهَا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أَنَّهُ</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سَتُزَيِّنُ البَيْتَ.</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زَيَّنَتِ البَيْتَ.</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used to celebrate in the village.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Used to = </a:t>
            </a:r>
            <a:pPr algn="l" indent="0" marL="0">
              <a:buNone/>
            </a:pPr>
            <a:r>
              <a:rPr lang="ar-SA" altLang="en-US" sz="1350" dirty="0">
                <a:solidFill>
                  <a:srgbClr val="5A6472"/>
                </a:solidFill>
                <a:latin typeface="Amiri" pitchFamily="2" charset="-78"/>
                <a:ea typeface="Amiri" pitchFamily="2" charset="-78"/>
                <a:cs typeface="Amiri" pitchFamily="2" charset="-78"/>
              </a:rPr>
              <a:t>كُنَّا</a:t>
            </a:r>
            <a:pPr algn="l" indent="0" marL="0">
              <a:buNone/>
            </a:pPr>
            <a:r>
              <a:rPr lang="en-US" sz="1050" i="1" dirty="0">
                <a:solidFill>
                  <a:srgbClr val="5A6472"/>
                </a:solidFill>
                <a:latin typeface="Calibri" pitchFamily="34" charset="0"/>
                <a:cs typeface="Amiri" pitchFamily="2" charset="-78"/>
              </a:rPr>
              <a:t> + present.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كُنَّا نَحْتَفِلُ فِي القَرْيَةِ.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In some families, gifts are exchanged.</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hedge narrows the claim; passive + non-human plural.</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بَعْضِ العَائِلَاتِ تُتَبَادَلُ الهَدَايَا.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said that she will decorate the house.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قَالَتْ … إِنَّهَا</a:t>
            </a:r>
            <a:pPr algn="l" indent="0" marL="0">
              <a:buNone/>
            </a:pPr>
            <a:r>
              <a:rPr lang="en-US" sz="1050" i="1" dirty="0">
                <a:solidFill>
                  <a:srgbClr val="5A6472"/>
                </a:solidFill>
                <a:latin typeface="Calibri" pitchFamily="34" charset="0"/>
                <a:cs typeface="Amiri" pitchFamily="2" charset="-78"/>
              </a:rPr>
              <a:t>; future → sa-.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قَالَتْ أُخْتِي إِنَّهَا سَتُزَيِّنُ البَيْتَ.</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2900" b="1" dirty="0">
                <a:solidFill>
                  <a:srgbClr val="B83227"/>
                </a:solidFill>
                <a:latin typeface="Amiri" pitchFamily="2" charset="-78"/>
                <a:ea typeface="Amiri" pitchFamily="2" charset="-78"/>
                <a:cs typeface="Amiri" pitchFamily="2" charset="-78"/>
              </a:rPr>
              <a:t>«كُنَّا نَحْتَفِلُ فِي القَرْيَةِ» ← يَحْتَفِلُونَ فِي القَرْيَةِ الآنَ.</a:t>
            </a:r>
            <a:endParaRPr lang="ar-SA" sz="29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كُنَّا</a:t>
            </a:r>
            <a:pPr algn="l" indent="0" marL="0">
              <a:buNone/>
            </a:pPr>
            <a:r>
              <a:rPr lang="en-US" sz="1300" i="1" dirty="0">
                <a:solidFill>
                  <a:srgbClr val="5A6472"/>
                </a:solidFill>
                <a:latin typeface="Calibri" pitchFamily="34" charset="0"/>
                <a:cs typeface="Amiri" pitchFamily="2" charset="-78"/>
              </a:rPr>
              <a:t> + present =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بَعْضِ العَائِلَاتِ …» ← كُلُّ العَائِلَاتِ تَفْعَلُ ذٰلِكَ.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Listen to the hedge.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2900" b="1" dirty="0">
                <a:solidFill>
                  <a:srgbClr val="B83227"/>
                </a:solidFill>
                <a:latin typeface="Amiri" pitchFamily="2" charset="-78"/>
                <a:ea typeface="Amiri" pitchFamily="2" charset="-78"/>
                <a:cs typeface="Amiri" pitchFamily="2" charset="-78"/>
              </a:rPr>
              <a:t>«قَالَتْ أُخْتِي … وَقَالَ أَبِي إِنَّهُ سَيَطْبُخُ» ← الأُخْتُ سَتَطْبُخُ.</a:t>
            </a:r>
            <a:endParaRPr lang="ar-SA" sz="29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said what?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«كُنَّا نَحْتَفِلُ فِي القَرْيَةِ» ← يَحْتَفِلُونَ فِي القَرْيَةِ الآنَ.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كَانُوا يَحْتَفِلُونَ فِي القَرْيَةِ فِي المَاضِي.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كَانَ</a:t>
            </a:r>
            <a:pPr algn="l" indent="0" marL="0">
              <a:buNone/>
            </a:pPr>
            <a:r>
              <a:rPr lang="en-US" sz="1150" b="1" dirty="0">
                <a:solidFill>
                  <a:srgbClr val="1B3B6F"/>
                </a:solidFill>
                <a:latin typeface="Calibri" pitchFamily="34" charset="0"/>
                <a:cs typeface="Amiri" pitchFamily="2" charset="-78"/>
              </a:rPr>
              <a:t> + present = past habit, not now.</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«فِي بَعْضِ العَائِلَاتِ …» ← كُلُّ العَائِلَاتِ تَفْعَلُ ذٰلِكَ.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بَعْضُ العَائِلَاتِ فَقَطْ تَفْعَلُ ذٰلِكَ.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hedge narrows the claim.</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«قَالَتْ أُخْتِي … وَقَالَ أَبِي إِنَّهُ سَيَطْبُخُ» ← الأُخْتُ سَتَطْبُخُ.</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الأَبُ سَيَطْبُخُ.</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Match each reported line to its speaker.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قَالَتْ / قَالَ ______ إِنَّ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 said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أَسْئِلَةٌ: ١) كَيْفَ كَانُوا …؟ ٢) هَلْ كُلُّ …؟ ٣) مَنْ قَالَ …؟</a:t>
            </a:r>
            <a:endParaRPr lang="ar-SA" sz="14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Questions: 1) How did they use to …? 2) Do all …? 3) Who said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كَيْفَ كُنْتُمْ تَحْتَفِلُونَ بِ______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How did you use to celebrate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كُنَّا ______ ، وَالآنَ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We used to …, and now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وَهَلْ كُلُّ العَائِلَاتِ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And do all families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لَا، فِي بَعْضِ العَائِلَاتِ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No, in some families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المُعْتَقَدَاتُ · القِيَمُ  ·  التَّقَالِيدُ · المُنَاسَبَةُ  ·  الاِنْتِمَاءُ · الجَالِيَةُ  ·  كُنَّا نَحْتَفِلُ  ·  سَنَحْتَفِلُ  ·  فِي بَعْضِ العَائِلَاتِ  ·  عَلَى حَدِّ عِلْمِي  ·  قَالَتْ إِنَّ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dialogue with traps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حِوَارٌ فِيهِ فِخَاخٌ</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short dialogue (about 60–80 words) between two people about a celebration, for a listening test. Include: • at least three tenses, including </a:t>
            </a:r>
            <a:pPr algn="l" indent="0" marL="0">
              <a:buNone/>
            </a:pPr>
            <a:r>
              <a:rPr lang="ar-SA" altLang="en-US" sz="1450" b="1" dirty="0">
                <a:solidFill>
                  <a:srgbClr val="1F2A37"/>
                </a:solidFill>
                <a:latin typeface="Amiri" pitchFamily="2" charset="-78"/>
                <a:ea typeface="Amiri" pitchFamily="2" charset="-78"/>
                <a:cs typeface="Amiri" pitchFamily="2" charset="-78"/>
              </a:rPr>
              <a:t>كُنَّا / كَانَ</a:t>
            </a:r>
            <a:pPr algn="l" indent="0" marL="0">
              <a:buNone/>
            </a:pPr>
            <a:r>
              <a:rPr lang="en-US" sz="1100" b="1" dirty="0">
                <a:solidFill>
                  <a:srgbClr val="1F2A37"/>
                </a:solidFill>
                <a:latin typeface="Calibri" pitchFamily="34" charset="0"/>
                <a:cs typeface="Amiri" pitchFamily="2" charset="-78"/>
              </a:rPr>
              <a:t> + present • two hedges (</a:t>
            </a:r>
            <a:pPr algn="l" indent="0" marL="0">
              <a:buNone/>
            </a:pPr>
            <a:r>
              <a:rPr lang="ar-SA" altLang="en-US" sz="1450" b="1" dirty="0">
                <a:solidFill>
                  <a:srgbClr val="1F2A37"/>
                </a:solidFill>
                <a:latin typeface="Amiri" pitchFamily="2" charset="-78"/>
                <a:ea typeface="Amiri" pitchFamily="2" charset="-78"/>
                <a:cs typeface="Amiri" pitchFamily="2" charset="-78"/>
              </a:rPr>
              <a:t>فِي بَعْضِ … / غَالِبًا / لَيْسَ دَائِمًا / عَلَى حَدِّ عِلْمِي</a:t>
            </a:r>
            <a:pPr algn="l" indent="0" marL="0">
              <a:buNone/>
            </a:pPr>
            <a:r>
              <a:rPr lang="en-US" sz="1100" b="1" dirty="0">
                <a:solidFill>
                  <a:srgbClr val="1F2A37"/>
                </a:solidFill>
                <a:latin typeface="Calibri" pitchFamily="34" charset="0"/>
                <a:cs typeface="Amiri" pitchFamily="2" charset="-78"/>
              </a:rPr>
              <a:t>) • one reported line (</a:t>
            </a:r>
            <a:pPr algn="l" indent="0" marL="0">
              <a:buNone/>
            </a:pPr>
            <a:r>
              <a:rPr lang="ar-SA" altLang="en-US" sz="1450" b="1" dirty="0">
                <a:solidFill>
                  <a:srgbClr val="1F2A37"/>
                </a:solidFill>
                <a:latin typeface="Amiri" pitchFamily="2" charset="-78"/>
                <a:ea typeface="Amiri" pitchFamily="2" charset="-78"/>
                <a:cs typeface="Amiri" pitchFamily="2" charset="-78"/>
              </a:rPr>
              <a:t>قَالَ / قَالَتْ إِنَّ</a:t>
            </a:r>
            <a:pPr algn="l" indent="0" marL="0">
              <a:buNone/>
            </a:pPr>
            <a:r>
              <a:rPr lang="en-US" sz="1100" b="1" dirty="0">
                <a:solidFill>
                  <a:srgbClr val="1F2A37"/>
                </a:solidFill>
                <a:latin typeface="Calibri" pitchFamily="34" charset="0"/>
                <a:cs typeface="Amiri" pitchFamily="2" charset="-78"/>
              </a:rPr>
              <a:t> …). Then write three questions and read it with your partner.</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كُنَّا نَحْتَفِلُ … · نَحْتَفِلُ الآنَ … · سَنَحْتَفِلُ …</a:t>
            </a:r>
            <a:endParaRPr lang="ar-SA" sz="165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used to … · we celebrate now … · we will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بَعْضِ العَائِلَاتِ … · لَيْسَ دَائِمًا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some families … · not always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حَدِّ عِلْمِي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far as I know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 / قَالَتْ إِنَّ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said that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catch the tense of each celebration (used to · now · next)?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notice hedges and who said what?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وَهَلْ مَا زِلْتُمْ تَحْتَفِلُونَ بِهِ الآنَ؟</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And do you still celebrate it now?</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كُنَّا نَحْتَفِلُ بِالمَوْلِدِ النَّبَوِيِّ فِي مِصْرَ بِحَلْوَى خَاصَّةٍ.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إِذَنْ هِيَ عَادَةٌ فِي بَعْضِ العَائِلَاتِ، وَلَيْسَتْ فِي كُلِّهَا؟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 it’s a custom in some families, not all of them?</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وَلٰكِنْ لَيْسَ كُلُّ العَائِلَاتِ.</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جَمِيلٌ! إِذَنْ أُمُّكَ هِيَ الَّتِي سَتُعَلِّمُكَ — فِي المُسْتَقْبَلِ.</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Lovely! So your mother is the one who will teach you — in the future.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صَحِيحٌ. وَقَالَتْ أُمِّي إِنَّهَا سَتُعَلِّمُنِي الوَصْفَةَ.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غَالِبًا نَجْتَمِعُ عِنْدَ جَدَّتِي، وَلٰكِنْ لَيْسَ كُلَّ سَنَةٍ.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usually gather at my grandmother’s, but not every year.</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وَأَنْتَ، كَيْفَ تَحْتَفِلُ عَائِلَتُكَ؟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 كَيْفَ كُنْتُمْ تَحْتَفِلُونَ بِالعِيدِ فِي الأُرْدُنِّ؟</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 كُنَّا نَزُورُ كُلَّ الأَقَارِبِ فِي يَوْمٍ وَاحِدٍ، أَمَّا الآنَ فَنَحْتَفِلُ فِي لَنْدَنَ مَعَ الجِيرَانِ.</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 وَهَلْ تُقَدِّمُ كُلُّ العَائِلَاتِ المَعْمُولَ؟</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 لَا، فِي بَعْضِ العَائِلَاتِ فَقَطْ؛ عَلَى حَدِّ عِلْمِي هُوَ مَشْهُورٌ فِي الشَّامِ أَكْثَرَ.</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 وَالعِيدَ القَادِمَ؟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 قَالَتْ أُمِّي إِنَّنَا سَنُسَافِرُ إِلَى عَمَّانَ.</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أَسْئِلَةٌ: ١) أَيْنَ يَحْتَفِلُونَ الآنَ؟ ٢) هَلْ تُقَدِّمُ كُلُّ العَائِلَاتِ المَعْمُولَ؟ ٣) مَنْ قَالَ إِنَّهُمْ سَيُسَافِرُونَ؟</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 How did you use to celebrate Eid in Jordan? — We used to visit all our relatives in one day; now we celebrate in London with the neighbours. — Do all families serve maamoul? — No, only some families; as far as I know it is more popular in the Levant. — And next Eid? — My mum said we will travel to Amman. Questions: 1) Where do they celebrate now? 2) Do all families serve maamoul? 3) Who said they will travel?”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كُنَّا نَزُورُ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بَعْضِ العَائِلَاتِ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عَلَى حَدِّ عِلْمِي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قَالَتْ أُمِّي إِنَّنَا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D6-L10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D6-L10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D6-L11 · D6 Consolidation — Complete Review and Speaking Preparation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تَرْسِيخُ الوَحْدَةِ — مُرَاجَعَةٌ شَامِلَةٌ وَإِعْدَادُ التَّحَدُّثِ</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D6-L10 · Practice Room — Listening — Culture, Celebration and Identity Texts</dc:title>
  <dc:subject>PptxGenJS Presentation</dc:subject>
  <dc:creator>Al Madina Online School · Arabic Department</dc:creator>
  <cp:lastModifiedBy>Al Madina Online School · Arabic Department</cp:lastModifiedBy>
  <cp:revision>1</cp:revision>
  <dcterms:created xsi:type="dcterms:W3CDTF">2026-10-25T18:54:29Z</dcterms:created>
  <dcterms:modified xsi:type="dcterms:W3CDTF">2026-10-25T18:54:29Z</dcterms:modified>
</cp:coreProperties>
</file>