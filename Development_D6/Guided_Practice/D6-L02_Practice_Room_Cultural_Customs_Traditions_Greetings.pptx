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D6-L02 (Cultural Customs — Traditions, Greetings and Social Norms) — new practice tasks built on the lesson’s own word bank and grammar (custom verbs with their prepositions: yaʿtādu ʿalā · yatamassaku bi- · yaḥtafilu bi- · yaḥrisu ʿalā; values (al-ḍiyāfa · al-karam · iḥtirām al-kibār · ṣilat al-raḥim); comparing with baynamā; accurate claims (fī baʿḍi al-ʿāʾilāt · ghāliban · laysa kullu …) — never “all Arabs”).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D6-L02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no changes needed — the friend’s questions use “I” (أُحْضِرُ · أَخْلَعُ). Verb + preposition as one unit: naʿtādu ʿalā · natamassaku bi- · naḥrisu ʿalā.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Cultural Customs — Traditions, Greetings and Social Norms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العَادَاتُ وَالتَّقَالِيدُ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speaking and writing practice about customs: say the custom words and verbs, act a dialogue about hospitality, answer question cards, do a role-play card advising a visitor before a family visit, give a one-minute comparison of customs, then build, fix and write a fair comparison of customs in two cultures.</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D6-L02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Customs and values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 / عَادَاتٌ</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custom / customs</a:t>
            </a:r>
            <a:endParaRPr lang="en-US" sz="1350" dirty="0"/>
          </a:p>
          <a:p>
            <a:pPr indent="0" marL="0">
              <a:buNone/>
            </a:pPr>
            <a:r>
              <a:rPr lang="en-US" sz="1100" i="1" dirty="0">
                <a:solidFill>
                  <a:srgbClr val="5A6472"/>
                </a:solidFill>
                <a:latin typeface="Calibri" pitchFamily="34" charset="0"/>
                <a:cs typeface="Amiri" pitchFamily="2" charset="-78"/>
              </a:rPr>
              <a:t>ʿā-da-tun / ʿā-dā-tun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 / تَقَالِيدُ</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 / traditions</a:t>
            </a:r>
            <a:endParaRPr lang="en-US" sz="1350" dirty="0"/>
          </a:p>
          <a:p>
            <a:pPr indent="0" marL="0">
              <a:buNone/>
            </a:pPr>
            <a:r>
              <a:rPr lang="en-US" sz="1100" i="1" dirty="0">
                <a:solidFill>
                  <a:srgbClr val="5A6472"/>
                </a:solidFill>
                <a:latin typeface="Calibri" pitchFamily="34" charset="0"/>
                <a:cs typeface="Amiri" pitchFamily="2" charset="-78"/>
              </a:rPr>
              <a:t>taq-lī-dun / ta-qā-lī-du</a:t>
            </a:r>
            <a:endParaRPr lang="en-US" sz="1350" dirty="0"/>
          </a:p>
        </p:txBody>
      </p:sp>
      <p:sp>
        <p:nvSpPr>
          <p:cNvPr id="31" name="Text 28"/>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plural </a:t>
            </a:r>
            <a:pPr algn="l" indent="0" marL="0">
              <a:buNone/>
            </a:pPr>
            <a:r>
              <a:rPr lang="ar-SA" altLang="en-US" sz="1300" dirty="0">
                <a:solidFill>
                  <a:srgbClr val="8A6D1E"/>
                </a:solidFill>
                <a:latin typeface="Amiri" pitchFamily="2" charset="-78"/>
                <a:ea typeface="Amiri" pitchFamily="2" charset="-78"/>
                <a:cs typeface="Amiri" pitchFamily="2" charset="-78"/>
              </a:rPr>
              <a:t>تَقَالِيدُ</a:t>
            </a:r>
            <a:pPr algn="l" indent="0" marL="0">
              <a:buNone/>
            </a:pPr>
            <a:r>
              <a:rPr lang="en-US" sz="1000" i="1" dirty="0">
                <a:solidFill>
                  <a:srgbClr val="8A6D1E"/>
                </a:solidFill>
                <a:latin typeface="Calibri" pitchFamily="34" charset="0"/>
                <a:cs typeface="Amiri" pitchFamily="2" charset="-78"/>
              </a:rPr>
              <a:t> is a diptote.</a:t>
            </a:r>
            <a:endParaRPr lang="en-US" sz="10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ضِيَافَةٌ</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hospitality</a:t>
            </a:r>
            <a:endParaRPr lang="en-US" sz="1350" dirty="0"/>
          </a:p>
          <a:p>
            <a:pPr indent="0" marL="0">
              <a:buNone/>
            </a:pPr>
            <a:r>
              <a:rPr lang="en-US" sz="1100" i="1" dirty="0">
                <a:solidFill>
                  <a:srgbClr val="5A6472"/>
                </a:solidFill>
                <a:latin typeface="Calibri" pitchFamily="34" charset="0"/>
                <a:cs typeface="Amiri" pitchFamily="2" charset="-78"/>
              </a:rPr>
              <a:t>ḍi-yā-fa-tun</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Shape 4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كَرَمٌ</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generosity</a:t>
            </a:r>
            <a:endParaRPr lang="en-US" sz="1350" dirty="0"/>
          </a:p>
          <a:p>
            <a:pPr indent="0" marL="0">
              <a:buNone/>
            </a:pPr>
            <a:r>
              <a:rPr lang="en-US" sz="1100" i="1" dirty="0">
                <a:solidFill>
                  <a:srgbClr val="5A6472"/>
                </a:solidFill>
                <a:latin typeface="Calibri" pitchFamily="34" charset="0"/>
                <a:cs typeface="Amiri" pitchFamily="2" charset="-78"/>
              </a:rPr>
              <a:t>ka-ra-mun</a:t>
            </a:r>
            <a:endParaRPr lang="en-US" sz="135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3" name="Shape 50"/>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55" name="Shape 5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احْتِرَامُ الكِبَارِ</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 for elders</a:t>
            </a:r>
            <a:endParaRPr lang="en-US" sz="1350" dirty="0"/>
          </a:p>
          <a:p>
            <a:pPr indent="0" marL="0">
              <a:buNone/>
            </a:pPr>
            <a:r>
              <a:rPr lang="en-US" sz="1100" i="1" dirty="0">
                <a:solidFill>
                  <a:srgbClr val="5A6472"/>
                </a:solidFill>
                <a:latin typeface="Calibri" pitchFamily="34" charset="0"/>
                <a:cs typeface="Amiri" pitchFamily="2" charset="-78"/>
              </a:rPr>
              <a:t>aḥ-ti-rā-mu al-ki-bā-ri</a:t>
            </a:r>
            <a:endParaRPr lang="en-US" sz="1350" dirty="0"/>
          </a:p>
        </p:txBody>
      </p:sp>
      <p:sp>
        <p:nvSpPr>
          <p:cNvPr id="59" name="Shape 5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66928"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2" name="Shape 5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صِلَةُ الرَّحِمِ</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keeping family ties</a:t>
            </a:r>
            <a:endParaRPr lang="en-US" sz="1350" dirty="0"/>
          </a:p>
          <a:p>
            <a:pPr indent="0" marL="0">
              <a:buNone/>
            </a:pPr>
            <a:r>
              <a:rPr lang="en-US" sz="1100" i="1" dirty="0">
                <a:solidFill>
                  <a:srgbClr val="5A6472"/>
                </a:solidFill>
                <a:latin typeface="Calibri" pitchFamily="34" charset="0"/>
                <a:cs typeface="Amiri" pitchFamily="2" charset="-78"/>
              </a:rPr>
              <a:t>ṣi-la-tu ar-ra-ḥi-mi</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Custom verbs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يَعْتَادُ عَلَى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accustomed to</a:t>
            </a:r>
            <a:endParaRPr lang="en-US" sz="1350" dirty="0"/>
          </a:p>
          <a:p>
            <a:pPr indent="0" marL="0">
              <a:buNone/>
            </a:pPr>
            <a:r>
              <a:rPr lang="en-US" sz="1100" i="1" dirty="0">
                <a:solidFill>
                  <a:srgbClr val="5A6472"/>
                </a:solidFill>
                <a:latin typeface="Calibri" pitchFamily="34" charset="0"/>
                <a:cs typeface="Amiri" pitchFamily="2" charset="-78"/>
              </a:rPr>
              <a:t>yaʿ-tā-du ʿa-lā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اِعْتَادَ</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تَعْتَادُ</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يَتَمَسَّكُ بِـ</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holds on to, adheres to</a:t>
            </a:r>
            <a:endParaRPr lang="en-US" sz="1350" dirty="0"/>
          </a:p>
          <a:p>
            <a:pPr indent="0" marL="0">
              <a:buNone/>
            </a:pPr>
            <a:r>
              <a:rPr lang="en-US" sz="1100" i="1" dirty="0">
                <a:solidFill>
                  <a:srgbClr val="5A6472"/>
                </a:solidFill>
                <a:latin typeface="Calibri" pitchFamily="34" charset="0"/>
                <a:cs typeface="Amiri" pitchFamily="2" charset="-78"/>
              </a:rPr>
              <a:t>ya-ta-mas-sa-ku bi</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تَمَسَّكَ</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تَتَمَسَّكُ</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يَحْتَفِلُ بِـ</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celebrates</a:t>
            </a:r>
            <a:endParaRPr lang="en-US" sz="1350" dirty="0"/>
          </a:p>
          <a:p>
            <a:pPr indent="0" marL="0">
              <a:buNone/>
            </a:pPr>
            <a:r>
              <a:rPr lang="en-US" sz="1100" i="1" dirty="0">
                <a:solidFill>
                  <a:srgbClr val="5A6472"/>
                </a:solidFill>
                <a:latin typeface="Calibri" pitchFamily="34" charset="0"/>
                <a:cs typeface="Amiri" pitchFamily="2" charset="-78"/>
              </a:rPr>
              <a:t>yaḥ-ta-fi-lu bi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اِحْتَفَلَ</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تَحْتَفِلُ</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Shape 60"/>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يَنْتَمِي إِلَى</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belongs to</a:t>
            </a:r>
            <a:endParaRPr lang="en-US" sz="1350" dirty="0"/>
          </a:p>
          <a:p>
            <a:pPr indent="0" marL="0">
              <a:buNone/>
            </a:pPr>
            <a:r>
              <a:rPr lang="en-US" sz="1100" i="1" dirty="0">
                <a:solidFill>
                  <a:srgbClr val="5A6472"/>
                </a:solidFill>
                <a:latin typeface="Calibri" pitchFamily="34" charset="0"/>
                <a:cs typeface="Amiri" pitchFamily="2" charset="-78"/>
              </a:rPr>
              <a:t>yan-ta-mī i-lā</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اِنْتَمَى</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تَنْتَمِي</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8" name="Shape 7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9" name="Text 7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0" name="Text 7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81" name="Text 7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 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82" name="Text 7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Joins two contrasting clauses.</a:t>
            </a:r>
            <a:endParaRPr lang="en-US" sz="100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6" name="Shape 83"/>
          <p:cNvSpPr/>
          <p:nvPr/>
        </p:nvSpPr>
        <p:spPr>
          <a:xfrm>
            <a:off x="960120" y="4279392"/>
            <a:ext cx="1331366"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960120"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Hedging language.</a:t>
            </a:r>
            <a:endParaRPr lang="en-US" sz="800" dirty="0"/>
          </a:p>
        </p:txBody>
      </p:sp>
      <p:sp>
        <p:nvSpPr>
          <p:cNvPr id="88" name="Shape 8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0" name="Text 8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العَائِلَاتِ</a:t>
            </a:r>
            <a:endParaRPr lang="ar-SA" sz="3000" dirty="0"/>
          </a:p>
        </p:txBody>
      </p:sp>
      <p:sp>
        <p:nvSpPr>
          <p:cNvPr id="91" name="Text 8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families</a:t>
            </a:r>
            <a:endParaRPr lang="en-US" sz="1350" dirty="0"/>
          </a:p>
          <a:p>
            <a:pPr indent="0" marL="0">
              <a:buNone/>
            </a:pPr>
            <a:r>
              <a:rPr lang="en-US" sz="1100" i="1" dirty="0">
                <a:solidFill>
                  <a:srgbClr val="5A6472"/>
                </a:solidFill>
                <a:latin typeface="Calibri" pitchFamily="34" charset="0"/>
                <a:cs typeface="Amiri" pitchFamily="2" charset="-78"/>
              </a:rPr>
              <a:t>fī baʿ-ḍi al-ʿā-ʾi-lā-ti</a:t>
            </a:r>
            <a:endParaRPr lang="en-US" sz="1350" dirty="0"/>
          </a:p>
        </p:txBody>
      </p:sp>
      <p:sp>
        <p:nvSpPr>
          <p:cNvPr id="92" name="Text 8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Visiting a family for the first time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زِيَارَةٌ عَائِلِيَّةٌ أُولَى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 visiting my Arab friend’s family. What should I do?</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سَأَزُورُ عَائِلَةَ صَدِيقِي العَرَبِيِّ. مَاذَا أَفْعَلُ؟</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many families they serve the guest coffee first. That’s part of generosity.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كَثِيرٍ مِنَ العَائِلَاتِ، يُقَدِّمُونَ القَهْوَةَ لِلضَّيْفِ أَوَّلًا. هٰذَا مِنَ الكَرَمِ.</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how do I greet?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وَكَيْفَ أُسَلِّمُ؟</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Often the guest greets the elders first, out of respect.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غَالِبًا يُسَلِّمُ الضَّيْفُ عَلَى الكِبَارِ أَوَّلًا، احْتِرَامًا لَهُمْ.</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all families like this?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كُلُّ العَائِلَاتِ هٰكَذَا؟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 customs differ from country to country, and from family to family.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تَخْتَلِفُ العَادَاتُ مِنْ بَلَدٍ إِلَى بَلَدٍ، وَمِنْ عَائِلَةٍ إِلَى أُخْرَى.</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a custom in YOUR family — and add a fair limit (</a:t>
            </a:r>
            <a:pPr algn="l" indent="0" marL="0">
              <a:buNone/>
            </a:pPr>
            <a:r>
              <a:rPr lang="ar-SA" altLang="en-US" sz="1500" b="1" dirty="0">
                <a:solidFill>
                  <a:srgbClr val="1B3B6F"/>
                </a:solidFill>
                <a:latin typeface="Amiri" pitchFamily="2" charset="-78"/>
                <a:ea typeface="Amiri" pitchFamily="2" charset="-78"/>
                <a:cs typeface="Amiri" pitchFamily="2" charset="-78"/>
              </a:rPr>
              <a:t>فِي بَعْضِ</a:t>
            </a:r>
            <a:pPr algn="l" indent="0" marL="0">
              <a:buNone/>
            </a:pPr>
            <a:r>
              <a:rPr lang="en-US" sz="1150" b="1" dirty="0">
                <a:solidFill>
                  <a:srgbClr val="1B3B6F"/>
                </a:solidFill>
                <a:latin typeface="Calibri" pitchFamily="34" charset="0"/>
                <a:cs typeface="Amiri" pitchFamily="2" charset="-78"/>
              </a:rPr>
              <a: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تَتَمَسَّكُ عَائِلَتِي بِ…</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custom does your family hold on to?</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العَادَةُ الَّتِي تَتَمَسَّكُ بِهَا عَائِلَتُكَ؟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هٰذَا مِنَ الضِّيَافَةِ</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نُقَدِّمُ لَهُمْ … / نُرَحِّبُ بِهِمْ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welcome guests?</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تَسْتَقْبِلُونَ الضُّيُوفَ؟</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أَقِفُ عِنْدَمَا … / أُقَبِّلُ يَدَ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show respect for elders?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تُظْهِرُ احْتِرَامَ الكِبَارِ؟</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وَعَادَةً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نَحْتَفِلُ بِ…</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family celebrate?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تَحْتَفِلُ عَائِلَتُكَ؟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لَيْسَ دَائِمًا</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 ، بَيْنَمَا فِي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Difference between customs of two countries you know?</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الفَرْقُ بَيْنَ عَادَاتِ بَلَدَيْنِ تَعْرِفُهُمَا؟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advising a British friend before a family visit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نَصِيحَةٌ قَبْلَ الزِّيَارَةِ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نَصِيحَةٌ ← نَعَمْ، … لِأَنَّ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Advice + reason.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أُحْضِرُ هَدِيَّةً؟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العَادَةُ ← نَعْتَادُ عَلَى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custom with </a:t>
            </a:r>
            <a:pPr algn="l" indent="0" marL="0">
              <a:buNone/>
            </a:pPr>
            <a:r>
              <a:rPr lang="ar-SA" altLang="en-US" sz="1450" dirty="0">
                <a:solidFill>
                  <a:srgbClr val="5A6472"/>
                </a:solidFill>
                <a:latin typeface="Amiri" pitchFamily="2" charset="-78"/>
                <a:ea typeface="Amiri" pitchFamily="2" charset="-78"/>
                <a:cs typeface="Amiri" pitchFamily="2" charset="-78"/>
              </a:rPr>
              <a:t>يَعْتَادُ عَلَى</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أَخْلَعُ حِذَائِي؟</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hospitality.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وَإِذَا قَدَّمُوا لِي طَعَامًا كَثِيرًا؟</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fair answer.</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هٰذِهِ عَادَاتُ كُلِّ العَرَبِ؟</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yourself · Leader = a British friend visiting your family.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customs compared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عَادَاتٌ 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Compare two customs (greetings, hospitality, meals, family) in two cultures you know for one minute — fairly.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customs with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two custom verbs with prepositions (</a:t>
            </a:r>
            <a:pPr algn="l" indent="0" marL="0">
              <a:buNone/>
            </a:pPr>
            <a:r>
              <a:rPr lang="ar-SA" altLang="en-US" sz="1500" dirty="0">
                <a:solidFill>
                  <a:srgbClr val="1F2A37"/>
                </a:solidFill>
                <a:latin typeface="Amiri" pitchFamily="2" charset="-78"/>
                <a:ea typeface="Amiri" pitchFamily="2" charset="-78"/>
                <a:cs typeface="Amiri" pitchFamily="2" charset="-78"/>
              </a:rPr>
              <a:t>نَتَمَسَّكُ بِ</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نَعْتَادُ عَلَى</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hedges (</a:t>
            </a:r>
            <a:pPr algn="l" indent="0" marL="0">
              <a:buNone/>
            </a:pPr>
            <a:r>
              <a:rPr lang="ar-SA" altLang="en-US" sz="1500" dirty="0">
                <a:solidFill>
                  <a:srgbClr val="1F2A37"/>
                </a:solidFill>
                <a:latin typeface="Amiri" pitchFamily="2" charset="-78"/>
                <a:ea typeface="Amiri" pitchFamily="2" charset="-78"/>
                <a:cs typeface="Amiri" pitchFamily="2" charset="-78"/>
              </a:rPr>
              <a:t>فِي بَعْضِ العَائِلَاتِ</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غَالِبًا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لَيْسَ دَائِمًا</a:t>
            </a:r>
            <a:pPr algn="l" indent="0" marL="0">
              <a:buNone/>
            </a:pPr>
            <a:r>
              <a:rPr lang="en-US" sz="1150" dirty="0">
                <a:solidFill>
                  <a:srgbClr val="1F2A37"/>
                </a:solidFill>
                <a:latin typeface="Calibri" pitchFamily="34" charset="0"/>
                <a:cs typeface="Amiri" pitchFamily="2" charset="-78"/>
              </a:rPr>
              <a:t>) and your opinion.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family holds on to its traditions.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تَتَمَسَّكُ عَائِلَتِي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يَتَمَسَّكُ عَائِلَتِي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تَقَالِيدِهَا.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تَقَالِيدُهَا.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some families, they eat together every day.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بَعْضِ العَائِلَاتِ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كُلِّ العَرَبِ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يَأْكُلُونَ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يَأْكُلُ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مَعًا كُلَّ يَوْمٍ.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مَعًا كُلُّ يَوْمٍ.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are used to welcoming guests.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نَعْتَادُ</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نَعْتَادَ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اسْتِقْبَالِ الضُّيُوفِ.</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اسْتِقْبَالُ الضُّيُوفِ.</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family holds on to its traditions.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تَتَمَسَّكُ 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تَتَمَسَّكُ عَائِلَتِي بِ تَقَالِيدِهَا.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some families, they eat together every day.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fair hedge; they → -ūna.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بَعْضِ العَائِلَاتِ يَأْكُلُونَ مَعًا كُلَّ يَوْمٍ.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are used to welcoming guests.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يَعْتَادُ عَلَى</a:t>
            </a:r>
            <a:pPr algn="l" indent="0" marL="0">
              <a:buNone/>
            </a:pPr>
            <a:r>
              <a:rPr lang="en-US" sz="1050" i="1" dirty="0">
                <a:solidFill>
                  <a:srgbClr val="5A6472"/>
                </a:solidFill>
                <a:latin typeface="Calibri" pitchFamily="34" charset="0"/>
                <a:cs typeface="Amiri" pitchFamily="2" charset="-78"/>
              </a:rPr>
              <a:t> + maṣdar in the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نَعْتَادُ عَلَى اسْتِقْبَالِ الضُّيُوفِ.</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العَرَبِ يَشْرَبُونَ القَهْوَةَ العَرَبِيَّةَ.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Too general.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نَحْتَفِلُ العِيدَ مَعَ أَقَارِبِنَا.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يَتَمَسَّكُ جَدِّي عَلَى عَادَاتِهِ.</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العَرَبِ يَشْرَبُونَ القَهْوَةَ العَرَبِيَّةَ.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كَثِيرٌ مِنَ العَائِلَاتِ تُقَدِّمُ القَهْوَةَ العَرَبِيَّةَ لِلضُّيُوفِ.</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claims accurate — </a:t>
            </a:r>
            <a:pPr algn="l" indent="0" marL="0">
              <a:buNone/>
            </a:pPr>
            <a:r>
              <a:rPr lang="ar-SA" altLang="en-US" sz="1500" b="1" dirty="0">
                <a:solidFill>
                  <a:srgbClr val="1B3B6F"/>
                </a:solidFill>
                <a:latin typeface="Amiri" pitchFamily="2" charset="-78"/>
                <a:ea typeface="Amiri" pitchFamily="2" charset="-78"/>
                <a:cs typeface="Amiri" pitchFamily="2" charset="-78"/>
              </a:rPr>
              <a:t>كَثِيرٌ مِنْ / بَعْضُ</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نَحْتَفِلُ العِيدَ مَعَ أَقَارِبِنَا.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نَحْتَفِلُ بِالعِيدِ مَعَ أَقَارِبِنَا.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يَحْتَفِلُ بِ…</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يَتَمَسَّكُ جَدِّي عَلَى عَادَاتِهِ.</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يَتَمَسَّكُ جَدِّي بِعَادَاتِهِ.</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يَتَمَسَّكُ بِ…</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فِي بَعْضِ العَائِلَاتِ ______ ، وَلٰكِنْ لَيْسَ دَائِمًا.</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families …, but not always.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تَخْتَلِفُ العَادَاتُ مِنْ ______ إِلَى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Customs differ from … to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نَتَمَسَّكُ بِ______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family we hold on to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نَعْتَادُ عَلَى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are used to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فِي ______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in …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أُقَدِّرُ ______ كَثِيرًا،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really value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عَادَةٌ · عَادَاتٌ  ·  تَقْلِيدٌ · تَقَالِيدُ  ·  ضِيَافَةٌ · كَرَمٌ  ·  احْتِرَامُ الكِبَارِ  ·  صِلَةُ الرَّحِمِ  ·  يَعْتَادُ عَلَى  ·  يَتَمَسَّكُ بِ…  ·  فِي بَعْضِ العَائِلَاتِ</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Customs in two cultures — a fair comparison</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عَادَاتٌ فِي ثَقَافَتَيْنِ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comparison (about 60–80 words) of customs in two cultures you know (e.g. your family’s and British culture). Include: • two customs in each culture • two custom verbs with prepositions • a comparison with </a:t>
            </a:r>
            <a:pPr algn="l" indent="0" marL="0">
              <a:buNone/>
            </a:pPr>
            <a:r>
              <a:rPr lang="ar-SA" altLang="en-US" sz="1450" b="1" dirty="0">
                <a:solidFill>
                  <a:srgbClr val="1F2A37"/>
                </a:solidFill>
                <a:latin typeface="Amiri" pitchFamily="2" charset="-78"/>
                <a:ea typeface="Amiri" pitchFamily="2" charset="-78"/>
                <a:cs typeface="Amiri" pitchFamily="2" charset="-78"/>
              </a:rPr>
              <a:t>بَيْنَمَا</a:t>
            </a:r>
            <a:pPr algn="l" indent="0" marL="0">
              <a:buNone/>
            </a:pPr>
            <a:r>
              <a:rPr lang="en-US" sz="1100" b="1" dirty="0">
                <a:solidFill>
                  <a:srgbClr val="1F2A37"/>
                </a:solidFill>
                <a:latin typeface="Calibri" pitchFamily="34" charset="0"/>
                <a:cs typeface="Amiri" pitchFamily="2" charset="-78"/>
              </a:rPr>
              <a:t> • at least two hedges (</a:t>
            </a:r>
            <a:pPr algn="l" indent="0" marL="0">
              <a:buNone/>
            </a:pPr>
            <a:r>
              <a:rPr lang="ar-SA" altLang="en-US" sz="1450" b="1" dirty="0">
                <a:solidFill>
                  <a:srgbClr val="1F2A37"/>
                </a:solidFill>
                <a:latin typeface="Amiri" pitchFamily="2" charset="-78"/>
                <a:ea typeface="Amiri" pitchFamily="2" charset="-78"/>
                <a:cs typeface="Amiri" pitchFamily="2" charset="-78"/>
              </a:rPr>
              <a:t>فِي بَعْضِ … / غَالِبًا / لَيْسَ دَائِمًا</a:t>
            </a:r>
            <a:pPr algn="l" indent="0" marL="0">
              <a:buNone/>
            </a:pPr>
            <a:r>
              <a:rPr lang="en-US" sz="1100" b="1" dirty="0">
                <a:solidFill>
                  <a:srgbClr val="1F2A37"/>
                </a:solidFill>
                <a:latin typeface="Calibri" pitchFamily="34" charset="0"/>
                <a:cs typeface="Amiri" pitchFamily="2" charset="-78"/>
              </a:rPr>
              <a:t>) • which custom you value most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نَتَمَسَّكُ بِ…</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family we hold on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نَعْتَادُ عَلَى … · نَحْرِصُ عَلَى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are used to … · we make sure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بَيْنَمَا فِي … غَالِبًا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whereas in … usually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أُقَدِّرُ … كَثِيرًا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really value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custom verbs with the right preposition?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fairly with </a:t>
            </a:r>
            <a:pPr algn="l" indent="0" marL="0">
              <a:buNone/>
            </a:pPr>
            <a:r>
              <a:rPr lang="ar-SA" altLang="en-US" sz="1450" dirty="0">
                <a:solidFill>
                  <a:srgbClr val="5A6472"/>
                </a:solidFill>
                <a:latin typeface="Amiri" pitchFamily="2" charset="-78"/>
                <a:ea typeface="Amiri" pitchFamily="2" charset="-78"/>
                <a:cs typeface="Amiri" pitchFamily="2" charset="-78"/>
              </a:rPr>
              <a:t>بَيْنَمَا</a:t>
            </a:r>
            <a:pPr algn="l" indent="0" marL="0">
              <a:buNone/>
            </a:pPr>
            <a:r>
              <a:rPr lang="en-US" sz="1100" dirty="0">
                <a:solidFill>
                  <a:srgbClr val="5A6472"/>
                </a:solidFill>
                <a:latin typeface="Calibri" pitchFamily="34" charset="0"/>
                <a:cs typeface="Amiri" pitchFamily="2" charset="-78"/>
              </a:rPr>
              <a:t> and at least two hedges?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فِي عَائِلَتِي نُحِبُّ الحَلْوَى أَوِ الفَاكِهَةَ، لِأَنَّهَا تُعَبِّرُ عَنِ الاحْتِرَامِ.</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in my family we like sweets or fruit, because they show respect.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أُحْضِرُ هَدِيَّةً؟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نَعْتَادُ عَلَى خَلْعِ الأَحْذِيَةِ عِنْدَ البَابِ.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we are used to taking off shoes at the door.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أَخْلَعُ حِذَائِي؟</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مِنَ الكَرَمِ؛ جَدَّتِي تَحْرِصُ عَلَى أَنْ يَشْبَعَ كُلُّ ضَيْفٍ!</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That’s generosity — my grandmother makes sure every guest is full!</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قَدَّمُوا لِي طَعَامًا كَثِيرًا؟</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بِالضَّرُورَةِ؛ هٰذِهِ عَادَاتُ عَائِلَتِي، وَتَخْتَلِفُ مِنْ عَائِلَةٍ إِلَى أُخْرَى.</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Not necessarily — these are my family’s customs, and they vary from family to family.</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هٰذِهِ عَادَاتُ كُلِّ العَرَبِ؟</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فِي عَائِلَتِي الصُّومَالِيَّةِ نَتَمَسَّكُ بِصِلَةِ الرَّحِمِ، فَنَزُورُ أَقَارِبَنَا كُلَّ جُمُعَةٍ. نَعْتَادُ عَلَى تَقْدِيمِ الشَّايِ بِالهَيْلِ لِكُلِّ ضَيْفٍ، وَنَحْرِصُ عَلَى احْتِرَامِ الكِبَارِ. أَمَّا فِي الثَّقَافَةِ البِرِيطَانِيَّةِ فَالزِّيَارَاتُ غَالِبًا بِمَوْعِدٍ مُسْبَقٍ، بَيْنَمَا نَزُورُ نَحْنُ بِدُونِ مَوْعِدٍ أَحْيَانًا. فِي بَعْضِ العَائِلَاتِ البِرِيطَانِيَّةِ يَأْكُلُ الجَمِيعُ مَعًا يَوْمَ الأَحَدِ، وَلٰكِنْ لَيْسَ دَائِمًا. تَخْتَلِفُ العَادَاتُ مِنْ عَائِلَةٍ إِلَى أُخْرَى. أُقَدِّرُ صِلَةَ الرَّحِمِ كَثِيرًا، لِأَنَّهَا تَجْعَلُنِي قَرِيبًا مِنْ جَدَّتِي.</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Somali family we hold on to family ties, so we visit our relatives every Friday. We are used to serving cardamom tea to every guest, and we make sure to respect elders. In British culture, visits are usually arranged in advance, whereas we sometimes visit without an appointment. In some British families everyone eats together on Sunday, but not always. Customs differ from family to family. I really value family ties, because they keep me close to my grandmother.”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نَتَمَسَّكُ بِصِلَةِ الرَّحِمِ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نَعْتَادُ عَلَى تَقْدِيمِ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نَزُورُ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بَعْضِ العَائِلَاتِ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D6-L03 · Islamic Celebrations — Eid, Ramadan and Religious Occasions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المُنَاسَبَاتُ الإِسْلَامِيَّةُ — العِيدَانِ وَرَمَضَانُ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D6-L02 · Practice Room — Cultural Customs — Traditions, Greetings and Social Norms</dc:title>
  <dc:subject>PptxGenJS Presentation</dc:subject>
  <dc:creator>Al Madina Online School · Arabic Department</dc:creator>
  <cp:lastModifiedBy>Al Madina Online School · Arabic Department</cp:lastModifiedBy>
  <cp:revision>1</cp:revision>
  <dcterms:created xsi:type="dcterms:W3CDTF">2026-10-25T18:48:07Z</dcterms:created>
  <dcterms:modified xsi:type="dcterms:W3CDTF">2026-10-25T18:48:07Z</dcterms:modified>
</cp:coreProperties>
</file>