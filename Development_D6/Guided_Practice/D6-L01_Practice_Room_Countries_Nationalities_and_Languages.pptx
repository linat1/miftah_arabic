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D6-L01 (Countries, Nationalities and Languages of the Arab World) — new practice tasks built on the lesson’s own word bank and grammar (nationality (nisba): miṣr → miṣriyyun · miṣriyyatun · miṣriyyūna; diptote country names after min / fī (min lubnāna · fī filasṭīna — no tanwīn, -a in the genitive); gender of countries (most f., but al-ʿirāq · al-urdunn · al-maghrib · lubnān m.); languages described accurately (al-fuṣḥā · al-lahajāt · al-amāzīghiyya · al-kurdiyya)).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the guide is a girl: أَنَا أُرْدُنِيَّةٌ · تَتَكَلَّمِينَ. nisba: -iyyun / -iyyatun / -iyyūna; min + al- → mina (mina al-urdunn).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Countries, Nationalities and Languages of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الدُّوَلُ وَالجِنْسِيَّاتُ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the Arab world: say countries and nationalities in three forms, act an introductions dialogue, answer question cards, do a role-play card at an international student welcome, give a one-minute talk about a country, then build, fix and write a fact-file about an Arab country and its languages.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D6-L01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Countries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المَمْلَكَةُ العَرَبِيَّةُ السُّعُودِيَّةُ</a:t>
            </a:r>
            <a:endParaRPr lang="ar-SA" sz="28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Saudi Arabia</a:t>
            </a:r>
            <a:endParaRPr lang="en-US" sz="1350" dirty="0"/>
          </a:p>
          <a:p>
            <a:pPr indent="0" marL="0">
              <a:buNone/>
            </a:pPr>
            <a:r>
              <a:rPr lang="en-US" sz="1100" i="1" dirty="0">
                <a:solidFill>
                  <a:srgbClr val="5A6472"/>
                </a:solidFill>
                <a:latin typeface="Calibri" pitchFamily="34" charset="0"/>
                <a:cs typeface="Amiri" pitchFamily="2" charset="-78"/>
              </a:rPr>
              <a:t>al-mam-la-ka-tu al-ʿa-ra-biy-ya-tu as-su-ʿū-diy-ya-tu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Egypt</a:t>
            </a:r>
            <a:endParaRPr lang="en-US" sz="1350" dirty="0"/>
          </a:p>
          <a:p>
            <a:pPr indent="0" marL="0">
              <a:buNone/>
            </a:pPr>
            <a:r>
              <a:rPr lang="en-US" sz="1100" i="1" dirty="0">
                <a:solidFill>
                  <a:srgbClr val="5A6472"/>
                </a:solidFill>
                <a:latin typeface="Calibri" pitchFamily="34" charset="0"/>
                <a:cs typeface="Amiri" pitchFamily="2" charset="-78"/>
              </a:rPr>
              <a:t>miṣ-ru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العِرَاقُ</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Iraq</a:t>
            </a:r>
            <a:endParaRPr lang="en-US" sz="1350" dirty="0"/>
          </a:p>
          <a:p>
            <a:pPr indent="0" marL="0">
              <a:buNone/>
            </a:pPr>
            <a:r>
              <a:rPr lang="en-US" sz="1100" i="1" dirty="0">
                <a:solidFill>
                  <a:srgbClr val="5A6472"/>
                </a:solidFill>
                <a:latin typeface="Calibri" pitchFamily="34" charset="0"/>
                <a:cs typeface="Amiri" pitchFamily="2" charset="-78"/>
              </a:rPr>
              <a:t>al-ʿi-rā-qu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الأُرْدُنُّ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Jordan</a:t>
            </a:r>
            <a:endParaRPr lang="en-US" sz="1350" dirty="0"/>
          </a:p>
          <a:p>
            <a:pPr indent="0" marL="0">
              <a:buNone/>
            </a:pPr>
            <a:r>
              <a:rPr lang="en-US" sz="1100" i="1" dirty="0">
                <a:solidFill>
                  <a:srgbClr val="5A6472"/>
                </a:solidFill>
                <a:latin typeface="Calibri" pitchFamily="34" charset="0"/>
                <a:cs typeface="Amiri" pitchFamily="2" charset="-78"/>
              </a:rPr>
              <a:t>al-ur-dun-nu</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لُبْنَانُ</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Lebanon</a:t>
            </a:r>
            <a:endParaRPr lang="en-US" sz="1350" dirty="0"/>
          </a:p>
          <a:p>
            <a:pPr indent="0" marL="0">
              <a:buNone/>
            </a:pPr>
            <a:r>
              <a:rPr lang="en-US" sz="1100" i="1" dirty="0">
                <a:solidFill>
                  <a:srgbClr val="5A6472"/>
                </a:solidFill>
                <a:latin typeface="Calibri" pitchFamily="34" charset="0"/>
                <a:cs typeface="Amiri" pitchFamily="2" charset="-78"/>
              </a:rPr>
              <a:t>lub-nā-nu</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فِلَسْطِينُ</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Palestine</a:t>
            </a:r>
            <a:endParaRPr lang="en-US" sz="1350" dirty="0"/>
          </a:p>
          <a:p>
            <a:pPr indent="0" marL="0">
              <a:buNone/>
            </a:pPr>
            <a:r>
              <a:rPr lang="en-US" sz="1100" i="1" dirty="0">
                <a:solidFill>
                  <a:srgbClr val="5A6472"/>
                </a:solidFill>
                <a:latin typeface="Calibri" pitchFamily="34" charset="0"/>
                <a:cs typeface="Amiri" pitchFamily="2" charset="-78"/>
              </a:rPr>
              <a:t>fi-las-ṭī-nu</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Nationalities and languages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الإِمَارَاتُ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UAE</a:t>
            </a:r>
            <a:endParaRPr lang="en-US" sz="1350" dirty="0"/>
          </a:p>
          <a:p>
            <a:pPr indent="0" marL="0">
              <a:buNone/>
            </a:pPr>
            <a:r>
              <a:rPr lang="en-US" sz="1100" i="1" dirty="0">
                <a:solidFill>
                  <a:srgbClr val="5A6472"/>
                </a:solidFill>
                <a:latin typeface="Calibri" pitchFamily="34" charset="0"/>
                <a:cs typeface="Amiri" pitchFamily="2" charset="-78"/>
              </a:rPr>
              <a:t>al-i-mā-rā-tu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الجَزَائِرُ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Algeria</a:t>
            </a:r>
            <a:endParaRPr lang="en-US" sz="1350" dirty="0"/>
          </a:p>
          <a:p>
            <a:pPr indent="0" marL="0">
              <a:buNone/>
            </a:pPr>
            <a:r>
              <a:rPr lang="en-US" sz="1100" i="1" dirty="0">
                <a:solidFill>
                  <a:srgbClr val="5A6472"/>
                </a:solidFill>
                <a:latin typeface="Calibri" pitchFamily="34" charset="0"/>
                <a:cs typeface="Amiri" pitchFamily="2" charset="-78"/>
              </a:rPr>
              <a:t>al-ja-zā-ʾi-ru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المَغْرِبُ</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Morocco</a:t>
            </a:r>
            <a:endParaRPr lang="en-US" sz="1350" dirty="0"/>
          </a:p>
          <a:p>
            <a:pPr indent="0" marL="0">
              <a:buNone/>
            </a:pPr>
            <a:r>
              <a:rPr lang="en-US" sz="1100" i="1" dirty="0">
                <a:solidFill>
                  <a:srgbClr val="5A6472"/>
                </a:solidFill>
                <a:latin typeface="Calibri" pitchFamily="34" charset="0"/>
                <a:cs typeface="Amiri" pitchFamily="2" charset="-78"/>
              </a:rPr>
              <a:t>al-magh-ri-bu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مَغَارِبَةٌ</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العَرَبِيَّةُ الفُصْحَى</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Standard Arabic</a:t>
            </a:r>
            <a:endParaRPr lang="en-US" sz="1350" dirty="0"/>
          </a:p>
          <a:p>
            <a:pPr indent="0" marL="0">
              <a:buNone/>
            </a:pPr>
            <a:r>
              <a:rPr lang="en-US" sz="1100" i="1" dirty="0">
                <a:solidFill>
                  <a:srgbClr val="5A6472"/>
                </a:solidFill>
                <a:latin typeface="Calibri" pitchFamily="34" charset="0"/>
                <a:cs typeface="Amiri" pitchFamily="2" charset="-78"/>
              </a:rPr>
              <a:t>al-ʿa-ra-biy-ya-tu al-fuṣ-ḥā</a:t>
            </a:r>
            <a:endParaRPr lang="en-US" sz="1350" dirty="0"/>
          </a:p>
        </p:txBody>
      </p:sp>
      <p:sp>
        <p:nvSpPr>
          <p:cNvPr id="76" name="Text 7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shared written and formal register.</a:t>
            </a:r>
            <a:endParaRPr lang="en-US" sz="10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اللَّهَجَاتُ</a:t>
            </a:r>
            <a:endParaRPr lang="ar-SA" sz="3000" dirty="0"/>
          </a:p>
        </p:txBody>
      </p:sp>
      <p:sp>
        <p:nvSpPr>
          <p:cNvPr id="83" name="Text 8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dialects</a:t>
            </a:r>
            <a:endParaRPr lang="en-US" sz="1350" dirty="0"/>
          </a:p>
          <a:p>
            <a:pPr indent="0" marL="0">
              <a:buNone/>
            </a:pPr>
            <a:r>
              <a:rPr lang="en-US" sz="1100" i="1" dirty="0">
                <a:solidFill>
                  <a:srgbClr val="5A6472"/>
                </a:solidFill>
                <a:latin typeface="Calibri" pitchFamily="34" charset="0"/>
                <a:cs typeface="Amiri" pitchFamily="2" charset="-78"/>
              </a:rPr>
              <a:t>all-la-ha-jā-tu</a:t>
            </a:r>
            <a:endParaRPr lang="en-US" sz="1350" dirty="0"/>
          </a:p>
        </p:txBody>
      </p:sp>
      <p:sp>
        <p:nvSpPr>
          <p:cNvPr id="84" name="Text 8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Spoken varieties, which differ by region.</a:t>
            </a:r>
            <a:endParaRPr lang="en-US" sz="10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8" name="Shape 8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are you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أَيْنَ أَنْتِ؟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 Reem?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أَيْنَ أَنْتِ يَا رِيمُ؟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from Lebanon — I’m Lebanese, and my father is Palestinian.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مِنْ لُبْنَانَ؛ أَنَا لُبْنَانِيَّةٌ، وَأَبِي فِلَسْطِينِيٌّ.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 languages in Lebanon?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اللُّغَاتُ فِي لُبْنَانَ؟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is the official language, and many people speak French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العَرَبِيَّةُ هِيَ اللُّغَةُ الرَّسْمِيَّةُ، وَكَثِيرٌ مِنَ النَّاسِ يَتَكَلَّمُونَ الفَرَنْسِيَّةَ أَيْضًا.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does everyone in Morocco speak only Arabic?</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كُلُّ النَّاسِ فِي المَغْرِبِ يَتَكَلَّمُونَ العَرَبِيَّةَ فَقَطْ؟</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in Morocco many people speak Amazigh too, and it is an official language there.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فِي المَغْرِبِ يَتَكَلَّمُ كَثِيرُونَ الأَمَازِيغِيَّةَ أَيْضًا، وَهِيَ لُغَةٌ رَسْمِيَّةٌ هُنَاكَ.</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YOUR family’s countries — nationality in m. and f.</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أَبِي مِصْرِيٌّ وَأُمِّي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عَائِلَتِي مِنْ … ؛ نَحْنُ مِصْرِيُّونَ /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عِرَاقِيٌّ، وَهِيَ مِصْرِيَّةٌ</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of a man from Iraq? A woman from Egypt?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جِنْسِيَّةُ شَخْصٍ مِنَ العِرَاقِ؟ وَامْرَأَةٍ مِنْ مِصْرَ؟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الأَمَازِيغِيَّةِ وَالكُرْدِيَّةِ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العَرَبِيَّةُ الفُصْحَى، وَاللَّهَجَاتُ، وَ…</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languages are in the Arab world?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اللُّغَاتُ فِي العَالَمِ العَرَبِيِّ؟</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أَنْ أَزُورَ … لِأَنَّ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Arab country do you want to visit?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الدَّوْلَةُ العَرَبِيَّةُ الَّتِي تُرِيدُ أَنْ تَزُورَهَا؟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الفُصْحَى لُغَةُ … بَيْنَمَا اللَّهْجَةُ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Difference between fuṣḥā and dialect?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الفُصْحَى وَاللَّهْجَةِ؟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the international students’ welcome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تَرْحِيبٌ بِالطُّلَّابِ الدُّوَلِيِّينَ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أَنَا مِنْ … ؛ أَنَا أُرْدُنِيٌّ /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origin + nationality.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أَنَا مِنَ الجَزَائِرِ. وَأَنْتَ؟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الطُّلَّابُ ← نَعَمْ، هُنَاكَ … وَ…</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nationalities.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فِي صَفِّنَا طُلَّابٌ عَرَبٌ آخَرُونَ؟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Accurate answer on dialects.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يَتَكَلَّمُونَ لَهْجَتِي؟</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تَتَكَلَّمُ الأَمَازِيغِيَّةَ؟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guide · Leader = a new international student.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an Arab country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دَوْلَةٌ 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an Arab country. Talk for one minute: where it is, its capital, the nationality (m. / f. / pl.), its languages, and why you would like to visit.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Country + capital + nationality (m. and f.).</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plural nationality and its languages (accurately).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with another country and a reason to visit.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mother is Moroccan.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الرِّبَاطِ.</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الرِّبَاطِ.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are Iraqis from Baghdad.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نَحْنُ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عِرَاقِيُّونَ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بَغْدَادَ.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بَغْدَادٍ.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Kurdish is spoken in the north of Iraq.</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تُتَحَدَّثُ</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يَتَحَدَّثُ</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الكُرْدِيَّةُ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الكُرْدِيَّةَ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شَمَالِ العِرَاقِ.</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شَمَالُ العِرَاقِ.</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mother is Moroccan.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-iyyatun; min + al-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أُمِّي مَغْرِبِيَّةٌ مِنَ الرِّبَاطِ.</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are Iraqis from Baghdad.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Plural -iyyūna; </a:t>
            </a:r>
            <a:pPr algn="l" indent="0" marL="0">
              <a:buNone/>
            </a:pPr>
            <a:r>
              <a:rPr lang="ar-SA" altLang="en-US" sz="1350" dirty="0">
                <a:solidFill>
                  <a:srgbClr val="5A6472"/>
                </a:solidFill>
                <a:latin typeface="Amiri" pitchFamily="2" charset="-78"/>
                <a:ea typeface="Amiri" pitchFamily="2" charset="-78"/>
                <a:cs typeface="Amiri" pitchFamily="2" charset="-78"/>
              </a:rPr>
              <a:t>بَغْدَادُ</a:t>
            </a:r>
            <a:pPr algn="l" indent="0" marL="0">
              <a:buNone/>
            </a:pPr>
            <a:r>
              <a:rPr lang="en-US" sz="1050" i="1" dirty="0">
                <a:solidFill>
                  <a:srgbClr val="5A6472"/>
                </a:solidFill>
                <a:latin typeface="Calibri" pitchFamily="34" charset="0"/>
                <a:cs typeface="Amiri" pitchFamily="2" charset="-78"/>
              </a:rPr>
              <a:t> is diptote → </a:t>
            </a:r>
            <a:pPr algn="l" indent="0" marL="0">
              <a:buNone/>
            </a:pPr>
            <a:r>
              <a:rPr lang="ar-SA" altLang="en-US" sz="1350" dirty="0">
                <a:solidFill>
                  <a:srgbClr val="5A6472"/>
                </a:solidFill>
                <a:latin typeface="Amiri" pitchFamily="2" charset="-78"/>
                <a:ea typeface="Amiri" pitchFamily="2" charset="-78"/>
                <a:cs typeface="Amiri" pitchFamily="2" charset="-78"/>
              </a:rPr>
              <a:t>بَغْدَادَ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نَحْنُ عِرَاقِيُّونَ مِنْ بَغْدَادَ.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Kurdish is spoken in the north of Iraq.</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 subject (f.);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تُتَحَدَّثُ الكُرْدِيَّةُ فِي شَمَالِ العِرَاقِ.</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Diptote name.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سُورِيٌّ.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Sister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يَتَكَلَّمُونَ لَهْجَةً وَاحِدَةً.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Accurate?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لُبْنَانُ</a:t>
            </a:r>
            <a:pPr algn="l" indent="0" marL="0">
              <a:buNone/>
            </a:pPr>
            <a:r>
              <a:rPr lang="en-US" sz="1150" b="1" dirty="0">
                <a:solidFill>
                  <a:srgbClr val="1B3B6F"/>
                </a:solidFill>
                <a:latin typeface="Calibri" pitchFamily="34" charset="0"/>
                <a:cs typeface="Amiri" pitchFamily="2" charset="-78"/>
              </a:rPr>
              <a:t> takes no tanwīn; genitive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سُورِيٌّ.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سُورِيَّةٌ.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nisba: -iyyatun.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يَتَكَلَّمُونَ لَهْجَةً وَاحِدَةً.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لِكُلِّ بَلَدٍ عَرَبِيٍّ لَهْجَتُهُ، وَالفُصْحَى تَجْمَعُهُمْ.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Describe the region accurately — many dialects, one fuṣḥā.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يَتَكَلَّمُ النَّاسُ لَهْجَةً ______ ، وَيَتَكَلَّمُ بَعْضُهُمْ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People speak a … dialect, and some speak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أَشْهَرِ أَمَاكِنِهَا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its most famous places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تَقَعُ ______ فِي ______ ، وَعَاصِمَتُهَا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in …, and its capital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الرَّجُلُ ______ ، وَالمَرْأَةُ ______ ، وَالنَّاسُ ______ .</a:t>
            </a:r>
            <a:endParaRPr lang="ar-SA" sz="14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man is …, the woman …, the people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اللُّغَةُ الرَّسْمِيَّةُ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official language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أَزُورَ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visit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مِصْرُ · مِصْرِيٌّ · مِصْرِيَّةٌ  ·  العِرَاقُ · عِرَاقِيُّونَ  ·  لُبْنَانُ · مِنْ لُبْنَانَ  ·  فِلَسْطِينُ · فِلَسْطِينِيٌّ  ·  الفُصْحَى · اللَّهْجَةُ  ·  الأَمَازِيغِيَّةُ  ·  الكُرْدِيَّةُ  ·  لُغَةٌ رَسْمِيَّةٌ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fact file: an Arab country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مَعْلُومَاتٍ: دَوْلَةٌ 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fact file (about 60–80 words) about an Arab country for a class display. Include: • where it is and its capital • the nationality in three forms (m. · f. · pl.) • its languages, described accurately (official language, dialect, any other languages) • one famous place • why you would like to visit.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 فِي … ، وَعَاصِمَتُهَا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in …, and its capital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الرَّجُلُ مِصْرِيٌّ · المَرْأَةُ مِصْرِيَّةٌ · النَّاسُ مِصْرِيُّونَ</a:t>
            </a:r>
            <a:endParaRPr lang="ar-SA" sz="15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man · the woman · the people (Egyptian)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اللُّغَةُ الرَّسْمِيَّةُ … ، وَيَتَكَلَّمُ بَعْضُ النَّاسِ …</a:t>
            </a:r>
            <a:endParaRPr lang="ar-SA" sz="17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official language is …, and some people speak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أَزُورَهَا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visit it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nationalities in m. / f. / pl.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diptote names after </a:t>
            </a:r>
            <a:pPr algn="l" indent="0" marL="0">
              <a:buNone/>
            </a:pPr>
            <a:r>
              <a:rPr lang="ar-SA" altLang="en-US" sz="1450" dirty="0">
                <a:solidFill>
                  <a:srgbClr val="5A6472"/>
                </a:solidFill>
                <a:latin typeface="Amiri" pitchFamily="2" charset="-78"/>
                <a:ea typeface="Amiri" pitchFamily="2" charset="-78"/>
                <a:cs typeface="Amiri" pitchFamily="2" charset="-78"/>
              </a:rPr>
              <a:t>مِنْ / فِي</a:t>
            </a:r>
            <a:pPr algn="l" indent="0" marL="0">
              <a:buNone/>
            </a:pPr>
            <a:r>
              <a:rPr lang="en-US" sz="1100" dirty="0">
                <a:solidFill>
                  <a:srgbClr val="5A6472"/>
                </a:solidFill>
                <a:latin typeface="Calibri" pitchFamily="34" charset="0"/>
                <a:cs typeface="Amiri" pitchFamily="2" charset="-78"/>
              </a:rPr>
              <a:t> and describe languages accurately?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وَسَهْلًا! أَنَا مِنَ الأُرْدُنِّ؛ أَنَا أُرْدُنِيٌّ.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Welcome! I’m from Jordan — I’m Jordanian.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أَنَا مِنَ الجَزَائِرِ. وَأَنْتَ؟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هُنَاكَ طَالِبَانِ مِصْرِيَّانِ، وَثَلَاثُ طَالِبَاتٍ سُورِيَّاتٍ.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there are two Egyptian boys and three Syrian girls.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فِي صَفِّنَا طُلَّابٌ عَرَبٌ آخَرُونَ؟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لِكُلِّ بَلَدٍ لَهْجَتُهُ، وَلٰكِنَّنَا نَفْهَمُ بَعْضَنَا بِالفُصْحَى.</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Each country has its own dialect, but we understand each other in fuṣḥā.</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يَتَكَلَّمُونَ لَهْجَتِي؟</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وَلٰكِنَّ صَدِيقِي مِنَ المَغْرِبِ يَتَكَلَّمُهَا مَعَ جَدَّتِهِ.</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but my friend from Morocco speaks it with his grandmother.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تَتَكَلَّمُ الأَمَازِيغِيَّةَ؟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تَقَعُ الجَزَائِرُ فِي شَمَالِ أَفْرِيقْيَا، وَعَاصِمَتُهَا مَدِينَةُ الجَزَائِرِ. هِيَ أَكْبَرُ دَوْلَةٍ عَرَبِيَّةٍ مِنْ حَيْثُ المِسَاحَةُ. الرَّجُلُ جَزَائِرِيٌّ، وَالمَرْأَةُ جَزَائِرِيَّةٌ، وَالنَّاسُ جَزَائِرِيُّونَ. اللُّغَتَانِ الرَّسْمِيَّتَانِ هُمَا العَرَبِيَّةُ وَالأَمَازِيغِيَّةُ، وَيَتَكَلَّمُ النَّاسُ لَهْجَةً جَزَائِرِيَّةً، كَمَا يَتَكَلَّمُ كَثِيرٌ مِنْهُمُ الفَرَنْسِيَّةَ. مِنْ أَشْهَرِ أَمَاكِنِهَا الصَّحْرَاءُ الكُبْرَى وَمَدِينَةُ قُسَنْطِينَةَ ذَاتُ الجُسُورِ. أُرِيدُ أَنْ أَزُورَهَا، لِأَنَّ صَدِيقِي جَزَائِرِيٌّ، وَيَحْكِي لِي عَنْهَا دَائِمًا، وَلِأَنَّنِي أُحِبُّ الطَّبِيعَةَ وَالتَّارِيخَ.</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“Algeria is in North Africa, and its capital is Algiers. It is the largest Arab country by area. The man is Algerian, the woman Algerian, and the people Algerians. The two official languages are Arabic and Amazigh; people speak an Algerian dialect, and many also speak French. Its most famous places include the Sahara and Constantine, the city of bridges. I want to visit it, because my friend is Algerian and always tells me about it, and because I love nature and history.”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جَزَائِرِيَّةٌ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جَزَائِرِيُّونَ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العَرَبِيَّةُ وَالأَمَازِيغِيَّةُ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أُرِيدُ أَنْ أَزُورَهَا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D6-L02 · Cultural Customs — Traditions, Greetings and Social Norms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الثَّقَافِيَّةُ — التَّقَالِيدُ وَالتَّحِيَّاتُ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D6-L01 · Practice Room — Countries, Nationalities and Languages of the Arab World</dc:title>
  <dc:subject>PptxGenJS Presentation</dc:subject>
  <dc:creator>Al Madina Online School · Arabic Department</dc:creator>
  <cp:lastModifiedBy>Al Madina Online School · Arabic Department</cp:lastModifiedBy>
  <cp:revision>1</cp:revision>
  <dcterms:created xsi:type="dcterms:W3CDTF">2026-10-25T18:46:35Z</dcterms:created>
  <dcterms:modified xsi:type="dcterms:W3CDTF">2026-10-25T18:46:35Z</dcterms:modified>
</cp:coreProperties>
</file>