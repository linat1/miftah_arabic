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D6-L05 (Comparing Countries — Global Connections and the Arab Diaspora) — new practice tasks built on the lesson’s own word bank and grammar (belonging verbs with their prepositions: antamī ilā · atakayyafu maʿa · aḥtafiẓu bi- · uwāzinu bayna … wa- …; comparing two cities with ONE comparative at a time (akbaru min · akthar hudūʾan min); feelings (ḥanīn · iʿtizāz); identity words (huwiyya muzdawaja · al-jīl al-thānī · jāliya)).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D6-L05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presenter to a girl: عَرِّفِينَا بِنَفْسِكِ · تَتَكَلَّمِينَ · تُفَضِّلِينَ · غَرِيبَةٌ. antamī ilā · aḥtafiẓu bi- · atakayyafu maʿa · uwāzinu bayna … wa- … — say verb + preposition as one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(55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D6  ·  D6-L05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D6-L05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Comparing Countries — Global Connections and the Arab Diaspora</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بَيْنَ بَلَدَيْنِ</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00" dirty="0">
                <a:solidFill>
                  <a:srgbClr val="C6D2E6"/>
                </a:solidFill>
                <a:latin typeface="Calibri" pitchFamily="34" charset="0"/>
                <a:cs typeface="Amiri" pitchFamily="2" charset="-78"/>
              </a:rPr>
              <a:t>Students run their own speaking and writing practice about belonging to two places: say the belonging words, act a dialogue between two second-generation teens, answer question cards, do a role-play card on a radio show about dual identity, give a one-minute comparison of two cities, then build, fix and write a reflective paragraph about their two homes.</a:t>
            </a:r>
            <a:endParaRPr lang="en-US" sz="11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D6-L05 · Development D6 · Countries, Cultures and Celebrations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D6 › D6-L05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Belonging and identity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جَالِيَةٌ عَرَبِيَّةٌ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Arab community abroad</a:t>
            </a:r>
            <a:endParaRPr lang="en-US" sz="1350" dirty="0"/>
          </a:p>
          <a:p>
            <a:pPr indent="0" marL="0">
              <a:buNone/>
            </a:pPr>
            <a:r>
              <a:rPr lang="en-US" sz="1100" i="1" dirty="0">
                <a:solidFill>
                  <a:srgbClr val="5A6472"/>
                </a:solidFill>
                <a:latin typeface="Calibri" pitchFamily="34" charset="0"/>
                <a:cs typeface="Amiri" pitchFamily="2" charset="-78"/>
              </a:rPr>
              <a:t>jā-li-ya-tun ʿa-ra-biy-ya-tun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جَالِيَاتٌ عَرَبِيَّةٌ</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مُهَاجِرٌ / مُهَاجِرَةٌ</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migrant (m. / f.)</a:t>
            </a:r>
            <a:endParaRPr lang="en-US" sz="1350" dirty="0"/>
          </a:p>
          <a:p>
            <a:pPr indent="0" marL="0">
              <a:buNone/>
            </a:pPr>
            <a:r>
              <a:rPr lang="en-US" sz="1100" i="1" dirty="0">
                <a:solidFill>
                  <a:srgbClr val="5A6472"/>
                </a:solidFill>
                <a:latin typeface="Calibri" pitchFamily="34" charset="0"/>
                <a:cs typeface="Amiri" pitchFamily="2" charset="-78"/>
              </a:rPr>
              <a:t>mu-hā-ji-run / mu-hā-ji-ra-tun</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8" name="Text 35"/>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مُهَاجِرُونَ</a:t>
            </a:r>
            <a:endParaRPr lang="ar-SA" sz="150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2" name="Shape 39"/>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لَاجِئٌ / لَاجِئَةٌ</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refugee (m. / f.)</a:t>
            </a:r>
            <a:endParaRPr lang="en-US" sz="1350" dirty="0"/>
          </a:p>
          <a:p>
            <a:pPr indent="0" marL="0">
              <a:buNone/>
            </a:pPr>
            <a:r>
              <a:rPr lang="en-US" sz="1100" i="1" dirty="0">
                <a:solidFill>
                  <a:srgbClr val="5A6472"/>
                </a:solidFill>
                <a:latin typeface="Calibri" pitchFamily="34" charset="0"/>
                <a:cs typeface="Amiri" pitchFamily="2" charset="-78"/>
              </a:rPr>
              <a:t>lā-ji-ʾun / lā-ji-ʾa-tun</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0" name="Text 47"/>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لَاجِئُونَ</a:t>
            </a:r>
            <a:endParaRPr lang="ar-SA" sz="150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4" name="Shape 5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الجِيلُ الثَّانِي</a:t>
            </a:r>
            <a:endParaRPr lang="ar-SA" sz="3000" dirty="0"/>
          </a:p>
        </p:txBody>
      </p:sp>
      <p:sp>
        <p:nvSpPr>
          <p:cNvPr id="57" name="Text 54"/>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second generation</a:t>
            </a:r>
            <a:endParaRPr lang="en-US" sz="1350" dirty="0"/>
          </a:p>
          <a:p>
            <a:pPr indent="0" marL="0">
              <a:buNone/>
            </a:pPr>
            <a:r>
              <a:rPr lang="en-US" sz="1100" i="1" dirty="0">
                <a:solidFill>
                  <a:srgbClr val="5A6472"/>
                </a:solidFill>
                <a:latin typeface="Calibri" pitchFamily="34" charset="0"/>
                <a:cs typeface="Amiri" pitchFamily="2" charset="-78"/>
              </a:rPr>
              <a:t>al-jī-lu ath-thā-nī</a:t>
            </a:r>
            <a:endParaRPr lang="en-US" sz="1350" dirty="0"/>
          </a:p>
        </p:txBody>
      </p:sp>
      <p:sp>
        <p:nvSpPr>
          <p:cNvPr id="58" name="Shape 55"/>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4389120"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1" name="Shape 58"/>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Masculine.</a:t>
            </a:r>
            <a:endParaRPr lang="en-US" sz="800" dirty="0"/>
          </a:p>
        </p:txBody>
      </p:sp>
      <p:sp>
        <p:nvSpPr>
          <p:cNvPr id="63" name="Shape 60"/>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4" name="Text 61"/>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5" name="Text 62"/>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الانْتِمَاءُ</a:t>
            </a:r>
            <a:endParaRPr lang="ar-SA" sz="3000" dirty="0"/>
          </a:p>
        </p:txBody>
      </p:sp>
      <p:sp>
        <p:nvSpPr>
          <p:cNvPr id="66" name="Text 63"/>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belonging</a:t>
            </a:r>
            <a:endParaRPr lang="en-US" sz="1350" dirty="0"/>
          </a:p>
          <a:p>
            <a:pPr indent="0" marL="0">
              <a:buNone/>
            </a:pPr>
            <a:r>
              <a:rPr lang="en-US" sz="1100" i="1" dirty="0">
                <a:solidFill>
                  <a:srgbClr val="5A6472"/>
                </a:solidFill>
                <a:latin typeface="Calibri" pitchFamily="34" charset="0"/>
                <a:cs typeface="Amiri" pitchFamily="2" charset="-78"/>
              </a:rPr>
              <a:t>aln-ti-mā-ʾu</a:t>
            </a:r>
            <a:endParaRPr lang="en-US" sz="1350" dirty="0"/>
          </a:p>
        </p:txBody>
      </p:sp>
      <p:sp>
        <p:nvSpPr>
          <p:cNvPr id="67" name="Shape 64"/>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66928" y="4261104"/>
            <a:ext cx="310896" cy="310896"/>
          </a:xfrm>
          <a:prstGeom prst="ellipse">
            <a:avLst/>
          </a:prstGeom>
          <a:solidFill>
            <a:srgbClr val="F4F1EA"/>
          </a:solidFill>
          <a:ln w="12700">
            <a:solidFill>
              <a:srgbClr val="F4F1EA"/>
            </a:solidFill>
            <a:prstDash val="solid"/>
          </a:ln>
        </p:spPr>
      </p:sp>
      <p:sp>
        <p:nvSpPr>
          <p:cNvPr id="69" name="Text 66"/>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0" name="Shape 6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1" name="Text 6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2" name="Text 69"/>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هُوِيَّةٌ مُزْدَوَجَةٌ</a:t>
            </a:r>
            <a:endParaRPr lang="ar-SA" sz="3000" dirty="0"/>
          </a:p>
        </p:txBody>
      </p:sp>
      <p:sp>
        <p:nvSpPr>
          <p:cNvPr id="73" name="Text 70"/>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dual identity</a:t>
            </a:r>
            <a:endParaRPr lang="en-US" sz="1350" dirty="0"/>
          </a:p>
          <a:p>
            <a:pPr indent="0" marL="0">
              <a:buNone/>
            </a:pPr>
            <a:r>
              <a:rPr lang="en-US" sz="1100" i="1" dirty="0">
                <a:solidFill>
                  <a:srgbClr val="5A6472"/>
                </a:solidFill>
                <a:latin typeface="Calibri" pitchFamily="34" charset="0"/>
                <a:cs typeface="Amiri" pitchFamily="2" charset="-78"/>
              </a:rPr>
              <a:t>hu-wiy-ya-tun muz-da-wa-ja-tun</a:t>
            </a:r>
            <a:endParaRPr lang="en-US" sz="13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Comparing places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حَنِينٌ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nostalgia, longing</a:t>
            </a:r>
            <a:endParaRPr lang="en-US" sz="1350" dirty="0"/>
          </a:p>
          <a:p>
            <a:pPr indent="0" marL="0">
              <a:buNone/>
            </a:pPr>
            <a:r>
              <a:rPr lang="en-US" sz="1100" i="1" dirty="0">
                <a:solidFill>
                  <a:srgbClr val="5A6472"/>
                </a:solidFill>
                <a:latin typeface="Calibri" pitchFamily="34" charset="0"/>
                <a:cs typeface="Amiri" pitchFamily="2" charset="-78"/>
              </a:rPr>
              <a:t>ḥa-nī-nun</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Masculine; </a:t>
            </a:r>
            <a:pPr algn="l" indent="0" marL="0">
              <a:buNone/>
            </a:pPr>
            <a:r>
              <a:rPr lang="ar-SA" altLang="en-US" sz="1300" dirty="0">
                <a:solidFill>
                  <a:srgbClr val="8A6D1E"/>
                </a:solidFill>
                <a:latin typeface="Amiri" pitchFamily="2" charset="-78"/>
                <a:ea typeface="Amiri" pitchFamily="2" charset="-78"/>
                <a:cs typeface="Amiri" pitchFamily="2" charset="-78"/>
              </a:rPr>
              <a:t>حَنِينٌ إِلَى الوَطَنِ</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6" name="Shape 23"/>
          <p:cNvSpPr/>
          <p:nvPr/>
        </p:nvSpPr>
        <p:spPr>
          <a:xfrm>
            <a:off x="4782312" y="1938528"/>
            <a:ext cx="771754" cy="256032"/>
          </a:xfrm>
          <a:prstGeom prst="roundRect">
            <a:avLst>
              <a:gd name="adj" fmla="val 50000"/>
            </a:avLst>
          </a:prstGeom>
          <a:solidFill>
            <a:srgbClr val="EFE7D2"/>
          </a:solidFill>
          <a:ln w="12700">
            <a:solidFill>
              <a:srgbClr val="EFE7D2"/>
            </a:solidFill>
            <a:prstDash val="solid"/>
          </a:ln>
        </p:spPr>
      </p:sp>
      <p:sp>
        <p:nvSpPr>
          <p:cNvPr id="27" name="Text 24"/>
          <p:cNvSpPr txBox="1"/>
          <p:nvPr/>
        </p:nvSpPr>
        <p:spPr>
          <a:xfrm>
            <a:off x="4782312"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past</a:t>
            </a:r>
            <a:endParaRPr lang="en-US" sz="800" dirty="0"/>
          </a:p>
        </p:txBody>
      </p:sp>
      <p:sp>
        <p:nvSpPr>
          <p:cNvPr id="28" name="Shape 2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0" name="Text 2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يَنْتَمِي إِلَى</a:t>
            </a:r>
            <a:endParaRPr lang="ar-SA" sz="3000" dirty="0"/>
          </a:p>
        </p:txBody>
      </p:sp>
      <p:sp>
        <p:nvSpPr>
          <p:cNvPr id="31" name="Text 2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belongs to</a:t>
            </a:r>
            <a:endParaRPr lang="en-US" sz="1350" dirty="0"/>
          </a:p>
          <a:p>
            <a:pPr indent="0" marL="0">
              <a:buNone/>
            </a:pPr>
            <a:r>
              <a:rPr lang="en-US" sz="1100" i="1" dirty="0">
                <a:solidFill>
                  <a:srgbClr val="5A6472"/>
                </a:solidFill>
                <a:latin typeface="Calibri" pitchFamily="34" charset="0"/>
                <a:cs typeface="Amiri" pitchFamily="2" charset="-78"/>
              </a:rPr>
              <a:t>yan-ta-mī i-lā</a:t>
            </a:r>
            <a:endParaRPr lang="en-US" sz="1350" dirty="0"/>
          </a:p>
        </p:txBody>
      </p:sp>
      <p:sp>
        <p:nvSpPr>
          <p:cNvPr id="32" name="Shape 29"/>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3" name="Text 30"/>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34" name="Text 31"/>
          <p:cNvSpPr txBox="1"/>
          <p:nvPr/>
        </p:nvSpPr>
        <p:spPr>
          <a:xfrm>
            <a:off x="6190488"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اِنْتَمَى</a:t>
            </a:r>
            <a:endParaRPr lang="ar-SA" sz="1350" dirty="0"/>
          </a:p>
        </p:txBody>
      </p:sp>
      <p:sp>
        <p:nvSpPr>
          <p:cNvPr id="35" name="Shape 32"/>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6" name="Text 33"/>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7" name="Text 34"/>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أَنْتَمِي</a:t>
            </a:r>
            <a:endParaRPr lang="ar-SA" sz="1500" dirty="0"/>
          </a:p>
        </p:txBody>
      </p:sp>
      <p:sp>
        <p:nvSpPr>
          <p:cNvPr id="38" name="Shape 35"/>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566928" y="1920240"/>
            <a:ext cx="310896" cy="310896"/>
          </a:xfrm>
          <a:prstGeom prst="ellipse">
            <a:avLst/>
          </a:prstGeom>
          <a:solidFill>
            <a:srgbClr val="F4F1EA"/>
          </a:solidFill>
          <a:ln w="12700">
            <a:solidFill>
              <a:srgbClr val="F4F1EA"/>
            </a:solidFill>
            <a:prstDash val="solid"/>
          </a:ln>
        </p:spPr>
      </p:sp>
      <p:sp>
        <p:nvSpPr>
          <p:cNvPr id="40" name="Text 37"/>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1" name="Shape 38"/>
          <p:cNvSpPr/>
          <p:nvPr/>
        </p:nvSpPr>
        <p:spPr>
          <a:xfrm>
            <a:off x="960120" y="1938528"/>
            <a:ext cx="771754" cy="256032"/>
          </a:xfrm>
          <a:prstGeom prst="roundRect">
            <a:avLst>
              <a:gd name="adj" fmla="val 50000"/>
            </a:avLst>
          </a:prstGeom>
          <a:solidFill>
            <a:srgbClr val="EFE7D2"/>
          </a:solidFill>
          <a:ln w="12700">
            <a:solidFill>
              <a:srgbClr val="EFE7D2"/>
            </a:solidFill>
            <a:prstDash val="solid"/>
          </a:ln>
        </p:spPr>
      </p:sp>
      <p:sp>
        <p:nvSpPr>
          <p:cNvPr id="42" name="Text 39"/>
          <p:cNvSpPr txBox="1"/>
          <p:nvPr/>
        </p:nvSpPr>
        <p:spPr>
          <a:xfrm>
            <a:off x="960120"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past</a:t>
            </a:r>
            <a:endParaRPr lang="en-US" sz="800" dirty="0"/>
          </a:p>
        </p:txBody>
      </p:sp>
      <p:sp>
        <p:nvSpPr>
          <p:cNvPr id="43" name="Shape 40"/>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5" name="Text 42"/>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يَتَكَيَّفُ مَعَ</a:t>
            </a:r>
            <a:endParaRPr lang="ar-SA" sz="3000" dirty="0"/>
          </a:p>
        </p:txBody>
      </p:sp>
      <p:sp>
        <p:nvSpPr>
          <p:cNvPr id="46" name="Text 43"/>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adapts to</a:t>
            </a:r>
            <a:endParaRPr lang="en-US" sz="1350" dirty="0"/>
          </a:p>
          <a:p>
            <a:pPr indent="0" marL="0">
              <a:buNone/>
            </a:pPr>
            <a:r>
              <a:rPr lang="en-US" sz="1100" i="1" dirty="0">
                <a:solidFill>
                  <a:srgbClr val="5A6472"/>
                </a:solidFill>
                <a:latin typeface="Calibri" pitchFamily="34" charset="0"/>
                <a:cs typeface="Amiri" pitchFamily="2" charset="-78"/>
              </a:rPr>
              <a:t>ya-ta-kay-ya-fu ma-ʿa</a:t>
            </a:r>
            <a:endParaRPr lang="en-US" sz="1350" dirty="0"/>
          </a:p>
        </p:txBody>
      </p:sp>
      <p:sp>
        <p:nvSpPr>
          <p:cNvPr id="47" name="Shape 44"/>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8" name="Text 45"/>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49" name="Text 46"/>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تَكَيَّفَ</a:t>
            </a:r>
            <a:endParaRPr lang="ar-SA" sz="1350" dirty="0"/>
          </a:p>
        </p:txBody>
      </p:sp>
      <p:sp>
        <p:nvSpPr>
          <p:cNvPr id="50" name="Shape 47"/>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2" name="Text 49"/>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أَتَكَيَّفُ</a:t>
            </a:r>
            <a:endParaRPr lang="ar-SA" sz="1500" dirty="0"/>
          </a:p>
        </p:txBody>
      </p:sp>
      <p:sp>
        <p:nvSpPr>
          <p:cNvPr id="53" name="Shape 5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4" name="Shape 51"/>
          <p:cNvSpPr/>
          <p:nvPr/>
        </p:nvSpPr>
        <p:spPr>
          <a:xfrm>
            <a:off x="8211312" y="4261104"/>
            <a:ext cx="310896" cy="310896"/>
          </a:xfrm>
          <a:prstGeom prst="ellipse">
            <a:avLst/>
          </a:prstGeom>
          <a:solidFill>
            <a:srgbClr val="F4F1EA"/>
          </a:solidFill>
          <a:ln w="12700">
            <a:solidFill>
              <a:srgbClr val="F4F1EA"/>
            </a:solidFill>
            <a:prstDash val="solid"/>
          </a:ln>
        </p:spPr>
      </p:sp>
      <p:sp>
        <p:nvSpPr>
          <p:cNvPr id="55" name="Text 5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6" name="Shape 53"/>
          <p:cNvSpPr/>
          <p:nvPr/>
        </p:nvSpPr>
        <p:spPr>
          <a:xfrm>
            <a:off x="8604504" y="4279392"/>
            <a:ext cx="771754" cy="256032"/>
          </a:xfrm>
          <a:prstGeom prst="roundRect">
            <a:avLst>
              <a:gd name="adj" fmla="val 50000"/>
            </a:avLst>
          </a:prstGeom>
          <a:solidFill>
            <a:srgbClr val="EFE7D2"/>
          </a:solidFill>
          <a:ln w="12700">
            <a:solidFill>
              <a:srgbClr val="EFE7D2"/>
            </a:solidFill>
            <a:prstDash val="solid"/>
          </a:ln>
        </p:spPr>
      </p:sp>
      <p:sp>
        <p:nvSpPr>
          <p:cNvPr id="57" name="Text 54"/>
          <p:cNvSpPr txBox="1"/>
          <p:nvPr/>
        </p:nvSpPr>
        <p:spPr>
          <a:xfrm>
            <a:off x="8604504"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past</a:t>
            </a:r>
            <a:endParaRPr lang="en-US" sz="800" dirty="0"/>
          </a:p>
        </p:txBody>
      </p:sp>
      <p:sp>
        <p:nvSpPr>
          <p:cNvPr id="58" name="Shape 55"/>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يَحْتَفِظُ بِـ</a:t>
            </a:r>
            <a:endParaRPr lang="ar-SA" sz="3000" dirty="0"/>
          </a:p>
        </p:txBody>
      </p:sp>
      <p:sp>
        <p:nvSpPr>
          <p:cNvPr id="61" name="Text 5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keeps, retains</a:t>
            </a:r>
            <a:endParaRPr lang="en-US" sz="1350" dirty="0"/>
          </a:p>
          <a:p>
            <a:pPr indent="0" marL="0">
              <a:buNone/>
            </a:pPr>
            <a:r>
              <a:rPr lang="en-US" sz="1100" i="1" dirty="0">
                <a:solidFill>
                  <a:srgbClr val="5A6472"/>
                </a:solidFill>
                <a:latin typeface="Calibri" pitchFamily="34" charset="0"/>
                <a:cs typeface="Amiri" pitchFamily="2" charset="-78"/>
              </a:rPr>
              <a:t>yaḥ-ta-fi-ẓu bi</a:t>
            </a:r>
            <a:endParaRPr lang="en-US" sz="1350" dirty="0"/>
          </a:p>
        </p:txBody>
      </p:sp>
      <p:sp>
        <p:nvSpPr>
          <p:cNvPr id="62" name="Shape 59"/>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64" name="Text 61"/>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اِحْتَفَظَ</a:t>
            </a:r>
            <a:endParaRPr lang="ar-SA" sz="1350" dirty="0"/>
          </a:p>
        </p:txBody>
      </p:sp>
      <p:sp>
        <p:nvSpPr>
          <p:cNvPr id="65" name="Shape 62"/>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6" name="Text 63"/>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67" name="Text 64"/>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أَحْتَفِظُ</a:t>
            </a:r>
            <a:endParaRPr lang="ar-SA" sz="1500" dirty="0"/>
          </a:p>
        </p:txBody>
      </p:sp>
      <p:sp>
        <p:nvSpPr>
          <p:cNvPr id="68" name="Shape 65"/>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389120" y="4261104"/>
            <a:ext cx="310896" cy="310896"/>
          </a:xfrm>
          <a:prstGeom prst="ellipse">
            <a:avLst/>
          </a:prstGeom>
          <a:solidFill>
            <a:srgbClr val="F4F1EA"/>
          </a:solidFill>
          <a:ln w="12700">
            <a:solidFill>
              <a:srgbClr val="F4F1EA"/>
            </a:solidFill>
            <a:prstDash val="solid"/>
          </a:ln>
        </p:spPr>
      </p:sp>
      <p:sp>
        <p:nvSpPr>
          <p:cNvPr id="70" name="Text 67"/>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71" name="Shape 68"/>
          <p:cNvSpPr/>
          <p:nvPr/>
        </p:nvSpPr>
        <p:spPr>
          <a:xfrm>
            <a:off x="4782312" y="4279392"/>
            <a:ext cx="771754" cy="256032"/>
          </a:xfrm>
          <a:prstGeom prst="roundRect">
            <a:avLst>
              <a:gd name="adj" fmla="val 50000"/>
            </a:avLst>
          </a:prstGeom>
          <a:solidFill>
            <a:srgbClr val="EFE7D2"/>
          </a:solidFill>
          <a:ln w="12700">
            <a:solidFill>
              <a:srgbClr val="EFE7D2"/>
            </a:solidFill>
            <a:prstDash val="solid"/>
          </a:ln>
        </p:spPr>
      </p:sp>
      <p:sp>
        <p:nvSpPr>
          <p:cNvPr id="72" name="Text 69"/>
          <p:cNvSpPr txBox="1"/>
          <p:nvPr/>
        </p:nvSpPr>
        <p:spPr>
          <a:xfrm>
            <a:off x="4782312"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past</a:t>
            </a:r>
            <a:endParaRPr lang="en-US" sz="800" dirty="0"/>
          </a:p>
        </p:txBody>
      </p:sp>
      <p:sp>
        <p:nvSpPr>
          <p:cNvPr id="73" name="Shape 70"/>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4" name="Text 71"/>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5" name="Text 72"/>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يُوَازِنُ بَيْنَ</a:t>
            </a:r>
            <a:endParaRPr lang="ar-SA" sz="3000" dirty="0"/>
          </a:p>
        </p:txBody>
      </p:sp>
      <p:sp>
        <p:nvSpPr>
          <p:cNvPr id="76" name="Text 73"/>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balances between</a:t>
            </a:r>
            <a:endParaRPr lang="en-US" sz="1350" dirty="0"/>
          </a:p>
          <a:p>
            <a:pPr indent="0" marL="0">
              <a:buNone/>
            </a:pPr>
            <a:r>
              <a:rPr lang="en-US" sz="1100" i="1" dirty="0">
                <a:solidFill>
                  <a:srgbClr val="5A6472"/>
                </a:solidFill>
                <a:latin typeface="Calibri" pitchFamily="34" charset="0"/>
                <a:cs typeface="Amiri" pitchFamily="2" charset="-78"/>
              </a:rPr>
              <a:t>yu-wā-zi-nu bay-na</a:t>
            </a:r>
            <a:endParaRPr lang="en-US" sz="1350" dirty="0"/>
          </a:p>
        </p:txBody>
      </p:sp>
      <p:sp>
        <p:nvSpPr>
          <p:cNvPr id="77" name="Shape 74"/>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78" name="Text 75"/>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79" name="Text 76"/>
          <p:cNvSpPr txBox="1"/>
          <p:nvPr/>
        </p:nvSpPr>
        <p:spPr>
          <a:xfrm>
            <a:off x="6190488"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وَازَنَ</a:t>
            </a:r>
            <a:endParaRPr lang="ar-SA" sz="1350" dirty="0"/>
          </a:p>
        </p:txBody>
      </p:sp>
      <p:sp>
        <p:nvSpPr>
          <p:cNvPr id="80" name="Shape 77"/>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82" name="Text 79"/>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أُوَازِنُ</a:t>
            </a:r>
            <a:endParaRPr lang="ar-SA" sz="1500" dirty="0"/>
          </a:p>
        </p:txBody>
      </p:sp>
      <p:sp>
        <p:nvSpPr>
          <p:cNvPr id="83" name="Shape 8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566928" y="4261104"/>
            <a:ext cx="310896" cy="310896"/>
          </a:xfrm>
          <a:prstGeom prst="ellipse">
            <a:avLst/>
          </a:prstGeom>
          <a:solidFill>
            <a:srgbClr val="F4F1EA"/>
          </a:solidFill>
          <a:ln w="12700">
            <a:solidFill>
              <a:srgbClr val="F4F1EA"/>
            </a:solidFill>
            <a:prstDash val="solid"/>
          </a:ln>
        </p:spPr>
      </p:sp>
      <p:sp>
        <p:nvSpPr>
          <p:cNvPr id="85" name="Text 8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86" name="Shape 83"/>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7" name="Text 84"/>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8" name="Text 85"/>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أَكْثَرُ / أَقَلُّ مِنْ</a:t>
            </a:r>
            <a:endParaRPr lang="ar-SA" sz="3000" dirty="0"/>
          </a:p>
        </p:txBody>
      </p:sp>
      <p:sp>
        <p:nvSpPr>
          <p:cNvPr id="89" name="Text 86"/>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more / less than</a:t>
            </a:r>
            <a:endParaRPr lang="en-US" sz="1350" dirty="0"/>
          </a:p>
          <a:p>
            <a:pPr indent="0" marL="0">
              <a:buNone/>
            </a:pPr>
            <a:r>
              <a:rPr lang="en-US" sz="1100" i="1" dirty="0">
                <a:solidFill>
                  <a:srgbClr val="5A6472"/>
                </a:solidFill>
                <a:latin typeface="Calibri" pitchFamily="34" charset="0"/>
                <a:cs typeface="Amiri" pitchFamily="2" charset="-78"/>
              </a:rPr>
              <a:t>ak-tha-ru / a-qal-lu min</a:t>
            </a:r>
            <a:endParaRPr lang="en-US" sz="1350" dirty="0"/>
          </a:p>
        </p:txBody>
      </p:sp>
      <p:sp>
        <p:nvSpPr>
          <p:cNvPr id="90" name="Text 87"/>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analytical comparative.</a:t>
            </a:r>
            <a:endParaRPr lang="en-US" sz="1000" dirty="0"/>
          </a:p>
        </p:txBody>
      </p:sp>
      <p:sp>
        <p:nvSpPr>
          <p:cNvPr id="91" name="Text 8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Two homes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بَيْتَانِ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country do you belong to?</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إِلَى أَيِّ بَلَدٍ تَنْتَمِي؟</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belong to Britain and Sudan together — I have a dual identity.</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أَنْتَمِي إِلَى بِرِيطَانْيَا وَالسُّودَانِ مَعًا؛ عِنْدِي هُوِيَّةٌ مُزْدَوَجَةٌ.</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Was it hard to adapt to life here?</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هَلْ كَانَ صَعْبًا أَنْ تَتَكَيَّفَ مَعَ الحَيَاةِ هُنَا؟</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parents adapted with difficulty; as for me, I was born here — I’m second generation.</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تَكَيَّفَ وَالِدَايَ بِصُعُوبَةٍ، أَمَّا أَنَا فَوُلِدْتُ هُنَا؛ أَنَا مِنَ الجِيلِ الثَّانِي.</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what do you keep from your culture?</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وَبِمَاذَا تَحْتَفِظُ مِنْ ثَقَافَتِكَ؟</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keep the language and the food, and I balance the two cultures. Khartoum is hotter than London — but warmer in people’s hearts!</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2" charset="-78"/>
                <a:ea typeface="Amiri" pitchFamily="2" charset="-78"/>
                <a:cs typeface="Amiri" pitchFamily="2" charset="-78"/>
              </a:rPr>
              <a:t>أَحْتَفِظُ بِاللُّغَةِ وَالطَّعَامِ، وَأُوَازِنُ بَيْنَ الثَّقَافَتَيْنِ. الخَرْطُومُ أَحَرُّ مِنْ لَنْدَنَ، وَلٰكِنَّهَا أَكْثَرُ دِفْئًا فِي القُلُوبِ!</a:t>
            </a:r>
            <a:endParaRPr lang="ar-SA" sz="13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answer about YOUR two places (or one place and a place you love).</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أَنْتَمِي إِلَى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do you belong?</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إِلَى أَيِّ مَكَانٍ تَنْتَمِي؟</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مِثْلَ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أَحْتَفِظُ بِ…</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keep from your family’s culture?</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بِمَاذَا تَحْتَفِظُ مِنْ ثَقَافَةِ عَائِلَتِكَ؟</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56648" y="3741725"/>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أُوَازِنُ بَيْنَ … وَ … عِنْدَمَا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you balance two cultures?</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تُوَازِنُ بَيْنَ ثَقَافَتَيْنِ؟</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56648" y="4478731"/>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ea typeface="Amiri" pitchFamily="2" charset="-78"/>
                <a:cs typeface="Amiri" pitchFamily="2" charset="-78"/>
              </a:rPr>
              <a:t>… أَكْبَرُ مِنْ … ، وَ… أَكْثَرُ هُدُوءًا مِنْ …</a:t>
            </a:r>
            <a:endParaRPr lang="ar-SA" sz="155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Compare two cities you know.</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قَارِنْ بَيْنَ مَدِينَتَيْنِ تَعْرِفُهُمَا.</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خُصُوصًا فِي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أَشْعُرُ بِالحَنِينِ إِلَى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feel nostalgia? For what?</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تَشْعُرُ بِالحَنِينِ؟ إِلَى مَاذَا؟</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Role-play card — a radio show: “Growing up between two cultures”</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بَيْنَ ثَقَافَتَيْنِ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أَنَا ← أَنَا … ، وَأَنْتَمِي إِلَى … وَ…</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 belonging.</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عَرِّفْنَا بِنَفْسِكَ.</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أَحْتَفِظُ ← نَعَمْ، أَحْتَفِظُ بِ…</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keep.</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تَتَكَلَّمُ العَرَبِيَّةَ فِي البَيْتِ؟</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challenge + balance.</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الصَّعْبُ فِي ذٰلِكَ؟</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comparative at a time.</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 مَدِينَةٍ تُفَضِّلُ: صَنْعَاءَ أَمْ مَانْشِسْتَرَ؟</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a young guest · Leader = the radio presenter.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two cities, one 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مَدِينَتَانِ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Compare two cities or countries that matter to you for one minute, using ONE comparative per sentence, then say how you feel about each.</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Three comparatives (</a:t>
            </a:r>
            <a:pPr algn="l" indent="0" marL="0">
              <a:buNone/>
            </a:pPr>
            <a:r>
              <a:rPr lang="ar-SA" altLang="en-US" sz="1500" dirty="0">
                <a:solidFill>
                  <a:srgbClr val="1F2A37"/>
                </a:solidFill>
                <a:latin typeface="Amiri" pitchFamily="2" charset="-78"/>
                <a:ea typeface="Amiri" pitchFamily="2" charset="-78"/>
                <a:cs typeface="Amiri" pitchFamily="2" charset="-78"/>
              </a:rPr>
              <a:t>أَكْبَرُ</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أَقْدَمُ</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أَبْرَدُ</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أَكْثَرُ</a:t>
            </a:r>
            <a:pPr algn="l" indent="0" marL="0">
              <a:buNone/>
            </a:pPr>
            <a:r>
              <a:rPr lang="en-US" sz="1150" dirty="0">
                <a:solidFill>
                  <a:srgbClr val="1F2A37"/>
                </a:solidFill>
                <a:latin typeface="Calibri" pitchFamily="34" charset="0"/>
                <a:cs typeface="Amiri" pitchFamily="2" charset="-78"/>
              </a:rPr>
              <a:t> + noun (</a:t>
            </a:r>
            <a:pPr algn="l" indent="0" marL="0">
              <a:buNone/>
            </a:pPr>
            <a:r>
              <a:rPr lang="ar-SA" altLang="en-US" sz="1500" dirty="0">
                <a:solidFill>
                  <a:srgbClr val="1F2A37"/>
                </a:solidFill>
                <a:latin typeface="Amiri" pitchFamily="2" charset="-78"/>
                <a:ea typeface="Amiri" pitchFamily="2" charset="-78"/>
                <a:cs typeface="Amiri" pitchFamily="2" charset="-78"/>
              </a:rPr>
              <a:t>أَكْثَرُ هُدُوءًا</a:t>
            </a:r>
            <a:pPr algn="l" indent="0" marL="0">
              <a:buNone/>
            </a:pPr>
            <a:r>
              <a:rPr lang="en-US" sz="1150" dirty="0">
                <a:solidFill>
                  <a:srgbClr val="1F2A37"/>
                </a:solidFill>
                <a:latin typeface="Calibri" pitchFamily="34" charset="0"/>
                <a:cs typeface="Amiri" pitchFamily="2" charset="-78"/>
              </a:rPr>
              <a:t>) and </a:t>
            </a:r>
            <a:pPr algn="l" indent="0" marL="0">
              <a:buNone/>
            </a:pPr>
            <a:r>
              <a:rPr lang="ar-SA" altLang="en-US" sz="1500" dirty="0">
                <a:solidFill>
                  <a:srgbClr val="1F2A37"/>
                </a:solidFill>
                <a:latin typeface="Amiri" pitchFamily="2" charset="-78"/>
                <a:ea typeface="Amiri" pitchFamily="2" charset="-78"/>
                <a:cs typeface="Amiri" pitchFamily="2" charset="-78"/>
              </a:rPr>
              <a:t>أَنْتَمِي إِلَى</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أَحْتَفِظُ بِ</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أُوَازِنُ بَيْنَ</a:t>
            </a:r>
            <a:pPr algn="l" indent="0" marL="0">
              <a:buNone/>
            </a:pPr>
            <a:r>
              <a:rPr lang="en-US" sz="1150" dirty="0">
                <a:solidFill>
                  <a:srgbClr val="1F2A37"/>
                </a:solidFill>
                <a:latin typeface="Calibri" pitchFamily="34" charset="0"/>
                <a:cs typeface="Amiri" pitchFamily="2" charset="-78"/>
              </a:rPr>
              <a:t> … and a feeling (</a:t>
            </a:r>
            <a:pPr algn="l" indent="0" marL="0">
              <a:buNone/>
            </a:pPr>
            <a:r>
              <a:rPr lang="ar-SA" altLang="en-US" sz="1500" dirty="0">
                <a:solidFill>
                  <a:srgbClr val="1F2A37"/>
                </a:solidFill>
                <a:latin typeface="Amiri" pitchFamily="2" charset="-78"/>
                <a:ea typeface="Amiri" pitchFamily="2" charset="-78"/>
                <a:cs typeface="Amiri" pitchFamily="2" charset="-78"/>
              </a:rPr>
              <a:t>حَنِينٌ</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اعْتِزَازٌ</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belong to two cultures.</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أَنْتَمِي</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أَنْتَمِيَ</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ثَقَافَتَيْنِ.</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ثَقَافَتَانِ.</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Cairo is more crowded than Leeds.</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القَاهِرَةُ</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القَاهِرَةَ</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أَكْثَرُ ازْدِحَامًا</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أَكْثَرُ مُزْدَحِمَةٌ</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لِيدْزَ.</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لِيدْزُ.</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keep my language and balance the two cultures.</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أَحْتَفِظُ بِلُغَتِي</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أَحْتَفِظُ لُغَتِي</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وَأُوَازِنُ</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وَأُوَازِنَ</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بَيْنَ الثَّقَافَتَيْنِ.</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بَيْنَ الثَّقَافَتَانِ.</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belong to two cultures.</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أَنْتَمِي إِلَى</a:t>
            </a:r>
            <a:pPr algn="l" indent="0" marL="0">
              <a:buNone/>
            </a:pPr>
            <a:r>
              <a:rPr lang="en-US" sz="1050" i="1" dirty="0">
                <a:solidFill>
                  <a:srgbClr val="5A6472"/>
                </a:solidFill>
                <a:latin typeface="Calibri" pitchFamily="34" charset="0"/>
                <a:cs typeface="Amiri" pitchFamily="2" charset="-78"/>
              </a:rPr>
              <a:t> + genitive dual (-ayni).</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أَنْتَمِي إِلَى ثَقَافَتَيْنِ.</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Cairo is more crowded than Leeds.</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أَكْثَرُ</a:t>
            </a:r>
            <a:pPr algn="l" indent="0" marL="0">
              <a:buNone/>
            </a:pPr>
            <a:r>
              <a:rPr lang="en-US" sz="1050" i="1" dirty="0">
                <a:solidFill>
                  <a:srgbClr val="5A6472"/>
                </a:solidFill>
                <a:latin typeface="Calibri" pitchFamily="34" charset="0"/>
                <a:cs typeface="Amiri" pitchFamily="2" charset="-78"/>
              </a:rPr>
              <a:t> + maṣdar in -an (one comparative).</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القَاهِرَةُ أَكْثَرُ ازْدِحَامًا مِنْ لِيدْزَ.</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keep my language and balance the two cultures.</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أَحْتَفِظُ بِ</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بَيْنَ</a:t>
            </a:r>
            <a:pPr algn="l" indent="0" marL="0">
              <a:buNone/>
            </a:pPr>
            <a:r>
              <a:rPr lang="en-US" sz="1050" i="1" dirty="0">
                <a:solidFill>
                  <a:srgbClr val="5A6472"/>
                </a:solidFill>
                <a:latin typeface="Calibri" pitchFamily="34" charset="0"/>
                <a:cs typeface="Amiri" pitchFamily="2" charset="-78"/>
              </a:rPr>
              <a:t> + genitive dual.</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أَحْتَفِظُ بِلُغَتِي وَأُوَازِنُ بَيْنَ الثَّقَافَتَيْنِ.</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أَنْتَمِي بِرِيطَانْيَا.</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Missing preposition.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لَنْدَنُ أَكْبَرُ وَأَكْثَرُ أَغْلَى مِنْ دُبَيٍّ.</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One comparative at a time.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أَتَكَيَّفُ عَلَى الحَيَاةِ الجَدِيدَةِ.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preposition?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أَنْتَمِي بِرِيطَانْيَا.</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أَنْتَمِي إِلَى بِرِيطَانْيَا.</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rtl="1" algn="r" indent="0" marL="0">
              <a:buNone/>
            </a:pPr>
            <a:r>
              <a:rPr lang="ar-SA" altLang="en-US" sz="1450" dirty="0">
                <a:solidFill>
                  <a:srgbClr val="1B3B6F"/>
                </a:solidFill>
                <a:latin typeface="Amiri" pitchFamily="2" charset="-78"/>
                <a:ea typeface="Amiri" pitchFamily="2" charset="-78"/>
                <a:cs typeface="Amiri" pitchFamily="2" charset="-78"/>
              </a:rPr>
              <a:t>أَنْتَمِي إِلَى …</a:t>
            </a:r>
            <a:endParaRPr lang="ar-SA" sz="14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لَنْدَنُ أَكْبَرُ وَأَكْثَرُ أَغْلَى مِنْ دُبَيٍّ.</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لَنْدَنُ أَكْبَرُ مِنْ دُبَيٍّ، وَهِيَ أَغْلَى أَيْضًا.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Never </a:t>
            </a:r>
            <a:pPr algn="l" indent="0" marL="0">
              <a:buNone/>
            </a:pPr>
            <a:r>
              <a:rPr lang="ar-SA" altLang="en-US" sz="1500" b="1" dirty="0">
                <a:solidFill>
                  <a:srgbClr val="1B3B6F"/>
                </a:solidFill>
                <a:latin typeface="Amiri" pitchFamily="2" charset="-78"/>
                <a:ea typeface="Amiri" pitchFamily="2" charset="-78"/>
                <a:cs typeface="Amiri" pitchFamily="2" charset="-78"/>
              </a:rPr>
              <a:t>أَكْثَرُ</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أَفْعَلُ</a:t>
            </a:r>
            <a:pPr algn="l" indent="0" marL="0">
              <a:buNone/>
            </a:pPr>
            <a:r>
              <a:rPr lang="en-US" sz="1150" b="1" dirty="0">
                <a:solidFill>
                  <a:srgbClr val="1B3B6F"/>
                </a:solidFill>
                <a:latin typeface="Calibri" pitchFamily="34" charset="0"/>
                <a:cs typeface="Amiri" pitchFamily="2" charset="-78"/>
              </a:rPr>
              <a:t> together.</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أَتَكَيَّفُ عَلَى الحَيَاةِ الجَدِيدَةِ.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أَتَكَيَّفُ مَعَ الحَيَاةِ الجَدِيدَةِ.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rtl="1" algn="r" indent="0" marL="0">
              <a:buNone/>
            </a:pPr>
            <a:r>
              <a:rPr lang="ar-SA" altLang="en-US" sz="1450" dirty="0">
                <a:solidFill>
                  <a:srgbClr val="1B3B6F"/>
                </a:solidFill>
                <a:latin typeface="Amiri" pitchFamily="2" charset="-78"/>
                <a:ea typeface="Amiri" pitchFamily="2" charset="-78"/>
                <a:cs typeface="Amiri" pitchFamily="2" charset="-78"/>
              </a:rPr>
              <a:t>يَتَكَيَّفُ مَعَ …</a:t>
            </a:r>
            <a:endParaRPr lang="ar-SA" sz="14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تَكَيَّفَ ______ مَعَ ______ بِسُهُولَةٍ / بِصُعُوبَةٍ.</a:t>
            </a:r>
            <a:endParaRPr lang="ar-SA" sz="17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adapted to … easily / with difficulty.</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أُوَازِنُ بَيْنَ ______ وَ ______ عِنْدَمَا ______ .</a:t>
            </a:r>
            <a:endParaRPr lang="ar-SA" sz="16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balance … and … when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أَنْتَمِي إِلَى ______ وَ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belong to … and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أَحْتَفِظُ بِ______ وَ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keep … and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أَكْبَرُ / أَقْدَمُ مِنْ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bigger / older than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أَشْعُرُ بِ______ ، لِأَنَّ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feel …, because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جَالِيَةٌ عَرَبِيَّةٌ  ·  مُهَاجِرٌ · مُهَاجِرَةٌ  ·  الجِيلُ الثَّانِي  ·  هُوِيَّةٌ مُزْدَوَجَةٌ  ·  حَنِينٌ · اعْتِزَازٌ  ·  أَنْتَمِي إِلَى  ·  أَحْتَفِظُ بِ…  ·  أُوَازِنُ بَيْنَ</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two homes — a reflection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بَيْتَايَ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reflective paragraph (about 60–80 words) about belonging to two places (or about a place you love and where you live). Include: • </a:t>
            </a:r>
            <a:pPr algn="l" indent="0" marL="0">
              <a:buNone/>
            </a:pPr>
            <a:r>
              <a:rPr lang="ar-SA" altLang="en-US" sz="1450" b="1" dirty="0">
                <a:solidFill>
                  <a:srgbClr val="1F2A37"/>
                </a:solidFill>
                <a:latin typeface="Amiri" pitchFamily="2" charset="-78"/>
                <a:ea typeface="Amiri" pitchFamily="2" charset="-78"/>
                <a:cs typeface="Amiri" pitchFamily="2" charset="-78"/>
              </a:rPr>
              <a:t>أَنْتَمِي إِلَى</a:t>
            </a:r>
            <a:pPr algn="l" indent="0" marL="0">
              <a:buNone/>
            </a:pPr>
            <a:r>
              <a:rPr lang="en-US" sz="1100" b="1" dirty="0">
                <a:solidFill>
                  <a:srgbClr val="1F2A37"/>
                </a:solidFill>
                <a:latin typeface="Calibri" pitchFamily="34" charset="0"/>
                <a:cs typeface="Amiri" pitchFamily="2" charset="-78"/>
              </a:rPr>
              <a:t> … • two things you keep (</a:t>
            </a:r>
            <a:pPr algn="l" indent="0" marL="0">
              <a:buNone/>
            </a:pPr>
            <a:r>
              <a:rPr lang="ar-SA" altLang="en-US" sz="1450" b="1" dirty="0">
                <a:solidFill>
                  <a:srgbClr val="1F2A37"/>
                </a:solidFill>
                <a:latin typeface="Amiri" pitchFamily="2" charset="-78"/>
                <a:ea typeface="Amiri" pitchFamily="2" charset="-78"/>
                <a:cs typeface="Amiri" pitchFamily="2" charset="-78"/>
              </a:rPr>
              <a:t>أَحْتَفِظُ بِ</a:t>
            </a:r>
            <a:pPr algn="l" indent="0" marL="0">
              <a:buNone/>
            </a:pPr>
            <a:r>
              <a:rPr lang="en-US" sz="1100" b="1" dirty="0">
                <a:solidFill>
                  <a:srgbClr val="1F2A37"/>
                </a:solidFill>
                <a:latin typeface="Calibri" pitchFamily="34" charset="0"/>
                <a:cs typeface="Amiri" pitchFamily="2" charset="-78"/>
              </a:rPr>
              <a:t>…) • how you or your family adapted (</a:t>
            </a:r>
            <a:pPr algn="l" indent="0" marL="0">
              <a:buNone/>
            </a:pPr>
            <a:r>
              <a:rPr lang="ar-SA" altLang="en-US" sz="1450" b="1" dirty="0">
                <a:solidFill>
                  <a:srgbClr val="1F2A37"/>
                </a:solidFill>
                <a:latin typeface="Amiri" pitchFamily="2" charset="-78"/>
                <a:ea typeface="Amiri" pitchFamily="2" charset="-78"/>
                <a:cs typeface="Amiri" pitchFamily="2" charset="-78"/>
              </a:rPr>
              <a:t>تَكَيَّفَ مَعَ</a:t>
            </a:r>
            <a:pPr algn="l" indent="0" marL="0">
              <a:buNone/>
            </a:pPr>
            <a:r>
              <a:rPr lang="en-US" sz="1100" b="1" dirty="0">
                <a:solidFill>
                  <a:srgbClr val="1F2A37"/>
                </a:solidFill>
                <a:latin typeface="Calibri" pitchFamily="34" charset="0"/>
                <a:cs typeface="Amiri" pitchFamily="2" charset="-78"/>
              </a:rPr>
              <a:t> …) • two comparatives, one at a time • how you balance the two (</a:t>
            </a:r>
            <a:pPr algn="l" indent="0" marL="0">
              <a:buNone/>
            </a:pPr>
            <a:r>
              <a:rPr lang="ar-SA" altLang="en-US" sz="1450" b="1" dirty="0">
                <a:solidFill>
                  <a:srgbClr val="1F2A37"/>
                </a:solidFill>
                <a:latin typeface="Amiri" pitchFamily="2" charset="-78"/>
                <a:ea typeface="Amiri" pitchFamily="2" charset="-78"/>
                <a:cs typeface="Amiri" pitchFamily="2" charset="-78"/>
              </a:rPr>
              <a:t>أُوَازِنُ بَيْنَ</a:t>
            </a:r>
            <a:pPr algn="l" indent="0" marL="0">
              <a:buNone/>
            </a:pPr>
            <a:r>
              <a:rPr lang="en-US" sz="1100" b="1" dirty="0">
                <a:solidFill>
                  <a:srgbClr val="1F2A37"/>
                </a:solidFill>
                <a:latin typeface="Calibri" pitchFamily="34" charset="0"/>
                <a:cs typeface="Amiri" pitchFamily="2" charset="-78"/>
              </a:rPr>
              <a:t> …) and how you feel.</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أَنْتَمِي إِلَى … وَ…</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belong to … and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أَحْتَفِظُ بِ…</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keep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تَكَيَّفَ / تَكَيَّفَتْ عَائِلَتِي مَعَ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family adapted to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أُوَازِنُ بَيْنَ … وَ…</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balance … and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belonging verbs with the right prepositions?</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compare with one comparative at a time and reflect on feelings?</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 يُوسُفُ، وُلِدْتُ فِي مَانْشِسْتَرَ، وَأَنْتَمِي إِلَى اليَمَنِ وَبِرِيطَانْيَا.</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I’m Yusuf, I was born in Manchester, and I belong to Yemen and Britain.</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عَرِّفْنَا بِنَفْسِكَ.</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أَحْتَفِظُ بِالعَرَبِيَّةِ لِأَنَّ جَدَّتِي لَا تَتَكَلَّمُ الإِنْجِلِيزِيَّةَ.</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I keep Arabic because my grandmother doesn’t speak English.</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تَتَكَلَّمُ العَرَبِيَّةَ فِي البَيْتِ؟</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أَحْيَانًا أَشْعُرُ أَنَّنِي غَرِيبٌ فِي البَلَدَيْنِ، وَلٰكِنَّنِي أَتَعَلَّمُ أَنْ أُوَازِنَ بَيْنَهُمَا.</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Sometimes I feel like a stranger in both countries, but I’m learning to balance them.</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الصَّعْبُ فِي ذٰلِكَ؟</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صَنْعَاءُ أَقْدَمُ، وَمَانْشِسْتَرُ أَكْثَرُ تَنَوُّعًا؛ أُحِبُّهُمَا بِطَرِيقَتَيْنِ مُخْتَلِفَتَيْنِ.</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Sanaa is older, and Manchester more diverse — I love them in two different ways.</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 مَدِينَةٍ تُفَضِّلُ: صَنْعَاءَ أَمْ مَانْشِسْتَرَ؟</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أَنْتَمِي إِلَى بِرِيطَانْيَا وَالعِرَاقِ؛ وُلِدْتُ فِي بِرْمِنْغْهَامَ، وَوُلِدَ وَالِدَايَ فِي البَصْرَةِ. تَكَيَّفَتْ أُمِّي مَعَ الحَيَاةِ هُنَا بِصُعُوبَةٍ فِي البِدَايَةِ، لِأَنَّ الطَّقْسَ وَاللُّغَةَ كَانَا جَدِيدَيْنِ. أَحْتَفِظُ بِاللُّغَةِ العَرَبِيَّةِ وَبِطَبْخِ جَدَّتِي. البَصْرَةُ أَحَرُّ مِنْ بِرْمِنْغْهَامَ، وَبِرْمِنْغْهَامُ أَكْثَرُ تَنَوُّعًا. أُوَازِنُ بَيْنَ الثَّقَافَتَيْنِ: أَتَكَلَّمُ الإِنْجِلِيزِيَّةَ فِي المَدْرَسَةِ، وَالعَرَبِيَّةَ فِي البَيْتِ. أَشْعُرُ بِالحَنِينِ إِلَى العِرَاقِ أَحْيَانًا، وَلٰكِنَّنِي أَعْتَزُّ بِهُوِيَّتِي المُزْدَوَجَةِ.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belong to Britain and Iraq — I was born in Birmingham, and my parents were born in Basra. My mum adapted to life here with difficulty at first, because the weather and the language were new. I keep the Arabic language and my grandmother’s cooking. Basra is hotter than Birmingham, and Birmingham is more diverse. I balance the two cultures: I speak English at school and Arabic at home. I sometimes feel nostalgia for Iraq, but I am proud of my dual identity.”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أَنْتَمِي إِلَى</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تَكَيَّفَتْ أُمِّي مَعَ</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أَحْتَفِظُ بِاللُّغَةِ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أُوَازِنُ بَيْنَ</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D6-L05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D6-L05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D6-L06 · Arabic Around the World — The Language’s Global Reach</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العَرَبِيَّةُ حَوْلَ العَالَمِ</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D6-L05 · Practice Room — Comparing Countries — Global Connections and the Arab Diaspora</dc:title>
  <dc:subject>PptxGenJS Presentation</dc:subject>
  <dc:creator>Al Madina Online School · Arabic Department</dc:creator>
  <cp:lastModifiedBy>Al Madina Online School · Arabic Department</cp:lastModifiedBy>
  <cp:revision>1</cp:revision>
  <dcterms:created xsi:type="dcterms:W3CDTF">2026-10-25T18:50:30Z</dcterms:created>
  <dcterms:modified xsi:type="dcterms:W3CDTF">2026-10-25T18:50:30Z</dcterms:modified>
</cp:coreProperties>
</file>