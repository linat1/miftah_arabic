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D6-L07 (D6 Grammar Consolidation — All Tenses Together) — new practice tasks built on the lesson’s own word bank and grammar (one text, the whole system: past (iḥtafalnā · kānat taḥtafilu) · present (naḥtafilu al-āna) · future (sa-naḥtafilu · lan natakhallā ʿan); plus ONE relative clause (alladhī / allatī), ONE comparative, ONE passive (tuzayyanu) and ONE formal connector (ʿilāwatan ʿalā dhālika) — each checked before joining it to the next).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D6-L07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coach to a girl: اسْتَخْدِمِي · تُضِيفِينَ. Check each structure before joining it to the next: tense · relative · passive · comparative ·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(55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D6  ·  D6-L07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D6-L07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D6 Grammar Consolidation — All Tenses Together</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جَمِيعُ الأَزْمِنَةِ مَعًا</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00" dirty="0">
                <a:solidFill>
                  <a:srgbClr val="C6D2E6"/>
                </a:solidFill>
                <a:latin typeface="Calibri" pitchFamily="34" charset="0"/>
                <a:cs typeface="Amiri" pitchFamily="2" charset="-78"/>
              </a:rPr>
              <a:t>Students run their own consolidation of the whole Development grammar system: say the grammar terms with examples, act a past–present–future dialogue about a family tradition, build sentences aloud with each structure, do a role-play card as a grammar coach, give a one-minute “all tenses” talk, then build, fix and write a checked paragraph with every structure.</a:t>
            </a:r>
            <a:endParaRPr lang="en-US" sz="11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D6-L07 · Development D6 · Countries, Cultures and Celebrations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D6 › D6-L07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terms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مُرَاجَعَةٌ شَامِلَةٌ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comprehensive review</a:t>
            </a:r>
            <a:endParaRPr lang="en-US" sz="1350" dirty="0"/>
          </a:p>
          <a:p>
            <a:pPr indent="0" marL="0">
              <a:buNone/>
            </a:pPr>
            <a:r>
              <a:rPr lang="en-US" sz="1100" i="1" dirty="0">
                <a:solidFill>
                  <a:srgbClr val="5A6472"/>
                </a:solidFill>
                <a:latin typeface="Calibri" pitchFamily="34" charset="0"/>
                <a:cs typeface="Amiri" pitchFamily="2" charset="-78"/>
              </a:rPr>
              <a:t>mu-rā-ja-ʿa-tun shā-mi-la-tun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الزَّمَنُ المَاضِي</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past tense</a:t>
            </a:r>
            <a:endParaRPr lang="en-US" sz="1350" dirty="0"/>
          </a:p>
          <a:p>
            <a:pPr indent="0" marL="0">
              <a:buNone/>
            </a:pPr>
            <a:r>
              <a:rPr lang="en-US" sz="1100" i="1" dirty="0">
                <a:solidFill>
                  <a:srgbClr val="5A6472"/>
                </a:solidFill>
                <a:latin typeface="Calibri" pitchFamily="34" charset="0"/>
                <a:cs typeface="Amiri" pitchFamily="2" charset="-78"/>
              </a:rPr>
              <a:t>az-za-ma-nu al-mā-ḍī</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الزَّمَنُ الحَاضِرُ</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present tense</a:t>
            </a:r>
            <a:endParaRPr lang="en-US" sz="1350" dirty="0"/>
          </a:p>
          <a:p>
            <a:pPr indent="0" marL="0">
              <a:buNone/>
            </a:pPr>
            <a:r>
              <a:rPr lang="en-US" sz="1100" i="1" dirty="0">
                <a:solidFill>
                  <a:srgbClr val="5A6472"/>
                </a:solidFill>
                <a:latin typeface="Calibri" pitchFamily="34" charset="0"/>
                <a:cs typeface="Amiri" pitchFamily="2" charset="-78"/>
              </a:rPr>
              <a:t>az-za-ma-nu al-ḥā-ḍi-ru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الزَّمَنُ المُسْتَقْبَلُ</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future tense</a:t>
            </a:r>
            <a:endParaRPr lang="en-US" sz="1350" dirty="0"/>
          </a:p>
          <a:p>
            <a:pPr indent="0" marL="0">
              <a:buNone/>
            </a:pPr>
            <a:r>
              <a:rPr lang="en-US" sz="1100" i="1" dirty="0">
                <a:solidFill>
                  <a:srgbClr val="5A6472"/>
                </a:solidFill>
                <a:latin typeface="Calibri" pitchFamily="34" charset="0"/>
                <a:cs typeface="Amiri" pitchFamily="2" charset="-78"/>
              </a:rPr>
              <a:t>az-za-ma-nu al-mus-taq-ba-lu</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الاِسْمُ المَوْصُولُ</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relative pronoun</a:t>
            </a:r>
            <a:endParaRPr lang="en-US" sz="1350" dirty="0"/>
          </a:p>
          <a:p>
            <a:pPr indent="0" marL="0">
              <a:buNone/>
            </a:pPr>
            <a:r>
              <a:rPr lang="en-US" sz="1100" i="1" dirty="0">
                <a:solidFill>
                  <a:srgbClr val="5A6472"/>
                </a:solidFill>
                <a:latin typeface="Calibri" pitchFamily="34" charset="0"/>
                <a:cs typeface="Amiri" pitchFamily="2" charset="-78"/>
              </a:rPr>
              <a:t>als-mu al-maw-ṣū-lu</a:t>
            </a:r>
            <a:endParaRPr lang="en-US" sz="1350" dirty="0"/>
          </a:p>
        </p:txBody>
      </p:sp>
      <p:sp>
        <p:nvSpPr>
          <p:cNvPr id="50" name="Text 47"/>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الَّذِي، الَّتِي، الَّذِينَ.</a:t>
            </a:r>
            <a:endParaRPr lang="ar-SA" sz="1300" dirty="0"/>
          </a:p>
        </p:txBody>
      </p:sp>
      <p:sp>
        <p:nvSpPr>
          <p:cNvPr id="51" name="Shape 4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4" name="Shape 51"/>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المَبْنِيُّ لِلْمَجْهُولِ</a:t>
            </a:r>
            <a:endParaRPr lang="ar-SA" sz="3000" dirty="0"/>
          </a:p>
        </p:txBody>
      </p:sp>
      <p:sp>
        <p:nvSpPr>
          <p:cNvPr id="57" name="Text 54"/>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passive</a:t>
            </a:r>
            <a:endParaRPr lang="en-US" sz="1350" dirty="0"/>
          </a:p>
          <a:p>
            <a:pPr indent="0" marL="0">
              <a:buNone/>
            </a:pPr>
            <a:r>
              <a:rPr lang="en-US" sz="1100" i="1" dirty="0">
                <a:solidFill>
                  <a:srgbClr val="5A6472"/>
                </a:solidFill>
                <a:latin typeface="Calibri" pitchFamily="34" charset="0"/>
                <a:cs typeface="Amiri" pitchFamily="2" charset="-78"/>
              </a:rPr>
              <a:t>al-mab-niy-yu lil-maj-hū-li</a:t>
            </a:r>
            <a:endParaRPr lang="en-US" sz="13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Structures in action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151790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517904"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The أَفْعَل pattern.</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اسْمُ التَّفْضِيلِ</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comparative form</a:t>
            </a:r>
            <a:endParaRPr lang="en-US" sz="1350" dirty="0"/>
          </a:p>
          <a:p>
            <a:pPr indent="0" marL="0">
              <a:buNone/>
            </a:pPr>
            <a:r>
              <a:rPr lang="en-US" sz="1100" i="1" dirty="0">
                <a:solidFill>
                  <a:srgbClr val="5A6472"/>
                </a:solidFill>
                <a:latin typeface="Calibri" pitchFamily="34" charset="0"/>
                <a:cs typeface="Amiri" pitchFamily="2" charset="-78"/>
              </a:rPr>
              <a:t>as-mu at-taf-ḍī-li</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7" name="Shape 24"/>
          <p:cNvSpPr/>
          <p:nvPr/>
        </p:nvSpPr>
        <p:spPr>
          <a:xfrm>
            <a:off x="4782312" y="1938528"/>
            <a:ext cx="771754"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From D5.</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كَانَ + مُضَارِع</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used to (past habit)</a:t>
            </a:r>
            <a:endParaRPr lang="en-US" sz="1350" dirty="0"/>
          </a:p>
          <a:p>
            <a:pPr indent="0" marL="0">
              <a:buNone/>
            </a:pPr>
            <a:r>
              <a:rPr lang="en-US" sz="1100" i="1" dirty="0">
                <a:solidFill>
                  <a:srgbClr val="5A6472"/>
                </a:solidFill>
                <a:latin typeface="Calibri" pitchFamily="34" charset="0"/>
                <a:cs typeface="Amiri" pitchFamily="2" charset="-78"/>
              </a:rPr>
              <a:t>kā-na + mu-ḍā-riʿ</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6" name="Shape 33"/>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From D3.</a:t>
            </a:r>
            <a:endParaRPr lang="en-US" sz="8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سَـ / سَوْفَ</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will</a:t>
            </a:r>
            <a:endParaRPr lang="en-US" sz="1350" dirty="0"/>
          </a:p>
          <a:p>
            <a:pPr indent="0" marL="0">
              <a:buNone/>
            </a:pPr>
            <a:r>
              <a:rPr lang="en-US" sz="1100" i="1" dirty="0">
                <a:solidFill>
                  <a:srgbClr val="5A6472"/>
                </a:solidFill>
                <a:latin typeface="Calibri" pitchFamily="34" charset="0"/>
                <a:cs typeface="Amiri" pitchFamily="2" charset="-78"/>
              </a:rPr>
              <a:t>sa / saw-fa</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5" name="Shape 4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لَنْ + مَنْصُوب</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will not</a:t>
            </a:r>
            <a:endParaRPr lang="en-US" sz="1350" dirty="0"/>
          </a:p>
          <a:p>
            <a:pPr indent="0" marL="0">
              <a:buNone/>
            </a:pPr>
            <a:r>
              <a:rPr lang="en-US" sz="1100" i="1" dirty="0">
                <a:solidFill>
                  <a:srgbClr val="5A6472"/>
                </a:solidFill>
                <a:latin typeface="Calibri" pitchFamily="34" charset="0"/>
                <a:cs typeface="Amiri" pitchFamily="2" charset="-78"/>
              </a:rPr>
              <a:t>lan + man-ṣūb</a:t>
            </a:r>
            <a:endParaRPr lang="en-US" sz="1350" dirty="0"/>
          </a:p>
        </p:txBody>
      </p:sp>
      <p:sp>
        <p:nvSpPr>
          <p:cNvPr id="49" name="Text 46"/>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لَنْ</a:t>
            </a:r>
            <a:pPr algn="l" indent="0" marL="0">
              <a:buNone/>
            </a:pPr>
            <a:r>
              <a:rPr lang="en-US" sz="1000" i="1" dirty="0">
                <a:solidFill>
                  <a:srgbClr val="8A6D1E"/>
                </a:solidFill>
                <a:latin typeface="Calibri" pitchFamily="34" charset="0"/>
                <a:cs typeface="Amiri" pitchFamily="2" charset="-78"/>
              </a:rPr>
              <a:t> takes the subjunctive.</a:t>
            </a:r>
            <a:endParaRPr lang="en-US" sz="1000" dirty="0"/>
          </a:p>
        </p:txBody>
      </p:sp>
      <p:sp>
        <p:nvSpPr>
          <p:cNvPr id="50" name="Shape 4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4389120"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3" name="Shape 50"/>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54" name="Text 51"/>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5" name="Shape 52"/>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7" name="Text 54"/>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الَّذِي / الَّتِي</a:t>
            </a:r>
            <a:endParaRPr lang="ar-SA" sz="3000" dirty="0"/>
          </a:p>
        </p:txBody>
      </p:sp>
      <p:sp>
        <p:nvSpPr>
          <p:cNvPr id="58" name="Text 55"/>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who, which (m. / f.)</a:t>
            </a:r>
            <a:endParaRPr lang="en-US" sz="1350" dirty="0"/>
          </a:p>
          <a:p>
            <a:pPr indent="0" marL="0">
              <a:buNone/>
            </a:pPr>
            <a:r>
              <a:rPr lang="ar-SA" sz="1100" i="1" dirty="0">
                <a:solidFill>
                  <a:srgbClr val="5A6472"/>
                </a:solidFill>
                <a:latin typeface="Calibri" pitchFamily="34" charset="0"/>
                <a:ea typeface="Amiri" pitchFamily="2" charset="-78"/>
                <a:cs typeface="Amiri" pitchFamily="2" charset="-78"/>
              </a:rPr>
              <a:t>al-َ-dhī / al-َ-tī</a:t>
            </a:r>
            <a:endParaRPr lang="en-US" sz="1350" dirty="0"/>
          </a:p>
        </p:txBody>
      </p:sp>
      <p:sp>
        <p:nvSpPr>
          <p:cNvPr id="59" name="Shape 56"/>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m. pl.</a:t>
            </a:r>
            <a:endParaRPr lang="en-US" sz="700" dirty="0"/>
          </a:p>
        </p:txBody>
      </p:sp>
      <p:sp>
        <p:nvSpPr>
          <p:cNvPr id="61" name="Text 58"/>
          <p:cNvSpPr txBox="1"/>
          <p:nvPr/>
        </p:nvSpPr>
        <p:spPr>
          <a:xfrm>
            <a:off x="6190488"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الَّذِينَ</a:t>
            </a:r>
            <a:endParaRPr lang="ar-SA" sz="1350" dirty="0"/>
          </a:p>
        </p:txBody>
      </p:sp>
      <p:sp>
        <p:nvSpPr>
          <p:cNvPr id="62" name="Shape 59"/>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 pl.</a:t>
            </a:r>
            <a:endParaRPr lang="en-US" sz="700" dirty="0"/>
          </a:p>
        </p:txBody>
      </p:sp>
      <p:sp>
        <p:nvSpPr>
          <p:cNvPr id="64" name="Text 61"/>
          <p:cNvSpPr txBox="1"/>
          <p:nvPr/>
        </p:nvSpPr>
        <p:spPr>
          <a:xfrm>
            <a:off x="4462272"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اللَّوَاتِي</a:t>
            </a:r>
            <a:endParaRPr lang="ar-SA" sz="1350" dirty="0"/>
          </a:p>
        </p:txBody>
      </p:sp>
      <p:sp>
        <p:nvSpPr>
          <p:cNvPr id="65" name="Shape 6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566928"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8" name="Shape 65"/>
          <p:cNvSpPr/>
          <p:nvPr/>
        </p:nvSpPr>
        <p:spPr>
          <a:xfrm>
            <a:off x="960120" y="4279392"/>
            <a:ext cx="1704442"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960120" y="4279392"/>
            <a:ext cx="170444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Followed by a genitive.</a:t>
            </a:r>
            <a:endParaRPr lang="en-US" sz="800" dirty="0"/>
          </a:p>
        </p:txBody>
      </p:sp>
      <p:sp>
        <p:nvSpPr>
          <p:cNvPr id="70" name="Shape 6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1" name="Text 6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2" name="Text 69"/>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الرَّغْمِ مِنْ</a:t>
            </a:r>
            <a:endParaRPr lang="ar-SA" sz="3000" dirty="0"/>
          </a:p>
        </p:txBody>
      </p:sp>
      <p:sp>
        <p:nvSpPr>
          <p:cNvPr id="73" name="Text 70"/>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despite</a:t>
            </a:r>
            <a:endParaRPr lang="en-US" sz="1350" dirty="0"/>
          </a:p>
          <a:p>
            <a:pPr indent="0" marL="0">
              <a:buNone/>
            </a:pPr>
            <a:r>
              <a:rPr lang="en-US" sz="1100" i="1" dirty="0">
                <a:solidFill>
                  <a:srgbClr val="5A6472"/>
                </a:solidFill>
                <a:latin typeface="Calibri" pitchFamily="34" charset="0"/>
                <a:cs typeface="Amiri" pitchFamily="2" charset="-78"/>
              </a:rPr>
              <a:t>ʿa-lā ar-ragh-mi min</a:t>
            </a:r>
            <a:endParaRPr lang="en-US" sz="13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A tradition across three generations</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تَقْلِيدٌ عَبْرَ ثَلَاثَةِ أَجْيَالٍ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did your grandmother use to celebrate Eid?</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كَيْفَ كَانَتْ جَدَّتُكَ تَحْتَفِلُ بِالعِيدِ؟</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 used to celebrate in her village, and the neighbours used to cook together.</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كَانَتْ تَحْتَفِلُ فِي قَرْيَتِهَا، وَكَانَ الجِيرَانُ يَطْبُخُونَ مَعًا.</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how do you celebrate now?</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وَكَيْفَ تَحْتَفِلُونَ الآنَ؟</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Now we celebrate in the city, and the flat we live in is decorated with lights.</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نَحْتَفِلُ الآنَ فِي المَدِينَةِ، وَتُزَيَّنُ الشُّقَّةُ الَّتِي نَسْكُنُ فِيهَا بِالأَنْوَارِ.</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the celebration better today?</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وَهَلِ الاحْتِفَالُ اليَوْمَ أَفْضَلُ؟</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is smaller than the village celebration, but we will never give it up, and we will teach it to our children.</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ea typeface="Amiri" pitchFamily="2" charset="-78"/>
                <a:cs typeface="Amiri" pitchFamily="2" charset="-78"/>
              </a:rPr>
              <a:t>هُوَ أَصْغَرُ مِنِ احْتِفَالِ القَرْيَةِ، وَلٰكِنَّنَا لَنْ نَتَخَلَّى عَنْهُ أَبَدًا، وَسَنُعَلِّمُهُ لِأَطْفَالِنَا.</a:t>
            </a:r>
            <a:endParaRPr lang="ar-SA" sz="175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tell YOUR family tradition across three generations.</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Structure cards — one structure per answer</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56648" y="2267712"/>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كَانُوا يَسْكُنُونَ … وَكَانُوا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did your grandparents use to live?</a:t>
            </a:r>
            <a:endParaRPr lang="en-US" sz="1100" dirty="0"/>
          </a:p>
        </p:txBody>
      </p:sp>
      <p:sp>
        <p:nvSpPr>
          <p:cNvPr id="25" name="Text 22"/>
          <p:cNvSpPr txBox="1"/>
          <p:nvPr/>
        </p:nvSpPr>
        <p:spPr>
          <a:xfrm>
            <a:off x="1069848" y="2267712"/>
            <a:ext cx="33832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كَيْفَ كَانَ أَجْدَادُكَ يَعِيشُونَ؟</a:t>
            </a:r>
            <a:pPr algn="l" indent="0" marL="0">
              <a:buNone/>
            </a:pPr>
            <a:r>
              <a:rPr lang="en-US" sz="1100" dirty="0">
                <a:solidFill>
                  <a:srgbClr val="5A6472"/>
                </a:solidFill>
                <a:latin typeface="Calibri" pitchFamily="34" charset="0"/>
                <a:cs typeface="Amiri" pitchFamily="2" charset="-78"/>
              </a:rPr>
              <a:t> (used to)</a:t>
            </a:r>
            <a:endParaRPr lang="en-US" sz="11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التَّقْلِيدُ الَّذِي أُحِبُّهُ هُوَ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tradition do you love?</a:t>
            </a:r>
            <a:endParaRPr lang="en-US" sz="1100" dirty="0"/>
          </a:p>
        </p:txBody>
      </p:sp>
      <p:sp>
        <p:nvSpPr>
          <p:cNvPr id="33" name="Text 30"/>
          <p:cNvSpPr txBox="1"/>
          <p:nvPr/>
        </p:nvSpPr>
        <p:spPr>
          <a:xfrm>
            <a:off x="1069848" y="3004718"/>
            <a:ext cx="33832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 التَّقْلِيدُ الَّذِي تُحِبُّهُ؟</a:t>
            </a:r>
            <a:pPr algn="l" indent="0" marL="0">
              <a:buNone/>
            </a:pPr>
            <a:r>
              <a:rPr lang="en-US" sz="1100" dirty="0">
                <a:solidFill>
                  <a:srgbClr val="5A6472"/>
                </a:solidFill>
                <a:latin typeface="Calibri" pitchFamily="34" charset="0"/>
                <a:cs typeface="Amiri" pitchFamily="2" charset="-78"/>
              </a:rPr>
              <a:t> (relative clause)</a:t>
            </a:r>
            <a:endParaRPr lang="en-US" sz="11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56648" y="3741725"/>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يُحَضَّرُ … / تُزَيَّنُ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prepared at home for occasions?</a:t>
            </a:r>
            <a:endParaRPr lang="en-US" sz="1100" dirty="0"/>
          </a:p>
        </p:txBody>
      </p:sp>
      <p:sp>
        <p:nvSpPr>
          <p:cNvPr id="41" name="Text 38"/>
          <p:cNvSpPr txBox="1"/>
          <p:nvPr/>
        </p:nvSpPr>
        <p:spPr>
          <a:xfrm>
            <a:off x="1069848" y="3741725"/>
            <a:ext cx="33832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مَاذَا يُحَضَّرُ فِي بَيْتِكُمْ فِي المُنَاسَبَاتِ؟</a:t>
            </a:r>
            <a:pPr algn="l" indent="0" marL="0">
              <a:buNone/>
            </a:pPr>
            <a:r>
              <a:rPr lang="en-US" sz="1100" dirty="0">
                <a:solidFill>
                  <a:srgbClr val="5A6472"/>
                </a:solidFill>
                <a:latin typeface="Calibri" pitchFamily="34" charset="0"/>
                <a:cs typeface="Amiri" pitchFamily="2" charset="-78"/>
              </a:rPr>
              <a:t> (passive)</a:t>
            </a:r>
            <a:endParaRPr lang="en-US" sz="11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56648" y="4478731"/>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هُوَ أَصْغَرُ / أَكْبَرُ مِنْ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the celebration bigger or smaller today?</a:t>
            </a:r>
            <a:endParaRPr lang="en-US" sz="1100" dirty="0"/>
          </a:p>
        </p:txBody>
      </p:sp>
      <p:sp>
        <p:nvSpPr>
          <p:cNvPr id="49" name="Text 46"/>
          <p:cNvSpPr txBox="1"/>
          <p:nvPr/>
        </p:nvSpPr>
        <p:spPr>
          <a:xfrm>
            <a:off x="1069848" y="4478731"/>
            <a:ext cx="33832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هَلِ الاحْتِفَالُ اليَوْمَ أَكْبَرُ أَمْ أَصْغَرُ؟</a:t>
            </a:r>
            <a:pPr algn="l" indent="0" marL="0">
              <a:buNone/>
            </a:pPr>
            <a:r>
              <a:rPr lang="en-US" sz="1100" dirty="0">
                <a:solidFill>
                  <a:srgbClr val="5A6472"/>
                </a:solidFill>
                <a:latin typeface="Calibri" pitchFamily="34" charset="0"/>
                <a:cs typeface="Amiri" pitchFamily="2" charset="-78"/>
              </a:rPr>
              <a:t> (one comparative)</a:t>
            </a:r>
            <a:endParaRPr lang="en-US" sz="11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وَسَأُعَلِّمُهُ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لَنْ أَتَخَلَّى عَنْ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will you never give up?</a:t>
            </a:r>
            <a:endParaRPr lang="en-US" sz="1100" dirty="0"/>
          </a:p>
        </p:txBody>
      </p:sp>
      <p:sp>
        <p:nvSpPr>
          <p:cNvPr id="55" name="Text 52"/>
          <p:cNvSpPr txBox="1"/>
          <p:nvPr/>
        </p:nvSpPr>
        <p:spPr>
          <a:xfrm>
            <a:off x="1069848" y="5215738"/>
            <a:ext cx="33832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 الَّذِي لَنْ تَتَخَلَّى عَنْهُ؟</a:t>
            </a:r>
            <a:pPr algn="l" indent="0" marL="0">
              <a:buNone/>
            </a:pPr>
            <a:r>
              <a:rPr lang="en-US" sz="1100" dirty="0">
                <a:solidFill>
                  <a:srgbClr val="5A6472"/>
                </a:solidFill>
                <a:latin typeface="Calibri" pitchFamily="34" charset="0"/>
                <a:cs typeface="Amiri" pitchFamily="2" charset="-78"/>
              </a:rPr>
              <a:t> (negative future)</a:t>
            </a:r>
            <a:endParaRPr lang="en-US" sz="11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Role-play card — the grammar coach</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مُدَرِّبُ القَوَاعِدِ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القَاعِدَةُ ← هٰذِهِ … (كَانَ + مُضَارِعٌ)</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the structure.</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كَتَبْتُ: «كَانَتْ أُمِّي تَطْبُخُ الكَعْكَ».</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المَجْهُولُ ← تُزَيَّنُ … / تُوَزَّعُ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 passive example.</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وَالآنَ أُرِيدُ جُمْلَةً بِالمَبْنِيِّ لِلْمَجْهُولِ.</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Correct the comparative.</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كَتَبْتُ: «احْتِفَالُنَا أَكْثَرُ أَكْبَرُ».</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formal connector.</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أَرْبِطُ الجُمَلَ؟</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coach checking structures · Leader = a student building a paragraph.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One minute: all tenses, one tradition</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تَقْلِيدٌ وَاحِدٌ بِكُلِّ الأَزْمِنَةِ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one minute about one tradition: how it used to be, how it is now, and how it will be. The Coach ticks: past · used to · present · future · </a:t>
            </a:r>
            <a:pPr algn="l" indent="0" marL="0">
              <a:buNone/>
            </a:pPr>
            <a:r>
              <a:rPr lang="ar-SA" altLang="en-US" sz="1750" dirty="0">
                <a:solidFill>
                  <a:srgbClr val="1F2A37"/>
                </a:solidFill>
                <a:latin typeface="Amiri" pitchFamily="2" charset="-78"/>
                <a:ea typeface="Amiri" pitchFamily="2" charset="-78"/>
                <a:cs typeface="Amiri" pitchFamily="2" charset="-78"/>
              </a:rPr>
              <a:t>لَنْ</a:t>
            </a:r>
            <a:pPr algn="l" indent="0" marL="0">
              <a:buNone/>
            </a:pPr>
            <a:r>
              <a:rPr lang="en-US" sz="1350" dirty="0">
                <a:solidFill>
                  <a:srgbClr val="1F2A37"/>
                </a:solidFill>
                <a:latin typeface="Calibri" pitchFamily="34" charset="0"/>
                <a:cs typeface="Amiri" pitchFamily="2" charset="-78"/>
              </a:rPr>
              <a:t> · relative · passive · comparative.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Past, present and future — one sentence each.</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كَانَ</a:t>
            </a:r>
            <a:pPr algn="l" indent="0" marL="0">
              <a:buNone/>
            </a:pPr>
            <a:r>
              <a:rPr lang="en-US" sz="1150" dirty="0">
                <a:solidFill>
                  <a:srgbClr val="1F2A37"/>
                </a:solidFill>
                <a:latin typeface="Calibri" pitchFamily="34" charset="0"/>
                <a:cs typeface="Amiri" pitchFamily="2" charset="-78"/>
              </a:rPr>
              <a:t> + present, a relative clause and a passive.</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All eight structures, each correct.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family that lives next to us used to celebrate with us.</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العَائِلَةُ الَّتِي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العَائِلَةُ الَّذِي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تَسْكُنُ بِجَانِبِنَا</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يَسْكُنُ بِجَانِبِنَا</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كَانَتْ تَحْتَفِلُ مَعَنَا.</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كَانَتْ احْتَفَلَتْ مَعَنَا.</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Sweets are prepared the night before.</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تُحَضَّرُ</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تُحَضِّرُ</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الحَلْوَى</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لِلْحَلْوَى</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اللَّيْلَةِ السَّابِقَةِ.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اللَّيْلَةُ السَّابِقَةُ.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We will never give up our traditions.</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لَنْ</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لَمْ</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نَتَخَلَّى</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نَتَخَلَّ</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 تَقَالِيدِنَا أَبَدًا.</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تَقَالِيدَنَا أَبَدًا.</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family that lives next to us used to celebrate with us.</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 → </a:t>
            </a:r>
            <a:pPr algn="l" indent="0" marL="0">
              <a:buNone/>
            </a:pPr>
            <a:r>
              <a:rPr lang="ar-SA" altLang="en-US" sz="1350" dirty="0">
                <a:solidFill>
                  <a:srgbClr val="5A6472"/>
                </a:solidFill>
                <a:latin typeface="Amiri" pitchFamily="2" charset="-78"/>
                <a:ea typeface="Amiri" pitchFamily="2" charset="-78"/>
                <a:cs typeface="Amiri" pitchFamily="2" charset="-78"/>
              </a:rPr>
              <a:t>الَّتِي</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تَسْكُنُ</a:t>
            </a:r>
            <a:pPr algn="l" indent="0" marL="0">
              <a:buNone/>
            </a:pPr>
            <a:r>
              <a:rPr lang="en-US" sz="1050" i="1" dirty="0">
                <a:solidFill>
                  <a:srgbClr val="5A6472"/>
                </a:solidFill>
                <a:latin typeface="Calibri" pitchFamily="34" charset="0"/>
                <a:cs typeface="Amiri" pitchFamily="2" charset="-78"/>
              </a:rPr>
              <a:t>; used to = </a:t>
            </a:r>
            <a:pPr algn="l" indent="0" marL="0">
              <a:buNone/>
            </a:pPr>
            <a:r>
              <a:rPr lang="ar-SA" altLang="en-US" sz="1350" dirty="0">
                <a:solidFill>
                  <a:srgbClr val="5A6472"/>
                </a:solidFill>
                <a:latin typeface="Amiri" pitchFamily="2" charset="-78"/>
                <a:ea typeface="Amiri" pitchFamily="2" charset="-78"/>
                <a:cs typeface="Amiri" pitchFamily="2" charset="-78"/>
              </a:rPr>
              <a:t>كَانَتْ</a:t>
            </a:r>
            <a:pPr algn="l" indent="0" marL="0">
              <a:buNone/>
            </a:pPr>
            <a:r>
              <a:rPr lang="en-US" sz="1050" i="1" dirty="0">
                <a:solidFill>
                  <a:srgbClr val="5A6472"/>
                </a:solidFill>
                <a:latin typeface="Calibri" pitchFamily="34" charset="0"/>
                <a:cs typeface="Amiri" pitchFamily="2" charset="-78"/>
              </a:rPr>
              <a:t> + present.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العَائِلَةُ الَّتِي تَسْكُنُ بِجَانِبِنَا كَانَتْ تَحْتَفِلُ مَعَنَا.</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Sweets are prepared the night before.</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Passive -a- vowel: </a:t>
            </a:r>
            <a:pPr algn="l" indent="0" marL="0">
              <a:buNone/>
            </a:pPr>
            <a:r>
              <a:rPr lang="ar-SA" altLang="en-US" sz="1350" dirty="0">
                <a:solidFill>
                  <a:srgbClr val="5A6472"/>
                </a:solidFill>
                <a:latin typeface="Amiri" pitchFamily="2" charset="-78"/>
                <a:ea typeface="Amiri" pitchFamily="2" charset="-78"/>
                <a:cs typeface="Amiri" pitchFamily="2" charset="-78"/>
              </a:rPr>
              <a:t>تُحَضَّرُ</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تُحَضَّرُ الحَلْوَى فِي اللَّيْلَةِ السَّابِقَةِ.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We will never give up our traditions.</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Negative future </a:t>
            </a:r>
            <a:pPr algn="l" indent="0" marL="0">
              <a:buNone/>
            </a:pPr>
            <a:r>
              <a:rPr lang="ar-SA" altLang="en-US" sz="1350" dirty="0">
                <a:solidFill>
                  <a:srgbClr val="5A6472"/>
                </a:solidFill>
                <a:latin typeface="Amiri" pitchFamily="2" charset="-78"/>
                <a:ea typeface="Amiri" pitchFamily="2" charset="-78"/>
                <a:cs typeface="Amiri" pitchFamily="2" charset="-78"/>
              </a:rPr>
              <a:t>لَنْ</a:t>
            </a:r>
            <a:pPr algn="l" indent="0" marL="0">
              <a:buNone/>
            </a:pPr>
            <a:r>
              <a:rPr lang="en-US" sz="1050" i="1" dirty="0">
                <a:solidFill>
                  <a:srgbClr val="5A6472"/>
                </a:solidFill>
                <a:latin typeface="Calibri" pitchFamily="34" charset="0"/>
                <a:cs typeface="Amiri" pitchFamily="2" charset="-78"/>
              </a:rPr>
              <a:t> + subjunctive; </a:t>
            </a:r>
            <a:pPr algn="l" indent="0" marL="0">
              <a:buNone/>
            </a:pPr>
            <a:r>
              <a:rPr lang="ar-SA" altLang="en-US" sz="1350" dirty="0">
                <a:solidFill>
                  <a:srgbClr val="5A6472"/>
                </a:solidFill>
                <a:latin typeface="Amiri" pitchFamily="2" charset="-78"/>
                <a:ea typeface="Amiri" pitchFamily="2" charset="-78"/>
                <a:cs typeface="Amiri" pitchFamily="2" charset="-78"/>
              </a:rPr>
              <a:t>يَتَخَلَّى عَنْ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لَنْ نَتَخَلَّى عَنْ تَقَالِيدِنَا أَبَدًا.</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كَانَ جَدِّي يَعْمَلَ فِي المَزْرَعَةِ.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كَانَ</a:t>
            </a:r>
            <a:pPr algn="l" indent="0" marL="0">
              <a:buNone/>
            </a:pPr>
            <a:r>
              <a:rPr lang="en-US" sz="1300" i="1" dirty="0">
                <a:solidFill>
                  <a:srgbClr val="5A6472"/>
                </a:solidFill>
                <a:latin typeface="Calibri" pitchFamily="34" charset="0"/>
                <a:cs typeface="Amiri" pitchFamily="2" charset="-78"/>
              </a:rPr>
              <a:t>, the verb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الاحْتِفَالُ اليَوْمَ أَكْثَرُ أَصْغَرُ.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One comparative only.</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لَنْ نَتَخَلَّى تَقَالِيدَنَا.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Missing preposition.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كَانَ جَدِّي يَعْمَلَ فِي المَزْرَعَةِ.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كَانَ جَدِّي يَعْمَلُ فِي المَزْرَعَةِ.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كَانَ</a:t>
            </a:r>
            <a:pPr algn="l" indent="0" marL="0">
              <a:buNone/>
            </a:pPr>
            <a:r>
              <a:rPr lang="en-US" sz="1150" b="1" dirty="0">
                <a:solidFill>
                  <a:srgbClr val="1B3B6F"/>
                </a:solidFill>
                <a:latin typeface="Calibri" pitchFamily="34" charset="0"/>
                <a:cs typeface="Amiri" pitchFamily="2" charset="-78"/>
              </a:rPr>
              <a:t> + present indicative (-u).</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الاحْتِفَالُ اليَوْمَ أَكْثَرُ أَصْغَرُ.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الاحْتِفَالُ اليَوْمَ أَصْغَرُ.</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Never </a:t>
            </a:r>
            <a:pPr algn="l" indent="0" marL="0">
              <a:buNone/>
            </a:pPr>
            <a:r>
              <a:rPr lang="ar-SA" altLang="en-US" sz="1500" b="1" dirty="0">
                <a:solidFill>
                  <a:srgbClr val="1B3B6F"/>
                </a:solidFill>
                <a:latin typeface="Amiri" pitchFamily="2" charset="-78"/>
                <a:ea typeface="Amiri" pitchFamily="2" charset="-78"/>
                <a:cs typeface="Amiri" pitchFamily="2" charset="-78"/>
              </a:rPr>
              <a:t>أَكْثَرُ</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أَفْعَلُ</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لَنْ نَتَخَلَّى تَقَالِيدَنَا.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لَنْ نَتَخَلَّى عَنْ تَقَالِيدِنَا.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يَتَخَلَّى عَنْ</a:t>
            </a:r>
            <a:pPr algn="l" indent="0" marL="0">
              <a:buNone/>
            </a:pPr>
            <a:r>
              <a:rPr lang="en-US" sz="1150" b="1" dirty="0">
                <a:solidFill>
                  <a:srgbClr val="1B3B6F"/>
                </a:solidFill>
                <a:latin typeface="Calibri" pitchFamily="34" charset="0"/>
                <a:cs typeface="Amiri" pitchFamily="2" charset="-78"/>
              </a:rPr>
              <a:t> + genitive.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تُزَيَّنُ / تُحَضَّرُ ______ ، وَ ______ أَكْبَرُ / أَصْغَرُ مِنْ ______ .</a:t>
            </a:r>
            <a:endParaRPr lang="ar-SA" sz="12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decorated / prepared, and … is bigger / smaller than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عِلَاوَةً عَلَى ذٰلِكَ،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addition,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كَانَتْ جَدَّتِي ______ فِي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grandmother used to … in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 الآنَ فَ______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As for now,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المُسْتَقْبَلِ سَوْفَ ______ ، وَلَنْ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future we will …, and we won’t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التَّقْلِيدُ الَّذِي ______ هُوَ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tradition which … is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الزَّمَنُ المَاضِي  ·  الزَّمَنُ الحَاضِرُ  ·  الزَّمَنُ المُسْتَقْبَلُ  ·  الاِسْمُ المَوْصُولُ  ·  المَبْنِيُّ لِلْمَجْهُولِ  ·  كَانَتْ تَحْتَفِلُ  ·  لَنْ نَتَخَلَّى عَنْ  ·  عِلَاوَةً عَلَى ذٰلِكَ</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One tradition, the whole grammar system</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تَقْلِيدٌ وَاحِدٌ وَالقَوَاعِدُ كُلُّهَا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paragraph (about 60–80 words) about a family tradition across three generations. Include and underline: • a past habit (</a:t>
            </a:r>
            <a:pPr algn="l" indent="0" marL="0">
              <a:buNone/>
            </a:pPr>
            <a:r>
              <a:rPr lang="ar-SA" altLang="en-US" sz="1450" b="1" dirty="0">
                <a:solidFill>
                  <a:srgbClr val="1F2A37"/>
                </a:solidFill>
                <a:latin typeface="Amiri" pitchFamily="2" charset="-78"/>
                <a:ea typeface="Amiri" pitchFamily="2" charset="-78"/>
                <a:cs typeface="Amiri" pitchFamily="2" charset="-78"/>
              </a:rPr>
              <a:t>كَانَ / كَانَتْ</a:t>
            </a:r>
            <a:pPr algn="l" indent="0" marL="0">
              <a:buNone/>
            </a:pPr>
            <a:r>
              <a:rPr lang="en-US" sz="1100" b="1" dirty="0">
                <a:solidFill>
                  <a:srgbClr val="1F2A37"/>
                </a:solidFill>
                <a:latin typeface="Calibri" pitchFamily="34" charset="0"/>
                <a:cs typeface="Amiri" pitchFamily="2" charset="-78"/>
              </a:rPr>
              <a:t> + present) • a present-tense sentence • a future + a </a:t>
            </a:r>
            <a:pPr algn="l" indent="0" marL="0">
              <a:buNone/>
            </a:pPr>
            <a:r>
              <a:rPr lang="ar-SA" altLang="en-US" sz="1450" b="1" dirty="0">
                <a:solidFill>
                  <a:srgbClr val="1F2A37"/>
                </a:solidFill>
                <a:latin typeface="Amiri" pitchFamily="2" charset="-78"/>
                <a:ea typeface="Amiri" pitchFamily="2" charset="-78"/>
                <a:cs typeface="Amiri" pitchFamily="2" charset="-78"/>
              </a:rPr>
              <a:t>لَنْ</a:t>
            </a:r>
            <a:pPr algn="l" indent="0" marL="0">
              <a:buNone/>
            </a:pPr>
            <a:r>
              <a:rPr lang="en-US" sz="1100" b="1" dirty="0">
                <a:solidFill>
                  <a:srgbClr val="1F2A37"/>
                </a:solidFill>
                <a:latin typeface="Calibri" pitchFamily="34" charset="0"/>
                <a:cs typeface="Amiri" pitchFamily="2" charset="-78"/>
              </a:rPr>
              <a:t> sentence • ONE relative clause • ONE passive • ONE comparative • ONE formal connector. Check each one before you move on.</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كَانَتْ جَدَّتِي تَ…</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grandmother used to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التَّقْلِيدُ الَّذِي … / العَادَةُ الَّتِي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tradition which … / the custom which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تُزَيَّنُ … · تُحَضَّرُ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is decorated · … is prepared</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لَنْ نَتَخَلَّى عَنْ … · سَنُعَلِّمُ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will never give up … · we will teach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past, present and future accurately in one text?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include one relative clause, one passive, one comparative and one connector — each correct?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مُمْتَازٌ! هٰذِهِ عَادَةٌ فِي المَاضِي: كَانَتْ + فِعْلٌ مُضَارِعٌ.</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Excellent! That’s a past habit: kānat + present verb.</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كَتَبْتُ: «كَانَتْ أُمِّي تَطْبُخُ الكَعْكَ».</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مِثَالٌ: «تُوَزَّعُ الهَدَايَا عَلَى الأَطْفَالِ».</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Example: “Gifts are handed out to the children.”</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وَالآنَ أُرِيدُ جُمْلَةً بِالمَبْنِيِّ لِلْمَجْهُولِ.</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خَطَأٌ: اسْتَخْدِمْ مُقَارَنَةً وَاحِدَةً — «احْتِفَالُنَا أَكْبَرُ».</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Error: use one comparative — “our celebration is bigger”.</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كَتَبْتُ: «احْتِفَالُنَا أَكْثَرُ أَكْبَرُ».</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اسْتَخْدِمْ «عِلَاوَةً عَلَى ذٰلِكَ» مَرَّةً وَاحِدَةً، عِنْدَمَا تُضِيفُ فِكْرَةً جَدِيدَةً.</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Use “in addition” once, when you add a new idea.</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أَرْبِطُ الجُمَلَ؟</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التَّقْلِيدُ الَّذِي أُحِبُّهُ أَكْثَرَ هُوَ إِفْطَارُ الجُمُعَةِ العَائِلِيُّ. كَانَتْ جَدَّتِي تُحَضِّرُهُ فِي بَيْتِهَا الكَبِيرِ فِي الصُّومَالِ، وَكَانَ الجِيرَانُ يُشَارِكُونَ فِيهِ. أَمَّا الآنَ فَنَجْتَمِعُ فِي شُقَّتِنَا فِي لَنْدَنَ، وَتُحَضَّرُ الأَطْبَاقُ قَبْلَ الصَّلَاةِ. إِفْطَارُنَا اليَوْمَ أَصْغَرُ مِنْ إِفْطَارِ جَدَّتِي، وَلٰكِنَّهُ دَافِئٌ جِدًّا. عِلَاوَةً عَلَى ذٰلِكَ، يَتَعَلَّمُ أَخِي الصَّغِيرُ وَصَفَاتِهَا. فِي المُسْتَقْبَلِ سَأُحَضِّرُهُ لِأَطْفَالِي، وَلَنْ نَتَخَلَّى عَنْهُ أَبَدًا.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 tradition I love most is the family Friday breakfast. My grandmother used to prepare it in her big house in Somalia, and the neighbours used to join in. Now we gather in our flat in London, and the dishes are prepared before the prayer. Our breakfast today is smaller than my grandmother’s, but it is very warm. In addition, my little brother is learning her recipes. In the future I will prepare it for my children, and we will never give it up.”</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التَّقْلِيدُ الَّذِي</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كَانَتْ جَدَّتِي تُحَضِّرُهُ</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وَتُحَضَّرُ الأَطْبَاقُ</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وَلَنْ نَتَخَلَّى عَنْهُ</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D6-L07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D6-L08 · Reading — Countries, Culture and Celebration Texts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القِرَاءَةُ — نُصُوصُ الدُّوَلِ وَالثَّقَافَةِ وَالاحْتِفَالَاتِ</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D6-L07 · Practice Room — D6 Grammar Consolidation — All Tenses Together</dc:title>
  <dc:subject>PptxGenJS Presentation</dc:subject>
  <dc:creator>Al Madina Online School · Arabic Department</dc:creator>
  <cp:lastModifiedBy>Al Madina Online School · Arabic Department</cp:lastModifiedBy>
  <cp:revision>1</cp:revision>
  <dcterms:created xsi:type="dcterms:W3CDTF">2026-10-25T18:51:35Z</dcterms:created>
  <dcterms:modified xsi:type="dcterms:W3CDTF">2026-10-25T18:51:35Z</dcterms:modified>
</cp:coreProperties>
</file>