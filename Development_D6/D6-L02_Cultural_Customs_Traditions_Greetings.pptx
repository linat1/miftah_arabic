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D6-L02. The website lesson “Cultural Customs — Traditions, Greetings and Social Norms”: vocabulary, grammar rules and quiz, patterns, common mistakes, sorter, listening, reading, speaking prompts and model, writing task and model, differentiation, final check and the lesson mission. Picture match: website visual game “Cultural Customs — Traditions, Greetings and Social Norms”.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customs words + five sentences, each cultural verb with its preposition (يَعْتَادُ النَّاسُ عَلَى الضِّيَافَةِ). Develop: a contrast with بَيْنَمَا and one hedge. Stretch: the website 80–90-word comparison with مِنْ نَاحِيَةٍ … وَمِنْ نَاحِيَةٍ أُخْرَى and an explicit rejection of the stereotype.
• This lesson connects directly to adab: hospitality (الضِّيَافَةُ), respect for elders and صِلَةُ الرَّحِمِ are values students know from home and from Islamic Studies — invite their own family examples.
• Website accuracy rule: describe what you observed (فِي بَعْضِ العَائِلَاتِ), not what “all Arabs” do. Note: two website texts say تُقَدَّمُ الشَّايُ — الشَّايُ is masculine, so the decks show يُقَدَّمُ الشَّايُ.
• TEACHER-WRITTEN ITEMS: gender-agreement slips corrected throughout (يُقَدَّمُ الشَّايُ · تُقَدَّمُ القَهْوَةُ),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D6-L01. Questions 4–5 retrieve D6-L01 (diptotes) and the hedging language from D5-L06 / D6-L01.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Customs differ by country, region and family — so describe what you saw, and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ضیافت، کرم، صلہ رحمی are shared — and صلہ رحمی is taught in Islamic Studies. CAREFUL: Urdu تقلید = imitation / following (a madhhab); Arabic تَقْلِيدٌ also means a tradition (تَقَالِيدُ =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(1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(2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(1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(2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(1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(2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“Cultural verbs and their prepositions” (each preposition is fixed, and the noun after it is genitive). Website teaching point: “Each cultural verb keeps its own preposition … swapping them is the most common error in this topic.”
Website mistakes: يَعْتَادُ النَّاسُ بِالضِّيَافَةِ ✗ · تَحْتَفِلُ العَائِلَةُ المُنَاسَبَةَ ✗. Many students “belong to two cultures” — يَنْتَمِي إِلَى ثَقَافَتَيْنِ is a lovely personal sentence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“Contrast with بَيْنَمَا” (joins two full clauses that genuinely differ), “Two-sided comparison” and “Hedging a cultural claim” (a hedge turns a false universal into an accurate observation). Website teaching point: “Describe what you observed, not what everyone does.”
Agreement check in card 1: القَهْوَةُ is feminine → تُقَدَّمُ; الشَّايُ is masculine → يُقَدَّمُ.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things to control: the preposition on each cultural verb, the structure of a contrast, and the hedge that keeps your claim honest.”
• Cultural verbs and their prepositions: Each preposition is fixed, and the noun after it is genitive.
• Contrast with بَيْنَمَا: بَيْنَمَا joins two full clauses that genuinely differ. It is not used for a simple list.
• Two-sided comparison: This pair balances two aspects of the same topic and is valued in the Range criterion.
• Hedging a cultural claim: A hedge turns a false universal into an accurate observation.
Website common error: Beginning a sentence with كُلُّ العَرَبِ. Customs differ by country, by region and by family, so a universal claim is almost always wrong. Use فِي بَعْضِ … or أَحْيَانًا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does this verb take? Am I describing everyone, or what I saw? Is this a contrast of two full clauses?” Then ask students for their own family’s guest custom.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note every hedge you hear.
Listen 1: just listen. Listen 2: note answers. Then chat the letters.
Support: after the second listening, show the read-along slide (Arabic + English, line by line) for Core students.
SCRIPT (read aloud):
نُورُ: فِي بَعْضِ العَائِلَاتِ عِنْدَنَا يَعْتَادُ النَّاسُ عَلَى تَقْدِيمِ القَهْوَةِ لِلضَّيْفِ أَوَّلًا، بَيْنَمَا يُقَدَّمُ الشَّايُ فِي بُلْدَانٍ أُخْرَى. سَامِي: وَعِنْدَنَا يَتَمَسَّكُ الكِبَارُ بِصِلَةِ الرَّحِمِ، فَنَزُورُ الأَقَارِبَ كُلَّ أُسْبُوعٍ تَقْرِيبًا. نُورُ: وَهَلْ تَحْتَفِلُونَ بِالمُنَاسَبَاتِ فِي البَيْتِ؟ سَامِي: أَحْيَانًا، وَلَيْسَ دَائِمًا؛ فَالأَمْرُ يَخْتَلِفُ مِنْ أُسْرَةٍ إِلَى أُسْرَةٍ. نُورُ: هٰذَا صَحِيحٌ. لَا يَجُوزُ أَنْ نَقُولَ إِنَّ كُلَّ العَرَبِ يَفْعَلُونَ الشَّيْءَ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الأَمْرُ نَفْسُهُ فِي كُلِّ مَكَانٍ؟ (And is it the same everywhere?)
B: لَيْسَ دَائِمًا؛ بَيْنَمَا يُقَدَّمُ الشَّايُ فِي بُلْدَانٍ أُخْرَى، وَالأَمْرُ يَخْتَلِفُ مِنْ أُسْرَةٍ إِلَى أُسْرَةٍ. (Not always — tea is served in other countries, and it differs from family to family.)
Website prompts and model. Students describe a REAL custom from their own family (guests, Eid visits, greeting elders). To a girl: صِفِي · قَارِنِي · تَتَجَنَّبِينَ.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customs, each with the correct preposition on its verb. · Develop — Add a contrast with بَيْنَمَا and one hedge. · Stretch — Balance the comparison with مِنْ نَاحِيَةٍ … وَمِنْ نَاحِيَةٍ أُخْرَى and close by naming the stereotype trap explicitly.
Website writing task (Stretch): Write eighty to ninety words comparing a custom you know with one from an Arab country. Use بَيْنَمَا for the contrast, at least two cultural verbs with their correct prepositions, and one hedge so the comparison does not become a generalisation.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يَعْتَادُ … عَلَى · بَيْنَمَا نُقَدِّمُ … · يَتَمَسَّكُ … بِصِلَةِ الرَّحِمِ · مِنْ نَاحِيَةٍ … وَمِنْ نَاحِيَةٍ أُخْرَى · فِي بَعْضِ العَائِلَاتِ · لَيْسَ دَائِمًا.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(D6-L03 · Islamic Celebrations — Eid, Ramadan and Religious Occasions) will spend class time USING this language, so students prepare it tonight — short, simple, easy to access (school guidance: “Simple, Short, Interesting, Relevant, Easy to access”). The five words come from the website D6-L03 vocabulary (Ramadan and the two Eids).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Cultural Customs — Traditions, Greetings and Social Norms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العَادَاتُ الثَّقَافِيَّةُ — التَّقَالِيدُ وَالتَّحِيَّاتُ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customs — hospitality, family ties, respect for elders — with the right verb + preposition (</a:t>
            </a:r>
            <a:pPr algn="l" indent="0" marL="0">
              <a:buNone/>
            </a:pPr>
            <a:r>
              <a:rPr lang="ar-SA" altLang="en-US" sz="1800" dirty="0">
                <a:solidFill>
                  <a:srgbClr val="C6D2E6"/>
                </a:solidFill>
                <a:latin typeface="Amiri" pitchFamily="34" charset="0"/>
                <a:ea typeface="Amiri" pitchFamily="34" charset="-122"/>
                <a:cs typeface="Amiri" pitchFamily="34" charset="-120"/>
              </a:rPr>
              <a:t>يَعْتَادُ عَلَى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يَتَمَسَّكُ بِـ</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يَحْتَفِلُ بِـ</a:t>
            </a:r>
            <a:pPr algn="l" indent="0" marL="0">
              <a:buNone/>
            </a:pPr>
            <a:r>
              <a:rPr lang="en-US" sz="1400" dirty="0">
                <a:solidFill>
                  <a:srgbClr val="C6D2E6"/>
                </a:solidFill>
                <a:latin typeface="Calibri" pitchFamily="34" charset="0"/>
                <a:ea typeface="Calibri" pitchFamily="34" charset="-122"/>
                <a:cs typeface="Calibri" pitchFamily="34" charset="-120"/>
              </a:rPr>
              <a:t>), compare with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and keep every claim accurate: </a:t>
            </a:r>
            <a:pPr algn="l" indent="0" marL="0">
              <a:buNone/>
            </a:pPr>
            <a:r>
              <a:rPr lang="ar-SA" altLang="en-US" sz="1800" dirty="0">
                <a:solidFill>
                  <a:srgbClr val="C6D2E6"/>
                </a:solidFill>
                <a:latin typeface="Amiri" pitchFamily="34" charset="0"/>
                <a:ea typeface="Amiri" pitchFamily="34" charset="-122"/>
                <a:cs typeface="Amiri" pitchFamily="34" charset="-120"/>
              </a:rPr>
              <a:t>فِي بَعْضِ العَائِلَاتِ</a:t>
            </a:r>
            <a:pPr algn="l" indent="0" marL="0">
              <a:buNone/>
            </a:pPr>
            <a:r>
              <a:rPr lang="en-US" sz="1400" dirty="0">
                <a:solidFill>
                  <a:srgbClr val="C6D2E6"/>
                </a:solidFill>
                <a:latin typeface="Calibri" pitchFamily="34" charset="0"/>
                <a:ea typeface="Calibri" pitchFamily="34" charset="-122"/>
                <a:cs typeface="Calibri" pitchFamily="34" charset="-120"/>
              </a:rPr>
              <a:t>, not </a:t>
            </a:r>
            <a:pPr algn="l" indent="0" marL="0">
              <a:buNone/>
            </a:pPr>
            <a:r>
              <a:rPr lang="ar-SA" altLang="en-US" sz="1800" dirty="0">
                <a:solidFill>
                  <a:srgbClr val="C6D2E6"/>
                </a:solidFill>
                <a:latin typeface="Amiri" pitchFamily="34" charset="0"/>
                <a:ea typeface="Amiri" pitchFamily="34" charset="-122"/>
                <a:cs typeface="Amiri" pitchFamily="34" charset="-120"/>
              </a:rPr>
              <a:t>كُلُّ العَرَبِ</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D6-L02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Cultural verbs + prepositions, </a:t>
            </a:r>
            <a:pPr algn="ctr" indent="0" marL="0">
              <a:buNone/>
            </a:pPr>
            <a:r>
              <a:rPr lang="ar-SA" altLang="en-US" sz="1550" dirty="0">
                <a:solidFill>
                  <a:srgbClr val="1F2A37"/>
                </a:solidFill>
                <a:latin typeface="Amiri" pitchFamily="34" charset="0"/>
                <a:ea typeface="Amiri" pitchFamily="34" charset="-122"/>
                <a:cs typeface="Amiri" pitchFamily="34" charset="-120"/>
              </a:rPr>
              <a:t>بَيْنَمَا</a:t>
            </a:r>
            <a:pPr algn="ctr" indent="0" marL="0">
              <a:buNone/>
            </a:pPr>
            <a:r>
              <a:rPr lang="en-US" sz="1200" dirty="0">
                <a:solidFill>
                  <a:srgbClr val="1F2A37"/>
                </a:solidFill>
                <a:latin typeface="Calibri" pitchFamily="34" charset="0"/>
                <a:ea typeface="Calibri" pitchFamily="34" charset="-122"/>
                <a:cs typeface="Calibri" pitchFamily="34" charset="-120"/>
              </a:rPr>
              <a:t>, and the honest hedge.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preposition, fix slips, then two students compare customs.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ضِيَافَةٌ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tradition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custom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احْتِرَامُ الكِبَارِ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for elders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ties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generosity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يَحْتَفِلُ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holds on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belongs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celebrates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فِي بَعْضِ البُلْدَانِ يُفَضِّلُ النَّاسُ التُّرَاثَ.</a:t>
            </a:r>
            <a:endParaRPr lang="ar-SA" sz="17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كُلُّ العَرَبِ يُفَضِّلُونَ التُّرَاثَ.</a:t>
            </a:r>
            <a:endParaRPr lang="ar-SA" sz="17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العَرَبُ دَائِمًا يُفَضِّلُونَ التُّرَاثَ.</a:t>
            </a:r>
            <a:endParaRPr lang="ar-SA" sz="17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ضِيَافَةٌ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tradition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hospitality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custom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احْتِرَامُ الكِبَارِ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respect for elders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ties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generosity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يَحْتَفِلُ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holds on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belongs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celebrates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D6-L01: diptotes.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يُفَضِّلُ النَّاسُ التُّرَاثَ.</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يُفَضِّلُونَ التُّرَاثَ.</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 دَائِمًا يُفَضِّلُونَ التُّرَاثَ.</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D5-L06 / D6-L01: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Customs differ by country, region and family — so describe what you saw, and hedge.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فِي بَعْضِ العَائِلَاتِ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يَعْتَادُ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النَّاسُ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الضِّيَافَةِ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customs and values (</a:t>
            </a:r>
            <a:pPr algn="l" indent="0" marL="0">
              <a:buNone/>
            </a:pPr>
            <a:r>
              <a:rPr lang="ar-SA" altLang="en-US" sz="1700" dirty="0">
                <a:solidFill>
                  <a:srgbClr val="1F2A37"/>
                </a:solidFill>
                <a:latin typeface="Amiri" pitchFamily="34" charset="0"/>
                <a:ea typeface="Amiri" pitchFamily="34" charset="-122"/>
                <a:cs typeface="Amiri" pitchFamily="34" charset="-120"/>
              </a:rPr>
              <a:t>ضِيَافَةٌ</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كَرَمٌ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صِلَةُ الرَّحِمِ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احْتِرَامُ الكِبَارِ</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cultural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customs with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and balance two sides.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Hedge cultural claims (</a:t>
            </a:r>
            <a:pPr algn="l" indent="0" marL="0">
              <a:buNone/>
            </a:pPr>
            <a:r>
              <a:rPr lang="ar-SA" altLang="en-US" sz="1700" dirty="0">
                <a:solidFill>
                  <a:srgbClr val="1F2A37"/>
                </a:solidFill>
                <a:latin typeface="Amiri" pitchFamily="34" charset="0"/>
                <a:ea typeface="Amiri" pitchFamily="34" charset="-122"/>
                <a:cs typeface="Amiri" pitchFamily="34" charset="-120"/>
              </a:rPr>
              <a:t>فِي بَعْضِ العَائِلَاتِ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لَيْسَ دَائِمًا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customs and values.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customs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hedge a cultural claim.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balance two sides (</a:t>
            </a:r>
            <a:pPr algn="l" indent="0" marL="0">
              <a:buNone/>
            </a:pPr>
            <a:r>
              <a:rPr lang="ar-SA" altLang="en-US" sz="1700" b="1" dirty="0">
                <a:solidFill>
                  <a:srgbClr val="B83227"/>
                </a:solidFill>
                <a:latin typeface="Amiri" pitchFamily="34" charset="0"/>
                <a:ea typeface="Amiri" pitchFamily="34" charset="-122"/>
                <a:cs typeface="Amiri" pitchFamily="34" charset="-120"/>
              </a:rPr>
              <a:t>مِنْ نَاحِيَةٍ</a:t>
            </a:r>
            <a:pPr algn="l" indent="0" marL="0">
              <a:buNone/>
            </a:pPr>
            <a:r>
              <a:rPr lang="en-US" sz="1300" b="1" dirty="0">
                <a:solidFill>
                  <a:srgbClr val="B83227"/>
                </a:solidFill>
                <a:latin typeface="Calibri" pitchFamily="34" charset="0"/>
                <a:ea typeface="Calibri" pitchFamily="34" charset="-122"/>
                <a:cs typeface="Calibri" pitchFamily="34" charset="-120"/>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and avoid a stereotype.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Customs and values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Cultural verbs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Comparing and qualifying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ʿādat · Urdu: a habit · Arabic: a custom (also a habit)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‎تقلید‎ </a:t>
            </a:r>
            <a:pPr indent="0" marL="0">
              <a:buNone/>
            </a:pPr>
            <a:r>
              <a:rPr lang="en-US" sz="950" b="1" dirty="0">
                <a:solidFill>
                  <a:srgbClr val="2E8B57"/>
                </a:solidFill>
                <a:latin typeface="Calibri" pitchFamily="34" charset="0"/>
                <a:ea typeface="Calibri" pitchFamily="34" charset="-122"/>
                <a:cs typeface="Calibri" pitchFamily="34" charset="-120"/>
              </a:rPr>
              <a:t> taqlīd · Urdu: imitation, following · Arabic: a tradition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ضِيَافَةٌ / ضَيْفٌ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‎ضیافت / مہمان‎ </a:t>
            </a:r>
            <a:pPr indent="0" marL="0">
              <a:buNone/>
            </a:pPr>
            <a:r>
              <a:rPr lang="en-US" sz="950" b="1" dirty="0">
                <a:solidFill>
                  <a:srgbClr val="2E8B57"/>
                </a:solidFill>
                <a:latin typeface="Calibri" pitchFamily="34" charset="0"/>
                <a:ea typeface="Calibri" pitchFamily="34" charset="-122"/>
                <a:cs typeface="Calibri" pitchFamily="34" charset="-120"/>
              </a:rPr>
              <a:t> ẓiyāfat · hospitality / a guest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‎کرم‎ </a:t>
            </a:r>
            <a:pPr indent="0" marL="0">
              <a:buNone/>
            </a:pPr>
            <a:r>
              <a:rPr lang="en-US" sz="950" b="1" dirty="0">
                <a:solidFill>
                  <a:srgbClr val="2E8B57"/>
                </a:solidFill>
                <a:latin typeface="Calibri" pitchFamily="34" charset="0"/>
                <a:ea typeface="Calibri" pitchFamily="34" charset="-122"/>
                <a:cs typeface="Calibri" pitchFamily="34" charset="-120"/>
              </a:rPr>
              <a:t> karam · generosity, kindness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صِلَةُ الرَّحِمِ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‎صلہ رحمی‎ </a:t>
            </a:r>
            <a:pPr indent="0" marL="0">
              <a:buNone/>
            </a:pPr>
            <a:r>
              <a:rPr lang="en-US" sz="950" b="1" dirty="0">
                <a:solidFill>
                  <a:srgbClr val="2E8B57"/>
                </a:solidFill>
                <a:latin typeface="Calibri" pitchFamily="34" charset="0"/>
                <a:ea typeface="Calibri" pitchFamily="34" charset="-122"/>
                <a:cs typeface="Calibri" pitchFamily="34" charset="-120"/>
              </a:rPr>
              <a:t> ṣila-e-raḥmī · keeping family ties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Customs and values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 / عَادَاتٌ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 / customs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ʿā-da-tun / ʿā-dā-tun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 / تَقَالِيدُ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 / traditions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taq-lī-dun / ta-qā-lī-du</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plural </a:t>
            </a:r>
            <a:pPr algn="l" indent="0" marL="0">
              <a:buNone/>
            </a:pPr>
            <a:r>
              <a:rPr lang="ar-SA" altLang="en-US" sz="1300" dirty="0">
                <a:solidFill>
                  <a:srgbClr val="8A6D1E"/>
                </a:solidFill>
                <a:latin typeface="Amiri" pitchFamily="34" charset="0"/>
                <a:ea typeface="Amiri" pitchFamily="34" charset="-122"/>
                <a:cs typeface="Amiri" pitchFamily="34" charset="-120"/>
              </a:rPr>
              <a:t>تَقَالِيدُ</a:t>
            </a:r>
            <a:pPr algn="l" indent="0" marL="0">
              <a:buNone/>
            </a:pPr>
            <a:r>
              <a:rPr lang="en-US" sz="1000" i="1" dirty="0">
                <a:solidFill>
                  <a:srgbClr val="8A6D1E"/>
                </a:solidFill>
                <a:latin typeface="Calibri" pitchFamily="34" charset="0"/>
                <a:ea typeface="Calibri" pitchFamily="34" charset="-122"/>
                <a:cs typeface="Calibri" pitchFamily="34" charset="-120"/>
              </a:rPr>
              <a:t> is a diptote.</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The plural is a diptote.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مِعْيَارٌ / مَعَايِيرُ</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norm / norms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miʿ-yā-run / ma-ʿā-yī-ru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ضِيَافَةٌ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ḍi-yā-fa-tun</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كَرَمٌ</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generosity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ka-ra-mun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 الكِبَارِ</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 for elders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aḥ-ti-rā-mu al-ki-bā-ri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Customs and values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أَهَمِّيَّةُ العَائِلَةِ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importance of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a-ham-miy-ya-tu al-ʿā-ʾi-la-ti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Shape 20"/>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 verbal noun.</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التَّضَامُنُ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at-ta-ḍā-mu-nu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صِلَةُ الرَّحِمِ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keeping family 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ṣi-la-tu ar-ra-ḥi-mi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حُسْنُ الجِوَارِ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neighbourliness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ḥus-nu al-ji-wā-ri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التَّآزُرُ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mutual support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at-ta-ʾā-zu-ru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يَعْتَادُ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accustomed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yaʿ-tā-du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اِعْتَادَ</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تَعْتَادُ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يَتَمَسَّكُ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holds on to, adheres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ya-ta-mas-sa-ku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تَمَسَّكَ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تَتَمَسَّكُ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يَحْتَفِلُ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celebrates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yaḥ-ta-fi-lu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3" name="Shape 60"/>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تَنْتَمِي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تَتَكَيَّفُ</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 preserves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اِحْتَفَظَ</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تَحْتَفِظُ</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يَتَبَادَلُ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exchanges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ya-ta-bā-da-lu</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 reciprocal; takes a direct object.</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يُقَدِّمُ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presents, offers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yu-qad-di-mu</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takes a direct object.</a:t>
            </a:r>
            <a:endParaRPr lang="en-US" sz="10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Takes a direct object.</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يَحْتَرِمُ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yaḥ-ta-ri-mu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qualifying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Joins two contrasting clauses.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34" charset="0"/>
                <a:ea typeface="Amiri" pitchFamily="34" charset="-122"/>
                <a:cs typeface="Amiri" pitchFamily="34" charset="-120"/>
              </a:rPr>
              <a:t>مِنْ نَاحِيَةٍ … وَمِنْ نَاحِيَةٍ أُخْرَى</a:t>
            </a:r>
            <a:endParaRPr lang="ar-SA" sz="265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8" name="Shape 35"/>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العَائِلَاتِ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families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al-ʿā-ʾi-lā-ti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qualifying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دَائِمًا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dā-ʾi-man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يَخْتَلِفُ مِنْ … إِلَى …</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differs from …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yakh-ta-li-fu min … i-lā …</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3" name="Shape 3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What to avoid.</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تَعْمِيمٌ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generalisation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taʿ-mī-mun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1 · CULTURAL VERBS AND THEIR PREPOSITIONS (WEBSITE RULE 1)</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used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يَعْتَادُ النَّاسُ </a:t>
            </a:r>
            <a:pPr rtl="1" algn="ctr" indent="0" marL="0">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الضِّيَافَةِ.</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People are used to hospitality.</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يَعْتَادُ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holds on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تَتَمَسَّكُ الأُسْرَةُ </a:t>
            </a:r>
            <a:pPr rtl="1" algn="ctr" indent="0" marL="0">
              <a:buNone/>
            </a:pPr>
            <a:r>
              <a:rPr lang="ar-SA" altLang="en-US" sz="1950" b="1" dirty="0">
                <a:solidFill>
                  <a:srgbClr val="D6336C"/>
                </a:solidFill>
                <a:latin typeface="Amiri" pitchFamily="34" charset="0"/>
                <a:ea typeface="Amiri" pitchFamily="34" charset="-122"/>
                <a:cs typeface="Amiri" pitchFamily="34" charset="-120"/>
              </a:rPr>
              <a:t>بِتَقَالِيدِهَا</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family holds on to its traditions.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يَتَمَسَّكُ </a:t>
            </a:r>
            <a:pPr rtl="1" algn="ctr" indent="0" marL="0">
              <a:buNone/>
            </a:pPr>
            <a:r>
              <a:rPr lang="ar-SA" altLang="en-US" sz="2200" b="1" dirty="0">
                <a:solidFill>
                  <a:srgbClr val="D6336C"/>
                </a:solidFill>
                <a:latin typeface="Amiri" pitchFamily="34" charset="0"/>
                <a:ea typeface="Amiri" pitchFamily="34" charset="-122"/>
                <a:cs typeface="Amiri" pitchFamily="34" charset="-120"/>
              </a:rPr>
              <a:t>بِـ</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celebrates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تَحْتَفِلُ العَائِلَةُ </a:t>
            </a:r>
            <a:pPr rtl="1" algn="ctr" indent="0" marL="0">
              <a:buNone/>
            </a:pPr>
            <a:r>
              <a:rPr lang="ar-SA" altLang="en-US" sz="1950" b="1" dirty="0">
                <a:solidFill>
                  <a:srgbClr val="D6336C"/>
                </a:solidFill>
                <a:latin typeface="Amiri" pitchFamily="34" charset="0"/>
                <a:ea typeface="Amiri" pitchFamily="34" charset="-122"/>
                <a:cs typeface="Amiri" pitchFamily="34" charset="-120"/>
              </a:rPr>
              <a:t>بِالمُنَاسَبَةِ</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family celebrates the occasion.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يَحْتَفِلُ </a:t>
            </a:r>
            <a:pPr rtl="1" algn="ctr" indent="0" marL="0">
              <a:buNone/>
            </a:pPr>
            <a:r>
              <a:rPr lang="ar-SA" altLang="en-US" sz="2200" b="1" dirty="0">
                <a:solidFill>
                  <a:srgbClr val="D6336C"/>
                </a:solidFill>
                <a:latin typeface="Amiri" pitchFamily="34" charset="0"/>
                <a:ea typeface="Amiri" pitchFamily="34" charset="-122"/>
                <a:cs typeface="Amiri" pitchFamily="34" charset="-120"/>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belongs to</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1950" b="1" dirty="0">
                <a:solidFill>
                  <a:srgbClr val="1D5FBF"/>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ثَقَافَتَيْنِ.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belongs to two cultures.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2200" b="1" dirty="0">
                <a:solidFill>
                  <a:srgbClr val="1D5FBF"/>
                </a:solidFill>
                <a:latin typeface="Amiri" pitchFamily="34" charset="0"/>
                <a:ea typeface="Amiri" pitchFamily="34" charset="-122"/>
                <a:cs typeface="Amiri" pitchFamily="34" charset="-120"/>
              </a:rPr>
              <a:t>إِلَى</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adapts to</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يَتَكَيَّفُ المُهَاجِرُ </a:t>
            </a:r>
            <a:pPr rtl="1" algn="ctr" indent="0" marL="0">
              <a:buNone/>
            </a:pPr>
            <a:r>
              <a:rPr lang="ar-SA" altLang="en-US" sz="1950" b="1" dirty="0">
                <a:solidFill>
                  <a:srgbClr val="1D5FBF"/>
                </a:solidFill>
                <a:latin typeface="Amiri" pitchFamily="34" charset="0"/>
                <a:ea typeface="Amiri" pitchFamily="34" charset="-122"/>
                <a:cs typeface="Amiri" pitchFamily="34" charset="-120"/>
              </a:rPr>
              <a:t>مَعَ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الحَيَاةِ الجَدِيدَةِ.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migrant adapts to the new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يَتَكَيَّفُ </a:t>
            </a:r>
            <a:pPr rtl="1" algn="ctr" indent="0" marL="0">
              <a:buNone/>
            </a:pPr>
            <a:r>
              <a:rPr lang="ar-SA" altLang="en-US" sz="2200" b="1" dirty="0">
                <a:solidFill>
                  <a:srgbClr val="1D5FBF"/>
                </a:solidFill>
                <a:latin typeface="Amiri" pitchFamily="34" charset="0"/>
                <a:ea typeface="Amiri" pitchFamily="34" charset="-122"/>
                <a:cs typeface="Amiri" pitchFamily="34" charset="-120"/>
              </a:rPr>
              <a:t>مَعَ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preposition the noun is genitive (-i): </a:t>
            </a:r>
            <a:pPr algn="l" indent="0" marL="0">
              <a:buNone/>
            </a:pPr>
            <a:r>
              <a:rPr lang="ar-SA" altLang="en-US" sz="1500" b="1" dirty="0">
                <a:solidFill>
                  <a:srgbClr val="1B3B6F"/>
                </a:solidFill>
                <a:latin typeface="Amiri" pitchFamily="34" charset="0"/>
                <a:ea typeface="Amiri" pitchFamily="34" charset="-122"/>
                <a:cs typeface="Amiri" pitchFamily="34" charset="-120"/>
              </a:rPr>
              <a:t>عَلَى الضِّيَافَةِ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بِالمُنَاسَبَةِ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CONTRAST, BALANCE, HEDGE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fairly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تُقَدَّمُ القَهْوَةُ أَوَّلًا فِي بَعْضِ البُلْدَانِ، بَيْنَمَا يُقَدَّمُ الشَّايُ فِي غَيْرِهَا.</a:t>
            </a:r>
            <a:endParaRPr lang="ar-SA" sz="20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coffee is served first, whereas tea is served in others.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full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تَتَغَيَّرُ العَادَاتُ، وَمِنْ نَاحِيَةٍ أُخْرَى تَبْقَى القِيَمُ.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one hand customs change; on the other, values remain.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sides.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HEDGE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العَائِلَاتِ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العَائِلَاتِ يُقَبِّلُ الأَبْنَاءُ رَأْسَ الجَدِّ.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families children kiss their grandfather’s head.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“all Arabs”.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universal claim is a generalisation.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Cultural verbs, contrast and qualification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أَفْعَالُ الثَّقَافَةِ وَالمُقَارَنَةُ وَالتَّحَفُّظُ</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Cultural verbs and their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يَعْتَادُ عَلَى · يَتَمَسَّكُ بِـ · يَنْتَمِي إِلَى · يَتَكَيَّفُ مَعَ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يَعْتَادُ النَّاسُ عَلَى الضِّيَافَةِ   ·   تَتَمَسَّكُ الأُسْرَةُ بِتَقَالِيدِهَا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Contrast with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 + </a:t>
            </a:r>
            <a:pPr algn="l" indent="0" marL="0">
              <a:buNone/>
            </a:pPr>
            <a:r>
              <a:rPr lang="ar-SA" altLang="en-US" sz="1350" dirty="0">
                <a:solidFill>
                  <a:srgbClr val="5A6472"/>
                </a:solidFill>
                <a:latin typeface="Amiri" pitchFamily="34" charset="0"/>
                <a:ea typeface="Amiri" pitchFamily="34" charset="-122"/>
                <a:cs typeface="Amiri" pitchFamily="34" charset="-120"/>
              </a:rPr>
              <a:t>بَيْنَمَا</a:t>
            </a:r>
            <a:pPr algn="l" indent="0" marL="0">
              <a:buNone/>
            </a:pPr>
            <a:r>
              <a:rPr lang="en-US" sz="1050" dirty="0">
                <a:solidFill>
                  <a:srgbClr val="5A6472"/>
                </a:solidFill>
                <a:latin typeface="Calibri" pitchFamily="34" charset="0"/>
                <a:ea typeface="Calibri" pitchFamily="34" charset="-122"/>
                <a:cs typeface="Calibri" pitchFamily="34" charset="-120"/>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تُقَدَّمُ القَهْوَةُ أَوَّلًا فِي بَعْضِ البُلْدَانِ، بَيْنَمَا يُقَدَّمُ الشَّايُ فِي غَيْرِهَا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Two-sided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Hedging a cultural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بَعْضِ العَائِلَاتِ يُقَبِّلُ الأَبْنَاءُ رَأْسَ الجَدِّ   ·   لَيْسَ دَائِمًا تَتَشَابَهُ العَادَاتُ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يَعْتَادُ النَّاسُ ___ الضِّيَافَةِ.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تَتَمَسَّكُ الأُسْرَةُ ___ تَقَالِيدِهَا.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celebration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المُنَاسَبَةَ.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بِالمُنَاسَبَةِ.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عَلَى المُنَاسَبَةِ.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a generalisation?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 يُقَبِّلُ الأَبْنَاءُ رَأْسَ الجَدِّ.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العَرَبِ يُقَبِّلُونَ رَأْسَ الجَدِّ.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 دَائِمًا يَفْعَلُونَ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يَعْتَادُ النَّاسُ ___ الضِّيَافَةِ.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يَعْتَادُ</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تَتَمَسَّكُ الأُسْرَةُ ___ تَقَالِيدِهَا.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يَتَمَسَّكُ</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celebration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تَحْتَفِلُ العَائِلَةُ المُنَاسَبَةَ.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تَحْتَفِلُ العَائِلَةُ بِالمُنَاسَبَةِ.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تَحْتَفِلُ العَائِلَةُ عَلَى المُنَاسَبَةِ.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a genitive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a generalisation?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العَائِلَاتِ يُقَبِّلُ الأَبْنَاءُ رَأْسَ الجَدِّ.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يُقَبِّلُونَ رَأْسَ الجَدِّ.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 دَائِمًا يَفْعَلُونَ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العَائِلَاتِ</a:t>
            </a:r>
            <a:pPr algn="l" indent="0" marL="0">
              <a:buNone/>
            </a:pPr>
            <a:r>
              <a:rPr lang="en-US" sz="1050" i="1" dirty="0">
                <a:solidFill>
                  <a:srgbClr val="8A6D1E"/>
                </a:solidFill>
                <a:latin typeface="Calibri" pitchFamily="34" charset="0"/>
                <a:ea typeface="Calibri" pitchFamily="34" charset="-122"/>
                <a:cs typeface="Calibri" pitchFamily="34" charset="-120"/>
              </a:rPr>
              <a:t> reports what some families do, which is accurate.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Watch me compare two customs fairly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فِي بَعْضِ العَائِلَاتِ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everyone.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 + prep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يَعْتَادُ</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النَّاسُ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الضِّيَافَةِ</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iʿtāda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بَيْنَمَا</a:t>
            </a:r>
            <a:pPr rtl="1" algn="ctr" indent="0" marL="0">
              <a:buNone/>
            </a:pPr>
            <a:r>
              <a:rPr lang="ar-SA" altLang="en-US" sz="2400" b="1" dirty="0">
                <a:solidFill>
                  <a:srgbClr val="1B3B6F"/>
                </a:solidFill>
                <a:latin typeface="Amiri" pitchFamily="34" charset="0"/>
                <a:ea typeface="Amiri" pitchFamily="34" charset="-122"/>
                <a:cs typeface="Amiri" pitchFamily="34" charset="-120"/>
              </a:rPr>
              <a:t> نُقَدِّمُ نَحْنُ الشَّايَ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clauses.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sides.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 PREPOSITION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تَخْتَلِفُ العَادَاتُ بَيْنَ البُلْدَانِ اخْتِلَافًا وَاضِحًا.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فِي بَعْضِ العَائِلَاتِ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العَرَبِيَّةِ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يَعْتَادُ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النَّاسُ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اسْتِقْبَالِ الضَّيْفِ بِالقَهْوَةِ وَالتَّمْرِ،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نُقَدِّمُ نَحْنُ الشَّايَ عَادَةً.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يَتَمَسَّكُ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كَثِيرٌ مِنَ الأُسَرِ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بِصِلَةِ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الرَّحِمِ.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Customs clearly differ between countries. In some Arab families people are used to receiving a guest with coffee and dates, whereas we usually serve tea. Many families hold on to family ties.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يَعْتَادُ عَلَى الضِّيَافَةِ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used to hospitality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عَلَى is fixed with يَعْتَادُ.</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تَتَمَسَّكُ بِتَقَالِيدِهَا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holds on to her traditions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is fixed with يَتَمَسَّكُ.</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بَعْضِ العَائِلَاتِ …</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some families …</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hedge keeps the claim honest.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CULTURAL CUSTOMS — TRADITIONS, GREETINGS AND SOCIAL NORMS”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custom?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and handshake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greeting wave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meal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طُرُقُ التَّحِيَّةِ مِنْ مَكَانٍ إِلَى آخَرَ.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فِي المُنَاسَبَاتِ.</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اِحْتِرَامُ عَادَاتِ الضِّيَافَةِ.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and handshake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respect customs of hospitality.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greeting wave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طُرُقُ التَّحِيَّةِ مِنْ مَكَانٍ إِلَى آخَرَ.</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Ways of greeting differ from place to place.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meal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فِي المُنَاسَبَاتِ.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on special occasions.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اِعْتَادَ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مَعَ</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اِعْتَادَ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يَتَعَوَّدُ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مَعَ</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يَنْتَمِي ___ ثَقَافَتَيْنِ.</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يَتَكَيَّفُ المُهَاجِرُ ___ الحَيَاةِ الجَدِيدَةِ.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يُقَدَّمُ الشَّايُ بَيْنَمَا.</a:t>
            </a:r>
            <a:endParaRPr lang="ar-SA" sz="17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يُقَدَّمُ الشَّايُ فِي بَعْضِ البُلْدَانِ، بَيْنَمَا تُقَدَّمُ القَهْوَةُ فِي غَيْرِهَا.</a:t>
            </a:r>
            <a:endParaRPr lang="ar-SA" sz="17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بَيْنَمَا الشَّايُ وَالقَهْوَةُ.</a:t>
            </a:r>
            <a:endParaRPr lang="ar-SA" sz="17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two-sided comparison.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تَتَغَيَّرُ العَادَاتُ وَتَبْقَى القِيَمُ.</a:t>
            </a:r>
            <a:endParaRPr lang="ar-SA" sz="19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أُخْرَى تَتَغَيَّرُ العَادَاتُ فَقَطْ.</a:t>
            </a:r>
            <a:endParaRPr lang="ar-SA" sz="19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19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يَنْتَمِي ___ ثَقَافَتَيْنِ.</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يَتَكَيَّفُ المُهَاجِرُ ___ الحَيَاةِ الجَدِيدَةِ.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يُقَدَّمُ الشَّايُ بَيْنَمَا.</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يُقَدَّمُ الشَّايُ فِي بَعْضِ البُلْدَانِ، بَيْنَمَا تُقَدَّمُ القَهْوَةُ فِي غَيْرِهَا.</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الشَّايُ وَالقَهْوَةُ.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joins two complete contrasting clauses.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two-sided comparison.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تَتَغَيَّرُ العَادَاتُ وَتَبْقَى القِيَمُ.</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 تَتَغَيَّرُ العَادَاتُ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 needs both halves to balance the two aspects.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يَعْتَادُ النَّاسُ بِالضِّيَافَةِ.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iʿtāda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تَحْتَفِلُ العَائِلَةُ المُنَاسَبَةَ.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العَرَبِ يَحْتَفِلُونَ بِالطَّرِيقَةِ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Arabs? Hedge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يَعْتَادُ النَّاسُ بِالضِّيَافَةِ.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يَعْتَادُ النَّاسُ عَلَى الضِّيَافَةِ.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يَعْتَادُ</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تَحْتَفِلُ العَائِلَةُ المُنَاسَبَةَ.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تَحْتَفِلُ العَائِلَةُ بِالمُنَاسَبَةِ.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يَحْتَفِلُ</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تَخْتَلِفُ طَرِيقَةُ الاحْتِفَالِ مِنْ بَلَدٍ إِلَى بَلَدٍ.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universal claim about a whole population is a generalisation, and it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Listening: two students compare customs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offered first in some families?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elders hold on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dress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recipes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Keeping family 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 they visit relatives?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year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every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Sami answer about celebrating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and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Nūr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Arabs do the same thing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cannot say all Arabs do the same thing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Customs never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speakers: Nur · Sami.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نُورُ: فِي بَعْضِ العَائِلَاتِ عِنْدَنَا يَعْتَادُ النَّاسُ عَلَى تَقْدِيمِ القَهْوَةِ لِلضَّيْفِ أَوَّلًا، بَيْنَمَا يُقَدَّمُ الشَّايُ فِي بُلْدَانٍ أُخْرَى.</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In some families here people are used to serving the guest coffee first, whereas tea is served in other countries.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سَامِي: وَعِنْدَنَا يَتَمَسَّكُ الكِبَارُ بِصِلَةِ الرَّحِمِ، فَنَزُورُ الأَقَارِبَ كُلَّ أُسْبُوعٍ تَقْرِيبًا.</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With us, the elders hold on to family ties, so we visit relatives almost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نُورُ: وَهَلْ تَحْتَفِلُونَ بِالمُنَاسَبَاتِ فِي البَيْتِ؟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And do you celebrate occasions at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سَامِي: أَحْيَانًا، وَلَيْسَ دَائِمًا؛ فَالأَمْرُ يَخْتَلِفُ مِنْ أُسْرَةٍ إِلَى أُسْرَةٍ.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Sometimes, not always — it differs from family to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نُورُ: هٰذَا صَحِيحٌ. لَا يَجُوزُ أَنْ نَقُولَ إِنَّ كُلَّ العَرَبِ يَفْعَلُونَ الشَّيْءَ نَفْسَهُ.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That’s right. We can’t say that all Arabs do the same thing.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offered first in some families?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Coffee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يَعْتَادُ النَّاسُ عَلَى تَقْدِيمِ القَهْوَةِ لِلضَّيْفِ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elders hold on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 dress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recipes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Keeping family ties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يَتَمَسَّكُ الكِبَارُ بِصِلَةِ الرَّحِمِ.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 they visit relatives?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year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Eid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every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فَنَزُورُ الأَقَارِبَ كُلَّ أُسْبُوعٍ تَقْرِيبًا.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Sami answer about celebrating at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Sometimes, and not always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أَحْيَانًا، وَلَيْسَ دَائِمًا؛ فَالأَمْرُ يَخْتَلِفُ مِنْ أُسْرَةٍ إِلَى أُسْرَةٍ.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Nūr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Arabs do the same thing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We cannot say all Arabs do the same thing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Customs never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يَجُوزُ أَنْ نَقُولَ إِنَّ كُلَّ العَرَبِ يَفْعَلُونَ الشَّيْءَ نَفْسَهُ.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speakers: Nur · Sami.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compare a custom accurately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عَادَةً تَعْرِفُهَا. مَنْ يَعْتَادُ عَلَيْهَا؟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عَادَتَيْنِ مُسْتَعْمِلًا بَيْنَمَا.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تَتَجَنَّبُ التَّعْمِيمَ عِنْدَ الحَدِيثِ عَنِ الثَّقَافَاتِ؟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عَائِلَتِي نَعْتَادُ عَلَى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العَائِلَاتِ ___ ، بَيْنَمَا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لَا أَقُولُ « كُلُّ … » ، بَلْ أَقُولُ « فِي بَعْضِ … » لِأَنَّ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عَادَةً تَعْرِفُهَا.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custom you know.</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بَعْضِ العَائِلَاتِ يَعْتَادُ النَّاسُ عَلَى تَقْدِيمِ القَهْوَةِ لِلضَّيْفِ أَوَّلًا.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In some families people are used to serving the guest coffee first.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naming customs, each with the correct preposition on its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customs, each cultural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contrast with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one hedge.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comparison with بَيْنَمَا and one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Balance the comparison with </a:t>
            </a:r>
            <a:pPr algn="l" indent="0" marL="0">
              <a:buNone/>
            </a:pPr>
            <a:r>
              <a:rPr lang="ar-SA" altLang="en-US" sz="1800" b="1"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400" b="1" dirty="0">
                <a:solidFill>
                  <a:srgbClr val="1F2A37"/>
                </a:solidFill>
                <a:latin typeface="Calibri" pitchFamily="34" charset="0"/>
                <a:ea typeface="Calibri" pitchFamily="34" charset="-122"/>
                <a:cs typeface="Calibri" pitchFamily="34" charset="-120"/>
              </a:rPr>
              <a:t> and close by naming the stereotype trap explicitly.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cultural verbs, بَيْنَمَا, مِنْ نَاحِيَةٍ … وَمِنْ نَاحِيَةٍ أُخْرَى and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فِي بَعْضِ العَائِلَاتِ العَرَبِيَّةِ ______ ، بَيْنَمَا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Arab families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one hand …, 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يَخْتَلِفُ الأَمْرُ مِنْ أُسْرَةٍ إِلَى أُسْرَةٍ.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differs from family to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لَيْسَ دَائِمًا يَتَصَرَّفُ الجَمِيعُ بِالطَّرِيقَةِ نَفْسِهَا.</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Not everyone behaves the same way.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عَائِلَتِي نَعْتَادُ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family we are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نَتَمَسَّكُ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hold on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نَحْتَفِلُ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نَحْتَرِمُ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respect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يَعْتَادُ عَلَى  ·  يَتَمَسَّكُ بِـ  ·  يَحْتَفِلُ بِـ  ·  يَنْتَمِي إِلَى  ·  يَتَكَيَّفُ مَعَ  ·  الضِّيَافَةُ  ·  صِلَةُ الرَّحِمِ  ·  احْتِرَامُ الكِبَارِ  ·  بَيْنَمَا  ·  مِنْ نَاحِيَةٍ  ·  فِي بَعْضِ العَائِلَاتِ  ·  لَيْسَ دَائِمًا</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comparing a custom you know with one from an Arab country. Use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for the contrast, at least two cultural verbs with their correct prepositions, and one hedge so the comparison does not become a generalisation.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cultural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joined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two-sided comparison with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hedge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العَائِلَاتِ</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اسْتِقْبَالُ الضَّيْفِ بِالقَهْوَةِ وَالتَّمْرِ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receiving a guest with coffee and dates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يَزُورُونَ الأَقَارِبَ بِانْتِظَامٍ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visit relatives regularly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تَبْقَى قِيَمُ الكَرَمِ حَاضِرَةً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values of generosity remain present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الأَفْضَلُ أَنْ نَصِفَ مَا رَأَيْنَاهُ بِدِقَّةٍ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describe what we saw accurately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الخَطَأِ أَنْ نَقُولَ 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wrong to say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العَادَاتُ بَيْنَ البُلْدَانِ اخْتِلَافًا وَاضِحًا. فِي بَعْضِ العَائِلَاتِ العَرَبِيَّةِ يَعْتَادُ النَّاسُ عَلَى اسْتِقْبَالِ الضَّيْفِ بِالقَهْوَةِ وَالتَّمْرِ، بَيْنَمَا نُقَدِّمُ نَحْنُ الشَّايَ عَادَةً. وَيَتَمَسَّكُ كَثِيرٌ مِنَ الأُسَرِ بِصِلَةِ الرَّحِمِ، فَيَزُورُونَ الأَقَارِبَ بِانْتِظَامٍ. مِنْ نَاحِيَةٍ تَتَغَيَّرُ بَعْضُ التَّقَالِيدِ مَعَ الأَجْيَالِ الجَدِيدَةِ، وَمِنْ نَاحِيَةٍ أُخْرَى تَبْقَى قِيَمُ الكَرَمِ حَاضِرَةً. وَلَيْسَ دَائِمًا يَتَصَرَّفُ الجَمِيعُ بِالطَّرِيقَةِ نَفْسِهَا؛ فَالأَفْضَلُ أَنْ نَصِفَ مَا رَأَيْنَاهُ بِدِقَّةٍ.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Customs clearly differ between countries. In some Arab families people are used to receiving a guest with coffee and dates, whereas we usually serve tea. Many families hold on to family ties, so they visit relatives regularly. On one hand some traditions change with new generations; on the other, the values of generosity remain present. Not everyone always behaves the same way — it is better to describe what we saw accurately.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verbs with their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with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مِنْ نَاحِيَةٍ … وَمِنْ نَاحِيَةٍ أُخْرَى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cultural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joins two full clauses.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hedged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balanced two sides and avoided “all Arabs”.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الجِيلُ الجَدِيدُ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بَعْضِ 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يَنْتَمِي هٰذَا الشَّابُّ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 rather than a generalisation?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تَخْتَلِفُ العَادَاتُ مِنْ بَلَدٍ إِلَى بَلَدٍ.</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العَرَبُ دَائِمًا يُقَدِّمُونَ القَهْوَةَ.</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الجِيلُ الجَدِيدُ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بَعْضِ 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يَنْتَمِي هٰذَا الشَّابُّ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 rather than a generalisation?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تَخْتَلِفُ العَادَاتُ مِنْ بَلَدٍ إِلَى بَلَدٍ.</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العَرَبُ دَائِمًا يُقَدِّمُونَ القَهْوَةَ.</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accurate sentence reports variation.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customs are not one thing</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تَتَنَوَّعُ العَادَاتُ فِي العَالَمِ العَرَبِيِّ تَنَوُّعًا كَبِيرًا. فِي بَعْضِ البُلْدَانِ يَعْتَادُ النَّاسُ عَلَى اسْتِقْبَالِ الضَّيْفِ بِالقَهْوَةِ وَالتَّمْرِ، بَيْنَمَا يُقَدَّمُ الشَّايُ بِالنَّعْنَاعِ فِي بُلْدَانٍ أُخْرَى. وَيَتَمَسَّكُ كَثِيرٌ مِنَ الأُسَرِ بِصِلَةِ الرَّحِمِ وَاحْتِرَامِ الكِبَارِ، وَلٰكِنَّ طَرِيقَةَ التَّعْبِيرِ عَنْ ذٰلِكَ تَخْتَلِفُ مِنْ مَكَانٍ إِلَى مَكَانٍ. مِنْ نَاحِيَةٍ تَتَغَيَّرُ بَعْضُ التَّقَالِيدِ مَعَ الأَجْيَالِ الجَدِيدَةِ، وَمِنْ نَاحِيَةٍ أُخْرَى تَبْقَى قِيَمُ الكَرَمِ وَالتَّضَامُنِ حَاضِرَةً. وَمِنَ الخَطَأِ أَنْ نَقُولَ إِنَّ العَرَبَ جَمِيعًا يَتَصَرَّفُونَ بِالطَّرِيقَةِ نَفْسِهَا؛ فَالأَفْضَلُ أَنْ نَصِفَ مَا رَأَيْنَاهُ بِدِقَّةٍ.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تَتَنَوَّعُ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اسْتِقْبَالِ الضَّيْفِ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receiving the guest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التَّمْرِ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الشَّايُ بِالنَّعْنَاعِ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mint tea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طَرِيقَةَ التَّعْبِيرِ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way of expressing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الأَجْيَالِ الجَدِيدَةِ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new generations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قِيَمُ الكَرَمِ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values of generosity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التَّضَامُنِ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solidarity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يَتَصَرَّفُونَ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behave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بِدِقَّةٍ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accurately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guests received in some countries?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mint tea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coffee and dates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formal letter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hold on to?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formal ceremonies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religious study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ties and respect for elders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changes?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traditions change with new generations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traditions disappear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ever changes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old clothing styles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values of generosity and solidarity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dialects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Saying all Arabs behave the same way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Describing what you saw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about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guests received in some countries?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mint tea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coffee and dates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formal letter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اسْتِقْبَالِ الضَّيْفِ بِالقَهْوَةِ وَالتَّمْرِ.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hold on to?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formal ceremonies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religious study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Family ties and respect for elders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يَتَمَسَّكُ كَثِيرٌ مِنَ الأُسَرِ بِصِلَةِ الرَّحِمِ وَاحْتِرَامِ الكِبَارِ.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changes?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traditions change with new generations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traditions disappear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ever changes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تَتَغَيَّرُ بَعْضُ التَّقَالِيدِ مَعَ الأَجْيَالِ الجَدِيدَةِ.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present?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old clothing styles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values of generosity and solidarity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dialects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تَبْقَى قِيَمُ الكَرَمِ وَالتَّضَامُنِ حَاضِرَةً.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Saying all Arabs behave the same way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Describing what you saw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Learning about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وَمِنَ الخَطَأِ أَنْ نَقُولَ إِنَّ العَرَبَ جَمِيعًا يَتَصَرَّفُونَ بِالطَّرِيقَةِ نَفْسِهَا.</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Customs Mission — Prepositions, Contrast and Accuracy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يَعْتَادُ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الضِّيَافَةِ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يَتَمَسَّكُ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“hospitality”?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تَضَامُنٌ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مِعْيَارٌ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ضِيَافَةٌ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“keeping family ties”?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صِلَةُ الرَّحِمِ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 الجِوَارِ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احْتِرَامُ الكِبَارِ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تُقَدَّمُ القَهْوَةُ بَيْنَمَا.</a:t>
            </a:r>
            <a:endParaRPr lang="ar-SA" sz="15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تُقَدَّمُ القَهْوَةُ هُنَا، بَيْنَمَا يُقَدَّمُ الشَّايُ هُنَاكَ.</a:t>
            </a:r>
            <a:endParaRPr lang="ar-SA" sz="15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بَيْنَمَا القَهْوَةُ وَالشَّايُ.</a:t>
            </a:r>
            <a:endParaRPr lang="ar-SA" sz="15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يَعْتَادُ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الضِّيَافَةِ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يَعْتَادُ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يَتَمَسَّكُ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يَتَمَسَّكُ</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“hospitality”?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تَضَامُنٌ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مِعْيَارٌ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ضِيَافَةٌ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ضِيَافَةٌ</a:t>
            </a:r>
            <a:pPr algn="l" indent="0" marL="0">
              <a:buNone/>
            </a:pPr>
            <a:r>
              <a:rPr lang="en-US" sz="1050" i="1" dirty="0">
                <a:solidFill>
                  <a:srgbClr val="8A6D1E"/>
                </a:solidFill>
                <a:latin typeface="Calibri" pitchFamily="34" charset="0"/>
                <a:ea typeface="Calibri" pitchFamily="34" charset="-122"/>
                <a:cs typeface="Calibri" pitchFamily="34" charset="-120"/>
              </a:rPr>
              <a:t> is hospitality.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“keeping family ties”?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صِلَةُ الرَّحِمِ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حُسْنُ الجِوَارِ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احْتِرَامُ الكِبَارِ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صِلَةُ الرَّحِمِ</a:t>
            </a:r>
            <a:pPr algn="l" indent="0" marL="0">
              <a:buNone/>
            </a:pPr>
            <a:r>
              <a:rPr lang="en-US" sz="1050" i="1" dirty="0">
                <a:solidFill>
                  <a:srgbClr val="8A6D1E"/>
                </a:solidFill>
                <a:latin typeface="Calibri" pitchFamily="34" charset="0"/>
                <a:ea typeface="Calibri" pitchFamily="34" charset="-122"/>
                <a:cs typeface="Calibri" pitchFamily="34" charset="-120"/>
              </a:rPr>
              <a:t> is maintaining family ties.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تُقَدَّمُ القَهْوَةُ بَيْنَمَا.</a:t>
            </a:r>
            <a:endParaRPr lang="ar-SA" sz="15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تُقَدَّمُ القَهْوَةُ هُنَا، بَيْنَمَا يُقَدَّمُ الشَّايُ هُنَاكَ.</a:t>
            </a:r>
            <a:endParaRPr lang="ar-SA" sz="15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بَيْنَمَا القَهْوَةُ وَالشَّايُ.</a:t>
            </a:r>
            <a:endParaRPr lang="ar-SA" sz="15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joins two complete clauses.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D6-L02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D6-L03 · Islamic Celebrations — Eid, Ramadan and Religious Occasions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رَمَضَانُ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Ramadan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الصِّيَامُ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fasting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الإِفْطَارُ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iftar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الفِطْرِ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Eid al-Fitr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Eid money</a:t>
            </a:r>
            <a:pPr indent="0" marL="0">
              <a:buNone/>
            </a:pPr>
            <a:r>
              <a:rPr lang="en-US" sz="1000" i="1" dirty="0">
                <a:solidFill>
                  <a:srgbClr val="5A6472"/>
                </a:solidFill>
                <a:latin typeface="Calibri" pitchFamily="34" charset="0"/>
                <a:ea typeface="Calibri" pitchFamily="34" charset="-122"/>
                <a:cs typeface="Calibri" pitchFamily="34" charset="-120"/>
              </a:rPr>
              <a:t>  pl. عِيدِيَّاتٌ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does your family do on the morning of Eid? Note two things.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صَبَاحِ العِيدِ نَذْهَبُ إِلَى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customs words with their prepositions;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comparison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 hedge.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balanced, hedged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D6-L03 · Islamic Celebrations — Eid, Ramadan and Religious Occasions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المُنَاسَبَاتُ الإِسْلَامِيَّةُ — العِيدَانِ وَرَمَضَانُ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يَعْتَادُ عَلَى</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يَتَمَسَّكُ بِـ</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يَحْتَفِلُ بِـ</a:t>
            </a:r>
            <a:pPr algn="l" indent="0" marL="0">
              <a:buNone/>
            </a:pPr>
            <a:r>
              <a:rPr lang="en-US" sz="1300" b="1" dirty="0">
                <a:solidFill>
                  <a:srgbClr val="FFFFFF"/>
                </a:solidFill>
                <a:latin typeface="Calibri" pitchFamily="34" charset="0"/>
                <a:ea typeface="Calibri" pitchFamily="34" charset="-122"/>
                <a:cs typeface="Calibri" pitchFamily="34" charset="-120"/>
              </a:rPr>
              <a:t> — compare with </a:t>
            </a:r>
            <a:pPr algn="l" indent="0" marL="0">
              <a:buNone/>
            </a:pPr>
            <a:r>
              <a:rPr lang="ar-SA" altLang="en-US" sz="1700" b="1" dirty="0">
                <a:solidFill>
                  <a:srgbClr val="FFFFFF"/>
                </a:solidFill>
                <a:latin typeface="Amiri" pitchFamily="34" charset="0"/>
                <a:ea typeface="Amiri" pitchFamily="34" charset="-122"/>
                <a:cs typeface="Amiri" pitchFamily="34" charset="-120"/>
              </a:rPr>
              <a:t>بَيْنَمَا</a:t>
            </a:r>
            <a:pPr algn="l" indent="0" marL="0">
              <a:buNone/>
            </a:pPr>
            <a:r>
              <a:rPr lang="en-US" sz="1300" b="1" dirty="0">
                <a:solidFill>
                  <a:srgbClr val="FFFFFF"/>
                </a:solidFill>
                <a:latin typeface="Calibri" pitchFamily="34" charset="0"/>
                <a:ea typeface="Calibri" pitchFamily="34" charset="-122"/>
                <a:cs typeface="Calibri" pitchFamily="34" charset="-120"/>
              </a:rPr>
              <a:t> — and describe what you saw, not what “all Arabs” do.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D6-L02 · Cultural Customs — Traditions, Greetings and Social Norms</dc:title>
  <dc:subject>PptxGenJS Presentation</dc:subject>
  <dc:creator>Al Madina Online School · Arabic Department</dc:creator>
  <cp:lastModifiedBy>Al Madina Online School · Arabic Department</cp:lastModifiedBy>
  <cp:revision>1</cp:revision>
  <dcterms:created xsi:type="dcterms:W3CDTF">2026-10-03T10:22:57Z</dcterms:created>
  <dcterms:modified xsi:type="dcterms:W3CDTF">2026-10-03T10:22:57Z</dcterms:modified>
</cp:coreProperties>
</file>