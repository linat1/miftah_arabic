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D6 Countries, Cultures and Celebrations › D6-L02. The website lesson “Cultural Customs — Traditions, Greetings and Social Norms”: vocabulary, grammar rules and quiz, patterns, common mistakes, sorter, listening, reading, speaking prompts and model, writing task and model, differentiation, final check and the lesson mission. Picture match: website visual game “Cultural Customs — Traditions, Greetings and Social Norms”.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customs words + five sentences, each cultural verb with its preposition (يَعْتَادُ النَّاسُ عَلَى الضِّيَافَةِ). Develop: a contrast with بَيْنَمَا and one hedge. Stretch: the website 80–90-word comparison with مِنْ نَاحِيَةٍ … وَمِنْ نَاحِيَةٍ أُخْرَى and an explicit rejection of the stereotype.
• This lesson connects directly to adab: hospitality (الضِّيَافَةُ), respect for elders and صِلَةُ الرَّحِمِ are values students know from home and from Islamic Studies — invite their own family examples.
• Website accuracy rule: describe what you observed (فِي بَعْضِ العَائِلَاتِ), not what “all Arabs” do. Note: two website texts say تُقَدَّمُ الشَّايُ — الشَّايُ is masculine, so the decks show يُقَدَّمُ الشَّايُ.
• TEACHER-WRITTEN ITEMS: gender-agreement slips corrected throughout (يُقَدَّمُ الشَّايُ · تُقَدَّمُ القَهْوَةُ),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D6-L01. Questions 4–5 retrieve D6-L01 (diptotes) and the hedging language from D5-L06 / D6-L01.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Customs differ by country, region and family — so describe what you saw, and hedge.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ضیافت، کرم، صلہ رحمی are shared — and صلہ رحمی is taught in Islamic Studies. CAREFUL: Urdu تقلید = imitation / following (a madhhab); Arabic تَقْلِيدٌ also means a tradition (تَقَالِيدُ = traditions).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Customs and values (website vocabulary (1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Customs and values (website vocabulary (2 of 2)). Hear → Say → See → Use. Transliteration is printed for Core students (cover it for Develop/Stretch).
Customs and values. Plurals with -āt or broken plurals (تَقَالِيدُ · مَعَايِيرُ are diptotes: no tanwīn).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(1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verbs (website vocabulary (2 of 2)). Hear → Say → See → Use. Transliteration is printed for Core students (cover it for Develop/Stretch).
Cultural verbs: each card shows she / past. Learn verb + preposition as ONE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(1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Comparing and qualifying (website vocabulary (2 of 2)). Hear → Say → See → Use. Transliteration is printed for Core students (cover it for Develop/Stretch).
Comparing and qualifying: the language that keeps a cultural comparison accurate and fair.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 “Cultural verbs and their prepositions” (each preposition is fixed, and the noun after it is genitive). Website teaching point: “Each cultural verb keeps its own preposition … swapping them is the most common error in this topic.”
Website mistakes: يَعْتَادُ النَّاسُ بِالضِّيَافَةِ ✗ · تَحْتَفِلُ العَائِلَةُ المُنَاسَبَةَ ✗. Many students “belong to two cultures” — يَنْتَمِي إِلَى ثَقَافَتَيْنِ is a lovely personal sentence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“Contrast with بَيْنَمَا” (joins two full clauses that genuinely differ), “Two-sided comparison” and “Hedging a cultural claim” (a hedge turns a false universal into an accurate observation). Website teaching point: “Describe what you observed, not what everyone does.”
Agreement check in card 1: القَهْوَةُ is feminine → تُقَدَّمُ; الشَّايُ is masculine → يُقَدَّمُ.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“Three things to control: the preposition on each cultural verb, the structure of a contrast, and the hedge that keeps your claim honest.”
• Cultural verbs and their prepositions: Each preposition is fixed, and the noun after it is genitive.
• Contrast with بَيْنَمَا: بَيْنَمَا joins two full clauses that genuinely differ. It is not used for a simple list.
• Two-sided comparison: This pair balances two aspects of the same topic and is valued in the Range criterion.
• Hedging a cultural claim: A hedge turns a false universal into an accurate observation.
Website common error: Beginning a sentence with كُلُّ العَرَبِ. Customs differ by country, by region and by family, so a universal claim is almost always wrong. Use فِي بَعْضِ … or أَحْيَانًا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“Which preposition does this verb take? Am I describing everyone, or what I saw? Is this a contrast of two full clauses?” Then ask students for their own family’s guest custom.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Cultural Customs — Traditions, Greetings and Social Norms”)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add a hedge to each: فِي بَعْضِ البُلْدَانِ … Other website cards: architecture, traditional clothes, traditional dishes.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one sentence for each column with a custom from YOUR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note every hedge you hear.
Listen 1: just listen. Listen 2: note answers. Then chat the letters.
Support: after the second listening, show the read-along slide (Arabic + English, line by line) for Core students.
SCRIPT (read aloud):
نُورُ: فِي بَعْضِ العَائِلَاتِ عِنْدَنَا يَعْتَادُ النَّاسُ عَلَى تَقْدِيمِ القَهْوَةِ لِلضَّيْفِ أَوَّلًا، بَيْنَمَا يُقَدَّمُ الشَّايُ فِي بُلْدَانٍ أُخْرَى. سَامِي: وَعِنْدَنَا يَتَمَسَّكُ الكِبَارُ بِصِلَةِ الرَّحِمِ، فَنَزُورُ الأَقَارِبَ كُلَّ أُسْبُوعٍ تَقْرِيبًا. نُورُ: وَهَلْ تَحْتَفِلُونَ بِالمُنَاسَبَاتِ فِي البَيْتِ؟ سَامِي: أَحْيَانًا، وَلَيْسَ دَائِمًا؛ فَالأَمْرُ يَخْتَلِفُ مِنْ أُسْرَةٍ إِلَى أُسْرَةٍ. نُورُ: هٰذَا صَحِيحٌ. لَا يَجُوزُ أَنْ نَقُولَ إِنَّ كُلَّ العَرَبِ يَفْعَلُونَ الشَّيْءَ نَفْسَهُ.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وَهَلِ الأَمْرُ نَفْسُهُ فِي كُلِّ مَكَانٍ؟ (And is it the same everywhere?)
B: لَيْسَ دَائِمًا؛ بَيْنَمَا يُقَدَّمُ الشَّايُ فِي بُلْدَانٍ أُخْرَى، وَالأَمْرُ يَخْتَلِفُ مِنْ أُسْرَةٍ إِلَى أُسْرَةٍ. (Not always — tea is served in other countries, and it differs from family to family.)
Website prompts and model. Students describe a REAL custom from their own family (guests, Eid visits, greeting elders). To a girl: صِفِي · قَارِنِي · تَتَجَنَّبِينَ.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naming customs, each with the correct preposition on its verb. · Develop — Add a contrast with بَيْنَمَا and one hedge. · Stretch — Balance the comparison with مِنْ نَاحِيَةٍ … وَمِنْ نَاحِيَةٍ أُخْرَى and close by naming the stereotype trap explicitly.
Website writing task (Stretch): Write eighty to ninety words comparing a custom you know with one from an Arab country. Use بَيْنَمَا for the contrast, at least two cultural verbs with their correct prepositions, and one hedge so the comparison does not become a generalisation.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يَعْتَادُ … عَلَى · بَيْنَمَا نُقَدِّمُ … · يَتَمَسَّكُ … بِصِلَةِ الرَّحِمِ · مِنْ نَاحِيَةٍ … وَمِنْ نَاحِيَةٍ أُخْرَى · فِي بَعْضِ العَائِلَاتِ · لَيْسَ دَائِمًا.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(D6-L03 · Islamic Celebrations — Eid, Ramadan and Religious Occasions) will spend class time USING this language, so students prepare it tonight — short, simple, easy to access (school guidance: “Simple, Short, Interesting, Relevant, Easy to access”). The five words come from the website D6-L03 vocabulary (Ramadan and the two Eids).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D6  ·  D6-L02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D6-L02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Cultural Customs — Traditions, Greetings and Social Norms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العَادَاتُ الثَّقَافِيَّةُ — التَّقَالِيدُ وَالتَّحِيَّاتُ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Describe customs — hospitality, family ties, respect for elders — with the right verb + preposition (</a:t>
            </a:r>
            <a:pPr algn="l" indent="0" marL="0">
              <a:buNone/>
            </a:pPr>
            <a:r>
              <a:rPr lang="ar-SA" altLang="en-US" sz="1800" dirty="0">
                <a:solidFill>
                  <a:srgbClr val="C6D2E6"/>
                </a:solidFill>
                <a:latin typeface="Amiri" pitchFamily="2" charset="-78"/>
                <a:cs typeface="Amiri" pitchFamily="2" charset="-78"/>
              </a:rPr>
              <a:t>يَعْتَادُ عَلَى</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يَتَمَسَّكُ بِـ</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cs typeface="Amiri" pitchFamily="2" charset="-78"/>
              </a:rPr>
              <a:t>يَحْتَفِلُ بِـ</a:t>
            </a:r>
            <a:pPr algn="l" indent="0" marL="0">
              <a:buNone/>
            </a:pPr>
            <a:r>
              <a:rPr lang="en-US" sz="1400" dirty="0">
                <a:solidFill>
                  <a:srgbClr val="C6D2E6"/>
                </a:solidFill>
                <a:latin typeface="Calibri" pitchFamily="34" charset="0"/>
                <a:cs typeface="Amiri" pitchFamily="2" charset="-78"/>
              </a:rPr>
              <a:t>), compare with </a:t>
            </a:r>
            <a:pPr algn="l" indent="0" marL="0">
              <a:buNone/>
            </a:pPr>
            <a:r>
              <a:rPr lang="ar-SA" altLang="en-US" sz="1800" dirty="0">
                <a:solidFill>
                  <a:srgbClr val="C6D2E6"/>
                </a:solidFill>
                <a:latin typeface="Amiri" pitchFamily="2" charset="-78"/>
                <a:cs typeface="Amiri" pitchFamily="2" charset="-78"/>
              </a:rPr>
              <a:t>بَيْنَمَا</a:t>
            </a:r>
            <a:pPr algn="l" indent="0" marL="0">
              <a:buNone/>
            </a:pPr>
            <a:r>
              <a:rPr lang="en-US" sz="1400" dirty="0">
                <a:solidFill>
                  <a:srgbClr val="C6D2E6"/>
                </a:solidFill>
                <a:latin typeface="Calibri" pitchFamily="34" charset="0"/>
                <a:cs typeface="Amiri" pitchFamily="2" charset="-78"/>
              </a:rPr>
              <a:t>, and keep every claim accurate: </a:t>
            </a:r>
            <a:pPr algn="l" indent="0" marL="0">
              <a:buNone/>
            </a:pPr>
            <a:r>
              <a:rPr lang="ar-SA" altLang="en-US" sz="1800" dirty="0">
                <a:solidFill>
                  <a:srgbClr val="C6D2E6"/>
                </a:solidFill>
                <a:latin typeface="Amiri" pitchFamily="2" charset="-78"/>
                <a:cs typeface="Amiri" pitchFamily="2" charset="-78"/>
              </a:rPr>
              <a:t>فِي بَعْضِ العَائِلَاتِ</a:t>
            </a:r>
            <a:pPr algn="l" indent="0" marL="0">
              <a:buNone/>
            </a:pPr>
            <a:r>
              <a:rPr lang="en-US" sz="1400" dirty="0">
                <a:solidFill>
                  <a:srgbClr val="C6D2E6"/>
                </a:solidFill>
                <a:latin typeface="Calibri" pitchFamily="34" charset="0"/>
                <a:cs typeface="Amiri" pitchFamily="2" charset="-78"/>
              </a:rPr>
              <a:t>, not </a:t>
            </a:r>
            <a:pPr algn="l" indent="0" marL="0">
              <a:buNone/>
            </a:pPr>
            <a:r>
              <a:rPr lang="ar-SA" altLang="en-US" sz="1800" dirty="0">
                <a:solidFill>
                  <a:srgbClr val="C6D2E6"/>
                </a:solidFill>
                <a:latin typeface="Amiri" pitchFamily="2" charset="-78"/>
                <a:cs typeface="Amiri" pitchFamily="2" charset="-78"/>
              </a:rPr>
              <a:t>كُلُّ العَرَبِ</a:t>
            </a:r>
            <a:pPr algn="l" indent="0" marL="0">
              <a:buNone/>
            </a:pPr>
            <a:r>
              <a:rPr lang="en-US" sz="1400" dirty="0">
                <a:solidFill>
                  <a:srgbClr val="C6D2E6"/>
                </a:solidFill>
                <a:latin typeface="Calibri" pitchFamily="34" charset="0"/>
                <a:cs typeface="Amiri" pitchFamily="2" charset="-78"/>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D6-L02 · Development D6 · Countries, Cultures and Celebrations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D6 › D6-L02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Cultural verbs + prepositions, </a:t>
            </a:r>
            <a:pPr algn="ctr" indent="0" marL="0">
              <a:buNone/>
            </a:pPr>
            <a:r>
              <a:rPr lang="ar-SA" altLang="en-US" sz="1550" dirty="0">
                <a:solidFill>
                  <a:srgbClr val="1F2A37"/>
                </a:solidFill>
                <a:latin typeface="Amiri" pitchFamily="2" charset="-78"/>
                <a:cs typeface="Amiri" pitchFamily="2" charset="-78"/>
              </a:rPr>
              <a:t>بَيْنَمَا</a:t>
            </a:r>
            <a:pPr algn="ctr" indent="0" marL="0">
              <a:buNone/>
            </a:pPr>
            <a:r>
              <a:rPr lang="en-US" sz="1200" dirty="0">
                <a:solidFill>
                  <a:srgbClr val="1F2A37"/>
                </a:solidFill>
                <a:latin typeface="Calibri" pitchFamily="34" charset="0"/>
                <a:cs typeface="Amiri" pitchFamily="2" charset="-78"/>
              </a:rPr>
              <a:t>, and the honest hedge.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verbs by preposition, fix slips, then two students compare customs.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D6-L03.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ضِيَافَةٌ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tradition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hospitality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custom</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احْتِرَامُ الكِبَارِ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respect for elders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ties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generosity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يَحْتَفِلُ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holds on to</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belongs to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celebrates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لُبْنَانَ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فِي بَعْضِ البُلْدَانِ يُفَضِّلُ النَّاسُ التُّرَاثَ.</a:t>
            </a:r>
            <a:endParaRPr lang="ar-SA" sz="17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كُلُّ العَرَبِ يُفَضِّلُونَ التُّرَاثَ.</a:t>
            </a:r>
            <a:endParaRPr lang="ar-SA" sz="17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العَرَبُ دَائِمًا يُفَضِّلُونَ التُّرَاثَ.</a:t>
            </a:r>
            <a:endParaRPr lang="ar-SA" sz="17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ضِيَافَةٌ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tradition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hospitality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custom</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(D6-L01).</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احْتِرَامُ الكِبَارِ</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respect for elders</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family ties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generosity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(D6-L01).</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يَحْتَفِلُ بِـ</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holds on to</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belongs to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celebrates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(D6-L01).</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أَنَا مِنْ</a:t>
            </a:r>
            <a:pPr algn="l" indent="0" marL="0">
              <a:buNone/>
            </a:pPr>
            <a:r>
              <a:rPr lang="en-US" sz="1250" b="1" dirty="0">
                <a:solidFill>
                  <a:srgbClr val="1B3B6F"/>
                </a:solidFill>
                <a:latin typeface="Calibri" pitchFamily="34" charset="0"/>
                <a:cs typeface="Amiri" pitchFamily="2" charset="-78"/>
              </a:rPr>
              <a:t> ___.</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لُبْنَانٍ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لُبْنَانِيٌّ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لُبْنَانَ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D6-L01: diptotes.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بَعْضِ البُلْدَانِ يُفَضِّلُ النَّاسُ التُّرَاثَ.</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العَرَبِ يُفَضِّلُونَ التُّرَاثَ.</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 دَائِمًا يُفَضِّلُونَ التُّرَاثَ.</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D5-L06 / D6-L01: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Customs differ by country, region and family — so describe what you saw, and hedge.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D6336C"/>
                </a:solidFill>
                <a:latin typeface="Amiri" pitchFamily="2" charset="-78"/>
                <a:cs typeface="Amiri" pitchFamily="2" charset="-78"/>
              </a:rPr>
              <a:t>فِي بَعْضِ العَائِلَاتِ</a:t>
            </a:r>
            <a:pPr rtl="1" algn="ctr" indent="0" marL="0">
              <a:lnSpc>
                <a:spcPct val="120000"/>
              </a:lnSpc>
              <a:buNone/>
            </a:pPr>
            <a:r>
              <a:rPr lang="ar-SA" altLang="en-US" sz="1950" b="1" dirty="0">
                <a:solidFill>
                  <a:srgbClr val="1B3B6F"/>
                </a:solidFill>
                <a:latin typeface="Amiri" pitchFamily="2" charset="-78"/>
                <a:cs typeface="Amiri" pitchFamily="2" charset="-78"/>
              </a:rPr>
              <a:t> </a:t>
            </a:r>
            <a:pPr rtl="1" algn="ctr" indent="0" marL="0">
              <a:lnSpc>
                <a:spcPct val="120000"/>
              </a:lnSpc>
              <a:buNone/>
            </a:pPr>
            <a:r>
              <a:rPr lang="ar-SA" altLang="en-US" sz="1950" b="1" dirty="0">
                <a:solidFill>
                  <a:srgbClr val="0E7C86"/>
                </a:solidFill>
                <a:latin typeface="Amiri" pitchFamily="2" charset="-78"/>
                <a:cs typeface="Amiri" pitchFamily="2" charset="-78"/>
              </a:rPr>
              <a:t>يَعْتَادُ</a:t>
            </a:r>
            <a:pPr rtl="1" algn="ctr" indent="0" marL="0">
              <a:lnSpc>
                <a:spcPct val="120000"/>
              </a:lnSpc>
              <a:buNone/>
            </a:pPr>
            <a:r>
              <a:rPr lang="ar-SA" altLang="en-US" sz="1950" b="1" dirty="0">
                <a:solidFill>
                  <a:srgbClr val="1B3B6F"/>
                </a:solidFill>
                <a:latin typeface="Amiri" pitchFamily="2" charset="-78"/>
                <a:cs typeface="Amiri" pitchFamily="2" charset="-78"/>
              </a:rPr>
              <a:t> النَّاسُ </a:t>
            </a:r>
            <a:pPr rtl="1" algn="ctr" indent="0" marL="0">
              <a:lnSpc>
                <a:spcPct val="120000"/>
              </a:lnSpc>
              <a:buNone/>
            </a:pPr>
            <a:r>
              <a:rPr lang="ar-SA" altLang="en-US" sz="1950" b="1" dirty="0">
                <a:solidFill>
                  <a:srgbClr val="0E7C86"/>
                </a:solidFill>
                <a:latin typeface="Amiri" pitchFamily="2" charset="-78"/>
                <a:cs typeface="Amiri" pitchFamily="2" charset="-78"/>
              </a:rPr>
              <a:t>عَلَى</a:t>
            </a:r>
            <a:pPr rtl="1" algn="ctr" indent="0" marL="0">
              <a:lnSpc>
                <a:spcPct val="120000"/>
              </a:lnSpc>
              <a:buNone/>
            </a:pPr>
            <a:r>
              <a:rPr lang="ar-SA" altLang="en-US" sz="1950" b="1" dirty="0">
                <a:solidFill>
                  <a:srgbClr val="1B3B6F"/>
                </a:solidFill>
                <a:latin typeface="Amiri" pitchFamily="2" charset="-78"/>
                <a:cs typeface="Amiri" pitchFamily="2" charset="-78"/>
              </a:rPr>
              <a:t> الضِّيَافَةِ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customs and values (</a:t>
            </a:r>
            <a:pPr algn="l" indent="0" marL="0">
              <a:buNone/>
            </a:pPr>
            <a:r>
              <a:rPr lang="ar-SA" altLang="en-US" sz="1700" dirty="0">
                <a:solidFill>
                  <a:srgbClr val="1F2A37"/>
                </a:solidFill>
                <a:latin typeface="Amiri" pitchFamily="2" charset="-78"/>
                <a:cs typeface="Amiri" pitchFamily="2" charset="-78"/>
              </a:rPr>
              <a:t>ضِيَافَةٌ</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كَرَمٌ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صِلَةُ الرَّحِمِ</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احْتِرَامُ الكِبَارِ</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cultural verbs with their fixed prepositions.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Contrast two customs with </a:t>
            </a:r>
            <a:pPr algn="l" indent="0" marL="0">
              <a:buNone/>
            </a:pPr>
            <a:r>
              <a:rPr lang="ar-SA" altLang="en-US" sz="1700" dirty="0">
                <a:solidFill>
                  <a:srgbClr val="1F2A37"/>
                </a:solidFill>
                <a:latin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and balance two sides.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Hedge cultural claims (</a:t>
            </a:r>
            <a:pPr algn="l" indent="0" marL="0">
              <a:buNone/>
            </a:pPr>
            <a:r>
              <a:rPr lang="ar-SA" altLang="en-US" sz="1700" dirty="0">
                <a:solidFill>
                  <a:srgbClr val="1F2A37"/>
                </a:solidFill>
                <a:latin typeface="Amiri" pitchFamily="2" charset="-78"/>
                <a:cs typeface="Amiri" pitchFamily="2" charset="-78"/>
              </a:rPr>
              <a:t>فِي بَعْضِ العَائِلَاتِ</a:t>
            </a:r>
            <a:pPr algn="l" indent="0" marL="0">
              <a:buNone/>
            </a:pPr>
            <a:r>
              <a:rPr lang="en-US" sz="1300" dirty="0">
                <a:solidFill>
                  <a:srgbClr val="1F2A37"/>
                </a:solidFill>
                <a:latin typeface="Calibri" pitchFamily="34" charset="0"/>
                <a:cs typeface="Amiri" pitchFamily="2" charset="-78"/>
              </a:rPr>
              <a:t> · </a:t>
            </a:r>
            <a:pPr algn="l" indent="0" marL="0">
              <a:buNone/>
            </a:pPr>
            <a:r>
              <a:rPr lang="ar-SA" altLang="en-US" sz="1700" dirty="0">
                <a:solidFill>
                  <a:srgbClr val="1F2A37"/>
                </a:solidFill>
                <a:latin typeface="Amiri" pitchFamily="2" charset="-78"/>
                <a:cs typeface="Amiri" pitchFamily="2" charset="-78"/>
              </a:rPr>
              <a:t>لَيْسَ دَائِمًا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10 customs and values.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use one cultural verb with its preposition.</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contrast two customs with </a:t>
            </a:r>
            <a:pPr algn="l" indent="0" marL="0">
              <a:buNone/>
            </a:pPr>
            <a:r>
              <a:rPr lang="ar-SA" altLang="en-US" sz="1700" b="1" dirty="0">
                <a:solidFill>
                  <a:srgbClr val="C9780A"/>
                </a:solidFill>
                <a:latin typeface="Amiri" pitchFamily="2" charset="-78"/>
                <a:cs typeface="Amiri" pitchFamily="2" charset="-78"/>
              </a:rPr>
              <a:t>بَيْنَمَا</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hedge a cultural claim.</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balance two sides (</a:t>
            </a:r>
            <a:pPr algn="l" indent="0" marL="0">
              <a:buNone/>
            </a:pPr>
            <a:r>
              <a:rPr lang="ar-SA" altLang="en-US" sz="1700" b="1" dirty="0">
                <a:solidFill>
                  <a:srgbClr val="B83227"/>
                </a:solidFill>
                <a:latin typeface="Amiri" pitchFamily="2" charset="-78"/>
                <a:cs typeface="Amiri" pitchFamily="2" charset="-78"/>
              </a:rPr>
              <a:t>مِنْ نَاحِيَةٍ</a:t>
            </a:r>
            <a:pPr algn="l" indent="0" marL="0">
              <a:buNone/>
            </a:pPr>
            <a:r>
              <a:rPr lang="en-US" sz="1300" b="1" dirty="0">
                <a:solidFill>
                  <a:srgbClr val="B83227"/>
                </a:solidFill>
                <a:latin typeface="Calibri" pitchFamily="34" charset="0"/>
                <a:cs typeface="Amiri" pitchFamily="2" charset="-78"/>
              </a:rPr>
              <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and avoid a stereotype.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Customs and values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Cultural verbs · 9</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Comparing and qualifying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عَادَةٌ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‎عادت‎ </a:t>
            </a:r>
            <a:pPr indent="0" marL="0">
              <a:buNone/>
            </a:pPr>
            <a:r>
              <a:rPr lang="en-US" sz="950" b="1" dirty="0">
                <a:solidFill>
                  <a:srgbClr val="2E8B57"/>
                </a:solidFill>
                <a:latin typeface="Calibri" pitchFamily="34" charset="0"/>
                <a:cs typeface="Amiri" pitchFamily="2" charset="-78"/>
              </a:rPr>
              <a:t> ʿādat · Urdu: a habit · Arabic: a custom (also a habit)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تَقْلِيدٌ</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‎تقلید‎ </a:t>
            </a:r>
            <a:pPr indent="0" marL="0">
              <a:buNone/>
            </a:pPr>
            <a:r>
              <a:rPr lang="en-US" sz="950" b="1" dirty="0">
                <a:solidFill>
                  <a:srgbClr val="2E8B57"/>
                </a:solidFill>
                <a:latin typeface="Calibri" pitchFamily="34" charset="0"/>
                <a:cs typeface="Amiri" pitchFamily="2" charset="-78"/>
              </a:rPr>
              <a:t> taqlīd · Urdu: imitation, following · Arabic: a tradition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ضِيَافَةٌ / ضَيْفٌ</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‎ضیافت / مہمان‎ </a:t>
            </a:r>
            <a:pPr indent="0" marL="0">
              <a:buNone/>
            </a:pPr>
            <a:r>
              <a:rPr lang="en-US" sz="950" b="1" dirty="0">
                <a:solidFill>
                  <a:srgbClr val="2E8B57"/>
                </a:solidFill>
                <a:latin typeface="Calibri" pitchFamily="34" charset="0"/>
                <a:cs typeface="Amiri" pitchFamily="2" charset="-78"/>
              </a:rPr>
              <a:t> ẓiyāfat · hospitality / a guest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كَرَمٌ</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‎کرم‎ </a:t>
            </a:r>
            <a:pPr indent="0" marL="0">
              <a:buNone/>
            </a:pPr>
            <a:r>
              <a:rPr lang="en-US" sz="950" b="1" dirty="0">
                <a:solidFill>
                  <a:srgbClr val="2E8B57"/>
                </a:solidFill>
                <a:latin typeface="Calibri" pitchFamily="34" charset="0"/>
                <a:cs typeface="Amiri" pitchFamily="2" charset="-78"/>
              </a:rPr>
              <a:t> karam · generosity, kindness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صِلَةُ الرَّحِمِ</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‎صلہ رحمی‎ </a:t>
            </a:r>
            <a:pPr indent="0" marL="0">
              <a:buNone/>
            </a:pPr>
            <a:r>
              <a:rPr lang="en-US" sz="950" b="1" dirty="0">
                <a:solidFill>
                  <a:srgbClr val="2E8B57"/>
                </a:solidFill>
                <a:latin typeface="Calibri" pitchFamily="34" charset="0"/>
                <a:cs typeface="Amiri" pitchFamily="2" charset="-78"/>
              </a:rPr>
              <a:t> ṣila-e-raḥmī · keeping family ties</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Customs and values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عَادَةٌ / عَادَاتٌ</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custom / customs</a:t>
            </a:r>
            <a:endParaRPr lang="en-US" sz="1350" dirty="0"/>
          </a:p>
          <a:p>
            <a:pPr indent="0" marL="0">
              <a:buNone/>
            </a:pPr>
            <a:r>
              <a:rPr lang="en-US" sz="1100" i="1" dirty="0">
                <a:solidFill>
                  <a:srgbClr val="5A6472"/>
                </a:solidFill>
                <a:latin typeface="Calibri" pitchFamily="34" charset="0"/>
                <a:cs typeface="Amiri" pitchFamily="2" charset="-78"/>
              </a:rPr>
              <a:t>ʿā-da-tun / ʿā-dā-tun</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تَقْلِيدٌ / تَقَالِيدُ</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 / traditions</a:t>
            </a:r>
            <a:endParaRPr lang="en-US" sz="1350" dirty="0"/>
          </a:p>
          <a:p>
            <a:pPr indent="0" marL="0">
              <a:buNone/>
            </a:pPr>
            <a:r>
              <a:rPr lang="en-US" sz="1100" i="1" dirty="0">
                <a:solidFill>
                  <a:srgbClr val="5A6472"/>
                </a:solidFill>
                <a:latin typeface="Calibri" pitchFamily="34" charset="0"/>
                <a:cs typeface="Amiri" pitchFamily="2" charset="-78"/>
              </a:rPr>
              <a:t>taq-lī-dun / ta-qā-lī-du</a:t>
            </a:r>
            <a:endParaRPr lang="en-US" sz="1350" dirty="0"/>
          </a:p>
        </p:txBody>
      </p:sp>
      <p:sp>
        <p:nvSpPr>
          <p:cNvPr id="31" name="Text 28"/>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plural </a:t>
            </a:r>
            <a:pPr algn="l" indent="0" marL="0">
              <a:buNone/>
            </a:pPr>
            <a:r>
              <a:rPr lang="ar-SA" altLang="en-US" sz="1300" dirty="0">
                <a:solidFill>
                  <a:srgbClr val="8A6D1E"/>
                </a:solidFill>
                <a:latin typeface="Amiri" pitchFamily="2" charset="-78"/>
                <a:cs typeface="Amiri" pitchFamily="2" charset="-78"/>
              </a:rPr>
              <a:t>تَقَالِيدُ</a:t>
            </a:r>
            <a:pPr algn="l" indent="0" marL="0">
              <a:buNone/>
            </a:pPr>
            <a:r>
              <a:rPr lang="en-US" sz="1000" i="1" dirty="0">
                <a:solidFill>
                  <a:srgbClr val="8A6D1E"/>
                </a:solidFill>
                <a:latin typeface="Calibri" pitchFamily="34" charset="0"/>
                <a:cs typeface="Amiri" pitchFamily="2" charset="-78"/>
              </a:rPr>
              <a:t> is a diptote.</a:t>
            </a:r>
            <a:endParaRPr lang="en-US" sz="100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5" name="Shape 32"/>
          <p:cNvSpPr/>
          <p:nvPr/>
        </p:nvSpPr>
        <p:spPr>
          <a:xfrm>
            <a:off x="960120" y="1938528"/>
            <a:ext cx="1766621"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960120" y="1938528"/>
            <a:ext cx="176662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The plural is a diptote.</a:t>
            </a:r>
            <a:endParaRPr lang="en-US" sz="8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مِعْيَارٌ / مَعَايِيرُ</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norm / norms</a:t>
            </a:r>
            <a:endParaRPr lang="en-US" sz="1350" dirty="0"/>
          </a:p>
          <a:p>
            <a:pPr indent="0" marL="0">
              <a:buNone/>
            </a:pPr>
            <a:r>
              <a:rPr lang="en-US" sz="1100" i="1" dirty="0">
                <a:solidFill>
                  <a:srgbClr val="5A6472"/>
                </a:solidFill>
                <a:latin typeface="Calibri" pitchFamily="34" charset="0"/>
                <a:cs typeface="Amiri" pitchFamily="2" charset="-78"/>
              </a:rPr>
              <a:t>miʿ-yā-run / ma-ʿā-yī-ru</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Feminine.</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ضِيَافَةٌ</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hospitality</a:t>
            </a:r>
            <a:endParaRPr lang="en-US" sz="1350" dirty="0"/>
          </a:p>
          <a:p>
            <a:pPr indent="0" marL="0">
              <a:buNone/>
            </a:pPr>
            <a:r>
              <a:rPr lang="en-US" sz="1100" i="1" dirty="0">
                <a:solidFill>
                  <a:srgbClr val="5A6472"/>
                </a:solidFill>
                <a:latin typeface="Calibri" pitchFamily="34" charset="0"/>
                <a:cs typeface="Amiri" pitchFamily="2" charset="-78"/>
              </a:rPr>
              <a:t>ḍi-yā-fa-tun</a:t>
            </a:r>
            <a:endParaRPr lang="en-US" sz="1350" dirty="0"/>
          </a:p>
        </p:txBody>
      </p:sp>
      <p:sp>
        <p:nvSpPr>
          <p:cNvPr id="48" name="Shape 4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4389120" y="4261104"/>
            <a:ext cx="310896" cy="310896"/>
          </a:xfrm>
          <a:prstGeom prst="ellipse">
            <a:avLst/>
          </a:prstGeom>
          <a:solidFill>
            <a:srgbClr val="F4F1EA"/>
          </a:solidFill>
          <a:ln w="12700">
            <a:solidFill>
              <a:srgbClr val="F4F1EA"/>
            </a:solidFill>
            <a:prstDash val="solid"/>
          </a:ln>
        </p:spPr>
      </p:sp>
      <p:sp>
        <p:nvSpPr>
          <p:cNvPr id="50" name="Text 4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1" name="Shape 48"/>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52" name="Text 49"/>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53" name="Shape 50"/>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كَرَمٌ</a:t>
            </a:r>
            <a:endParaRPr lang="ar-SA" sz="3000" dirty="0"/>
          </a:p>
        </p:txBody>
      </p:sp>
      <p:sp>
        <p:nvSpPr>
          <p:cNvPr id="56" name="Text 5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generosity</a:t>
            </a:r>
            <a:endParaRPr lang="en-US" sz="1350" dirty="0"/>
          </a:p>
          <a:p>
            <a:pPr indent="0" marL="0">
              <a:buNone/>
            </a:pPr>
            <a:r>
              <a:rPr lang="en-US" sz="1100" i="1" dirty="0">
                <a:solidFill>
                  <a:srgbClr val="5A6472"/>
                </a:solidFill>
                <a:latin typeface="Calibri" pitchFamily="34" charset="0"/>
                <a:cs typeface="Amiri" pitchFamily="2" charset="-78"/>
              </a:rPr>
              <a:t>ka-ra-mun</a:t>
            </a:r>
            <a:endParaRPr lang="en-US" sz="135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 iḍāfa.</a:t>
            </a:r>
            <a:endParaRPr lang="en-US" sz="800" dirty="0"/>
          </a:p>
        </p:txBody>
      </p:sp>
      <p:sp>
        <p:nvSpPr>
          <p:cNvPr id="62" name="Shape 59"/>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احْتِرَامُ الكِبَارِ</a:t>
            </a:r>
            <a:endParaRPr lang="ar-SA" sz="3000" dirty="0"/>
          </a:p>
        </p:txBody>
      </p:sp>
      <p:sp>
        <p:nvSpPr>
          <p:cNvPr id="65" name="Text 62"/>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 for elders</a:t>
            </a:r>
            <a:endParaRPr lang="en-US" sz="1350" dirty="0"/>
          </a:p>
          <a:p>
            <a:pPr indent="0" marL="0">
              <a:buNone/>
            </a:pPr>
            <a:r>
              <a:rPr lang="en-US" sz="1100" i="1" dirty="0">
                <a:solidFill>
                  <a:srgbClr val="5A6472"/>
                </a:solidFill>
                <a:latin typeface="Calibri" pitchFamily="34" charset="0"/>
                <a:cs typeface="Amiri" pitchFamily="2" charset="-78"/>
              </a:rPr>
              <a:t>aḥ-ti-rā-mu al-ki-bā-ri</a:t>
            </a:r>
            <a:endParaRPr lang="en-US"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Customs and values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أَهَمِّيَّةُ العَائِلَةِ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importance of family</a:t>
            </a:r>
            <a:endParaRPr lang="en-US" sz="1350" dirty="0"/>
          </a:p>
          <a:p>
            <a:pPr indent="0" marL="0">
              <a:buNone/>
            </a:pPr>
            <a:r>
              <a:rPr lang="en-US" sz="1100" i="1" dirty="0">
                <a:solidFill>
                  <a:srgbClr val="5A6472"/>
                </a:solidFill>
                <a:latin typeface="Calibri" pitchFamily="34" charset="0"/>
                <a:cs typeface="Amiri" pitchFamily="2" charset="-78"/>
              </a:rPr>
              <a:t>a-ham-miy-ya-tu al-ʿā-ʾi-la-ti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Shape 20"/>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Form VI verbal noun.</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التَّضَامُنُ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solidarity</a:t>
            </a:r>
            <a:endParaRPr lang="en-US" sz="1350" dirty="0"/>
          </a:p>
          <a:p>
            <a:pPr indent="0" marL="0">
              <a:buNone/>
            </a:pPr>
            <a:r>
              <a:rPr lang="en-US" sz="1100" i="1" dirty="0">
                <a:solidFill>
                  <a:srgbClr val="5A6472"/>
                </a:solidFill>
                <a:latin typeface="Calibri" pitchFamily="34" charset="0"/>
                <a:cs typeface="Amiri" pitchFamily="2" charset="-78"/>
              </a:rPr>
              <a:t>at-ta-ḍā-mu-nu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صِلَةُ الرَّحِمِ</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keeping family ties</a:t>
            </a:r>
            <a:endParaRPr lang="en-US" sz="1350" dirty="0"/>
          </a:p>
          <a:p>
            <a:pPr indent="0" marL="0">
              <a:buNone/>
            </a:pPr>
            <a:r>
              <a:rPr lang="en-US" sz="1100" i="1" dirty="0">
                <a:solidFill>
                  <a:srgbClr val="5A6472"/>
                </a:solidFill>
                <a:latin typeface="Calibri" pitchFamily="34" charset="0"/>
                <a:cs typeface="Amiri" pitchFamily="2" charset="-78"/>
              </a:rPr>
              <a:t>ṣi-la-tu ar-ra-ḥi-mi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حُسْنُ الجِوَارِ</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neighbourliness</a:t>
            </a:r>
            <a:endParaRPr lang="en-US" sz="1350" dirty="0"/>
          </a:p>
          <a:p>
            <a:pPr indent="0" marL="0">
              <a:buNone/>
            </a:pPr>
            <a:r>
              <a:rPr lang="en-US" sz="1100" i="1" dirty="0">
                <a:solidFill>
                  <a:srgbClr val="5A6472"/>
                </a:solidFill>
                <a:latin typeface="Calibri" pitchFamily="34" charset="0"/>
                <a:cs typeface="Amiri" pitchFamily="2" charset="-78"/>
              </a:rPr>
              <a:t>ḥus-nu al-ji-wā-ri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2" name="Shape 39"/>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Masculine.</a:t>
            </a:r>
            <a:endParaRPr lang="en-US" sz="8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التَّآزُرُ</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mutual support</a:t>
            </a:r>
            <a:endParaRPr lang="en-US" sz="1350" dirty="0"/>
          </a:p>
          <a:p>
            <a:pPr indent="0" marL="0">
              <a:buNone/>
            </a:pPr>
            <a:r>
              <a:rPr lang="en-US" sz="1100" i="1" dirty="0">
                <a:solidFill>
                  <a:srgbClr val="5A6472"/>
                </a:solidFill>
                <a:latin typeface="Calibri" pitchFamily="34" charset="0"/>
                <a:cs typeface="Amiri" pitchFamily="2" charset="-78"/>
              </a:rPr>
              <a:t>at-ta-ʾā-zu-ru</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verbs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يَعْتَادُ عَلَى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accustomed to</a:t>
            </a:r>
            <a:endParaRPr lang="en-US" sz="1350" dirty="0"/>
          </a:p>
          <a:p>
            <a:pPr indent="0" marL="0">
              <a:buNone/>
            </a:pPr>
            <a:r>
              <a:rPr lang="en-US" sz="1100" i="1" dirty="0">
                <a:solidFill>
                  <a:srgbClr val="5A6472"/>
                </a:solidFill>
                <a:latin typeface="Calibri" pitchFamily="34" charset="0"/>
                <a:cs typeface="Amiri" pitchFamily="2" charset="-78"/>
              </a:rPr>
              <a:t>yaʿ-tā-du ʿa-lā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6" name="Text 23"/>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اِعْتَادَ</a:t>
            </a:r>
            <a:endParaRPr lang="ar-SA" sz="135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تَعْتَادُ</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33" name="Shape 3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يَتَمَسَّكُ بِـ</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holds on to, adheres to</a:t>
            </a:r>
            <a:endParaRPr lang="en-US" sz="1350" dirty="0"/>
          </a:p>
          <a:p>
            <a:pPr indent="0" marL="0">
              <a:buNone/>
            </a:pPr>
            <a:r>
              <a:rPr lang="en-US" sz="1100" i="1" dirty="0">
                <a:solidFill>
                  <a:srgbClr val="5A6472"/>
                </a:solidFill>
                <a:latin typeface="Calibri" pitchFamily="34" charset="0"/>
                <a:cs typeface="Amiri" pitchFamily="2" charset="-78"/>
              </a:rPr>
              <a:t>ya-ta-mas-sa-ku bi</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41" name="Text 38"/>
          <p:cNvSpPr txBox="1"/>
          <p:nvPr/>
        </p:nvSpPr>
        <p:spPr>
          <a:xfrm>
            <a:off x="6190488"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تَمَسَّكَ</a:t>
            </a:r>
            <a:endParaRPr lang="ar-SA" sz="135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تَتَمَسَّكُ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48" name="Shape 4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يَحْتَفِلُ بِـ</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celebrates</a:t>
            </a:r>
            <a:endParaRPr lang="en-US" sz="1350" dirty="0"/>
          </a:p>
          <a:p>
            <a:pPr indent="0" marL="0">
              <a:buNone/>
            </a:pPr>
            <a:r>
              <a:rPr lang="en-US" sz="1100" i="1" dirty="0">
                <a:solidFill>
                  <a:srgbClr val="5A6472"/>
                </a:solidFill>
                <a:latin typeface="Calibri" pitchFamily="34" charset="0"/>
                <a:cs typeface="Amiri" pitchFamily="2" charset="-78"/>
              </a:rPr>
              <a:t>yaḥ-ta-fi-lu bi</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56" name="Text 53"/>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اِحْتَفَلَ</a:t>
            </a:r>
            <a:endParaRPr lang="ar-SA" sz="135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تَحْتَفِلُ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63" name="Shape 60"/>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يَنْتَمِي إِلَى</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belongs to</a:t>
            </a:r>
            <a:endParaRPr lang="en-US" sz="1350" dirty="0"/>
          </a:p>
          <a:p>
            <a:pPr indent="0" marL="0">
              <a:buNone/>
            </a:pPr>
            <a:r>
              <a:rPr lang="en-US" sz="1100" i="1" dirty="0">
                <a:solidFill>
                  <a:srgbClr val="5A6472"/>
                </a:solidFill>
                <a:latin typeface="Calibri" pitchFamily="34" charset="0"/>
                <a:cs typeface="Amiri" pitchFamily="2" charset="-78"/>
              </a:rPr>
              <a:t>yan-ta-mī i-lā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71" name="Text 68"/>
          <p:cNvSpPr txBox="1"/>
          <p:nvPr/>
        </p:nvSpPr>
        <p:spPr>
          <a:xfrm>
            <a:off x="100126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اِنْتَمَى</a:t>
            </a:r>
            <a:endParaRPr lang="ar-SA" sz="135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تَنْتَمِي</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يَتَكَيَّفُ مَعَ</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adapts to</a:t>
            </a:r>
            <a:endParaRPr lang="en-US" sz="1350" dirty="0"/>
          </a:p>
          <a:p>
            <a:pPr indent="0" marL="0">
              <a:buNone/>
            </a:pPr>
            <a:r>
              <a:rPr lang="en-US" sz="1100" i="1" dirty="0">
                <a:solidFill>
                  <a:srgbClr val="5A6472"/>
                </a:solidFill>
                <a:latin typeface="Calibri" pitchFamily="34" charset="0"/>
                <a:cs typeface="Amiri" pitchFamily="2" charset="-78"/>
              </a:rPr>
              <a:t>ya-ta-kay-ya-fu ma-ʿa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84" name="Text 81"/>
          <p:cNvSpPr txBox="1"/>
          <p:nvPr/>
        </p:nvSpPr>
        <p:spPr>
          <a:xfrm>
            <a:off x="6190488"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تَكَيَّفَ</a:t>
            </a:r>
            <a:endParaRPr lang="ar-SA" sz="135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تَتَكَيَّفُ</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verbs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she · past</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يَحْتَفِظُ بِـ</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keeps, preserves</a:t>
            </a:r>
            <a:endParaRPr lang="en-US" sz="1350" dirty="0"/>
          </a:p>
          <a:p>
            <a:pPr indent="0" marL="0">
              <a:buNone/>
            </a:pPr>
            <a:r>
              <a:rPr lang="en-US" sz="1100" i="1" dirty="0">
                <a:solidFill>
                  <a:srgbClr val="5A6472"/>
                </a:solidFill>
                <a:latin typeface="Calibri" pitchFamily="34" charset="0"/>
                <a:cs typeface="Amiri" pitchFamily="2" charset="-78"/>
              </a:rPr>
              <a:t>yaḥ-ta-fi-ẓu bi</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past</a:t>
            </a:r>
            <a:endParaRPr lang="en-US" sz="700" dirty="0"/>
          </a:p>
        </p:txBody>
      </p:sp>
      <p:sp>
        <p:nvSpPr>
          <p:cNvPr id="24" name="Text 21"/>
          <p:cNvSpPr txBox="1"/>
          <p:nvPr/>
        </p:nvSpPr>
        <p:spPr>
          <a:xfrm>
            <a:off x="100126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cs typeface="Amiri" pitchFamily="2" charset="-78"/>
              </a:rPr>
              <a:t>اِحْتَفَظَ</a:t>
            </a:r>
            <a:endParaRPr lang="ar-SA" sz="135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تَحْتَفِظُ</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يَتَبَادَلُ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exchanges</a:t>
            </a:r>
            <a:endParaRPr lang="en-US" sz="1350" dirty="0"/>
          </a:p>
          <a:p>
            <a:pPr indent="0" marL="0">
              <a:buNone/>
            </a:pPr>
            <a:r>
              <a:rPr lang="en-US" sz="1100" i="1" dirty="0">
                <a:solidFill>
                  <a:srgbClr val="5A6472"/>
                </a:solidFill>
                <a:latin typeface="Calibri" pitchFamily="34" charset="0"/>
                <a:cs typeface="Amiri" pitchFamily="2" charset="-78"/>
              </a:rPr>
              <a:t>ya-ta-bā-da-lu</a:t>
            </a:r>
            <a:endParaRPr lang="en-US" sz="1350" dirty="0"/>
          </a:p>
        </p:txBody>
      </p:sp>
      <p:sp>
        <p:nvSpPr>
          <p:cNvPr id="33" name="Text 30"/>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 reciprocal; takes a direct object.</a:t>
            </a:r>
            <a:endParaRPr lang="en-US" sz="10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يُقَدِّمُ</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presents, offers</a:t>
            </a:r>
            <a:endParaRPr lang="en-US" sz="1350" dirty="0"/>
          </a:p>
          <a:p>
            <a:pPr indent="0" marL="0">
              <a:buNone/>
            </a:pPr>
            <a:r>
              <a:rPr lang="en-US" sz="1100" i="1" dirty="0">
                <a:solidFill>
                  <a:srgbClr val="5A6472"/>
                </a:solidFill>
                <a:latin typeface="Calibri" pitchFamily="34" charset="0"/>
                <a:cs typeface="Amiri" pitchFamily="2" charset="-78"/>
              </a:rPr>
              <a:t>yu-qad-di-mu</a:t>
            </a:r>
            <a:endParaRPr lang="en-US" sz="1350" dirty="0"/>
          </a:p>
        </p:txBody>
      </p:sp>
      <p:sp>
        <p:nvSpPr>
          <p:cNvPr id="39" name="Text 36"/>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3" name="Shape 40"/>
          <p:cNvSpPr/>
          <p:nvPr/>
        </p:nvSpPr>
        <p:spPr>
          <a:xfrm>
            <a:off x="8604504" y="4279392"/>
            <a:ext cx="1642262" cy="256032"/>
          </a:xfrm>
          <a:prstGeom prst="roundRect">
            <a:avLst>
              <a:gd name="adj" fmla="val 50000"/>
            </a:avLst>
          </a:prstGeom>
          <a:solidFill>
            <a:srgbClr val="EFE7D2"/>
          </a:solidFill>
          <a:ln w="12700">
            <a:solidFill>
              <a:srgbClr val="EFE7D2"/>
            </a:solidFill>
            <a:prstDash val="solid"/>
          </a:ln>
        </p:spPr>
      </p:sp>
      <p:sp>
        <p:nvSpPr>
          <p:cNvPr id="44" name="Text 41"/>
          <p:cNvSpPr txBox="1"/>
          <p:nvPr/>
        </p:nvSpPr>
        <p:spPr>
          <a:xfrm>
            <a:off x="8604504" y="4279392"/>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Takes a direct object.</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يَحْتَرِمُ</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respects</a:t>
            </a:r>
            <a:endParaRPr lang="en-US" sz="1350" dirty="0"/>
          </a:p>
          <a:p>
            <a:pPr indent="0" marL="0">
              <a:buNone/>
            </a:pPr>
            <a:r>
              <a:rPr lang="en-US" sz="1100" i="1" dirty="0">
                <a:solidFill>
                  <a:srgbClr val="5A6472"/>
                </a:solidFill>
                <a:latin typeface="Calibri" pitchFamily="34" charset="0"/>
                <a:cs typeface="Amiri" pitchFamily="2" charset="-78"/>
              </a:rPr>
              <a:t>yaḥ-ta-ri-mu</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qualifying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بَيْنَمَا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 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Joins two contrasting clauses.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650" b="1" dirty="0">
                <a:solidFill>
                  <a:srgbClr val="1B3B6F"/>
                </a:solidFill>
                <a:latin typeface="Amiri" pitchFamily="2" charset="-78"/>
                <a:cs typeface="Amiri" pitchFamily="2" charset="-78"/>
              </a:rPr>
              <a:t>مِنْ نَاحِيَةٍ … وَمِنْ نَاحِيَةٍ أُخْرَى</a:t>
            </a:r>
            <a:endParaRPr lang="ar-SA" sz="265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 … on the other</a:t>
            </a:r>
            <a:endParaRPr lang="en-US" sz="1350" dirty="0"/>
          </a:p>
          <a:p>
            <a:pPr indent="0" marL="0">
              <a:buNone/>
            </a:pPr>
            <a:r>
              <a:rPr lang="en-US" sz="1100" i="1" dirty="0">
                <a:solidFill>
                  <a:srgbClr val="5A6472"/>
                </a:solidFill>
                <a:latin typeface="Calibri" pitchFamily="34" charset="0"/>
                <a:cs typeface="Amiri" pitchFamily="2" charset="-78"/>
              </a:rPr>
              <a:t>min nā-ḥi-ya-tin … wa-min nā-ḥi-ya-tin ukh-rā</a:t>
            </a:r>
            <a:endParaRPr lang="en-US" sz="1350" dirty="0"/>
          </a:p>
        </p:txBody>
      </p:sp>
      <p:sp>
        <p:nvSpPr>
          <p:cNvPr id="28" name="Shape 25"/>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566928"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1" name="Shape 28"/>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بَعْضِ البُلْدَانِ</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countries</a:t>
            </a:r>
            <a:endParaRPr lang="en-US" sz="1350" dirty="0"/>
          </a:p>
          <a:p>
            <a:pPr indent="0" marL="0">
              <a:buNone/>
            </a:pPr>
            <a:r>
              <a:rPr lang="en-US" sz="1100" i="1" dirty="0">
                <a:solidFill>
                  <a:srgbClr val="5A6472"/>
                </a:solidFill>
                <a:latin typeface="Calibri" pitchFamily="34" charset="0"/>
                <a:cs typeface="Amiri" pitchFamily="2" charset="-78"/>
              </a:rPr>
              <a:t>fī baʿ-ḍi al-bul-dā-ni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8" name="Shape 35"/>
          <p:cNvSpPr/>
          <p:nvPr/>
        </p:nvSpPr>
        <p:spPr>
          <a:xfrm>
            <a:off x="8604504" y="4279392"/>
            <a:ext cx="1331366"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Hedging language.</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فِي بَعْضِ العَائِلَاتِ</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some families</a:t>
            </a:r>
            <a:endParaRPr lang="en-US" sz="1350" dirty="0"/>
          </a:p>
          <a:p>
            <a:pPr indent="0" marL="0">
              <a:buNone/>
            </a:pPr>
            <a:r>
              <a:rPr lang="en-US" sz="1100" i="1" dirty="0">
                <a:solidFill>
                  <a:srgbClr val="5A6472"/>
                </a:solidFill>
                <a:latin typeface="Calibri" pitchFamily="34" charset="0"/>
                <a:cs typeface="Amiri" pitchFamily="2" charset="-78"/>
              </a:rPr>
              <a:t>fī baʿ-ḍi al-ʿā-ʾi-lā-ti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qualifying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أَحْيَانًا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لَيْسَ دَائِمًا</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not always</a:t>
            </a:r>
            <a:endParaRPr lang="en-US" sz="1350" dirty="0"/>
          </a:p>
          <a:p>
            <a:pPr indent="0" marL="0">
              <a:buNone/>
            </a:pPr>
            <a:r>
              <a:rPr lang="en-US" sz="1100" i="1" dirty="0">
                <a:solidFill>
                  <a:srgbClr val="5A6472"/>
                </a:solidFill>
                <a:latin typeface="Calibri" pitchFamily="34" charset="0"/>
                <a:cs typeface="Amiri" pitchFamily="2" charset="-78"/>
              </a:rPr>
              <a:t>lay-sa dā-ʾi-man</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يَخْتَلِفُ مِنْ … إِلَى …</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differs from … to …</a:t>
            </a:r>
            <a:endParaRPr lang="en-US" sz="1350" dirty="0"/>
          </a:p>
          <a:p>
            <a:pPr indent="0" marL="0">
              <a:buNone/>
            </a:pPr>
            <a:r>
              <a:rPr lang="en-US" sz="1100" i="1" dirty="0">
                <a:solidFill>
                  <a:srgbClr val="5A6472"/>
                </a:solidFill>
                <a:latin typeface="Calibri" pitchFamily="34" charset="0"/>
                <a:cs typeface="Amiri" pitchFamily="2" charset="-78"/>
              </a:rPr>
              <a:t>yakh-ta-li-fu min … i-lā …</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33" name="Shape 30"/>
          <p:cNvSpPr/>
          <p:nvPr/>
        </p:nvSpPr>
        <p:spPr>
          <a:xfrm>
            <a:off x="8604504" y="4279392"/>
            <a:ext cx="1144829"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8604504" y="4279392"/>
            <a:ext cx="1144829"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What to avoid.</a:t>
            </a:r>
            <a:endParaRPr lang="en-US" sz="8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تَعْمِيمٌ</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generalisation</a:t>
            </a:r>
            <a:endParaRPr lang="en-US" sz="1350" dirty="0"/>
          </a:p>
          <a:p>
            <a:pPr indent="0" marL="0">
              <a:buNone/>
            </a:pPr>
            <a:r>
              <a:rPr lang="en-US" sz="1100" i="1" dirty="0">
                <a:solidFill>
                  <a:srgbClr val="5A6472"/>
                </a:solidFill>
                <a:latin typeface="Calibri" pitchFamily="34" charset="0"/>
                <a:cs typeface="Amiri" pitchFamily="2" charset="-78"/>
              </a:rPr>
              <a:t>taʿ-mī-mun</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74" b="1" spc="150" kern="0" dirty="0">
                <a:solidFill>
                  <a:srgbClr val="1B3B6F"/>
                </a:solidFill>
                <a:latin typeface="Calibri" pitchFamily="34" charset="0"/>
                <a:cs typeface="Amiri" pitchFamily="2" charset="-78"/>
              </a:rPr>
              <a:t>GRAMMAR FOCUS · PART 1 · CULTURAL VERBS AND THEIR PREPOSITIONS (WEBSITE RULE 1)</a:t>
            </a:r>
            <a:endParaRPr lang="en-US" sz="87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One verb, one preposition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الفِعْلُ وَحَرْفُ الجَرِّ</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Verb + preposition</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used to</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يَعْتَادُ النَّاسُ </a:t>
            </a:r>
            <a:pPr rtl="1" algn="ctr" indent="0" marL="0">
              <a:buNone/>
            </a:pPr>
            <a:r>
              <a:rPr lang="ar-SA" altLang="en-US" sz="1950" b="1" dirty="0">
                <a:solidFill>
                  <a:srgbClr val="0E7C86"/>
                </a:solidFill>
                <a:latin typeface="Amiri" pitchFamily="2" charset="-78"/>
                <a:cs typeface="Amiri" pitchFamily="2" charset="-78"/>
              </a:rPr>
              <a:t>عَلَى</a:t>
            </a:r>
            <a:pPr rtl="1" algn="ctr" indent="0" marL="0">
              <a:buNone/>
            </a:pPr>
            <a:r>
              <a:rPr lang="ar-SA" altLang="en-US" sz="1950" b="1" dirty="0">
                <a:solidFill>
                  <a:srgbClr val="1B3B6F"/>
                </a:solidFill>
                <a:latin typeface="Amiri" pitchFamily="2" charset="-78"/>
                <a:cs typeface="Amiri" pitchFamily="2" charset="-78"/>
              </a:rPr>
              <a:t> الضِّيَافَةِ.</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People are used to hospitality.</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يَعْتَادُ </a:t>
            </a:r>
            <a:pPr rtl="1" algn="ctr" indent="0" marL="0">
              <a:buNone/>
            </a:pPr>
            <a:r>
              <a:rPr lang="ar-SA" altLang="en-US" sz="2200" b="1" dirty="0">
                <a:solidFill>
                  <a:srgbClr val="0E7C86"/>
                </a:solidFill>
                <a:latin typeface="Amiri" pitchFamily="2" charset="-78"/>
                <a:cs typeface="Amiri" pitchFamily="2" charset="-78"/>
              </a:rPr>
              <a:t>عَلَى</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holds on to</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تَتَمَسَّكُ الأُسْرَةُ </a:t>
            </a:r>
            <a:pPr rtl="1" algn="ctr" indent="0" marL="0">
              <a:buNone/>
            </a:pPr>
            <a:r>
              <a:rPr lang="ar-SA" altLang="en-US" sz="1950" b="1" dirty="0">
                <a:solidFill>
                  <a:srgbClr val="D6336C"/>
                </a:solidFill>
                <a:latin typeface="Amiri" pitchFamily="2" charset="-78"/>
                <a:cs typeface="Amiri" pitchFamily="2" charset="-78"/>
              </a:rPr>
              <a:t>بِتَقَالِيدِهَا</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family holds on to its traditions.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يَتَمَسَّكُ </a:t>
            </a:r>
            <a:pPr rtl="1" algn="ctr" indent="0" marL="0">
              <a:buNone/>
            </a:pPr>
            <a:r>
              <a:rPr lang="ar-SA" altLang="en-US" sz="2200" b="1" dirty="0">
                <a:solidFill>
                  <a:srgbClr val="D6336C"/>
                </a:solidFill>
                <a:latin typeface="Amiri" pitchFamily="2" charset="-78"/>
                <a:cs typeface="Amiri" pitchFamily="2" charset="-78"/>
              </a:rPr>
              <a:t>بِـ</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celebrates</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تَحْتَفِلُ العَائِلَةُ </a:t>
            </a:r>
            <a:pPr rtl="1" algn="ctr" indent="0" marL="0">
              <a:buNone/>
            </a:pPr>
            <a:r>
              <a:rPr lang="ar-SA" altLang="en-US" sz="1950" b="1" dirty="0">
                <a:solidFill>
                  <a:srgbClr val="D6336C"/>
                </a:solidFill>
                <a:latin typeface="Amiri" pitchFamily="2" charset="-78"/>
                <a:cs typeface="Amiri" pitchFamily="2" charset="-78"/>
              </a:rPr>
              <a:t>بِالمُنَاسَبَةِ</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family celebrates the occasion.</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يَحْتَفِلُ </a:t>
            </a:r>
            <a:pPr rtl="1" algn="ctr" indent="0" marL="0">
              <a:buNone/>
            </a:pPr>
            <a:r>
              <a:rPr lang="ar-SA" altLang="en-US" sz="2200" b="1" dirty="0">
                <a:solidFill>
                  <a:srgbClr val="D6336C"/>
                </a:solidFill>
                <a:latin typeface="Amiri" pitchFamily="2" charset="-78"/>
                <a:cs typeface="Amiri" pitchFamily="2" charset="-78"/>
              </a:rPr>
              <a:t>بِـ</a:t>
            </a:r>
            <a:endParaRPr lang="ar-SA" sz="22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belongs to</a:t>
            </a:r>
            <a:endParaRPr lang="en-US" sz="1100" dirty="0"/>
          </a:p>
        </p:txBody>
      </p:sp>
      <p:sp>
        <p:nvSpPr>
          <p:cNvPr id="42" name="Text 39"/>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يَنْتَمِي </a:t>
            </a:r>
            <a:pPr rtl="1" algn="ctr" indent="0" marL="0">
              <a:buNone/>
            </a:pPr>
            <a:r>
              <a:rPr lang="ar-SA" altLang="en-US" sz="1950" b="1" dirty="0">
                <a:solidFill>
                  <a:srgbClr val="1D5FBF"/>
                </a:solidFill>
                <a:latin typeface="Amiri" pitchFamily="2" charset="-78"/>
                <a:cs typeface="Amiri" pitchFamily="2" charset="-78"/>
              </a:rPr>
              <a:t>إِلَى</a:t>
            </a:r>
            <a:pPr rtl="1" algn="ctr" indent="0" marL="0">
              <a:buNone/>
            </a:pPr>
            <a:r>
              <a:rPr lang="ar-SA" altLang="en-US" sz="1950" b="1" dirty="0">
                <a:solidFill>
                  <a:srgbClr val="1B3B6F"/>
                </a:solidFill>
                <a:latin typeface="Amiri" pitchFamily="2" charset="-78"/>
                <a:cs typeface="Amiri" pitchFamily="2" charset="-78"/>
              </a:rPr>
              <a:t> ثَقَافَتَيْنِ.</a:t>
            </a:r>
            <a:endParaRPr lang="ar-SA" sz="1950" dirty="0"/>
          </a:p>
        </p:txBody>
      </p:sp>
      <p:sp>
        <p:nvSpPr>
          <p:cNvPr id="43" name="Text 40"/>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belongs to two cultures.</a:t>
            </a:r>
            <a:endParaRPr lang="en-US" sz="950" dirty="0"/>
          </a:p>
        </p:txBody>
      </p:sp>
      <p:sp>
        <p:nvSpPr>
          <p:cNvPr id="44" name="Text 41"/>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يَنْتَمِي </a:t>
            </a:r>
            <a:pPr rtl="1" algn="ctr" indent="0" marL="0">
              <a:buNone/>
            </a:pPr>
            <a:r>
              <a:rPr lang="ar-SA" altLang="en-US" sz="2200" b="1" dirty="0">
                <a:solidFill>
                  <a:srgbClr val="1D5FBF"/>
                </a:solidFill>
                <a:latin typeface="Amiri" pitchFamily="2" charset="-78"/>
                <a:cs typeface="Amiri" pitchFamily="2" charset="-78"/>
              </a:rPr>
              <a:t>إِلَى</a:t>
            </a:r>
            <a:endParaRPr lang="ar-SA" sz="22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adapts to</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يَتَكَيَّفُ المُهَاجِرُ </a:t>
            </a:r>
            <a:pPr rtl="1" algn="ctr" indent="0" marL="0">
              <a:buNone/>
            </a:pPr>
            <a:r>
              <a:rPr lang="ar-SA" altLang="en-US" sz="1950" b="1" dirty="0">
                <a:solidFill>
                  <a:srgbClr val="1D5FBF"/>
                </a:solidFill>
                <a:latin typeface="Amiri" pitchFamily="2" charset="-78"/>
                <a:cs typeface="Amiri" pitchFamily="2" charset="-78"/>
              </a:rPr>
              <a:t>مَعَ</a:t>
            </a:r>
            <a:pPr rtl="1" algn="ctr" indent="0" marL="0">
              <a:buNone/>
            </a:pPr>
            <a:r>
              <a:rPr lang="ar-SA" altLang="en-US" sz="1950" b="1" dirty="0">
                <a:solidFill>
                  <a:srgbClr val="1B3B6F"/>
                </a:solidFill>
                <a:latin typeface="Amiri" pitchFamily="2" charset="-78"/>
                <a:cs typeface="Amiri" pitchFamily="2" charset="-78"/>
              </a:rPr>
              <a:t> الحَيَاةِ الجَدِيدَةِ.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migrant adapts to the new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يَتَكَيَّفُ </a:t>
            </a:r>
            <a:pPr rtl="1" algn="ctr" indent="0" marL="0">
              <a:buNone/>
            </a:pPr>
            <a:r>
              <a:rPr lang="ar-SA" altLang="en-US" sz="2200" b="1" dirty="0">
                <a:solidFill>
                  <a:srgbClr val="1D5FBF"/>
                </a:solidFill>
                <a:latin typeface="Amiri" pitchFamily="2" charset="-78"/>
                <a:cs typeface="Amiri" pitchFamily="2" charset="-78"/>
              </a:rPr>
              <a:t>مَعَ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the preposition the noun is genitive (-i): </a:t>
            </a:r>
            <a:pPr algn="l" indent="0" marL="0">
              <a:buNone/>
            </a:pPr>
            <a:r>
              <a:rPr lang="ar-SA" altLang="en-US" sz="1500" b="1" dirty="0">
                <a:solidFill>
                  <a:srgbClr val="1B3B6F"/>
                </a:solidFill>
                <a:latin typeface="Amiri" pitchFamily="2" charset="-78"/>
                <a:cs typeface="Amiri" pitchFamily="2" charset="-78"/>
              </a:rPr>
              <a:t>عَلَى الضِّيَافَةِ</a:t>
            </a:r>
            <a:pPr algn="l" indent="0" marL="0">
              <a:buNone/>
            </a:pPr>
            <a:r>
              <a:rPr lang="en-US" sz="1150" b="1" dirty="0">
                <a:solidFill>
                  <a:srgbClr val="1B3B6F"/>
                </a:solidFill>
                <a:latin typeface="Calibri" pitchFamily="34" charset="0"/>
                <a:cs typeface="Amiri" pitchFamily="2" charset="-78"/>
              </a:rPr>
              <a:t> · </a:t>
            </a:r>
            <a:pPr algn="l" indent="0" marL="0">
              <a:buNone/>
            </a:pPr>
            <a:r>
              <a:rPr lang="ar-SA" altLang="en-US" sz="1500" b="1" dirty="0">
                <a:solidFill>
                  <a:srgbClr val="1B3B6F"/>
                </a:solidFill>
                <a:latin typeface="Amiri" pitchFamily="2" charset="-78"/>
                <a:cs typeface="Amiri" pitchFamily="2" charset="-78"/>
              </a:rPr>
              <a:t>بِالمُنَاسَبَةِ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CONTRAST, BALANCE, HEDGE (WEBSITE RULES 2–4)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Compare fairly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قَارِنْ بِدِقَّةٍ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CONTRAST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بَيْنَمَا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2" charset="-78"/>
                <a:cs typeface="Amiri" pitchFamily="2" charset="-78"/>
              </a:rPr>
              <a:t>تُقَدَّمُ القَهْوَةُ أَوَّلًا فِي بَعْضِ البُلْدَانِ، بَيْنَمَا يُقَدَّمُ الشَّايُ فِي غَيْرِهَا.</a:t>
            </a:r>
            <a:endParaRPr lang="ar-SA" sz="20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countries coffee is served first, whereas tea is served in others.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full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cs typeface="Amiri" pitchFamily="2" charset="-78"/>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مِنْ نَاحِيَةٍ تَتَغَيَّرُ العَادَاتُ، وَمِنْ نَاحِيَةٍ أُخْرَى تَبْقَى القِيَمُ.</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customs change; on the other, values remain.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sides.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0972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HEDGE · CORE</a:t>
            </a:r>
            <a:endParaRPr lang="en-US" sz="850" dirty="0"/>
          </a:p>
        </p:txBody>
      </p:sp>
      <p:sp>
        <p:nvSpPr>
          <p:cNvPr id="34" name="Text 31"/>
          <p:cNvSpPr txBox="1"/>
          <p:nvPr/>
        </p:nvSpPr>
        <p:spPr>
          <a:xfrm>
            <a:off x="1737360" y="1874520"/>
            <a:ext cx="22189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فِي بَعْضِ العَائِلَاتِ</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فِي بَعْضِ العَائِلَاتِ يُقَبِّلُ الأَبْنَاءُ رَأْسَ الجَدِّ.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some families children kiss their grandfather’s head.</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“all Arabs”.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a universal claim is a generalisation.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150" b="1" dirty="0">
                <a:solidFill>
                  <a:srgbClr val="1B3B6F"/>
                </a:solidFill>
                <a:latin typeface="Amiri" pitchFamily="2" charset="-78"/>
                <a:cs typeface="Amiri" pitchFamily="2" charset="-78"/>
              </a:rPr>
              <a:t>فِي بَعْضِ العَائِلَاتِ</a:t>
            </a:r>
            <a:endParaRPr lang="ar-SA" sz="21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cs typeface="Amiri" pitchFamily="2" charset="-78"/>
              </a:rPr>
              <a:t>كُلُّ العَرَبِ</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Cultural verbs, contrast and qualification</a:t>
            </a:r>
            <a:endParaRPr lang="en-US" sz="22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2" charset="-78"/>
                <a:cs typeface="Amiri" pitchFamily="2" charset="-78"/>
              </a:rPr>
              <a:t>أَفْعَالُ الثَّقَافَةِ وَالمُقَارَنَةُ وَالتَّحَفُّظُ</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Cultural verbs and their prepositions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يَعْتَادُ عَلَى · يَتَمَسَّكُ بِـ · يَنْتَمِي إِلَى · يَتَكَيَّفُ مَعَ</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يَعْتَادُ النَّاسُ عَلَى الضِّيَافَةِ   ·   تَتَمَسَّكُ الأُسْرَةُ بِتَقَالِيدِهَا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Contrast with </a:t>
            </a:r>
            <a:pPr algn="l" indent="0" marL="0">
              <a:buNone/>
            </a:pPr>
            <a:r>
              <a:rPr lang="ar-SA" altLang="en-US" sz="1650" b="1" dirty="0">
                <a:solidFill>
                  <a:srgbClr val="1B3B6F"/>
                </a:solidFill>
                <a:latin typeface="Amiri" pitchFamily="2" charset="-78"/>
                <a:cs typeface="Amiri" pitchFamily="2" charset="-78"/>
              </a:rPr>
              <a:t>بَيْنَمَا</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clause + </a:t>
            </a:r>
            <a:pPr algn="l" indent="0" marL="0">
              <a:buNone/>
            </a:pPr>
            <a:r>
              <a:rPr lang="ar-SA" altLang="en-US" sz="1350" dirty="0">
                <a:solidFill>
                  <a:srgbClr val="5A6472"/>
                </a:solidFill>
                <a:latin typeface="Amiri" pitchFamily="2" charset="-78"/>
                <a:cs typeface="Amiri" pitchFamily="2" charset="-78"/>
              </a:rPr>
              <a:t>بَيْنَمَا</a:t>
            </a:r>
            <a:pPr algn="l" indent="0" marL="0">
              <a:buNone/>
            </a:pPr>
            <a:r>
              <a:rPr lang="en-US" sz="1050" dirty="0">
                <a:solidFill>
                  <a:srgbClr val="5A6472"/>
                </a:solidFill>
                <a:latin typeface="Calibri" pitchFamily="34" charset="0"/>
                <a:cs typeface="Amiri" pitchFamily="2" charset="-78"/>
              </a:rPr>
              <a:t> + clause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تُقَدَّمُ القَهْوَةُ أَوَّلًا فِي بَعْضِ البُلْدَانِ، بَيْنَمَا يُقَدَّمُ الشَّايُ فِي غَيْرِهَا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Two-sided comparison</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نَاحِيَةٍ … وَمِنْ نَاحِيَةٍ أُخْرَى …</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مِنْ نَاحِيَةٍ تَتَغَيَّرُ العَادَاتُ، وَمِنْ نَاحِيَةٍ أُخْرَى تَبْقَى القِيَمُ</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Hedging a cultural claim</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فِي بَعْضِ … / أَحْيَانًا / لَيْسَ دَائِمًا</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فِي بَعْضِ العَائِلَاتِ يُقَبِّلُ الأَبْنَاءُ رَأْسَ الجَدِّ   ·   لَيْسَ دَائِمًا تَتَشَابَهُ العَادَاتُ</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يَعْتَادُ النَّاسُ ___ الضِّيَافَةِ.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تَتَمَسَّكُ الأُسْرَةُ ___ تَقَالِيدِهَا.</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celebration sentence.</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تَحْتَفِلُ العَائِلَةُ المُنَاسَبَةَ.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تَحْتَفِلُ العَائِلَةُ بِالمُنَاسَبَةِ.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تَحْتَفِلُ العَائِلَةُ عَلَى المُنَاسَبَةِ.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a generalisation?</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 بَعْضِ العَائِلَاتِ يُقَبِّلُ الأَبْنَاءُ رَأْسَ الجَدِّ.</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كُلُّ العَرَبِ يُقَبِّلُونَ رَأْسَ الجَدِّ.</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العَرَبُ دَائِمًا يَفْعَلُونَ ذٰلِكَ.</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يَعْتَادُ النَّاسُ ___ الضِّيَافَةِ.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يَعْتَادُ</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تَتَمَسَّكُ الأُسْرَةُ ___ تَقَالِيدِهَا.</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يَتَمَسَّكُ</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celebration sentence.</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تَحْتَفِلُ العَائِلَةُ المُنَاسَبَةَ.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تَحْتَفِلُ العَائِلَةُ بِالمُنَاسَبَةِ.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تَحْتَفِلُ العَائِلَةُ عَلَى المُنَاسَبَةِ.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يَحْتَفِلُ</a:t>
            </a:r>
            <a:pPr algn="l" indent="0" marL="0">
              <a:buNone/>
            </a:pPr>
            <a:r>
              <a:rPr lang="en-US" sz="1050" i="1" dirty="0">
                <a:solidFill>
                  <a:srgbClr val="8A6D1E"/>
                </a:solidFill>
                <a:latin typeface="Calibri" pitchFamily="34" charset="0"/>
                <a:cs typeface="Amiri" pitchFamily="2" charset="-78"/>
              </a:rPr>
              <a:t> requires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 and a genitive noun.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avoids a generalisation?</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فِي بَعْضِ العَائِلَاتِ يُقَبِّلُ الأَبْنَاءُ رَأْسَ الجَدِّ.</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العَرَبِ يُقَبِّلُونَ رَأْسَ الجَدِّ.</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العَرَبُ دَائِمًا يَفْعَلُونَ ذٰلِكَ.</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فِي بَعْضِ العَائِلَاتِ</a:t>
            </a:r>
            <a:pPr algn="l" indent="0" marL="0">
              <a:buNone/>
            </a:pPr>
            <a:r>
              <a:rPr lang="en-US" sz="1050" i="1" dirty="0">
                <a:solidFill>
                  <a:srgbClr val="8A6D1E"/>
                </a:solidFill>
                <a:latin typeface="Calibri" pitchFamily="34" charset="0"/>
                <a:cs typeface="Amiri" pitchFamily="2" charset="-78"/>
              </a:rPr>
              <a:t> reports what some families do, which is accurate.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Watch me compare two customs fairly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Hedge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2" charset="-78"/>
                <a:cs typeface="Amiri" pitchFamily="2" charset="-78"/>
              </a:rPr>
              <a:t>فِي بَعْضِ العَائِلَاتِ</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Not everyone.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Verb + prep</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cs typeface="Amiri" pitchFamily="2" charset="-78"/>
              </a:rPr>
              <a:t>يَعْتَادُ</a:t>
            </a:r>
            <a:pPr rtl="1" algn="ctr" indent="0" marL="0">
              <a:buNone/>
            </a:pPr>
            <a:r>
              <a:rPr lang="ar-SA" altLang="en-US" sz="2100" b="1" dirty="0">
                <a:solidFill>
                  <a:srgbClr val="1B3B6F"/>
                </a:solidFill>
                <a:latin typeface="Amiri" pitchFamily="2" charset="-78"/>
                <a:cs typeface="Amiri" pitchFamily="2" charset="-78"/>
              </a:rPr>
              <a:t> النَّاسُ </a:t>
            </a:r>
            <a:pPr rtl="1" algn="ctr" indent="0" marL="0">
              <a:buNone/>
            </a:pPr>
            <a:r>
              <a:rPr lang="ar-SA" altLang="en-US" sz="2100" b="1" dirty="0">
                <a:solidFill>
                  <a:srgbClr val="0E7C86"/>
                </a:solidFill>
                <a:latin typeface="Amiri" pitchFamily="2" charset="-78"/>
                <a:cs typeface="Amiri" pitchFamily="2" charset="-78"/>
              </a:rPr>
              <a:t>عَلَى</a:t>
            </a:r>
            <a:pPr rtl="1" algn="ctr" indent="0" marL="0">
              <a:buNone/>
            </a:pPr>
            <a:r>
              <a:rPr lang="ar-SA" altLang="en-US" sz="2100" b="1" dirty="0">
                <a:solidFill>
                  <a:srgbClr val="1B3B6F"/>
                </a:solidFill>
                <a:latin typeface="Amiri" pitchFamily="2" charset="-78"/>
                <a:cs typeface="Amiri" pitchFamily="2" charset="-78"/>
              </a:rPr>
              <a:t> الضِّيَافَةِ</a:t>
            </a:r>
            <a:endParaRPr lang="ar-SA" sz="21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iʿtāda + ʿalā.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2" charset="-78"/>
                <a:cs typeface="Amiri" pitchFamily="2" charset="-78"/>
              </a:rPr>
              <a:t>بَيْنَمَا</a:t>
            </a:r>
            <a:pPr rtl="1" algn="ctr" indent="0" marL="0">
              <a:buNone/>
            </a:pPr>
            <a:r>
              <a:rPr lang="ar-SA" altLang="en-US" sz="2400" b="1" dirty="0">
                <a:solidFill>
                  <a:srgbClr val="1B3B6F"/>
                </a:solidFill>
                <a:latin typeface="Amiri" pitchFamily="2" charset="-78"/>
                <a:cs typeface="Amiri" pitchFamily="2" charset="-78"/>
              </a:rPr>
              <a:t> نُقَدِّمُ نَحْنُ الشَّايَ</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clauses.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مِنْ نَاحِيَةٍ … وَمِنْ نَاحِيَةٍ أُخْرَى …</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sides.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HEDGE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VERB + PREPOSITION</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تَخْتَلِفُ العَادَاتُ بَيْنَ البُلْدَانِ اخْتِلَافًا وَاضِحًا. </a:t>
            </a:r>
            <a:pPr rtl="1" algn="r" indent="0" marL="0">
              <a:lnSpc>
                <a:spcPct val="120000"/>
              </a:lnSpc>
              <a:buNone/>
            </a:pPr>
            <a:r>
              <a:rPr lang="ar-SA" altLang="en-US" sz="1400" b="1" dirty="0">
                <a:solidFill>
                  <a:srgbClr val="D6336C"/>
                </a:solidFill>
                <a:latin typeface="Amiri" pitchFamily="2" charset="-78"/>
                <a:cs typeface="Amiri" pitchFamily="2" charset="-78"/>
              </a:rPr>
              <a:t>فِي بَعْضِ العَائِلَاتِ</a:t>
            </a:r>
            <a:pPr rtl="1" algn="r" indent="0" marL="0">
              <a:lnSpc>
                <a:spcPct val="120000"/>
              </a:lnSpc>
              <a:buNone/>
            </a:pPr>
            <a:r>
              <a:rPr lang="ar-SA" altLang="en-US" sz="1400" b="1" dirty="0">
                <a:solidFill>
                  <a:srgbClr val="1B3B6F"/>
                </a:solidFill>
                <a:latin typeface="Amiri" pitchFamily="2" charset="-78"/>
                <a:cs typeface="Amiri" pitchFamily="2" charset="-78"/>
              </a:rPr>
              <a:t> العَرَبِيَّةِ </a:t>
            </a:r>
            <a:pPr rtl="1" algn="r" indent="0" marL="0">
              <a:lnSpc>
                <a:spcPct val="120000"/>
              </a:lnSpc>
              <a:buNone/>
            </a:pPr>
            <a:r>
              <a:rPr lang="ar-SA" altLang="en-US" sz="1400" b="1" dirty="0">
                <a:solidFill>
                  <a:srgbClr val="0E7C86"/>
                </a:solidFill>
                <a:latin typeface="Amiri" pitchFamily="2" charset="-78"/>
                <a:cs typeface="Amiri" pitchFamily="2" charset="-78"/>
              </a:rPr>
              <a:t>يَعْتَادُ</a:t>
            </a:r>
            <a:pPr rtl="1" algn="r" indent="0" marL="0">
              <a:lnSpc>
                <a:spcPct val="120000"/>
              </a:lnSpc>
              <a:buNone/>
            </a:pPr>
            <a:r>
              <a:rPr lang="ar-SA" altLang="en-US" sz="1400" b="1" dirty="0">
                <a:solidFill>
                  <a:srgbClr val="1B3B6F"/>
                </a:solidFill>
                <a:latin typeface="Amiri" pitchFamily="2" charset="-78"/>
                <a:cs typeface="Amiri" pitchFamily="2" charset="-78"/>
              </a:rPr>
              <a:t> النَّاسُ </a:t>
            </a:r>
            <a:pPr rtl="1" algn="r" indent="0" marL="0">
              <a:lnSpc>
                <a:spcPct val="120000"/>
              </a:lnSpc>
              <a:buNone/>
            </a:pPr>
            <a:r>
              <a:rPr lang="ar-SA" altLang="en-US" sz="1400" b="1" dirty="0">
                <a:solidFill>
                  <a:srgbClr val="0E7C86"/>
                </a:solidFill>
                <a:latin typeface="Amiri" pitchFamily="2" charset="-78"/>
                <a:cs typeface="Amiri" pitchFamily="2" charset="-78"/>
              </a:rPr>
              <a:t>عَلَى</a:t>
            </a:r>
            <a:pPr rtl="1" algn="r" indent="0" marL="0">
              <a:lnSpc>
                <a:spcPct val="120000"/>
              </a:lnSpc>
              <a:buNone/>
            </a:pPr>
            <a:r>
              <a:rPr lang="ar-SA" altLang="en-US" sz="1400" b="1" dirty="0">
                <a:solidFill>
                  <a:srgbClr val="1B3B6F"/>
                </a:solidFill>
                <a:latin typeface="Amiri" pitchFamily="2" charset="-78"/>
                <a:cs typeface="Amiri" pitchFamily="2" charset="-78"/>
              </a:rPr>
              <a:t> اسْتِقْبَالِ الضَّيْفِ بِالقَهْوَةِ وَالتَّمْرِ، </a:t>
            </a:r>
            <a:pPr rtl="1" algn="r" indent="0" marL="0">
              <a:lnSpc>
                <a:spcPct val="120000"/>
              </a:lnSpc>
              <a:buNone/>
            </a:pPr>
            <a:r>
              <a:rPr lang="ar-SA" altLang="en-US" sz="1400" b="1" dirty="0">
                <a:solidFill>
                  <a:srgbClr val="1D5FBF"/>
                </a:solidFill>
                <a:latin typeface="Amiri" pitchFamily="2" charset="-78"/>
                <a:cs typeface="Amiri" pitchFamily="2" charset="-78"/>
              </a:rPr>
              <a:t>بَيْنَمَا</a:t>
            </a:r>
            <a:pPr rtl="1" algn="r" indent="0" marL="0">
              <a:lnSpc>
                <a:spcPct val="120000"/>
              </a:lnSpc>
              <a:buNone/>
            </a:pPr>
            <a:r>
              <a:rPr lang="ar-SA" altLang="en-US" sz="1400" b="1" dirty="0">
                <a:solidFill>
                  <a:srgbClr val="1B3B6F"/>
                </a:solidFill>
                <a:latin typeface="Amiri" pitchFamily="2" charset="-78"/>
                <a:cs typeface="Amiri" pitchFamily="2" charset="-78"/>
              </a:rPr>
              <a:t> نُقَدِّمُ نَحْنُ الشَّايَ عَادَةً. وَ</a:t>
            </a:r>
            <a:pPr rtl="1" algn="r" indent="0" marL="0">
              <a:lnSpc>
                <a:spcPct val="120000"/>
              </a:lnSpc>
              <a:buNone/>
            </a:pPr>
            <a:r>
              <a:rPr lang="ar-SA" altLang="en-US" sz="1400" b="1" dirty="0">
                <a:solidFill>
                  <a:srgbClr val="0E7C86"/>
                </a:solidFill>
                <a:latin typeface="Amiri" pitchFamily="2" charset="-78"/>
                <a:cs typeface="Amiri" pitchFamily="2" charset="-78"/>
              </a:rPr>
              <a:t>يَتَمَسَّكُ</a:t>
            </a:r>
            <a:pPr rtl="1" algn="r" indent="0" marL="0">
              <a:lnSpc>
                <a:spcPct val="120000"/>
              </a:lnSpc>
              <a:buNone/>
            </a:pPr>
            <a:r>
              <a:rPr lang="ar-SA" altLang="en-US" sz="1400" b="1" dirty="0">
                <a:solidFill>
                  <a:srgbClr val="1B3B6F"/>
                </a:solidFill>
                <a:latin typeface="Amiri" pitchFamily="2" charset="-78"/>
                <a:cs typeface="Amiri" pitchFamily="2" charset="-78"/>
              </a:rPr>
              <a:t> كَثِيرٌ مِنَ الأُسَرِ </a:t>
            </a:r>
            <a:pPr rtl="1" algn="r" indent="0" marL="0">
              <a:lnSpc>
                <a:spcPct val="120000"/>
              </a:lnSpc>
              <a:buNone/>
            </a:pPr>
            <a:r>
              <a:rPr lang="ar-SA" altLang="en-US" sz="1400" b="1" dirty="0">
                <a:solidFill>
                  <a:srgbClr val="0E7C86"/>
                </a:solidFill>
                <a:latin typeface="Amiri" pitchFamily="2" charset="-78"/>
                <a:cs typeface="Amiri" pitchFamily="2" charset="-78"/>
              </a:rPr>
              <a:t>بِصِلَةِ</a:t>
            </a:r>
            <a:pPr rtl="1" algn="r" indent="0" marL="0">
              <a:lnSpc>
                <a:spcPct val="120000"/>
              </a:lnSpc>
              <a:buNone/>
            </a:pPr>
            <a:r>
              <a:rPr lang="ar-SA" altLang="en-US" sz="1400" b="1" dirty="0">
                <a:solidFill>
                  <a:srgbClr val="1B3B6F"/>
                </a:solidFill>
                <a:latin typeface="Amiri" pitchFamily="2" charset="-78"/>
                <a:cs typeface="Amiri" pitchFamily="2" charset="-78"/>
              </a:rPr>
              <a:t> الرَّحِمِ.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Customs clearly differ between countries. In some Arab families people are used to receiving a guest with coffee and dates, whereas we usually serve tea. Many families hold on to family ties.</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يَعْتَادُ عَلَى الضِّيَافَةِ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used to hospitality</a:t>
            </a:r>
            <a:endParaRPr lang="en-US" sz="1250" dirty="0"/>
          </a:p>
          <a:p>
            <a:pPr indent="0" marL="0">
              <a:buNone/>
            </a:pPr>
            <a:r>
              <a:rPr lang="en-US" sz="1050" i="1" dirty="0">
                <a:solidFill>
                  <a:srgbClr val="8A6D1E"/>
                </a:solidFill>
                <a:latin typeface="Calibri" pitchFamily="34" charset="0"/>
                <a:cs typeface="Amiri" pitchFamily="2" charset="-78"/>
              </a:rPr>
              <a:t>عَلَى is fixed with يَعْتَادُ.</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تَتَمَسَّكُ بِتَقَالِيدِهَا</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she holds on to her traditions</a:t>
            </a:r>
            <a:endParaRPr lang="en-US" sz="1250" dirty="0"/>
          </a:p>
          <a:p>
            <a:pPr indent="0" marL="0">
              <a:buNone/>
            </a:pPr>
            <a:r>
              <a:rPr lang="en-US" sz="1050" i="1" dirty="0">
                <a:solidFill>
                  <a:srgbClr val="8A6D1E"/>
                </a:solidFill>
                <a:latin typeface="Calibri" pitchFamily="34" charset="0"/>
                <a:cs typeface="Amiri" pitchFamily="2" charset="-78"/>
              </a:rPr>
              <a:t>بِـ is fixed with يَتَمَسَّكُ.</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فِي بَعْضِ العَائِلَاتِ …</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some families …</a:t>
            </a:r>
            <a:endParaRPr lang="en-US" sz="1250" dirty="0"/>
          </a:p>
          <a:p>
            <a:pPr indent="0" marL="0">
              <a:buNone/>
            </a:pPr>
            <a:r>
              <a:rPr lang="en-US" sz="1050" i="1" dirty="0">
                <a:solidFill>
                  <a:srgbClr val="8A6D1E"/>
                </a:solidFill>
                <a:latin typeface="Calibri" pitchFamily="34" charset="0"/>
                <a:cs typeface="Amiri" pitchFamily="2" charset="-78"/>
              </a:rPr>
              <a:t>The hedge keeps the claim honest.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cs typeface="Amiri" pitchFamily="2" charset="-78"/>
              </a:rPr>
              <a:t>WE DO · PICTURE MATCH · WEBSITE GAME “VISUAL GAME — CULTURAL CUSTOMS — TRADITIONS, GREETINGS AND SOCIAL NORMS”</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custom?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and handshake</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1"/>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greeting wave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34" name="Shape 27"/>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36"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meal</a:t>
            </a:r>
            <a:endParaRPr lang="en-US" sz="1100" dirty="0"/>
          </a:p>
        </p:txBody>
      </p:sp>
      <p:sp>
        <p:nvSpPr>
          <p:cNvPr id="37"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8"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9"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0"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تَخْتَلِفُ طُرُقُ التَّحِيَّةِ مِنْ مَكَانٍ إِلَى آخَرَ.</a:t>
            </a:r>
            <a:endParaRPr lang="ar-SA" sz="2000" dirty="0"/>
          </a:p>
        </p:txBody>
      </p:sp>
      <p:sp>
        <p:nvSpPr>
          <p:cNvPr id="41"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2"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3"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4"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تَجْتَمِعُ العَائِلَةُ فِي المُنَاسَبَاتِ.</a:t>
            </a:r>
            <a:endParaRPr lang="ar-SA" sz="2000" dirty="0"/>
          </a:p>
        </p:txBody>
      </p:sp>
      <p:sp>
        <p:nvSpPr>
          <p:cNvPr id="45"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6"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7"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8"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مِنَ المُهِمِّ اِحْتِرَامُ عَادَاتِ الضِّيَافَةِ.</a:t>
            </a:r>
            <a:endParaRPr lang="ar-SA" sz="2000" dirty="0"/>
          </a:p>
        </p:txBody>
      </p:sp>
      <p:sp>
        <p:nvSpPr>
          <p:cNvPr id="49"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0"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1"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الثَّقَافَةُ وَالعَادَاتُ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coffee and handshake</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مِنَ المُهِمِّ اِحْتِرَامُ عَادَاتِ الضِّيَافَةِ.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It is important to respect customs of hospitality.</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6"/>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76986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greeting wave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تَخْتَلِفُ طُرُقُ التَّحِيَّةِ مِنْ مَكَانٍ إِلَى آخَرَ.</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Ways of greeting differ from place to place.</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356360" y="2249424"/>
            <a:ext cx="649224" cy="649224"/>
          </a:xfrm>
          <a:prstGeom prst="rect">
            <a:avLst/>
          </a:prstGeom>
        </p:spPr>
      </p:pic>
      <p:sp>
        <p:nvSpPr>
          <p:cNvPr id="44" name="Shape 37"/>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2545080" y="2249424"/>
            <a:ext cx="649224" cy="649224"/>
          </a:xfrm>
          <a:prstGeom prst="rect">
            <a:avLst/>
          </a:prstGeom>
        </p:spPr>
      </p:pic>
      <p:sp>
        <p:nvSpPr>
          <p:cNvPr id="46"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family meal</a:t>
            </a:r>
            <a:endParaRPr lang="en-US" sz="1100" dirty="0"/>
          </a:p>
        </p:txBody>
      </p:sp>
      <p:sp>
        <p:nvSpPr>
          <p:cNvPr id="47"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8"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9"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0"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تَجْتَمِعُ العَائِلَةُ فِي المُنَاسَبَاتِ.</a:t>
            </a:r>
            <a:endParaRPr lang="ar-SA" sz="2200" dirty="0"/>
          </a:p>
        </p:txBody>
      </p:sp>
      <p:sp>
        <p:nvSpPr>
          <p:cNvPr id="51"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family gathers on special occasions.</a:t>
            </a:r>
            <a:endParaRPr lang="en-US" sz="1200" dirty="0"/>
          </a:p>
        </p:txBody>
      </p:sp>
      <p:sp>
        <p:nvSpPr>
          <p:cNvPr id="52"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يَعْتَادُ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اِعْتَادَ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يَتَعَوَّدُ</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يَتَمَسَّكُ</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يَحْتَفِلُ</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يَحْتَفِظُ</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يَنْتَمِي</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يَتَكَيَّفُ</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يَتَعَامَلُ</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عَلَى</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بِـ</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إِلَى / مَعَ</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عَلَى</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يَعْتَادُ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اِعْتَادَ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يَتَعَوَّدُ</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بِـ</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يَتَمَسَّكُ</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يَحْتَفِلُ</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يَحْتَفِظُ</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إِلَى / مَعَ</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يَنْتَمِي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يَتَكَيَّفُ</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يَتَعَامَلُ</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3,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يَنْتَمِي ___ ثَقَافَتَيْنِ.</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يَتَكَيَّفُ المُهَاجِرُ ___ الحَيَاةِ الجَدِيدَةِ.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يُقَدَّمُ الشَّايُ بَيْنَمَا.</a:t>
            </a:r>
            <a:endParaRPr lang="ar-SA" sz="17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يُقَدَّمُ الشَّايُ فِي بَعْضِ البُلْدَانِ، بَيْنَمَا تُقَدَّمُ القَهْوَةُ فِي غَيْرِهَا.</a:t>
            </a:r>
            <a:endParaRPr lang="ar-SA" sz="17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750" dirty="0">
                <a:solidFill>
                  <a:srgbClr val="1F2A37"/>
                </a:solidFill>
                <a:latin typeface="Amiri" pitchFamily="2" charset="-78"/>
                <a:cs typeface="Amiri" pitchFamily="2" charset="-78"/>
              </a:rPr>
              <a:t>بَيْنَمَا الشَّايُ وَالقَهْوَةُ.</a:t>
            </a:r>
            <a:endParaRPr lang="ar-SA" sz="17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two-sided comparison.</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مِنْ نَاحِيَةٍ تَتَغَيَّرُ العَادَاتُ وَتَبْقَى القِيَمُ.</a:t>
            </a:r>
            <a:endParaRPr lang="ar-SA" sz="190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مِنْ نَاحِيَةٍ أُخْرَى تَتَغَيَّرُ العَادَاتُ فَقَطْ.</a:t>
            </a:r>
            <a:endParaRPr lang="ar-SA" sz="190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مِنْ نَاحِيَةٍ تَتَغَيَّرُ العَادَاتُ، وَمِنْ نَاحِيَةٍ أُخْرَى تَبْقَى القِيَمُ.</a:t>
            </a:r>
            <a:endParaRPr lang="ar-SA" sz="19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يَنْتَمِي ___ ثَقَافَتَيْنِ.</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إِلَى</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يَتَكَيَّفُ المُهَاجِرُ ___ الحَيَاةِ الجَدِيدَةِ.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contrast.</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يُقَدَّمُ الشَّايُ بَيْنَمَا.</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يُقَدَّمُ الشَّايُ فِي بَعْضِ البُلْدَانِ، بَيْنَمَا تُقَدَّمُ القَهْوَةُ فِي غَيْرِهَا.</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بَيْنَمَا الشَّايُ وَالقَهْوَةُ.</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joins two complete contrasting clauses.</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two-sided comparison.</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تَتَغَيَّرُ العَادَاتُ وَتَبْقَى القِيَمُ.</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أُخْرَى تَتَغَيَّرُ العَادَاتُ فَقَطْ.</a:t>
            </a:r>
            <a:endParaRPr lang="ar-SA" sz="170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نَاحِيَةٍ تَتَغَيَّرُ العَادَاتُ، وَمِنْ نَاحِيَةٍ أُخْرَى تَبْقَى القِيَمُ.</a:t>
            </a:r>
            <a:endParaRPr lang="ar-SA" sz="170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pair needs both halves to balance the two aspects.</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يَعْتَادُ النَّاسُ بِالضِّيَافَةِ.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iʿtāda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تَحْتَفِلُ العَائِلَةُ المُنَاسَبَةَ.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iḥtafala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كُلُّ العَرَبِ يَحْتَفِلُونَ بِالطَّرِيقَةِ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Arabs? Hedge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يَعْتَادُ النَّاسُ بِالضِّيَافَةِ.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يَعْتَادُ النَّاسُ عَلَى الضِّيَافَةِ.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يَعْتَادُ</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عَلَى</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تَحْتَفِلُ العَائِلَةُ المُنَاسَبَةَ.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تَحْتَفِلُ العَائِلَةُ بِالمُنَاسَبَةِ.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يَحْتَفِلُ</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بِـ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كُلُّ العَرَبِ يَحْتَفِلُونَ بِالطَّرِيقَةِ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تَخْتَلِفُ طَرِيقَةُ الاحْتِفَالِ مِنْ بَلَدٍ إِلَى بَلَدٍ.</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universal claim about a whole population is a generalisation, and it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Listening: two students compare customs</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offered first in some families?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Coffee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Juice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elders hold on to?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dress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recipes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Keeping family ties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 they visit relatives?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Once a year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at Eid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About every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Sami answer about celebrating at home?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and not always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Always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Nūr conclude?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Arabs do the same thing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cannot say all Arabs do the same thing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Customs never change</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Two speakers: Nur · Sami.</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نُورُ: فِي بَعْضِ العَائِلَاتِ عِنْدَنَا يَعْتَادُ النَّاسُ عَلَى تَقْدِيمِ القَهْوَةِ لِلضَّيْفِ أَوَّلًا، بَيْنَمَا يُقَدَّمُ الشَّايُ فِي بُلْدَانٍ أُخْرَى.</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In some families here people are used to serving the guest coffee first, whereas tea is served in other countries.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سَامِي: وَعِنْدَنَا يَتَمَسَّكُ الكِبَارُ بِصِلَةِ الرَّحِمِ، فَنَزُورُ الأَقَارِبَ كُلَّ أُسْبُوعٍ تَقْرِيبًا.</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With us, the elders hold on to family ties, so we visit relatives almost every week.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نُورُ: وَهَلْ تَحْتَفِلُونَ بِالمُنَاسَبَاتِ فِي البَيْتِ؟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And do you celebrate occasions at home?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سَامِي: أَحْيَانًا، وَلَيْسَ دَائِمًا؛ فَالأَمْرُ يَخْتَلِفُ مِنْ أُسْرَةٍ إِلَى أُسْرَةٍ.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Sami: Sometimes, not always — it differs from family to family.</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نُورُ: هٰذَا صَحِيحٌ. لَا يَجُوزُ أَنْ نَقُولَ إِنَّ كُلَّ العَرَبِ يَفْعَلُونَ الشَّيْءَ نَفْسَهُ.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Nur: That’s right. We can’t say that all Arabs do the same thing.</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offered first in some families?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Coffee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Tea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Juice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يَعْتَادُ النَّاسُ عَلَى تَقْدِيمِ القَهْوَةِ لِلضَّيْفِ أَوَّلًا.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the elders hold on to?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dress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recipes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Keeping family ties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يَتَمَسَّكُ الكِبَارُ بِصِلَةِ الرَّحِمِ.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often do they visit relatives?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Once a year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at Eid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About every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فَنَزُورُ الأَقَارِبَ كُلَّ أُسْبُوعٍ تَقْرِيبًا.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Sami answer about celebrating at home?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Sometimes, and not always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Always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أَحْيَانًا، وَلَيْسَ دَائِمًا؛ فَالأَمْرُ يَخْتَلِفُ مِنْ أُسْرَةٍ إِلَى أُسْرَةٍ.</a:t>
            </a:r>
            <a:endParaRPr lang="ar-SA" sz="13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Nūr conclude?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Arabs do the same thing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We cannot say all Arabs do the same thing</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Customs never change</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يَجُوزُ أَنْ نَقُولَ إِنَّ كُلَّ العَرَبِ يَفْعَلُونَ الشَّيْءَ نَفْسَهُ.</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5.</a:t>
            </a:r>
            <a:endParaRPr lang="en-US" sz="1250" dirty="0"/>
          </a:p>
          <a:p>
            <a:pPr algn="l" indent="0" marL="0">
              <a:buNone/>
            </a:pPr>
            <a:r>
              <a:rPr lang="en-US" sz="1250" dirty="0">
                <a:solidFill>
                  <a:srgbClr val="1E6B52"/>
                </a:solidFill>
                <a:latin typeface="Calibri" pitchFamily="34" charset="0"/>
                <a:cs typeface="Amiri" pitchFamily="2" charset="-78"/>
              </a:rPr>
              <a:t>Two speakers: Nur · Sami.</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Speaking: compare a custom accurately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عَادَةً تَعْرِفُهَا. مَنْ يَعْتَادُ عَلَيْهَا؟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قَارِنْ بَيْنَ عَادَتَيْنِ مُسْتَعْمِلًا بَيْنَمَا.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تَتَجَنَّبُ التَّعْمِيمَ عِنْدَ الحَدِيثِ عَنِ الثَّقَافَاتِ؟</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فِي عَائِلَتِي نَعْتَادُ عَلَى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فِي بَعْضِ العَائِلَاتِ ___ ، بَيْنَمَا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2" charset="-78"/>
                <a:cs typeface="Amiri" pitchFamily="2" charset="-78"/>
              </a:rPr>
              <a:t>لَا أَقُولُ « كُلُّ … » ، بَلْ أَقُولُ « فِي بَعْضِ … » لِأَنَّ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عَادَةً تَعْرِفُهَا.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custom you know.</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فِي بَعْضِ العَائِلَاتِ يَعْتَادُ النَّاسُ عَلَى تَقْدِيمِ القَهْوَةِ لِلضَّيْفِ أَوَّلًا.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In some families people are used to serving the guest coffee first.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Write five sentences naming customs, each with the correct preposition on its verb.</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customs, each cultural verb with its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contrast with </a:t>
            </a:r>
            <a:pPr algn="l" indent="0" marL="0">
              <a:buNone/>
            </a:pPr>
            <a:r>
              <a:rPr lang="ar-SA" altLang="en-US" sz="1800" b="1" dirty="0">
                <a:solidFill>
                  <a:srgbClr val="1F2A37"/>
                </a:solidFill>
                <a:latin typeface="Amiri" pitchFamily="2" charset="-78"/>
                <a:cs typeface="Amiri" pitchFamily="2" charset="-78"/>
              </a:rPr>
              <a:t>بَيْنَمَا</a:t>
            </a:r>
            <a:pPr algn="l" indent="0" marL="0">
              <a:buNone/>
            </a:pPr>
            <a:r>
              <a:rPr lang="en-US" sz="1400" b="1" dirty="0">
                <a:solidFill>
                  <a:srgbClr val="1F2A37"/>
                </a:solidFill>
                <a:latin typeface="Calibri" pitchFamily="34" charset="0"/>
                <a:cs typeface="Amiri" pitchFamily="2" charset="-78"/>
              </a:rPr>
              <a:t> and one hedge.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 comparison with بَيْنَمَا and one hedge.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Balance the comparison with </a:t>
            </a:r>
            <a:pPr algn="l" indent="0" marL="0">
              <a:buNone/>
            </a:pPr>
            <a:r>
              <a:rPr lang="ar-SA" altLang="en-US" sz="1800" b="1" dirty="0">
                <a:solidFill>
                  <a:srgbClr val="1F2A37"/>
                </a:solidFill>
                <a:latin typeface="Amiri" pitchFamily="2" charset="-78"/>
                <a:cs typeface="Amiri" pitchFamily="2" charset="-78"/>
              </a:rPr>
              <a:t>مِنْ نَاحِيَةٍ … وَمِنْ نَاحِيَةٍ أُخْرَى</a:t>
            </a:r>
            <a:pPr algn="l" indent="0" marL="0">
              <a:buNone/>
            </a:pPr>
            <a:r>
              <a:rPr lang="en-US" sz="1400" b="1" dirty="0">
                <a:solidFill>
                  <a:srgbClr val="1F2A37"/>
                </a:solidFill>
                <a:latin typeface="Calibri" pitchFamily="34" charset="0"/>
                <a:cs typeface="Amiri" pitchFamily="2" charset="-78"/>
              </a:rPr>
              <a:t> and close by naming the stereotype trap explicitly.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cultural verbs, بَيْنَمَا, مِنْ نَاحِيَةٍ … وَمِنْ نَاحِيَةٍ أُخْرَى and a hedge.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cs typeface="Amiri" pitchFamily="2" charset="-78"/>
              </a:rPr>
              <a:t>فِي بَعْضِ العَائِلَاتِ العَرَبِيَّةِ ______ ، بَيْنَمَا ______ .</a:t>
            </a:r>
            <a:endParaRPr lang="ar-SA" sz="14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some Arab families …, whereas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مِنْ نَاحِيَةٍ ______ ، وَمِنْ نَاحِيَةٍ أُخْرَى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On one hand …, on the other hand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يَخْتَلِفُ الأَمْرُ مِنْ أُسْرَةٍ إِلَى أُسْرَةٍ.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differs from family to family.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cs typeface="Amiri" pitchFamily="2" charset="-78"/>
              </a:rPr>
              <a:t>لَيْسَ دَائِمًا يَتَصَرَّفُ الجَمِيعُ بِالطَّرِيقَةِ نَفْسِهَا.</a:t>
            </a:r>
            <a:endParaRPr lang="ar-SA" sz="175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Not everyone behaves the same way.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عَائِلَتِي نَعْتَادُ عَلَى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family we are used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نَتَمَسَّكُ بِـ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hold on to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نَحْتَفِلُ بِـ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celebrate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نَحْتَرِمُ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respect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cs typeface="Amiri" pitchFamily="2" charset="-78"/>
              </a:rPr>
              <a:t>يَعْتَادُ عَلَى  ·  يَتَمَسَّكُ بِـ  ·  يَحْتَفِلُ بِـ  ·  يَنْتَمِي إِلَى  ·  يَتَكَيَّفُ مَعَ  ·  الضِّيَافَةُ  ·  صِلَةُ الرَّحِمِ  ·  احْتِرَامُ الكِبَارِ  ·  بَيْنَمَا  ·  مِنْ نَاحِيَةٍ  ·  فِي بَعْضِ العَائِلَاتِ  ·  لَيْسَ دَائِمًا</a:t>
            </a:r>
            <a:endParaRPr lang="ar-SA" sz="15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eighty to ninety words comparing a custom you know with one from an Arab country. Use </a:t>
            </a:r>
            <a:pPr algn="l" indent="0" marL="0">
              <a:buNone/>
            </a:pPr>
            <a:r>
              <a:rPr lang="ar-SA" altLang="en-US" sz="1700" b="1" dirty="0">
                <a:solidFill>
                  <a:srgbClr val="1F2A37"/>
                </a:solidFill>
                <a:latin typeface="Amiri" pitchFamily="2" charset="-78"/>
                <a:cs typeface="Amiri" pitchFamily="2" charset="-78"/>
              </a:rPr>
              <a:t>بَيْنَمَا</a:t>
            </a:r>
            <a:pPr algn="l" indent="0" marL="0">
              <a:buNone/>
            </a:pPr>
            <a:r>
              <a:rPr lang="en-US" sz="1300" b="1" dirty="0">
                <a:solidFill>
                  <a:srgbClr val="1F2A37"/>
                </a:solidFill>
                <a:latin typeface="Calibri" pitchFamily="34" charset="0"/>
                <a:cs typeface="Amiri" pitchFamily="2" charset="-78"/>
              </a:rPr>
              <a:t> for the contrast, at least two cultural verbs with their correct prepositions, and one hedge so the comparison does not become a generalisation.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cultural verbs, each with its fixed preposition.</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contrast joined with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two-sided comparison with </a:t>
            </a:r>
            <a:pPr algn="l" indent="0" marL="0">
              <a:buNone/>
            </a:pPr>
            <a:r>
              <a:rPr lang="ar-SA" altLang="en-US" sz="1550" dirty="0">
                <a:solidFill>
                  <a:srgbClr val="1F2A37"/>
                </a:solidFill>
                <a:latin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hedge such as </a:t>
            </a:r>
            <a:pPr algn="l" indent="0" marL="0">
              <a:buNone/>
            </a:pPr>
            <a:r>
              <a:rPr lang="ar-SA" altLang="en-US" sz="1550" dirty="0">
                <a:solidFill>
                  <a:srgbClr val="1F2A37"/>
                </a:solidFill>
                <a:latin typeface="Amiri" pitchFamily="2" charset="-78"/>
                <a:cs typeface="Amiri" pitchFamily="2" charset="-78"/>
              </a:rPr>
              <a:t>فِي بَعْضِ العَائِلَاتِ</a:t>
            </a:r>
            <a:pPr algn="l" indent="0" marL="0">
              <a:buNone/>
            </a:pPr>
            <a:r>
              <a:rPr lang="en-US" sz="1200" dirty="0">
                <a:solidFill>
                  <a:srgbClr val="1F2A37"/>
                </a:solidFill>
                <a:latin typeface="Calibri" pitchFamily="34" charset="0"/>
                <a:cs typeface="Amiri" pitchFamily="2" charset="-78"/>
              </a:rPr>
              <a:t> or </a:t>
            </a:r>
            <a:pPr algn="l" indent="0" marL="0">
              <a:buNone/>
            </a:pPr>
            <a:r>
              <a:rPr lang="ar-SA" altLang="en-US" sz="1550" dirty="0">
                <a:solidFill>
                  <a:srgbClr val="1F2A37"/>
                </a:solidFill>
                <a:latin typeface="Amiri" pitchFamily="2" charset="-78"/>
                <a:cs typeface="Amiri" pitchFamily="2" charset="-78"/>
              </a:rPr>
              <a:t>لَيْسَ دَائِمًا</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اسْتِقْبَالُ الضَّيْفِ بِالقَهْوَةِ وَالتَّمْرِ</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receiving a guest with coffee and dates</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يَزُورُونَ الأَقَارِبَ بِانْتِظَامٍ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they visit relatives regularly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تَبْقَى قِيَمُ الكَرَمِ حَاضِرَةً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values of generosity remain present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الأَفْضَلُ أَنْ نَصِفَ مَا رَأَيْنَاهُ بِدِقَّةٍ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better to describe what we saw accurately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مِنَ الخَطَأِ أَنْ نَقُولَ إِنَّ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it is wrong to say that …</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cs typeface="Amiri" pitchFamily="2" charset="-78"/>
              </a:rPr>
              <a:t>تَخْتَلِفُ العَادَاتُ بَيْنَ البُلْدَانِ اخْتِلَافًا وَاضِحًا. فِي بَعْضِ العَائِلَاتِ العَرَبِيَّةِ يَعْتَادُ النَّاسُ عَلَى اسْتِقْبَالِ الضَّيْفِ بِالقَهْوَةِ وَالتَّمْرِ، بَيْنَمَا نُقَدِّمُ نَحْنُ الشَّايَ عَادَةً. وَيَتَمَسَّكُ كَثِيرٌ مِنَ الأُسَرِ بِصِلَةِ الرَّحِمِ، فَيَزُورُونَ الأَقَارِبَ بِانْتِظَامٍ. مِنْ نَاحِيَةٍ تَتَغَيَّرُ بَعْضُ التَّقَالِيدِ مَعَ الأَجْيَالِ الجَدِيدَةِ، وَمِنْ نَاحِيَةٍ أُخْرَى تَبْقَى قِيَمُ الكَرَمِ حَاضِرَةً. وَلَيْسَ دَائِمًا يَتَصَرَّفُ الجَمِيعُ بِالطَّرِيقَةِ نَفْسِهَا؛ فَالأَفْضَلُ أَنْ نَصِفَ مَا رَأَيْنَاهُ بِدِقَّةٍ.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Customs clearly differ between countries. In some Arab families people are used to receiving a guest with coffee and dates, whereas we usually serve tea. Many families hold on to family ties, so they visit relatives regularly. On one hand some traditions change with new generations; on the other, the values of generosity remain present. Not everyone always behaves the same way — it is better to describe what we saw accurately.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verbs with their prepositions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 with بَيْنَمَا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مِنْ نَاحِيَةٍ … وَمِنْ نَاحِيَةٍ أُخْرَى</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hedge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cultural verb has its preposition.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The noun after the preposition ends in -i.</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t>
            </a:r>
            <a:pPr algn="l" indent="0" marL="0">
              <a:buNone/>
            </a:pPr>
            <a:r>
              <a:rPr lang="ar-SA" altLang="en-US" sz="1700" dirty="0">
                <a:solidFill>
                  <a:srgbClr val="1F2A37"/>
                </a:solidFill>
                <a:latin typeface="Amiri" pitchFamily="2" charset="-78"/>
                <a:cs typeface="Amiri" pitchFamily="2" charset="-78"/>
              </a:rPr>
              <a:t>بَيْنَمَا</a:t>
            </a:r>
            <a:pPr algn="l" indent="0" marL="0">
              <a:buNone/>
            </a:pPr>
            <a:r>
              <a:rPr lang="en-US" sz="1300" dirty="0">
                <a:solidFill>
                  <a:srgbClr val="1F2A37"/>
                </a:solidFill>
                <a:latin typeface="Calibri" pitchFamily="34" charset="0"/>
                <a:cs typeface="Amiri" pitchFamily="2" charset="-78"/>
              </a:rPr>
              <a:t> joins two full clauses.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hedged at least one claim.</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balanced two sides and avoided “all Arabs”.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يَحْتَفِظُ الجِيلُ الجَدِيدُ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بَعْضِ 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يَنْتَمِي هٰذَا الشَّابُّ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 rather than a generalisation?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تَخْتَلِفُ العَادَاتُ مِنْ بَلَدٍ إِلَى بَلَدٍ.</a:t>
            </a:r>
            <a:endParaRPr lang="ar-SA" sz="180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كُلُّ العَرَبِ يَحْتَفِلُونَ بِالطَّرِيقَةِ نَفْسِهَا.</a:t>
            </a:r>
            <a:endParaRPr lang="ar-SA" sz="180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العَرَبُ دَائِمًا يُقَدِّمُونَ القَهْوَةَ.</a:t>
            </a:r>
            <a:endParaRPr lang="ar-SA" sz="180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يَحْتَفِظُ الجِيلُ الجَدِيدُ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بَعْضِ 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إِلَى</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يَحْتَفِظُ</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يَنْتَمِي هٰذَا الشَّابُّ</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ثَقَافَتَيْنِ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إِلَى</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مَعَ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يَنْتَمِي</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إِلَى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sentence is accurate rather than a generalisation?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00" b="1" dirty="0">
                <a:solidFill>
                  <a:srgbClr val="1F2A37"/>
                </a:solidFill>
                <a:latin typeface="Amiri" pitchFamily="2" charset="-78"/>
                <a:cs typeface="Amiri" pitchFamily="2" charset="-78"/>
              </a:rPr>
              <a:t>تَخْتَلِفُ العَادَاتُ مِنْ بَلَدٍ إِلَى بَلَدٍ.</a:t>
            </a:r>
            <a:endParaRPr lang="ar-SA" sz="180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كُلُّ العَرَبِ يَحْتَفِلُونَ بِالطَّرِيقَةِ نَفْسِهَا.</a:t>
            </a:r>
            <a:endParaRPr lang="ar-SA" sz="180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00" dirty="0">
                <a:solidFill>
                  <a:srgbClr val="9AA1AB"/>
                </a:solidFill>
                <a:latin typeface="Amiri" pitchFamily="2" charset="-78"/>
                <a:cs typeface="Amiri" pitchFamily="2" charset="-78"/>
              </a:rPr>
              <a:t>العَرَبُ دَائِمًا يُقَدِّمُونَ القَهْوَةَ.</a:t>
            </a:r>
            <a:endParaRPr lang="ar-SA" sz="180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accurate sentence reports variation.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Reading: customs are not one thing</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cs typeface="Amiri" pitchFamily="2" charset="-78"/>
              </a:rPr>
              <a:t>تَتَنَوَّعُ العَادَاتُ فِي العَالَمِ العَرَبِيِّ تَنَوُّعًا كَبِيرًا. فِي بَعْضِ البُلْدَانِ يَعْتَادُ النَّاسُ عَلَى اسْتِقْبَالِ الضَّيْفِ بِالقَهْوَةِ وَالتَّمْرِ، بَيْنَمَا يُقَدَّمُ الشَّايُ بِالنَّعْنَاعِ فِي بُلْدَانٍ أُخْرَى. وَيَتَمَسَّكُ كَثِيرٌ مِنَ الأُسَرِ بِصِلَةِ الرَّحِمِ وَاحْتِرَامِ الكِبَارِ، وَلٰكِنَّ طَرِيقَةَ التَّعْبِيرِ عَنْ ذٰلِكَ تَخْتَلِفُ مِنْ مَكَانٍ إِلَى مَكَانٍ. مِنْ نَاحِيَةٍ تَتَغَيَّرُ بَعْضُ التَّقَالِيدِ مَعَ الأَجْيَالِ الجَدِيدَةِ، وَمِنْ نَاحِيَةٍ أُخْرَى تَبْقَى قِيَمُ الكَرَمِ وَالتَّضَامُنِ حَاضِرَةً. وَمِنَ الخَطَأِ أَنْ نَقُولَ إِنَّ العَرَبَ جَمِيعًا يَتَصَرَّفُونَ بِالطَّرِيقَةِ نَفْسِهَا؛ فَالأَفْضَلُ أَنْ نَصِفَ مَا رَأَيْنَاهُ بِدِقَّةٍ.</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تَتَنَوَّعُ</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vary</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اسْتِقْبَالِ الضَّيْفِ</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receiving the guest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التَّمْرِ</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dates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الشَّايُ بِالنَّعْنَاعِ</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mint tea</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طَرِيقَةَ التَّعْبِيرِ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way of expressing</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الأَجْيَالِ الجَدِيدَةِ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new generations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قِيَمُ الكَرَمِ</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values of generosity</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التَّضَامُنِ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solidarity</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يَتَصَرَّفُونَ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behave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بِدِقَّةٍ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accurately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guests received in some countries?</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mint tea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coffee and dates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With a formal letter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hold on to?</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formal ceremonies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religious study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ties and respect for elders</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changes?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 traditions change with new generations</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 traditions disappear</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ever changes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present?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old clothing styles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values of generosity and solidarity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the dialects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Saying all Arabs behave the same way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Describing what you saw</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Learning about customs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are guests received in some countries?</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mint tea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With coffee and dates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With a formal letter</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اسْتِقْبَالِ الضَّيْفِ بِالقَهْوَةِ وَالتَّمْرِ.</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many families hold on to?</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formal ceremonies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religious study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Family ties and respect for elders</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يَتَمَسَّكُ كَثِيرٌ مِنَ الأُسَرِ بِصِلَةِ الرَّحِمِ وَاحْتِرَامِ الكِبَارِ.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changes?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Some traditions change with new generations</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All traditions disappear</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ever changes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تَتَغَيَّرُ بَعْضُ التَّقَالِيدِ مَعَ الأَجْيَالِ الجَدِيدَةِ.</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stays present?</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old clothing styles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values of generosity and solidarity</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the dialects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تَبْقَى قِيَمُ الكَرَمِ وَالتَّضَامُنِ حَاضِرَةً.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warn against?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Saying all Arabs behave the same way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Describing what you saw</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Learning about customs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وَمِنَ الخَطَأِ أَنْ نَقُولَ إِنَّ العَرَبَ جَمِيعًا يَتَصَرَّفُونَ بِالطَّرِيقَةِ نَفْسِهَا.</a:t>
            </a:r>
            <a:endParaRPr lang="ar-SA" sz="11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Customs Mission — Prepositions, Contrast and Accuracy</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يَعْتَادُ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الضِّيَافَةِ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يَتَمَسَّكُ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“hospitality”?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تَضَامُنٌ</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مِعْيَارٌ</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ضِيَافَةٌ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“keeping family ties”?</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صِلَةُ الرَّحِمِ</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حُسْنُ الجِوَارِ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احْتِرَامُ الكِبَارِ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which uses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تُقَدَّمُ القَهْوَةُ بَيْنَمَا.</a:t>
            </a:r>
            <a:endParaRPr lang="ar-SA" sz="150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تُقَدَّمُ القَهْوَةُ هُنَا، بَيْنَمَا يُقَدَّمُ الشَّايُ هُنَاكَ.</a:t>
            </a:r>
            <a:endParaRPr lang="ar-SA" sz="150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500" dirty="0">
                <a:solidFill>
                  <a:srgbClr val="1F2A37"/>
                </a:solidFill>
                <a:latin typeface="Amiri" pitchFamily="2" charset="-78"/>
                <a:cs typeface="Amiri" pitchFamily="2" charset="-78"/>
              </a:rPr>
              <a:t>بَيْنَمَا القَهْوَةُ وَالشَّايُ.</a:t>
            </a:r>
            <a:endParaRPr lang="ar-SA" sz="15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يَعْتَادُ</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الضِّيَافَةِ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عَلَى</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يَعْتَادُ</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عَلَى</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يَتَمَسَّكُ</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التَّقَالِيدِ</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بِـ</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يَتَمَسَّكُ</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بِـ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يَتَكَيَّفُ</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الحَيَاةِ 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يَتَكَيَّفُ</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“hospitality”?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تَضَامُنٌ</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مِعْيَارٌ</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ضِيَافَةٌ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ضِيَافَةٌ</a:t>
            </a:r>
            <a:pPr algn="l" indent="0" marL="0">
              <a:buNone/>
            </a:pPr>
            <a:r>
              <a:rPr lang="en-US" sz="1050" i="1" dirty="0">
                <a:solidFill>
                  <a:srgbClr val="8A6D1E"/>
                </a:solidFill>
                <a:latin typeface="Calibri" pitchFamily="34" charset="0"/>
                <a:cs typeface="Amiri" pitchFamily="2" charset="-78"/>
              </a:rPr>
              <a:t> is hospitality.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“keeping family ties”?</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صِلَةُ الرَّحِمِ</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حُسْنُ الجِوَارِ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احْتِرَامُ الكِبَارِ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صِلَةُ الرَّحِمِ</a:t>
            </a:r>
            <a:pPr algn="l" indent="0" marL="0">
              <a:buNone/>
            </a:pPr>
            <a:r>
              <a:rPr lang="en-US" sz="1050" i="1" dirty="0">
                <a:solidFill>
                  <a:srgbClr val="8A6D1E"/>
                </a:solidFill>
                <a:latin typeface="Calibri" pitchFamily="34" charset="0"/>
                <a:cs typeface="Amiri" pitchFamily="2" charset="-78"/>
              </a:rPr>
              <a:t> is maintaining family ties.</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Contrast: which uses </a:t>
            </a:r>
            <a:pPr algn="l" indent="0" marL="0">
              <a:buNone/>
            </a:pPr>
            <a:r>
              <a:rPr lang="ar-SA" altLang="en-US" sz="1650" b="1" dirty="0">
                <a:solidFill>
                  <a:srgbClr val="1B3B6F"/>
                </a:solidFill>
                <a:latin typeface="Amiri" pitchFamily="2" charset="-78"/>
                <a:cs typeface="Amiri" pitchFamily="2" charset="-78"/>
              </a:rPr>
              <a:t>بَيْنَمَا</a:t>
            </a:r>
            <a:pPr algn="l" indent="0" marL="0">
              <a:buNone/>
            </a:pPr>
            <a:r>
              <a:rPr lang="en-US" sz="1250" b="1" dirty="0">
                <a:solidFill>
                  <a:srgbClr val="1B3B6F"/>
                </a:solidFill>
                <a:latin typeface="Calibri" pitchFamily="34" charset="0"/>
                <a:cs typeface="Amiri" pitchFamily="2" charset="-78"/>
              </a:rPr>
              <a:t> correctly?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تُقَدَّمُ القَهْوَةُ بَيْنَمَا.</a:t>
            </a:r>
            <a:endParaRPr lang="ar-SA" sz="15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تُقَدَّمُ القَهْوَةُ هُنَا، بَيْنَمَا يُقَدَّمُ الشَّايُ هُنَاكَ.</a:t>
            </a:r>
            <a:endParaRPr lang="ar-SA" sz="15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500" dirty="0">
                <a:solidFill>
                  <a:srgbClr val="9AA1AB"/>
                </a:solidFill>
                <a:latin typeface="Amiri" pitchFamily="2" charset="-78"/>
                <a:cs typeface="Amiri" pitchFamily="2" charset="-78"/>
              </a:rPr>
              <a:t>بَيْنَمَا القَهْوَةُ وَالشَّايُ.</a:t>
            </a:r>
            <a:endParaRPr lang="ar-SA" sz="15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بَيْنَمَا</a:t>
            </a:r>
            <a:pPr algn="l" indent="0" marL="0">
              <a:buNone/>
            </a:pPr>
            <a:r>
              <a:rPr lang="en-US" sz="1050" i="1" dirty="0">
                <a:solidFill>
                  <a:srgbClr val="8A6D1E"/>
                </a:solidFill>
                <a:latin typeface="Calibri" pitchFamily="34" charset="0"/>
                <a:cs typeface="Amiri" pitchFamily="2" charset="-78"/>
              </a:rPr>
              <a:t> joins two complete clauses.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D6-L02 · Culture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D6-L03: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D6 · Countries, Cultures and Celebrations · D6-L02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D6-L03 · Islamic Celebrations — Eid, Ramadan and Religious Occasions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رَمَضَانُ</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Ramadan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الصِّيَامُ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fasting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الإِفْطَارُ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iftar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عِيدُ الفِطْرِ</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Eid al-Fitr</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عِيدِيَّةٌ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Eid money</a:t>
            </a:r>
            <a:pPr indent="0" marL="0">
              <a:buNone/>
            </a:pPr>
            <a:r>
              <a:rPr lang="en-US" sz="1000" i="1" dirty="0">
                <a:solidFill>
                  <a:srgbClr val="5A6472"/>
                </a:solidFill>
                <a:latin typeface="Calibri" pitchFamily="34" charset="0"/>
                <a:cs typeface="Amiri" pitchFamily="2" charset="-78"/>
              </a:rPr>
              <a:t>  pl. عِيدِيَّاتٌ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does your family do on the morning of Eid? Note two things.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فِي صَبَاحِ العِيدِ نَذْهَبُ إِلَى … ثُمَّ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customs words with their prepositions;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comparison with </a:t>
            </a:r>
            <a:pPr algn="l" indent="0" marL="0">
              <a:buNone/>
            </a:pPr>
            <a:r>
              <a:rPr lang="ar-SA" altLang="en-US" sz="1550" dirty="0">
                <a:solidFill>
                  <a:srgbClr val="1F2A37"/>
                </a:solidFill>
                <a:latin typeface="Amiri" pitchFamily="2" charset="-78"/>
                <a:cs typeface="Amiri" pitchFamily="2" charset="-78"/>
              </a:rPr>
              <a:t>بَيْنَمَا</a:t>
            </a:r>
            <a:pPr algn="l" indent="0" marL="0">
              <a:buNone/>
            </a:pPr>
            <a:r>
              <a:rPr lang="en-US" sz="1200" dirty="0">
                <a:solidFill>
                  <a:srgbClr val="1F2A37"/>
                </a:solidFill>
                <a:latin typeface="Calibri" pitchFamily="34" charset="0"/>
                <a:cs typeface="Amiri" pitchFamily="2" charset="-78"/>
              </a:rPr>
              <a:t> and a hedge.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hedged comparison.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D6-L02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D6-L03 · Islamic Celebrations — Eid, Ramadan and Religious Occasions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المُنَاسَبَاتُ الإِسْلَامِيَّةُ — العِيدَانِ وَرَمَضَانُ</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t>
            </a:r>
            <a:pPr algn="l" indent="0" marL="0">
              <a:buNone/>
            </a:pPr>
            <a:r>
              <a:rPr lang="ar-SA" altLang="en-US" sz="1700" b="1" dirty="0">
                <a:solidFill>
                  <a:srgbClr val="FFFFFF"/>
                </a:solidFill>
                <a:latin typeface="Amiri" pitchFamily="2" charset="-78"/>
                <a:cs typeface="Amiri" pitchFamily="2" charset="-78"/>
              </a:rPr>
              <a:t>يَعْتَادُ عَلَى</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يَتَمَسَّكُ بِـ</a:t>
            </a:r>
            <a:pPr algn="l" indent="0" marL="0">
              <a:buNone/>
            </a:pPr>
            <a:r>
              <a:rPr lang="en-US" sz="1300" b="1" dirty="0">
                <a:solidFill>
                  <a:srgbClr val="FFFFFF"/>
                </a:solidFill>
                <a:latin typeface="Calibri" pitchFamily="34" charset="0"/>
                <a:cs typeface="Amiri" pitchFamily="2" charset="-78"/>
              </a:rPr>
              <a:t> · </a:t>
            </a:r>
            <a:pPr algn="l" indent="0" marL="0">
              <a:buNone/>
            </a:pPr>
            <a:r>
              <a:rPr lang="ar-SA" altLang="en-US" sz="1700" b="1" dirty="0">
                <a:solidFill>
                  <a:srgbClr val="FFFFFF"/>
                </a:solidFill>
                <a:latin typeface="Amiri" pitchFamily="2" charset="-78"/>
                <a:cs typeface="Amiri" pitchFamily="2" charset="-78"/>
              </a:rPr>
              <a:t>يَحْتَفِلُ بِـ</a:t>
            </a:r>
            <a:pPr algn="l" indent="0" marL="0">
              <a:buNone/>
            </a:pPr>
            <a:r>
              <a:rPr lang="en-US" sz="1300" b="1" dirty="0">
                <a:solidFill>
                  <a:srgbClr val="FFFFFF"/>
                </a:solidFill>
                <a:latin typeface="Calibri" pitchFamily="34" charset="0"/>
                <a:cs typeface="Amiri" pitchFamily="2" charset="-78"/>
              </a:rPr>
              <a:t> — compare with </a:t>
            </a:r>
            <a:pPr algn="l" indent="0" marL="0">
              <a:buNone/>
            </a:pPr>
            <a:r>
              <a:rPr lang="ar-SA" altLang="en-US" sz="1700" b="1" dirty="0">
                <a:solidFill>
                  <a:srgbClr val="FFFFFF"/>
                </a:solidFill>
                <a:latin typeface="Amiri" pitchFamily="2" charset="-78"/>
                <a:cs typeface="Amiri" pitchFamily="2" charset="-78"/>
              </a:rPr>
              <a:t>بَيْنَمَا</a:t>
            </a:r>
            <a:pPr algn="l" indent="0" marL="0">
              <a:buNone/>
            </a:pPr>
            <a:r>
              <a:rPr lang="en-US" sz="1300" b="1" dirty="0">
                <a:solidFill>
                  <a:srgbClr val="FFFFFF"/>
                </a:solidFill>
                <a:latin typeface="Calibri" pitchFamily="34" charset="0"/>
                <a:cs typeface="Amiri" pitchFamily="2" charset="-78"/>
              </a:rPr>
              <a:t> — and describe what you saw, not what “all Arabs” do.</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D6-L02 · Cultural Customs — Traditions, Greetings and Social Norms</dc:title>
  <dc:subject>PptxGenJS Presentation</dc:subject>
  <dc:creator>Al Madina Online School · Arabic Department</dc:creator>
  <cp:lastModifiedBy>Al Madina Online School · Arabic Department</cp:lastModifiedBy>
  <cp:revision>1</cp:revision>
  <dcterms:created xsi:type="dcterms:W3CDTF">2026-10-11T06:41:06Z</dcterms:created>
  <dcterms:modified xsi:type="dcterms:W3CDTF">2026-10-11T06:41:06Z</dcterms:modified>
</cp:coreProperties>
</file>