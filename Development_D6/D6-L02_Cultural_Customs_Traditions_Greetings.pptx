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D6-L02.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D6-L01. Questions 4–5 retrieve D6-L01 (diptotes) and the hedging language from D5-L06 / D6-L01.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(D6-L03 · Islamic Celebrations — Eid, Ramadan and Religious Occasions) will spend class time USING this language, so students prepare it tonight — short, simple, easy to access (school guidance: “Simple, Short, Interesting, Relevant, Easy to access”). The five words come from the website D6-L03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Cultural Customs — Traditions, Greetings and Social Norms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العَادَاتُ الثَّقَافِيَّةُ — التَّقَالِيدُ وَالتَّحِيَّاتُ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customs — hospitality, family ties, respect for elders — with the right verb + preposition (</a:t>
            </a:r>
            <a:pPr algn="l" indent="0" marL="0">
              <a:buNone/>
            </a:pPr>
            <a:r>
              <a:rPr lang="ar-SA" altLang="en-US" sz="1800" dirty="0">
                <a:solidFill>
                  <a:srgbClr val="C6D2E6"/>
                </a:solidFill>
                <a:latin typeface="Amiri" pitchFamily="2" charset="-78"/>
                <a:ea typeface="Amiri" pitchFamily="2" charset="-78"/>
                <a:cs typeface="Amiri" pitchFamily="2" charset="-78"/>
              </a:rPr>
              <a:t>يَعْتَادُ عَلَى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يَتَمَسَّكُ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يَحْتَفِلُ بِـ</a:t>
            </a:r>
            <a:pPr algn="l" indent="0" marL="0">
              <a:buNone/>
            </a:pPr>
            <a:r>
              <a:rPr lang="en-US" sz="1400" dirty="0">
                <a:solidFill>
                  <a:srgbClr val="C6D2E6"/>
                </a:solidFill>
                <a:latin typeface="Calibri" pitchFamily="34" charset="0"/>
                <a:cs typeface="Amiri" pitchFamily="2" charset="-78"/>
              </a:rPr>
              <a:t>), compare with </a:t>
            </a:r>
            <a:pPr algn="l" indent="0" marL="0">
              <a:buNone/>
            </a:pPr>
            <a:r>
              <a:rPr lang="ar-SA" altLang="en-US" sz="1800" dirty="0">
                <a:solidFill>
                  <a:srgbClr val="C6D2E6"/>
                </a:solidFill>
                <a:latin typeface="Amiri" pitchFamily="2" charset="-78"/>
                <a:ea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and keep every claim accurate: </a:t>
            </a:r>
            <a:pPr algn="l" indent="0" marL="0">
              <a:buNone/>
            </a:pPr>
            <a:r>
              <a:rPr lang="ar-SA" altLang="en-US" sz="1800" dirty="0">
                <a:solidFill>
                  <a:srgbClr val="C6D2E6"/>
                </a:solidFill>
                <a:latin typeface="Amiri" pitchFamily="2" charset="-78"/>
                <a:ea typeface="Amiri" pitchFamily="2" charset="-78"/>
                <a:cs typeface="Amiri" pitchFamily="2" charset="-78"/>
              </a:rPr>
              <a:t>فِي بَعْضِ العَائِلَاتِ</a:t>
            </a:r>
            <a:pPr algn="l" indent="0" marL="0">
              <a:buNone/>
            </a:pPr>
            <a:r>
              <a:rPr lang="en-US" sz="1400" dirty="0">
                <a:solidFill>
                  <a:srgbClr val="C6D2E6"/>
                </a:solidFill>
                <a:latin typeface="Calibri" pitchFamily="34" charset="0"/>
                <a:cs typeface="Amiri" pitchFamily="2" charset="-78"/>
              </a:rPr>
              <a:t>, not </a:t>
            </a:r>
            <a:pPr algn="l" indent="0" marL="0">
              <a:buNone/>
            </a:pPr>
            <a:r>
              <a:rPr lang="ar-SA" altLang="en-US" sz="1800" dirty="0">
                <a:solidFill>
                  <a:srgbClr val="C6D2E6"/>
                </a:solidFill>
                <a:latin typeface="Amiri" pitchFamily="2" charset="-78"/>
                <a:ea typeface="Amiri" pitchFamily="2" charset="-78"/>
                <a:cs typeface="Amiri" pitchFamily="2" charset="-78"/>
              </a:rPr>
              <a:t>كُلُّ العَرَبِ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verbs + prepositions, </a:t>
            </a:r>
            <a:pPr algn="ctr" indent="0" marL="0">
              <a:buNone/>
            </a:pPr>
            <a:r>
              <a:rPr lang="ar-SA" altLang="en-US" sz="1550" dirty="0">
                <a:solidFill>
                  <a:srgbClr val="1F2A37"/>
                </a:solidFill>
                <a:latin typeface="Amiri" pitchFamily="2" charset="-78"/>
                <a:ea typeface="Amiri" pitchFamily="2" charset="-78"/>
                <a:cs typeface="Amiri" pitchFamily="2" charset="-78"/>
              </a:rPr>
              <a:t>بَيْنَمَا</a:t>
            </a:r>
            <a:pPr algn="ctr" indent="0" marL="0">
              <a:buNone/>
            </a:pPr>
            <a:r>
              <a:rPr lang="en-US" sz="1200" dirty="0">
                <a:solidFill>
                  <a:srgbClr val="1F2A37"/>
                </a:solidFill>
                <a:latin typeface="Calibri" pitchFamily="34" charset="0"/>
                <a:cs typeface="Amiri" pitchFamily="2" charset="-78"/>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 / D6-L01: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فِي بَعْضِ العَائِلَاتِ</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يَعْتَادُ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النَّاسُ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customs and values (</a:t>
            </a:r>
            <a:pPr algn="l" indent="0" marL="0">
              <a:buNone/>
            </a:pPr>
            <a:r>
              <a:rPr lang="ar-SA" altLang="en-US" sz="1700" dirty="0">
                <a:solidFill>
                  <a:srgbClr val="1F2A37"/>
                </a:solidFill>
                <a:latin typeface="Amiri" pitchFamily="2" charset="-78"/>
                <a:ea typeface="Amiri" pitchFamily="2" charset="-78"/>
                <a:cs typeface="Amiri" pitchFamily="2" charset="-78"/>
              </a:rPr>
              <a:t>ضِيَافَةٌ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كَرَمٌ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صِلَةُ الرَّحِمِ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احْتِرَامُ الكِبَارِ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customs with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cultural claims (</a:t>
            </a:r>
            <a:pPr algn="l" indent="0" marL="0">
              <a:buNone/>
            </a:pPr>
            <a:r>
              <a:rPr lang="ar-SA" altLang="en-US" sz="1700" dirty="0">
                <a:solidFill>
                  <a:srgbClr val="1F2A37"/>
                </a:solidFill>
                <a:latin typeface="Amiri" pitchFamily="2" charset="-78"/>
                <a:ea typeface="Amiri" pitchFamily="2" charset="-78"/>
                <a:cs typeface="Amiri" pitchFamily="2" charset="-78"/>
              </a:rPr>
              <a:t>فِي بَعْضِ العَائِلَاتِ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customs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two sides (</a:t>
            </a:r>
            <a:pPr algn="l" indent="0" marL="0">
              <a:buNone/>
            </a:pPr>
            <a:r>
              <a:rPr lang="ar-SA" altLang="en-US" sz="1700" b="1" dirty="0">
                <a:solidFill>
                  <a:srgbClr val="B83227"/>
                </a:solidFill>
                <a:latin typeface="Amiri" pitchFamily="2" charset="-78"/>
                <a:ea typeface="Amiri" pitchFamily="2" charset="-78"/>
                <a:cs typeface="Amiri" pitchFamily="2" charset="-78"/>
              </a:rPr>
              <a:t>مِنْ نَاحِيَةٍ</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‎ضیافت / مہمان‎ </a:t>
            </a:r>
            <a:pPr indent="0" marL="0">
              <a:buNone/>
            </a:pPr>
            <a:r>
              <a:rPr lang="en-US" sz="950" b="1" dirty="0">
                <a:solidFill>
                  <a:srgbClr val="2E8B57"/>
                </a:solidFill>
                <a:latin typeface="Calibri" pitchFamily="34" charset="0"/>
                <a:cs typeface="Amiri" pitchFamily="2" charset="-78"/>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‎کرم‎ </a:t>
            </a:r>
            <a:pPr indent="0" marL="0">
              <a:buNone/>
            </a:pPr>
            <a:r>
              <a:rPr lang="en-US" sz="950" b="1" dirty="0">
                <a:solidFill>
                  <a:srgbClr val="2E8B57"/>
                </a:solidFill>
                <a:latin typeface="Calibri" pitchFamily="34" charset="0"/>
                <a:cs typeface="Amiri" pitchFamily="2" charset="-78"/>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‎صلہ رحمی‎ </a:t>
            </a:r>
            <a:pPr indent="0" marL="0">
              <a:buNone/>
            </a:pPr>
            <a:r>
              <a:rPr lang="en-US" sz="950" b="1" dirty="0">
                <a:solidFill>
                  <a:srgbClr val="2E8B57"/>
                </a:solidFill>
                <a:latin typeface="Calibri" pitchFamily="34" charset="0"/>
                <a:cs typeface="Amiri" pitchFamily="2" charset="-78"/>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 / customs</a:t>
            </a:r>
            <a:endParaRPr lang="en-US" sz="1350" dirty="0"/>
          </a:p>
          <a:p>
            <a:pPr indent="0" marL="0">
              <a:buNone/>
            </a:pPr>
            <a:r>
              <a:rPr lang="en-US" sz="1100" i="1" dirty="0">
                <a:solidFill>
                  <a:srgbClr val="5A6472"/>
                </a:solidFill>
                <a:latin typeface="Calibri" pitchFamily="34" charset="0"/>
                <a:cs typeface="Amiri" pitchFamily="2" charset="-78"/>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 / traditions</a:t>
            </a:r>
            <a:endParaRPr lang="en-US" sz="1350" dirty="0"/>
          </a:p>
          <a:p>
            <a:pPr indent="0" marL="0">
              <a:buNone/>
            </a:pPr>
            <a:r>
              <a:rPr lang="en-US" sz="1100" i="1" dirty="0">
                <a:solidFill>
                  <a:srgbClr val="5A6472"/>
                </a:solidFill>
                <a:latin typeface="Calibri" pitchFamily="34" charset="0"/>
                <a:cs typeface="Amiri" pitchFamily="2" charset="-78"/>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plural </a:t>
            </a:r>
            <a:pPr algn="l" indent="0" marL="0">
              <a:buNone/>
            </a:pPr>
            <a:r>
              <a:rPr lang="ar-SA" altLang="en-US" sz="1300" dirty="0">
                <a:solidFill>
                  <a:srgbClr val="8A6D1E"/>
                </a:solidFill>
                <a:latin typeface="Amiri" pitchFamily="2" charset="-78"/>
                <a:ea typeface="Amiri" pitchFamily="2" charset="-78"/>
                <a:cs typeface="Amiri" pitchFamily="2" charset="-78"/>
              </a:rPr>
              <a:t>تَقَالِيدُ</a:t>
            </a:r>
            <a:pPr algn="l" indent="0" marL="0">
              <a:buNone/>
            </a:pPr>
            <a:r>
              <a:rPr lang="en-US" sz="1000" i="1" dirty="0">
                <a:solidFill>
                  <a:srgbClr val="8A6D1E"/>
                </a:solidFill>
                <a:latin typeface="Calibri" pitchFamily="34" charset="0"/>
                <a:cs typeface="Amiri" pitchFamily="2" charset="-78"/>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norm / norms</a:t>
            </a:r>
            <a:endParaRPr lang="en-US" sz="1350" dirty="0"/>
          </a:p>
          <a:p>
            <a:pPr indent="0" marL="0">
              <a:buNone/>
            </a:pPr>
            <a:r>
              <a:rPr lang="en-US" sz="1100" i="1" dirty="0">
                <a:solidFill>
                  <a:srgbClr val="5A6472"/>
                </a:solidFill>
                <a:latin typeface="Calibri" pitchFamily="34" charset="0"/>
                <a:cs typeface="Amiri" pitchFamily="2" charset="-78"/>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generosity</a:t>
            </a:r>
            <a:endParaRPr lang="en-US" sz="1350" dirty="0"/>
          </a:p>
          <a:p>
            <a:pPr indent="0" marL="0">
              <a:buNone/>
            </a:pPr>
            <a:r>
              <a:rPr lang="en-US" sz="1100" i="1" dirty="0">
                <a:solidFill>
                  <a:srgbClr val="5A6472"/>
                </a:solidFill>
                <a:latin typeface="Calibri" pitchFamily="34" charset="0"/>
                <a:cs typeface="Amiri" pitchFamily="2" charset="-78"/>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elders</a:t>
            </a:r>
            <a:endParaRPr lang="en-US" sz="1350" dirty="0"/>
          </a:p>
          <a:p>
            <a:pPr indent="0" marL="0">
              <a:buNone/>
            </a:pPr>
            <a:r>
              <a:rPr lang="en-US" sz="1100" i="1" dirty="0">
                <a:solidFill>
                  <a:srgbClr val="5A6472"/>
                </a:solidFill>
                <a:latin typeface="Calibri" pitchFamily="34" charset="0"/>
                <a:cs typeface="Amiri" pitchFamily="2" charset="-78"/>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importance of family</a:t>
            </a:r>
            <a:endParaRPr lang="en-US" sz="1350" dirty="0"/>
          </a:p>
          <a:p>
            <a:pPr indent="0" marL="0">
              <a:buNone/>
            </a:pPr>
            <a:r>
              <a:rPr lang="en-US" sz="1100" i="1" dirty="0">
                <a:solidFill>
                  <a:srgbClr val="5A6472"/>
                </a:solidFill>
                <a:latin typeface="Calibri" pitchFamily="34" charset="0"/>
                <a:cs typeface="Amiri" pitchFamily="2" charset="-78"/>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solidarity</a:t>
            </a:r>
            <a:endParaRPr lang="en-US" sz="1350" dirty="0"/>
          </a:p>
          <a:p>
            <a:pPr indent="0" marL="0">
              <a:buNone/>
            </a:pPr>
            <a:r>
              <a:rPr lang="en-US" sz="1100" i="1" dirty="0">
                <a:solidFill>
                  <a:srgbClr val="5A6472"/>
                </a:solidFill>
                <a:latin typeface="Calibri" pitchFamily="34" charset="0"/>
                <a:cs typeface="Amiri" pitchFamily="2" charset="-78"/>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keeping family ties</a:t>
            </a:r>
            <a:endParaRPr lang="en-US" sz="1350" dirty="0"/>
          </a:p>
          <a:p>
            <a:pPr indent="0" marL="0">
              <a:buNone/>
            </a:pPr>
            <a:r>
              <a:rPr lang="en-US" sz="1100" i="1" dirty="0">
                <a:solidFill>
                  <a:srgbClr val="5A6472"/>
                </a:solidFill>
                <a:latin typeface="Calibri" pitchFamily="34" charset="0"/>
                <a:cs typeface="Amiri" pitchFamily="2" charset="-78"/>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neighbourliness</a:t>
            </a:r>
            <a:endParaRPr lang="en-US" sz="1350" dirty="0"/>
          </a:p>
          <a:p>
            <a:pPr indent="0" marL="0">
              <a:buNone/>
            </a:pPr>
            <a:r>
              <a:rPr lang="en-US" sz="1100" i="1" dirty="0">
                <a:solidFill>
                  <a:srgbClr val="5A6472"/>
                </a:solidFill>
                <a:latin typeface="Calibri" pitchFamily="34" charset="0"/>
                <a:cs typeface="Amiri" pitchFamily="2" charset="-78"/>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mutual support</a:t>
            </a:r>
            <a:endParaRPr lang="en-US" sz="1350" dirty="0"/>
          </a:p>
          <a:p>
            <a:pPr indent="0" marL="0">
              <a:buNone/>
            </a:pPr>
            <a:r>
              <a:rPr lang="en-US" sz="1100" i="1" dirty="0">
                <a:solidFill>
                  <a:srgbClr val="5A6472"/>
                </a:solidFill>
                <a:latin typeface="Calibri" pitchFamily="34" charset="0"/>
                <a:cs typeface="Amiri" pitchFamily="2" charset="-78"/>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accustomed to</a:t>
            </a:r>
            <a:endParaRPr lang="en-US" sz="1350" dirty="0"/>
          </a:p>
          <a:p>
            <a:pPr indent="0" marL="0">
              <a:buNone/>
            </a:pPr>
            <a:r>
              <a:rPr lang="en-US" sz="1100" i="1" dirty="0">
                <a:solidFill>
                  <a:srgbClr val="5A6472"/>
                </a:solidFill>
                <a:latin typeface="Calibri" pitchFamily="34" charset="0"/>
                <a:cs typeface="Amiri" pitchFamily="2" charset="-78"/>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holds on to, 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preserves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exchanges</a:t>
            </a:r>
            <a:endParaRPr lang="en-US" sz="1350" dirty="0"/>
          </a:p>
          <a:p>
            <a:pPr indent="0" marL="0">
              <a:buNone/>
            </a:pPr>
            <a:r>
              <a:rPr lang="en-US" sz="1100" i="1" dirty="0">
                <a:solidFill>
                  <a:srgbClr val="5A6472"/>
                </a:solidFill>
                <a:latin typeface="Calibri" pitchFamily="34" charset="0"/>
                <a:cs typeface="Amiri" pitchFamily="2" charset="-78"/>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presents, offers</a:t>
            </a:r>
            <a:endParaRPr lang="en-US" sz="1350" dirty="0"/>
          </a:p>
          <a:p>
            <a:pPr indent="0" marL="0">
              <a:buNone/>
            </a:pPr>
            <a:r>
              <a:rPr lang="en-US" sz="1100" i="1" dirty="0">
                <a:solidFill>
                  <a:srgbClr val="5A6472"/>
                </a:solidFill>
                <a:latin typeface="Calibri" pitchFamily="34" charset="0"/>
                <a:cs typeface="Amiri" pitchFamily="2" charset="-78"/>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ea typeface="Amiri" pitchFamily="2" charset="-78"/>
                <a:cs typeface="Amiri" pitchFamily="2" charset="-78"/>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differs from … to …</a:t>
            </a:r>
            <a:endParaRPr lang="en-US" sz="1350" dirty="0"/>
          </a:p>
          <a:p>
            <a:pPr indent="0" marL="0">
              <a:buNone/>
            </a:pPr>
            <a:r>
              <a:rPr lang="en-US" sz="1100" i="1" dirty="0">
                <a:solidFill>
                  <a:srgbClr val="5A6472"/>
                </a:solidFill>
                <a:latin typeface="Calibri" pitchFamily="34" charset="0"/>
                <a:cs typeface="Amiri" pitchFamily="2" charset="-78"/>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generalisation</a:t>
            </a:r>
            <a:endParaRPr lang="en-US" sz="1350" dirty="0"/>
          </a:p>
          <a:p>
            <a:pPr indent="0" marL="0">
              <a:buNone/>
            </a:pPr>
            <a:r>
              <a:rPr lang="en-US" sz="1100" i="1" dirty="0">
                <a:solidFill>
                  <a:srgbClr val="5A6472"/>
                </a:solidFill>
                <a:latin typeface="Calibri" pitchFamily="34" charset="0"/>
                <a:cs typeface="Amiri" pitchFamily="2" charset="-78"/>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يَعْتَادُ النَّاسُ </a:t>
            </a:r>
            <a:pPr rtl="1" algn="ctr" indent="0" marL="0">
              <a:buNone/>
            </a:pPr>
            <a:r>
              <a:rPr lang="ar-SA" altLang="en-US" sz="1950" b="1" dirty="0">
                <a:solidFill>
                  <a:srgbClr val="0E7C86"/>
                </a:solidFill>
                <a:latin typeface="Amiri" pitchFamily="2" charset="-78"/>
                <a:ea typeface="Amiri" pitchFamily="2" charset="-78"/>
                <a:cs typeface="Amiri" pitchFamily="2" charset="-78"/>
              </a:rPr>
              <a:t>عَلَى</a:t>
            </a:r>
            <a:pPr rtl="1" algn="ctr" indent="0" marL="0">
              <a:buNone/>
            </a:pPr>
            <a:r>
              <a:rPr lang="ar-SA" altLang="en-US" sz="1950" b="1" dirty="0">
                <a:solidFill>
                  <a:srgbClr val="1B3B6F"/>
                </a:solidFill>
                <a:latin typeface="Amiri" pitchFamily="2" charset="-78"/>
                <a:ea typeface="Amiri" pitchFamily="2" charset="-78"/>
                <a:cs typeface="Amiri" pitchFamily="2" charset="-78"/>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يَعْتَادُ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تَتَمَسَّكُ الأُسْرَةُ </a:t>
            </a:r>
            <a:pPr rtl="1" algn="ctr" indent="0" marL="0">
              <a:buNone/>
            </a:pPr>
            <a:r>
              <a:rPr lang="ar-SA" altLang="en-US" sz="1950" b="1" dirty="0">
                <a:solidFill>
                  <a:srgbClr val="D6336C"/>
                </a:solidFill>
                <a:latin typeface="Amiri" pitchFamily="2" charset="-78"/>
                <a:ea typeface="Amiri" pitchFamily="2" charset="-78"/>
                <a:cs typeface="Amiri" pitchFamily="2" charset="-78"/>
              </a:rPr>
              <a:t>بِتَقَالِيدِهَا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يَتَمَسَّكُ </a:t>
            </a:r>
            <a:pPr rtl="1" algn="ctr" indent="0" marL="0">
              <a:buNone/>
            </a:pPr>
            <a:r>
              <a:rPr lang="ar-SA" altLang="en-US" sz="2200" b="1" dirty="0">
                <a:solidFill>
                  <a:srgbClr val="D6336C"/>
                </a:solidFill>
                <a:latin typeface="Amiri" pitchFamily="2" charset="-78"/>
                <a:ea typeface="Amiri" pitchFamily="2" charset="-78"/>
                <a:cs typeface="Amiri" pitchFamily="2" charset="-78"/>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تَحْتَفِلُ العَائِلَةُ </a:t>
            </a:r>
            <a:pPr rtl="1" algn="ctr" indent="0" marL="0">
              <a:buNone/>
            </a:pPr>
            <a:r>
              <a:rPr lang="ar-SA" altLang="en-US" sz="1950" b="1" dirty="0">
                <a:solidFill>
                  <a:srgbClr val="D6336C"/>
                </a:solidFill>
                <a:latin typeface="Amiri" pitchFamily="2" charset="-78"/>
                <a:ea typeface="Amiri" pitchFamily="2" charset="-78"/>
                <a:cs typeface="Amiri" pitchFamily="2" charset="-78"/>
              </a:rPr>
              <a:t>بِالمُنَاسَبَةِ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يَحْتَفِلُ </a:t>
            </a:r>
            <a:pPr rtl="1" algn="ctr" indent="0" marL="0">
              <a:buNone/>
            </a:pPr>
            <a:r>
              <a:rPr lang="ar-SA" altLang="en-US" sz="2200" b="1" dirty="0">
                <a:solidFill>
                  <a:srgbClr val="D6336C"/>
                </a:solidFill>
                <a:latin typeface="Amiri" pitchFamily="2" charset="-78"/>
                <a:ea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يَنْتَمِي </a:t>
            </a:r>
            <a:pPr rtl="1" algn="ctr" indent="0" marL="0">
              <a:buNone/>
            </a:pPr>
            <a:r>
              <a:rPr lang="ar-SA" altLang="en-US" sz="1950" b="1" dirty="0">
                <a:solidFill>
                  <a:srgbClr val="1D5FBF"/>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يَنْتَمِي </a:t>
            </a:r>
            <a:pPr rtl="1" algn="ctr" indent="0" marL="0">
              <a:buNone/>
            </a:pPr>
            <a:r>
              <a:rPr lang="ar-SA" altLang="en-US" sz="2200" b="1" dirty="0">
                <a:solidFill>
                  <a:srgbClr val="1D5FBF"/>
                </a:solidFill>
                <a:latin typeface="Amiri" pitchFamily="2" charset="-78"/>
                <a:ea typeface="Amiri" pitchFamily="2" charset="-78"/>
                <a:cs typeface="Amiri" pitchFamily="2" charset="-78"/>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يَتَكَيَّفُ المُهَاجِرُ </a:t>
            </a:r>
            <a:pPr rtl="1" algn="ctr" indent="0" marL="0">
              <a:buNone/>
            </a:pPr>
            <a:r>
              <a:rPr lang="ar-SA" altLang="en-US" sz="1950" b="1" dirty="0">
                <a:solidFill>
                  <a:srgbClr val="1D5FBF"/>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يَتَكَيَّفُ </a:t>
            </a:r>
            <a:pPr rtl="1" algn="ctr" indent="0" marL="0">
              <a:buNone/>
            </a:pPr>
            <a:r>
              <a:rPr lang="ar-SA" altLang="en-US" sz="2200" b="1" dirty="0">
                <a:solidFill>
                  <a:srgbClr val="1D5FBF"/>
                </a:solidFill>
                <a:latin typeface="Amiri" pitchFamily="2" charset="-78"/>
                <a:ea typeface="Amiri" pitchFamily="2" charset="-78"/>
                <a:cs typeface="Amiri" pitchFamily="2" charset="-78"/>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(-i): </a:t>
            </a:r>
            <a:pPr algn="l" indent="0" marL="0">
              <a:buNone/>
            </a:pPr>
            <a:r>
              <a:rPr lang="ar-SA" altLang="en-US" sz="1500" b="1" dirty="0">
                <a:solidFill>
                  <a:srgbClr val="1B3B6F"/>
                </a:solidFill>
                <a:latin typeface="Amiri" pitchFamily="2" charset="-78"/>
                <a:ea typeface="Amiri" pitchFamily="2" charset="-78"/>
                <a:cs typeface="Amiri" pitchFamily="2" charset="-78"/>
              </a:rPr>
              <a:t>عَلَى الضِّيَافَةِ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بِالمُنَاسَبَةِ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ea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يَعْتَادُ</a:t>
            </a:r>
            <a:pPr rtl="1" algn="ctr" indent="0" marL="0">
              <a:buNone/>
            </a:pPr>
            <a:r>
              <a:rPr lang="ar-SA" altLang="en-US" sz="2100" b="1" dirty="0">
                <a:solidFill>
                  <a:srgbClr val="1B3B6F"/>
                </a:solidFill>
                <a:latin typeface="Amiri" pitchFamily="2" charset="-78"/>
                <a:ea typeface="Amiri" pitchFamily="2" charset="-78"/>
                <a:cs typeface="Amiri" pitchFamily="2" charset="-78"/>
              </a:rPr>
              <a:t> النَّاسُ </a:t>
            </a:r>
            <a:pPr rtl="1" algn="ctr" indent="0" marL="0">
              <a:buNone/>
            </a:pPr>
            <a:r>
              <a:rPr lang="ar-SA" altLang="en-US" sz="2100" b="1" dirty="0">
                <a:solidFill>
                  <a:srgbClr val="0E7C86"/>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بَيْنَمَا</a:t>
            </a:r>
            <a:pPr rtl="1" algn="ctr" indent="0" marL="0">
              <a:buNone/>
            </a:pPr>
            <a:r>
              <a:rPr lang="ar-SA" altLang="en-US" sz="2400" b="1" dirty="0">
                <a:solidFill>
                  <a:srgbClr val="1B3B6F"/>
                </a:solidFill>
                <a:latin typeface="Amiri" pitchFamily="2" charset="-78"/>
                <a:ea typeface="Amiri" pitchFamily="2" charset="-78"/>
                <a:cs typeface="Amiri" pitchFamily="2" charset="-78"/>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فِي بَعْضِ العَائِلَاتِ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يَعْتَادُ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النَّاسُ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اسْتِقْبَالِ الضَّيْفِ بِالقَهْوَةِ وَالتَّمْرِ،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نُقَدِّمُ نَحْنُ الشَّايَ عَادَةً.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يَتَمَسَّكُ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 مِنَ الأُسَرِ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بِصِلَةِ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used to hospitality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holds on to her traditions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a:t>
            </a:r>
            <a:endParaRPr lang="en-US" sz="1250" dirty="0"/>
          </a:p>
          <a:p>
            <a:pPr indent="0" marL="0">
              <a:buNone/>
            </a:pPr>
            <a:r>
              <a:rPr lang="en-US" sz="1050" i="1" dirty="0">
                <a:solidFill>
                  <a:srgbClr val="8A6D1E"/>
                </a:solidFill>
                <a:latin typeface="Calibri" pitchFamily="34" charset="0"/>
                <a:cs typeface="Amiri" pitchFamily="2" charset="-78"/>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يَعْتَادُ</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compare a custom accurately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عَادَةً تَعْرِفُهَا. مَنْ يَعْتَادُ عَلَيْهَا؟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عَادَتَيْنِ مُسْتَعْمِلًا بَيْنَمَا.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تَتَجَنَّبُ التَّعْمِيمَ عِنْدَ الحَدِيثِ عَنِ الثَّقَافَاتِ؟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عَائِلَتِي نَعْتَادُ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العَائِلَاتِ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لَا أَقُولُ « كُلُّ … » ، بَلْ أَقُولُ « فِي بَعْضِ …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عَادَةً تَعْرِفُهَا.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custom you know.</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بَعْضِ العَائِلَاتِ يَعْتَادُ النَّاسُ عَلَى تَقْدِيمِ القَهْوَةِ لِلضَّيْفِ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some families people are used to serving the guest coffee first.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Balance the comparison with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400" b="1" dirty="0">
                <a:solidFill>
                  <a:srgbClr val="1F2A37"/>
                </a:solidFill>
                <a:latin typeface="Calibri" pitchFamily="34" charset="0"/>
                <a:cs typeface="Amiri" pitchFamily="2" charset="-78"/>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comparing a custom you know with one from an Arab country. Use </a:t>
            </a:r>
            <a:pPr algn="l" indent="0" marL="0">
              <a:buNone/>
            </a:pPr>
            <a:r>
              <a:rPr lang="ar-SA" altLang="en-US" sz="1700" b="1" dirty="0">
                <a:solidFill>
                  <a:srgbClr val="1F2A37"/>
                </a:solidFill>
                <a:latin typeface="Amiri" pitchFamily="2" charset="-78"/>
                <a:ea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joined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two-sided comparison with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hedge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العَائِلَاتِ</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صِلَةُ الرَّحِمِ</a:t>
            </a:r>
            <a:pPr algn="l" indent="0" marL="0">
              <a:buNone/>
            </a:pPr>
            <a:r>
              <a:rPr lang="en-US" sz="1050" i="1" dirty="0">
                <a:solidFill>
                  <a:srgbClr val="8A6D1E"/>
                </a:solidFill>
                <a:latin typeface="Calibri" pitchFamily="34" charset="0"/>
                <a:cs typeface="Amiri" pitchFamily="2" charset="-78"/>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D6-L03 · Islamic Celebrations — Eid, Ramadan and Religious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Ramadan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iftar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al-Fitr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money</a:t>
            </a:r>
            <a:pPr indent="0" marL="0">
              <a:buNone/>
            </a:pPr>
            <a:r>
              <a:rPr lang="ar-SA" sz="1000" i="1" dirty="0">
                <a:solidFill>
                  <a:srgbClr val="5A6472"/>
                </a:solidFill>
                <a:latin typeface="Calibri" pitchFamily="34" charset="0"/>
                <a:ea typeface="Amiri" pitchFamily="2" charset="-78"/>
                <a:cs typeface="Amiri" pitchFamily="2" charset="-78"/>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D6-L03 · Islamic Celebrations — Eid, Ramadan and Religious Occasions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المُنَاسَبَاتُ الإِسْلَامِيَّةُ — العِيدَانِ وَرَمَضَانُ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يَعْتَادُ 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يَتَمَسَّكُ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يَحْتَفِلُ بِـ</a:t>
            </a:r>
            <a:pPr algn="l" indent="0" marL="0">
              <a:buNone/>
            </a:pPr>
            <a:r>
              <a:rPr lang="en-US" sz="1300" b="1" dirty="0">
                <a:solidFill>
                  <a:srgbClr val="FFFFFF"/>
                </a:solidFill>
                <a:latin typeface="Calibri" pitchFamily="34" charset="0"/>
                <a:cs typeface="Amiri" pitchFamily="2" charset="-78"/>
              </a:rPr>
              <a:t> — compare with </a:t>
            </a:r>
            <a:pPr algn="l" indent="0" marL="0">
              <a:buNone/>
            </a:pPr>
            <a:r>
              <a:rPr lang="ar-SA" altLang="en-US" sz="1700" b="1" dirty="0">
                <a:solidFill>
                  <a:srgbClr val="FFFFFF"/>
                </a:solidFill>
                <a:latin typeface="Amiri" pitchFamily="2" charset="-78"/>
                <a:ea typeface="Amiri" pitchFamily="2" charset="-78"/>
                <a:cs typeface="Amiri" pitchFamily="2" charset="-78"/>
              </a:rPr>
              <a:t>بَيْنَمَا</a:t>
            </a:r>
            <a:pPr algn="l" indent="0" marL="0">
              <a:buNone/>
            </a:pPr>
            <a:r>
              <a:rPr lang="en-US" sz="1300" b="1" dirty="0">
                <a:solidFill>
                  <a:srgbClr val="FFFFFF"/>
                </a:solidFill>
                <a:latin typeface="Calibri" pitchFamily="34" charset="0"/>
                <a:cs typeface="Amiri" pitchFamily="2" charset="-78"/>
              </a:rPr>
              <a:t> — and describe what you saw, not what “all Arabs” do.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D6-L02 · Cultural Customs — Traditions, Greetings and Social Norms</dc:title>
  <dc:subject>PptxGenJS Presentation</dc:subject>
  <dc:creator>Al Madina Online School · Arabic Department</dc:creator>
  <cp:lastModifiedBy>Al Madina Online School · Arabic Department</cp:lastModifiedBy>
  <cp:revision>1</cp:revision>
  <dcterms:created xsi:type="dcterms:W3CDTF">2026-10-11T06:41:06Z</dcterms:created>
  <dcterms:modified xsi:type="dcterms:W3CDTF">2026-10-11T06:41:06Z</dcterms:modified>
</cp:coreProperties>
</file>